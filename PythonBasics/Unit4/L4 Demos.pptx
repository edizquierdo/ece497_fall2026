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fitness</c:v>
                </c:pt>
              </c:strCache>
            </c:strRef>
          </c:tx>
          <c:spPr>
            <a:solidFill>
              <a:srgbClr val="5E6878"/>
            </a:solidFill>
            <a:effectLst/>
          </c:spPr>
          <c:invertIfNegative val="0"/>
          <c:dLbls>
            <c:numFmt formatCode="0.00" sourceLinked="0"/>
            <c:txPr>
              <a:bodyPr/>
              <a:lstStyle/>
              <a:p>
                <a:pPr>
                  <a:defRPr b="1" i="0" strike="noStrike" sz="1600" u="none">
                    <a:solidFill>
                      <a:srgbClr val="16213A"/>
                    </a:solidFill>
                    <a:latin typeface="Arial"/>
                  </a:defRPr>
                </a:pPr>
              </a:p>
            </c:txPr>
            <c:showLegendKey val="0"/>
            <c:showVal val="1"/>
            <c:showCatName val="0"/>
            <c:showSerName val="0"/>
            <c:showPercent val="0"/>
            <c:showBubbleSize val="0"/>
            <c:showLeaderLines val="0"/>
          </c:dLbls>
          <c:dPt>
            <c:idx val="0"/>
            <c:invertIfNegative val="0"/>
            <c:bubble3D val="0"/>
            <c:spPr>
              <a:solidFill>
                <a:srgbClr val="5E6878"/>
              </a:solidFill>
              <a:effectLst/>
            </c:spPr>
          </c:dPt>
          <c:dPt>
            <c:idx val="1"/>
            <c:invertIfNegative val="0"/>
            <c:bubble3D val="0"/>
            <c:spPr>
              <a:solidFill>
                <a:srgbClr val="5E6878"/>
              </a:solidFill>
              <a:effectLst/>
            </c:spPr>
          </c:dPt>
          <c:dPt>
            <c:idx val="2"/>
            <c:invertIfNegative val="0"/>
            <c:bubble3D val="0"/>
            <c:spPr>
              <a:solidFill>
                <a:srgbClr val="1D6F66"/>
              </a:solidFill>
              <a:effectLst/>
            </c:spPr>
          </c:dPt>
          <c:cat>
            <c:multiLvlStrRef>
              <c:f>Sheet1!$A$2:$A$4</c:f>
              <c:multiLvlStrCache>
                <c:ptCount val="3"/>
                <c:lvl>
                  <c:pt idx="0">
                    <c:v>Never moves</c:v>
                  </c:pt>
                  <c:pt idx="1">
                    <c:v>Random network</c:v>
                  </c:pt>
                  <c:pt idx="2">
                    <c:v>Evolved (seed 3)</c:v>
                  </c:pt>
                </c:lvl>
              </c:multiLvlStrCache>
            </c:multiLvlStrRef>
          </c:cat>
          <c:val>
            <c:numRef>
              <c:f>Sheet1!$B$2:$B$4</c:f>
              <c:numCache>
                <c:formatCode>General</c:formatCode>
                <c:ptCount val="3"/>
                <c:pt idx="0">
                  <c:v>0.17</c:v>
                </c:pt>
                <c:pt idx="1">
                  <c:v>0.18</c:v>
                </c:pt>
                <c:pt idx="2">
                  <c:v>0.81</c:v>
                </c:pt>
              </c:numCache>
            </c:numRef>
          </c:val>
        </c:ser>
        <c:dLbls>
          <c:numFmt formatCode="0.00" sourceLinked="0"/>
          <c:txPr>
            <a:bodyPr/>
            <a:lstStyle/>
            <a:p>
              <a:pPr>
                <a:defRPr b="1" i="0" strike="noStrike" sz="1600" u="none">
                  <a:solidFill>
                    <a:srgbClr val="16213A"/>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E4A5C"/>
                </a:solidFill>
                <a:latin typeface="IBM Plex Sans"/>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DDD0"/>
              </a:solidFill>
              <a:prstDash val="solid"/>
              <a:round/>
            </a:ln>
          </c:spPr>
        </c:majorGridlines>
        <c:title>
          <c:tx>
            <c:rich>
              <a:bodyPr/>
              <a:lstStyle/>
              <a:p>
                <a:pPr>
                  <a:defRPr sz="1100" b="0" i="0" u="none" strike="noStrike">
                    <a:solidFill>
                      <a:srgbClr val="5E6878"/>
                    </a:solidFill>
                    <a:latin typeface="Arial"/>
                  </a:defRPr>
                </a:pPr>
                <a:r>
                  <a:rPr sz="1100" b="0" i="0" u="none" strike="noStrike">
                    <a:solidFill>
                      <a:srgbClr val="5E6878"/>
                    </a:solidFill>
                    <a:latin typeface="Arial"/>
                  </a:rPr>
                  <a:t>fitness (higher is better)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878"/>
                </a:solidFill>
                <a:latin typeface="Arial"/>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the pieces are old, the wiring between them is new. Recaps are about a minute each. Most time goes on slides 7-14 plus the live demo. The last two slides show how the same pipeline looks in the official PyTorch/EvoTorch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algorithmically new today. fnn.py and eas.py are the same files as Unit 3. env.py is the Project 1 vehicle rewritten in plain Python. evolve.py is the new glue.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The light sits at the origin and the vehicle starts on a circle of radius 5 around it, random heading. Point out that think() is one line: the whole brain is the controller object. Code is trimmed from env.py.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eas.Microbial, the same file as Unit 3. Each tournament changes one individual. A generation is popsize tournaments, so 50 generations is 2,500 tournaments and 2,500 fitness evaluations. Point out that only the loser is re-scored.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fnn.py setParams slices the genotype: weights, then biases, then activation genes. Genes in [-1,1] are multiplied by weightrange=5. Genome size is 16 weights + 6 biases + 10 activation genes = 32. For each layer, the argmax of its 5 activation genes picks sigmoid, tanh, relu, linear or gaussian, so the network evolves its own activation functions. Output activations are not forced to be bounded.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before this was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env.py does not import fnn or eas. Braitenberg just stores whatever it is given as self.controller and calls .forward(). Live demo idea: show env.py's imports, then jump to the three lines in fitnessFunction.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conceptual difference from XOR: in XOR each input is independent of what the network output last time. Here the motor command moves the body, which changes what the sensors read next. The network is only a part of the behavior; the body and world are the rest. Nobody tells the network how to steer.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The GA and the network code are untouched. What changes is the cost, the noise, and the meaning of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keep open while showing evolve.py. Four numbered steps: build the network from the genotype, make a fresh random body, run the closed loop, accumulate the reward. Note that the network never sees the fitness and the fitness never looks inside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what each stage hands to the next. Bottom: the three nested loops explain the runtime. 50 generations of 50 tournaments is 2,500 evaluations, plus 50 for the initial population, each 4 trials of 200 steps, about 2 million sense-think-move steps, about 13 seconds on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 only sees a function from vector to number. Settings both scripts need (duration, distance, layers, weightrange) live in config.py, so evolve.py and sim.py cannot drift apart. FNN.genome_size computes genesize from the same layout setParams uses. Files carry results from one script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one seeded run (np.random.seed(3)); eight seeds gave 0.77 to 0.86. Never moves: 1/(1+5) = 0.167. Random genomes averaged over 150 draws: 0.18. Evolved: 0.81 on 200 fresh single trials. Your run will differ. Motor outputs are not bounded in this version, so there is no fixed speed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Microbial computes a fitness once, when an individual is created or changed, and never re-scores it. Random starts and noise make that score a sample, and selection can favor lucky samples, so the best curve never goes down and could overstate. Here it did not: over eight seeds the recorded and fresh fitness differ by at most 0.02, because the evolved controller works from every start. The check is cheap, so always do it. In the official EvoTorch version parents are re-scored every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evolve.py live (about 15 seconds). While it runs walk through evolve.py. Then sim.py and viz.py. Encourage students to change one parameter and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comes from sim.py and viz.py on the seeded run (seed 3, fitness 0.81). All 20 trials are within distance 1 of the light by step 40 and stay there; 300 more fresh trials also all arrive. Ask what limits fitness now (travel time), why all trajectories look alike, and what changes at a larger distance or shorter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4 lives in 4_EN_Braitenberg. Same idea, industrial tooling. The two differences students should remember: the whole population is simulated as tensors, and parents are re-scored every generation, so the best curve can go down. Checkpoint Friday Oct 2 (Parts 1 and 2), final Tuesday Oct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come back to while showing evolve.py. Follow the shapes. pop=50, episodes=5, duration=2000. Nothing here is a Python for-loop over individuals: the whole population is one tensor.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p:bgPr>
    </p:bg>
    <p:spTree>
      <p:nvGrpSpPr>
        <p:cNvPr id="1" name=""/>
        <p:cNvGrpSpPr/>
        <p:nvPr/>
      </p:nvGrpSpPr>
      <p:grpSpPr>
        <a:xfrm>
          <a:off x="0" y="0"/>
          <a:ext cx="0" cy="0"/>
          <a:chOff x="0" y="0"/>
          <a:chExt cx="0" cy="0"/>
        </a:xfrm>
      </p:grpSpPr>
      <p:sp>
        <p:nvSpPr>
          <p:cNvPr id="2" name="Text 0"/>
          <p:cNvSpPr txBox="1"/>
          <p:nvPr/>
        </p:nvSpPr>
        <p:spPr>
          <a:xfrm>
            <a:off x="813816" y="813816"/>
            <a:ext cx="10561320" cy="274320"/>
          </a:xfrm>
          <a:prstGeom prst="rect">
            <a:avLst/>
          </a:prstGeom>
          <a:noFill/>
          <a:ln/>
        </p:spPr>
        <p:txBody>
          <a:bodyPr wrap="square" lIns="0" tIns="0" rIns="0" bIns="0" rtlCol="0" anchor="ctr"/>
          <a:lstStyle/>
          <a:p>
            <a:pPr indent="0" marL="0">
              <a:buNone/>
            </a:pPr>
            <a:r>
              <a:rPr lang="en-US" sz="1400" b="1" spc="200" kern="0" dirty="0">
                <a:solidFill>
                  <a:srgbClr val="F2A65A"/>
                </a:solidFill>
                <a:latin typeface="IBM Plex Sans" pitchFamily="34" charset="0"/>
                <a:ea typeface="IBM Plex Sans" pitchFamily="34" charset="-122"/>
                <a:cs typeface="IBM Plex Sans" pitchFamily="34" charset="-120"/>
              </a:rPr>
              <a:t>ECE 497 · UNIT 4</a:t>
            </a:r>
            <a:endParaRPr lang="en-US" sz="1400" dirty="0"/>
          </a:p>
        </p:txBody>
      </p:sp>
      <p:sp>
        <p:nvSpPr>
          <p:cNvPr id="3" name="Text 1"/>
          <p:cNvSpPr txBox="1"/>
          <p:nvPr/>
        </p:nvSpPr>
        <p:spPr>
          <a:xfrm>
            <a:off x="813816" y="1828800"/>
            <a:ext cx="10561320" cy="914400"/>
          </a:xfrm>
          <a:prstGeom prst="rect">
            <a:avLst/>
          </a:prstGeom>
          <a:noFill/>
          <a:ln/>
        </p:spPr>
        <p:txBody>
          <a:bodyPr wrap="square" lIns="0" tIns="0" rIns="0" bIns="0" rtlCol="0" anchor="ctr"/>
          <a:lstStyle/>
          <a:p>
            <a:pPr indent="0" marL="0">
              <a:buNone/>
            </a:pPr>
            <a:r>
              <a:rPr lang="en-US" sz="6000" b="1" dirty="0">
                <a:solidFill>
                  <a:srgbClr val="F6F4EE"/>
                </a:solidFill>
                <a:latin typeface="IBM Plex Sans" pitchFamily="34" charset="0"/>
                <a:ea typeface="IBM Plex Sans" pitchFamily="34" charset="-122"/>
                <a:cs typeface="IBM Plex Sans" pitchFamily="34" charset="-120"/>
              </a:rPr>
              <a:t>Evolving a body's brain</a:t>
            </a:r>
            <a:endParaRPr lang="en-US" sz="6000" dirty="0"/>
          </a:p>
        </p:txBody>
      </p:sp>
      <p:sp>
        <p:nvSpPr>
          <p:cNvPr id="4" name="Text 2"/>
          <p:cNvSpPr txBox="1"/>
          <p:nvPr/>
        </p:nvSpPr>
        <p:spPr>
          <a:xfrm>
            <a:off x="813816" y="2880360"/>
            <a:ext cx="10561320" cy="548640"/>
          </a:xfrm>
          <a:prstGeom prst="rect">
            <a:avLst/>
          </a:prstGeom>
          <a:noFill/>
          <a:ln/>
        </p:spPr>
        <p:txBody>
          <a:bodyPr wrap="square" lIns="0" tIns="0" rIns="0" bIns="0" rtlCol="0" anchor="ctr"/>
          <a:lstStyle/>
          <a:p>
            <a:pPr indent="0" marL="0">
              <a:buNone/>
            </a:pPr>
            <a:r>
              <a:rPr lang="en-US" sz="2600" dirty="0">
                <a:solidFill>
                  <a:srgbClr val="F6F4EE"/>
                </a:solidFill>
                <a:latin typeface="IBM Plex Sans" pitchFamily="34" charset="0"/>
                <a:ea typeface="IBM Plex Sans" pitchFamily="34" charset="-122"/>
                <a:cs typeface="IBM Plex Sans" pitchFamily="34" charset="-120"/>
              </a:rPr>
              <a:t>Neuroevolution of a Braitenberg vehicle, closing the loop</a:t>
            </a:r>
            <a:endParaRPr lang="en-US" sz="2600" dirty="0"/>
          </a:p>
        </p:txBody>
      </p:sp>
      <p:sp>
        <p:nvSpPr>
          <p:cNvPr id="5" name="Text 3"/>
          <p:cNvSpPr txBox="1"/>
          <p:nvPr/>
        </p:nvSpPr>
        <p:spPr>
          <a:xfrm>
            <a:off x="813816" y="4023360"/>
            <a:ext cx="10561320" cy="1280160"/>
          </a:xfrm>
          <a:prstGeom prst="rect">
            <a:avLst/>
          </a:prstGeom>
          <a:noFill/>
          <a:ln/>
        </p:spPr>
        <p:txBody>
          <a:bodyPr wrap="square" lIns="0" tIns="0" rIns="0" bIns="0" rtlCol="0" anchor="t"/>
          <a:lstStyle/>
          <a:p>
            <a:pPr indent="0" marL="0">
              <a:spcAft>
                <a:spcPts val="600"/>
              </a:spcAft>
              <a:buNone/>
            </a:pPr>
            <a:r>
              <a:rPr lang="en-US" sz="2000" b="1" dirty="0">
                <a:solidFill>
                  <a:srgbClr val="F2A65A"/>
                </a:solidFill>
                <a:latin typeface="IBM Plex Sans" pitchFamily="34" charset="0"/>
                <a:ea typeface="IBM Plex Sans" pitchFamily="34" charset="-122"/>
                <a:cs typeface="IBM Plex Sans" pitchFamily="34" charset="-120"/>
              </a:rPr>
              <a:t>Recap  </a:t>
            </a:r>
            <a:pPr indent="0" marL="0">
              <a:spcAft>
                <a:spcPts val="600"/>
              </a:spcAft>
              <a:buNone/>
            </a:pPr>
            <a:r>
              <a:rPr lang="en-US" sz="2000" dirty="0">
                <a:solidFill>
                  <a:srgbClr val="F6F4EE"/>
                </a:solidFill>
                <a:latin typeface="IBM Plex Sans" pitchFamily="34" charset="0"/>
                <a:ea typeface="IBM Plex Sans" pitchFamily="34" charset="-122"/>
                <a:cs typeface="IBM Plex Sans" pitchFamily="34" charset="-120"/>
              </a:rPr>
              <a:t>vehicle, evolutionary algorithm, network</a:t>
            </a:r>
            <a:endParaRPr lang="en-US" sz="2000" dirty="0"/>
          </a:p>
          <a:p>
            <a:pPr indent="0" marL="0">
              <a:spcAft>
                <a:spcPts val="600"/>
              </a:spcAft>
              <a:buNone/>
            </a:pPr>
            <a:r>
              <a:rPr lang="en-US" sz="2000" b="1" dirty="0">
                <a:solidFill>
                  <a:srgbClr val="F2A65A"/>
                </a:solidFill>
                <a:latin typeface="IBM Plex Sans" pitchFamily="34" charset="0"/>
                <a:ea typeface="IBM Plex Sans" pitchFamily="34" charset="-122"/>
                <a:cs typeface="IBM Plex Sans" pitchFamily="34" charset="-120"/>
              </a:rPr>
              <a:t>Focus  </a:t>
            </a:r>
            <a:pPr indent="0" marL="0">
              <a:spcAft>
                <a:spcPts val="600"/>
              </a:spcAft>
              <a:buNone/>
            </a:pPr>
            <a:r>
              <a:rPr lang="en-US" sz="2000" dirty="0">
                <a:solidFill>
                  <a:srgbClr val="F6F4EE"/>
                </a:solidFill>
                <a:latin typeface="IBM Plex Sans" pitchFamily="34" charset="0"/>
                <a:ea typeface="IBM Plex Sans" pitchFamily="34" charset="-122"/>
                <a:cs typeface="IBM Plex Sans" pitchFamily="34" charset="-120"/>
              </a:rPr>
              <a:t>how they connect: genotype → network → body → fitness</a:t>
            </a:r>
            <a:endParaRPr lang="en-US" sz="2000" dirty="0"/>
          </a:p>
          <a:p>
            <a:pPr indent="0" marL="0">
              <a:spcAft>
                <a:spcPts val="600"/>
              </a:spcAft>
              <a:buNone/>
            </a:pPr>
            <a:r>
              <a:rPr lang="en-US" sz="2000" b="1" dirty="0">
                <a:solidFill>
                  <a:srgbClr val="F2A65A"/>
                </a:solidFill>
                <a:latin typeface="IBM Plex Sans" pitchFamily="34" charset="0"/>
                <a:ea typeface="IBM Plex Sans" pitchFamily="34" charset="-122"/>
                <a:cs typeface="IBM Plex Sans" pitchFamily="34" charset="-120"/>
              </a:rPr>
              <a:t>Then  </a:t>
            </a:r>
            <a:pPr indent="0" marL="0">
              <a:spcAft>
                <a:spcPts val="600"/>
              </a:spcAft>
              <a:buNone/>
            </a:pPr>
            <a:r>
              <a:rPr lang="en-US" sz="2000" dirty="0">
                <a:solidFill>
                  <a:srgbClr val="F6F4EE"/>
                </a:solidFill>
                <a:latin typeface="IBM Plex Sans" pitchFamily="34" charset="0"/>
                <a:ea typeface="IBM Plex Sans" pitchFamily="34" charset="-122"/>
                <a:cs typeface="IBM Plex Sans" pitchFamily="34" charset="-120"/>
              </a:rPr>
              <a:t>the official PyTorch + EvoTorch version (Project 4)</a:t>
            </a:r>
            <a:endParaRPr lang="en-US" sz="2000" dirty="0"/>
          </a:p>
        </p:txBody>
      </p:sp>
      <p:sp>
        <p:nvSpPr>
          <p:cNvPr id="6" name="Text 4"/>
          <p:cNvSpPr txBox="1"/>
          <p:nvPr/>
        </p:nvSpPr>
        <p:spPr>
          <a:xfrm>
            <a:off x="813816" y="5943600"/>
            <a:ext cx="10561320" cy="237744"/>
          </a:xfrm>
          <a:prstGeom prst="rect">
            <a:avLst/>
          </a:prstGeom>
          <a:noFill/>
          <a:ln/>
        </p:spPr>
        <p:txBody>
          <a:bodyPr wrap="square" lIns="0" tIns="0" rIns="0" bIns="0" rtlCol="0" anchor="ctr"/>
          <a:lstStyle/>
          <a:p>
            <a:pPr indent="0" marL="0">
              <a:buNone/>
            </a:pPr>
            <a:r>
              <a:rPr lang="en-US" sz="1200" dirty="0">
                <a:solidFill>
                  <a:srgbClr val="9AA5B8"/>
                </a:solidFill>
                <a:latin typeface="JetBrains Mono" pitchFamily="34" charset="0"/>
                <a:ea typeface="JetBrains Mono" pitchFamily="34" charset="-122"/>
                <a:cs typeface="JetBrains Mono" pitchFamily="34" charset="-120"/>
              </a:rPr>
              <a:t>PythonBasics/Unit4 · env.py · fnn.py · eas.py · evolve.py · sim.py · viz.py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OVERVIEW</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Three pieces you already have</a:t>
            </a:r>
            <a:endParaRPr lang="en-US" sz="3200" dirty="0"/>
          </a:p>
        </p:txBody>
      </p:sp>
      <p:sp>
        <p:nvSpPr>
          <p:cNvPr id="5" name="Shape 2"/>
          <p:cNvSpPr/>
          <p:nvPr/>
        </p:nvSpPr>
        <p:spPr>
          <a:xfrm>
            <a:off x="813816" y="1783080"/>
            <a:ext cx="2468880" cy="2148840"/>
          </a:xfrm>
          <a:prstGeom prst="roundRect">
            <a:avLst>
              <a:gd name="adj" fmla="val 3404"/>
            </a:avLst>
          </a:prstGeom>
          <a:solidFill>
            <a:srgbClr val="FFFDF8"/>
          </a:solidFill>
          <a:ln w="12700">
            <a:solidFill>
              <a:srgbClr val="E2DDD0"/>
            </a:solidFill>
            <a:prstDash val="solid"/>
          </a:ln>
        </p:spPr>
      </p:sp>
      <p:sp>
        <p:nvSpPr>
          <p:cNvPr id="6" name="Text 3"/>
          <p:cNvSpPr txBox="1"/>
          <p:nvPr/>
        </p:nvSpPr>
        <p:spPr>
          <a:xfrm>
            <a:off x="1042416" y="1965960"/>
            <a:ext cx="201168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ENV.PY</a:t>
            </a:r>
            <a:endParaRPr lang="en-US" sz="1200" dirty="0"/>
          </a:p>
        </p:txBody>
      </p:sp>
      <p:sp>
        <p:nvSpPr>
          <p:cNvPr id="7" name="Text 4"/>
          <p:cNvSpPr txBox="1"/>
          <p:nvPr/>
        </p:nvSpPr>
        <p:spPr>
          <a:xfrm>
            <a:off x="1042416" y="2286000"/>
            <a:ext cx="2057400" cy="640080"/>
          </a:xfrm>
          <a:prstGeom prst="rect">
            <a:avLst/>
          </a:prstGeom>
          <a:noFill/>
          <a:ln/>
        </p:spPr>
        <p:txBody>
          <a:bodyPr wrap="square" lIns="0" tIns="0" rIns="0" bIns="0" rtlCol="0" anchor="t"/>
          <a:lstStyle/>
          <a:p>
            <a:pPr indent="0" marL="0">
              <a:buNone/>
            </a:pPr>
            <a:r>
              <a:rPr lang="en-US" sz="1800" b="1" dirty="0">
                <a:solidFill>
                  <a:srgbClr val="16213A"/>
                </a:solidFill>
                <a:latin typeface="IBM Plex Sans" pitchFamily="34" charset="0"/>
                <a:ea typeface="IBM Plex Sans" pitchFamily="34" charset="-122"/>
                <a:cs typeface="IBM Plex Sans" pitchFamily="34" charset="-120"/>
              </a:rPr>
              <a:t>Braitenberg vehicle</a:t>
            </a:r>
            <a:endParaRPr lang="en-US" sz="1800" dirty="0"/>
          </a:p>
        </p:txBody>
      </p:sp>
      <p:sp>
        <p:nvSpPr>
          <p:cNvPr id="8" name="Text 5"/>
          <p:cNvSpPr txBox="1"/>
          <p:nvPr/>
        </p:nvSpPr>
        <p:spPr>
          <a:xfrm>
            <a:off x="1042416" y="2926080"/>
            <a:ext cx="2057400" cy="91440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A body with two light sensors and two motors, plus a light at the origin.</a:t>
            </a:r>
            <a:endParaRPr lang="en-US" sz="1200" dirty="0"/>
          </a:p>
        </p:txBody>
      </p:sp>
      <p:sp>
        <p:nvSpPr>
          <p:cNvPr id="9" name="Shape 6"/>
          <p:cNvSpPr/>
          <p:nvPr/>
        </p:nvSpPr>
        <p:spPr>
          <a:xfrm>
            <a:off x="3557016" y="1783080"/>
            <a:ext cx="2468880" cy="2148840"/>
          </a:xfrm>
          <a:prstGeom prst="roundRect">
            <a:avLst>
              <a:gd name="adj" fmla="val 3404"/>
            </a:avLst>
          </a:prstGeom>
          <a:solidFill>
            <a:srgbClr val="FFFDF8"/>
          </a:solidFill>
          <a:ln w="12700">
            <a:solidFill>
              <a:srgbClr val="E2DDD0"/>
            </a:solidFill>
            <a:prstDash val="solid"/>
          </a:ln>
        </p:spPr>
      </p:sp>
      <p:sp>
        <p:nvSpPr>
          <p:cNvPr id="10" name="Text 7"/>
          <p:cNvSpPr txBox="1"/>
          <p:nvPr/>
        </p:nvSpPr>
        <p:spPr>
          <a:xfrm>
            <a:off x="3785616" y="1965960"/>
            <a:ext cx="2011680" cy="274320"/>
          </a:xfrm>
          <a:prstGeom prst="rect">
            <a:avLst/>
          </a:prstGeom>
          <a:noFill/>
          <a:ln/>
        </p:spPr>
        <p:txBody>
          <a:bodyPr wrap="square" lIns="0" tIns="0" rIns="0" bIns="0" rtlCol="0" anchor="ctr"/>
          <a:lstStyle/>
          <a:p>
            <a:pPr indent="0" marL="0">
              <a:buNone/>
            </a:pPr>
            <a:r>
              <a:rPr lang="en-US" sz="1200" b="1" spc="100" kern="0" dirty="0">
                <a:solidFill>
                  <a:srgbClr val="1D6F66"/>
                </a:solidFill>
                <a:latin typeface="IBM Plex Sans" pitchFamily="34" charset="0"/>
                <a:ea typeface="IBM Plex Sans" pitchFamily="34" charset="-122"/>
                <a:cs typeface="IBM Plex Sans" pitchFamily="34" charset="-120"/>
              </a:rPr>
              <a:t>EAS.PY</a:t>
            </a:r>
            <a:endParaRPr lang="en-US" sz="1200" dirty="0"/>
          </a:p>
        </p:txBody>
      </p:sp>
      <p:sp>
        <p:nvSpPr>
          <p:cNvPr id="11" name="Text 8"/>
          <p:cNvSpPr txBox="1"/>
          <p:nvPr/>
        </p:nvSpPr>
        <p:spPr>
          <a:xfrm>
            <a:off x="3785616" y="2286000"/>
            <a:ext cx="2057400" cy="640080"/>
          </a:xfrm>
          <a:prstGeom prst="rect">
            <a:avLst/>
          </a:prstGeom>
          <a:noFill/>
          <a:ln/>
        </p:spPr>
        <p:txBody>
          <a:bodyPr wrap="square" lIns="0" tIns="0" rIns="0" bIns="0" rtlCol="0" anchor="t"/>
          <a:lstStyle/>
          <a:p>
            <a:pPr indent="0" marL="0">
              <a:buNone/>
            </a:pPr>
            <a:r>
              <a:rPr lang="en-US" sz="1800" b="1" dirty="0">
                <a:solidFill>
                  <a:srgbClr val="16213A"/>
                </a:solidFill>
                <a:latin typeface="IBM Plex Sans" pitchFamily="34" charset="0"/>
                <a:ea typeface="IBM Plex Sans" pitchFamily="34" charset="-122"/>
                <a:cs typeface="IBM Plex Sans" pitchFamily="34" charset="-120"/>
              </a:rPr>
              <a:t>Evolutionary algorithm</a:t>
            </a:r>
            <a:endParaRPr lang="en-US" sz="1800" dirty="0"/>
          </a:p>
        </p:txBody>
      </p:sp>
      <p:sp>
        <p:nvSpPr>
          <p:cNvPr id="12" name="Text 9"/>
          <p:cNvSpPr txBox="1"/>
          <p:nvPr/>
        </p:nvSpPr>
        <p:spPr>
          <a:xfrm>
            <a:off x="3785616" y="2926080"/>
            <a:ext cx="2057400" cy="91440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Same as Unit 3. Needs only a fitness number per genotype.</a:t>
            </a:r>
            <a:endParaRPr lang="en-US" sz="1200" dirty="0"/>
          </a:p>
        </p:txBody>
      </p:sp>
      <p:sp>
        <p:nvSpPr>
          <p:cNvPr id="13" name="Shape 10"/>
          <p:cNvSpPr/>
          <p:nvPr/>
        </p:nvSpPr>
        <p:spPr>
          <a:xfrm>
            <a:off x="6300216" y="1783080"/>
            <a:ext cx="2468880" cy="2148840"/>
          </a:xfrm>
          <a:prstGeom prst="roundRect">
            <a:avLst>
              <a:gd name="adj" fmla="val 3404"/>
            </a:avLst>
          </a:prstGeom>
          <a:solidFill>
            <a:srgbClr val="FFFDF8"/>
          </a:solidFill>
          <a:ln w="12700">
            <a:solidFill>
              <a:srgbClr val="E2DDD0"/>
            </a:solidFill>
            <a:prstDash val="solid"/>
          </a:ln>
        </p:spPr>
      </p:sp>
      <p:sp>
        <p:nvSpPr>
          <p:cNvPr id="14" name="Text 11"/>
          <p:cNvSpPr txBox="1"/>
          <p:nvPr/>
        </p:nvSpPr>
        <p:spPr>
          <a:xfrm>
            <a:off x="6528816" y="1965960"/>
            <a:ext cx="2011680" cy="274320"/>
          </a:xfrm>
          <a:prstGeom prst="rect">
            <a:avLst/>
          </a:prstGeom>
          <a:noFill/>
          <a:ln/>
        </p:spPr>
        <p:txBody>
          <a:bodyPr wrap="square" lIns="0" tIns="0" rIns="0" bIns="0" rtlCol="0" anchor="ctr"/>
          <a:lstStyle/>
          <a:p>
            <a:pPr indent="0" marL="0">
              <a:buNone/>
            </a:pPr>
            <a:r>
              <a:rPr lang="en-US" sz="1200" b="1" spc="100" kern="0" dirty="0">
                <a:solidFill>
                  <a:srgbClr val="16213A"/>
                </a:solidFill>
                <a:latin typeface="IBM Plex Sans" pitchFamily="34" charset="0"/>
                <a:ea typeface="IBM Plex Sans" pitchFamily="34" charset="-122"/>
                <a:cs typeface="IBM Plex Sans" pitchFamily="34" charset="-120"/>
              </a:rPr>
              <a:t>FNN.PY</a:t>
            </a:r>
            <a:endParaRPr lang="en-US" sz="1200" dirty="0"/>
          </a:p>
        </p:txBody>
      </p:sp>
      <p:sp>
        <p:nvSpPr>
          <p:cNvPr id="15" name="Text 12"/>
          <p:cNvSpPr txBox="1"/>
          <p:nvPr/>
        </p:nvSpPr>
        <p:spPr>
          <a:xfrm>
            <a:off x="6528816" y="2286000"/>
            <a:ext cx="2057400" cy="640080"/>
          </a:xfrm>
          <a:prstGeom prst="rect">
            <a:avLst/>
          </a:prstGeom>
          <a:noFill/>
          <a:ln/>
        </p:spPr>
        <p:txBody>
          <a:bodyPr wrap="square" lIns="0" tIns="0" rIns="0" bIns="0" rtlCol="0" anchor="t"/>
          <a:lstStyle/>
          <a:p>
            <a:pPr indent="0" marL="0">
              <a:buNone/>
            </a:pPr>
            <a:r>
              <a:rPr lang="en-US" sz="1800" b="1" dirty="0">
                <a:solidFill>
                  <a:srgbClr val="16213A"/>
                </a:solidFill>
                <a:latin typeface="IBM Plex Sans" pitchFamily="34" charset="0"/>
                <a:ea typeface="IBM Plex Sans" pitchFamily="34" charset="-122"/>
                <a:cs typeface="IBM Plex Sans" pitchFamily="34" charset="-120"/>
              </a:rPr>
              <a:t>Feedforward network</a:t>
            </a:r>
            <a:endParaRPr lang="en-US" sz="1800" dirty="0"/>
          </a:p>
        </p:txBody>
      </p:sp>
      <p:sp>
        <p:nvSpPr>
          <p:cNvPr id="16" name="Text 13"/>
          <p:cNvSpPr txBox="1"/>
          <p:nvPr/>
        </p:nvSpPr>
        <p:spPr>
          <a:xfrm>
            <a:off x="6528816" y="2926080"/>
            <a:ext cx="2057400" cy="91440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Same as Unit 3. Genotype vector in, weights and biases out.</a:t>
            </a:r>
            <a:endParaRPr lang="en-US" sz="1200" dirty="0"/>
          </a:p>
        </p:txBody>
      </p:sp>
      <p:sp>
        <p:nvSpPr>
          <p:cNvPr id="17" name="Text 14"/>
          <p:cNvSpPr txBox="1"/>
          <p:nvPr/>
        </p:nvSpPr>
        <p:spPr>
          <a:xfrm>
            <a:off x="3264408" y="2514600"/>
            <a:ext cx="310896" cy="457200"/>
          </a:xfrm>
          <a:prstGeom prst="rect">
            <a:avLst/>
          </a:prstGeom>
          <a:noFill/>
          <a:ln/>
        </p:spPr>
        <p:txBody>
          <a:bodyPr wrap="square" lIns="0" tIns="0" rIns="0" bIns="0" rtlCol="0" anchor="ctr"/>
          <a:lstStyle/>
          <a:p>
            <a:pPr algn="ctr" indent="0" marL="0">
              <a:buNone/>
            </a:pPr>
            <a:r>
              <a:rPr lang="en-US" sz="2800" b="1" dirty="0">
                <a:solidFill>
                  <a:srgbClr val="5E6878"/>
                </a:solidFill>
                <a:latin typeface="IBM Plex Sans" pitchFamily="34" charset="0"/>
                <a:ea typeface="IBM Plex Sans" pitchFamily="34" charset="-122"/>
                <a:cs typeface="IBM Plex Sans" pitchFamily="34" charset="-120"/>
              </a:rPr>
              <a:t>+</a:t>
            </a:r>
            <a:endParaRPr lang="en-US" sz="2800" dirty="0"/>
          </a:p>
        </p:txBody>
      </p:sp>
      <p:sp>
        <p:nvSpPr>
          <p:cNvPr id="18" name="Text 15"/>
          <p:cNvSpPr txBox="1"/>
          <p:nvPr/>
        </p:nvSpPr>
        <p:spPr>
          <a:xfrm>
            <a:off x="6007608" y="2514600"/>
            <a:ext cx="310896" cy="457200"/>
          </a:xfrm>
          <a:prstGeom prst="rect">
            <a:avLst/>
          </a:prstGeom>
          <a:noFill/>
          <a:ln/>
        </p:spPr>
        <p:txBody>
          <a:bodyPr wrap="square" lIns="0" tIns="0" rIns="0" bIns="0" rtlCol="0" anchor="ctr"/>
          <a:lstStyle/>
          <a:p>
            <a:pPr algn="ctr" indent="0" marL="0">
              <a:buNone/>
            </a:pPr>
            <a:r>
              <a:rPr lang="en-US" sz="2800" b="1" dirty="0">
                <a:solidFill>
                  <a:srgbClr val="5E6878"/>
                </a:solidFill>
                <a:latin typeface="IBM Plex Sans" pitchFamily="34" charset="0"/>
                <a:ea typeface="IBM Plex Sans" pitchFamily="34" charset="-122"/>
                <a:cs typeface="IBM Plex Sans" pitchFamily="34" charset="-120"/>
              </a:rPr>
              <a:t>+</a:t>
            </a:r>
            <a:endParaRPr lang="en-US" sz="2800" dirty="0"/>
          </a:p>
        </p:txBody>
      </p:sp>
      <p:sp>
        <p:nvSpPr>
          <p:cNvPr id="19" name="Shape 16"/>
          <p:cNvSpPr/>
          <p:nvPr/>
        </p:nvSpPr>
        <p:spPr>
          <a:xfrm>
            <a:off x="9052560" y="1783080"/>
            <a:ext cx="2322576" cy="2148840"/>
          </a:xfrm>
          <a:prstGeom prst="roundRect">
            <a:avLst>
              <a:gd name="adj" fmla="val 3404"/>
            </a:avLst>
          </a:prstGeom>
          <a:solidFill>
            <a:srgbClr val="1D6F66"/>
          </a:solidFill>
          <a:ln w="12700">
            <a:solidFill>
              <a:srgbClr val="1D6F66"/>
            </a:solidFill>
            <a:prstDash val="solid"/>
          </a:ln>
        </p:spPr>
      </p:sp>
      <p:sp>
        <p:nvSpPr>
          <p:cNvPr id="20" name="Text 17"/>
          <p:cNvSpPr txBox="1"/>
          <p:nvPr/>
        </p:nvSpPr>
        <p:spPr>
          <a:xfrm>
            <a:off x="9281160" y="1965960"/>
            <a:ext cx="1920240" cy="274320"/>
          </a:xfrm>
          <a:prstGeom prst="rect">
            <a:avLst/>
          </a:prstGeom>
          <a:noFill/>
          <a:ln/>
        </p:spPr>
        <p:txBody>
          <a:bodyPr wrap="square" lIns="0" tIns="0" rIns="0" bIns="0" rtlCol="0" anchor="ctr"/>
          <a:lstStyle/>
          <a:p>
            <a:pPr indent="0" marL="0">
              <a:buNone/>
            </a:pPr>
            <a:r>
              <a:rPr lang="en-US" sz="1200" b="1" spc="100" kern="0" dirty="0">
                <a:solidFill>
                  <a:srgbClr val="F2A65A"/>
                </a:solidFill>
                <a:latin typeface="IBM Plex Sans" pitchFamily="34" charset="0"/>
                <a:ea typeface="IBM Plex Sans" pitchFamily="34" charset="-122"/>
                <a:cs typeface="IBM Plex Sans" pitchFamily="34" charset="-120"/>
              </a:rPr>
              <a:t>EVOLVE.PY</a:t>
            </a:r>
            <a:endParaRPr lang="en-US" sz="1200" dirty="0"/>
          </a:p>
        </p:txBody>
      </p:sp>
      <p:sp>
        <p:nvSpPr>
          <p:cNvPr id="21" name="Text 18"/>
          <p:cNvSpPr txBox="1"/>
          <p:nvPr/>
        </p:nvSpPr>
        <p:spPr>
          <a:xfrm>
            <a:off x="9281160" y="2286000"/>
            <a:ext cx="1920240" cy="731520"/>
          </a:xfrm>
          <a:prstGeom prst="rect">
            <a:avLst/>
          </a:prstGeom>
          <a:noFill/>
          <a:ln/>
        </p:spPr>
        <p:txBody>
          <a:bodyPr wrap="square" lIns="0" tIns="0" rIns="0" bIns="0" rtlCol="0" anchor="t"/>
          <a:lstStyle/>
          <a:p>
            <a:pPr indent="0" marL="0">
              <a:buNone/>
            </a:pPr>
            <a:r>
              <a:rPr lang="en-US" sz="1800" b="1" dirty="0">
                <a:solidFill>
                  <a:srgbClr val="F6F4EE"/>
                </a:solidFill>
                <a:latin typeface="IBM Plex Sans" pitchFamily="34" charset="0"/>
                <a:ea typeface="IBM Plex Sans" pitchFamily="34" charset="-122"/>
                <a:cs typeface="IBM Plex Sans" pitchFamily="34" charset="-120"/>
              </a:rPr>
              <a:t>An evolved steering brain</a:t>
            </a:r>
            <a:endParaRPr lang="en-US" sz="1800" dirty="0"/>
          </a:p>
        </p:txBody>
      </p:sp>
      <p:sp>
        <p:nvSpPr>
          <p:cNvPr id="22" name="Text 19"/>
          <p:cNvSpPr txBox="1"/>
          <p:nvPr/>
        </p:nvSpPr>
        <p:spPr>
          <a:xfrm>
            <a:off x="9281160" y="3017520"/>
            <a:ext cx="1920240" cy="82296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Fitness comes from behavior in the world, not a fixed dataset.</a:t>
            </a:r>
            <a:endParaRPr lang="en-US" sz="1200" dirty="0"/>
          </a:p>
        </p:txBody>
      </p:sp>
      <p:sp>
        <p:nvSpPr>
          <p:cNvPr id="23" name="Shape 20"/>
          <p:cNvSpPr/>
          <p:nvPr/>
        </p:nvSpPr>
        <p:spPr>
          <a:xfrm>
            <a:off x="813816" y="4343400"/>
            <a:ext cx="10561320" cy="868680"/>
          </a:xfrm>
          <a:prstGeom prst="roundRect">
            <a:avLst>
              <a:gd name="adj" fmla="val 8421"/>
            </a:avLst>
          </a:prstGeom>
          <a:solidFill>
            <a:srgbClr val="F6DCCB"/>
          </a:solidFill>
          <a:ln w="12700">
            <a:solidFill>
              <a:srgbClr val="F6DCCB"/>
            </a:solidFill>
            <a:prstDash val="solid"/>
          </a:ln>
        </p:spPr>
      </p:sp>
      <p:sp>
        <p:nvSpPr>
          <p:cNvPr id="24" name="Text 21"/>
          <p:cNvSpPr txBox="1"/>
          <p:nvPr/>
        </p:nvSpPr>
        <p:spPr>
          <a:xfrm>
            <a:off x="1088136" y="4343400"/>
            <a:ext cx="10012680" cy="868680"/>
          </a:xfrm>
          <a:prstGeom prst="rect">
            <a:avLst/>
          </a:prstGeom>
          <a:noFill/>
          <a:ln/>
        </p:spPr>
        <p:txBody>
          <a:bodyPr wrap="square" lIns="0" tIns="0" rIns="0" bIns="0" rtlCol="0" anchor="ctr"/>
          <a:lstStyle/>
          <a:p>
            <a:pPr indent="0" marL="0">
              <a:buNone/>
            </a:pPr>
            <a:r>
              <a:rPr lang="en-US" sz="1600" b="1" dirty="0">
                <a:solidFill>
                  <a:srgbClr val="16213A"/>
                </a:solidFill>
                <a:latin typeface="IBM Plex Sans" pitchFamily="34" charset="0"/>
                <a:ea typeface="IBM Plex Sans" pitchFamily="34" charset="-122"/>
                <a:cs typeface="IBM Plex Sans" pitchFamily="34" charset="-120"/>
              </a:rPr>
              <a:t>Today's question: </a:t>
            </a:r>
            <a:pPr indent="0" marL="0">
              <a:buNone/>
            </a:pPr>
            <a:r>
              <a:rPr lang="en-US" sz="1600" dirty="0">
                <a:solidFill>
                  <a:srgbClr val="3E4A5C"/>
                </a:solidFill>
                <a:latin typeface="IBM Plex Sans" pitchFamily="34" charset="0"/>
                <a:ea typeface="IBM Plex Sans" pitchFamily="34" charset="-122"/>
                <a:cs typeface="IBM Plex Sans" pitchFamily="34" charset="-120"/>
              </a:rPr>
              <a:t>what has to connect so that a genotype from the GA can drive a body, and the body's behavior can score the genotype?</a:t>
            </a:r>
            <a:endParaRPr lang="en-US" sz="1600" dirty="0"/>
          </a:p>
        </p:txBody>
      </p:sp>
      <p:sp>
        <p:nvSpPr>
          <p:cNvPr id="25" name="Text 22"/>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PythonBasics/Unit4/README.md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RECAP · THE BODY</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The vehicle: sense, think, move</a:t>
            </a:r>
            <a:endParaRPr lang="en-US" sz="3200" dirty="0"/>
          </a:p>
        </p:txBody>
      </p:sp>
      <p:sp>
        <p:nvSpPr>
          <p:cNvPr id="5" name="Shape 2"/>
          <p:cNvSpPr/>
          <p:nvPr/>
        </p:nvSpPr>
        <p:spPr>
          <a:xfrm>
            <a:off x="813816" y="1783080"/>
            <a:ext cx="1554480" cy="2011680"/>
          </a:xfrm>
          <a:prstGeom prst="roundRect">
            <a:avLst>
              <a:gd name="adj" fmla="val 4706"/>
            </a:avLst>
          </a:prstGeom>
          <a:solidFill>
            <a:srgbClr val="1D6F66"/>
          </a:solidFill>
          <a:ln w="12700">
            <a:solidFill>
              <a:srgbClr val="1D6F66"/>
            </a:solidFill>
            <a:prstDash val="solid"/>
          </a:ln>
        </p:spPr>
      </p:sp>
      <p:sp>
        <p:nvSpPr>
          <p:cNvPr id="6" name="Text 3"/>
          <p:cNvSpPr txBox="1"/>
          <p:nvPr/>
        </p:nvSpPr>
        <p:spPr>
          <a:xfrm>
            <a:off x="950976" y="1920240"/>
            <a:ext cx="1280160" cy="365760"/>
          </a:xfrm>
          <a:prstGeom prst="rect">
            <a:avLst/>
          </a:prstGeom>
          <a:noFill/>
          <a:ln/>
        </p:spPr>
        <p:txBody>
          <a:bodyPr wrap="square" lIns="0" tIns="0" rIns="0" bIns="0" rtlCol="0" anchor="ctr"/>
          <a:lstStyle/>
          <a:p>
            <a:pPr indent="0" marL="0">
              <a:buNone/>
            </a:pPr>
            <a:r>
              <a:rPr lang="en-US" sz="1500" b="1" dirty="0">
                <a:solidFill>
                  <a:srgbClr val="F6F4EE"/>
                </a:solidFill>
                <a:latin typeface="JetBrains Mono" pitchFamily="34" charset="0"/>
                <a:ea typeface="JetBrains Mono" pitchFamily="34" charset="-122"/>
                <a:cs typeface="JetBrains Mono" pitchFamily="34" charset="-120"/>
              </a:rPr>
              <a:t>sense()</a:t>
            </a:r>
            <a:endParaRPr lang="en-US" sz="1500" dirty="0"/>
          </a:p>
        </p:txBody>
      </p:sp>
      <p:sp>
        <p:nvSpPr>
          <p:cNvPr id="7" name="Text 4"/>
          <p:cNvSpPr txBox="1"/>
          <p:nvPr/>
        </p:nvSpPr>
        <p:spPr>
          <a:xfrm>
            <a:off x="950976" y="2377440"/>
            <a:ext cx="1280160" cy="128016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each sensor reads 1 / (1 + gain × distance to light)</a:t>
            </a:r>
            <a:endParaRPr lang="en-US" sz="1200" dirty="0"/>
          </a:p>
        </p:txBody>
      </p:sp>
      <p:sp>
        <p:nvSpPr>
          <p:cNvPr id="8" name="Text 5"/>
          <p:cNvSpPr txBox="1"/>
          <p:nvPr/>
        </p:nvSpPr>
        <p:spPr>
          <a:xfrm>
            <a:off x="2368296" y="2468880"/>
            <a:ext cx="228600" cy="457200"/>
          </a:xfrm>
          <a:prstGeom prst="rect">
            <a:avLst/>
          </a:prstGeom>
          <a:noFill/>
          <a:ln/>
        </p:spPr>
        <p:txBody>
          <a:bodyPr wrap="square" lIns="0" tIns="0" rIns="0" bIns="0" rtlCol="0" anchor="ctr"/>
          <a:lstStyle/>
          <a:p>
            <a:pPr algn="ctr" indent="0" marL="0">
              <a:buNone/>
            </a:pPr>
            <a:r>
              <a:rPr lang="en-US" sz="1800" b="1" dirty="0">
                <a:solidFill>
                  <a:srgbClr val="5E6878"/>
                </a:solidFill>
                <a:latin typeface="IBM Plex Sans" pitchFamily="34" charset="0"/>
                <a:ea typeface="IBM Plex Sans" pitchFamily="34" charset="-122"/>
                <a:cs typeface="IBM Plex Sans" pitchFamily="34" charset="-120"/>
              </a:rPr>
              <a:t>→</a:t>
            </a:r>
            <a:endParaRPr lang="en-US" sz="1800" dirty="0"/>
          </a:p>
        </p:txBody>
      </p:sp>
      <p:sp>
        <p:nvSpPr>
          <p:cNvPr id="9" name="Shape 6"/>
          <p:cNvSpPr/>
          <p:nvPr/>
        </p:nvSpPr>
        <p:spPr>
          <a:xfrm>
            <a:off x="2596896" y="1783080"/>
            <a:ext cx="1554480" cy="2011680"/>
          </a:xfrm>
          <a:prstGeom prst="roundRect">
            <a:avLst>
              <a:gd name="adj" fmla="val 4706"/>
            </a:avLst>
          </a:prstGeom>
          <a:solidFill>
            <a:srgbClr val="B4521C"/>
          </a:solidFill>
          <a:ln w="12700">
            <a:solidFill>
              <a:srgbClr val="B4521C"/>
            </a:solidFill>
            <a:prstDash val="solid"/>
          </a:ln>
        </p:spPr>
      </p:sp>
      <p:sp>
        <p:nvSpPr>
          <p:cNvPr id="10" name="Text 7"/>
          <p:cNvSpPr txBox="1"/>
          <p:nvPr/>
        </p:nvSpPr>
        <p:spPr>
          <a:xfrm>
            <a:off x="2734056" y="1920240"/>
            <a:ext cx="1280160" cy="365760"/>
          </a:xfrm>
          <a:prstGeom prst="rect">
            <a:avLst/>
          </a:prstGeom>
          <a:noFill/>
          <a:ln/>
        </p:spPr>
        <p:txBody>
          <a:bodyPr wrap="square" lIns="0" tIns="0" rIns="0" bIns="0" rtlCol="0" anchor="ctr"/>
          <a:lstStyle/>
          <a:p>
            <a:pPr indent="0" marL="0">
              <a:buNone/>
            </a:pPr>
            <a:r>
              <a:rPr lang="en-US" sz="1500" b="1" dirty="0">
                <a:solidFill>
                  <a:srgbClr val="F6F4EE"/>
                </a:solidFill>
                <a:latin typeface="JetBrains Mono" pitchFamily="34" charset="0"/>
                <a:ea typeface="JetBrains Mono" pitchFamily="34" charset="-122"/>
                <a:cs typeface="JetBrains Mono" pitchFamily="34" charset="-120"/>
              </a:rPr>
              <a:t>think()</a:t>
            </a:r>
            <a:endParaRPr lang="en-US" sz="1500" dirty="0"/>
          </a:p>
        </p:txBody>
      </p:sp>
      <p:sp>
        <p:nvSpPr>
          <p:cNvPr id="11" name="Text 8"/>
          <p:cNvSpPr txBox="1"/>
          <p:nvPr/>
        </p:nvSpPr>
        <p:spPr>
          <a:xfrm>
            <a:off x="2734056" y="2377440"/>
            <a:ext cx="1280160" cy="128016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two sensor values become two motor values</a:t>
            </a:r>
            <a:endParaRPr lang="en-US" sz="1200" dirty="0"/>
          </a:p>
        </p:txBody>
      </p:sp>
      <p:sp>
        <p:nvSpPr>
          <p:cNvPr id="12" name="Text 9"/>
          <p:cNvSpPr txBox="1"/>
          <p:nvPr/>
        </p:nvSpPr>
        <p:spPr>
          <a:xfrm>
            <a:off x="4151376" y="2468880"/>
            <a:ext cx="228600" cy="457200"/>
          </a:xfrm>
          <a:prstGeom prst="rect">
            <a:avLst/>
          </a:prstGeom>
          <a:noFill/>
          <a:ln/>
        </p:spPr>
        <p:txBody>
          <a:bodyPr wrap="square" lIns="0" tIns="0" rIns="0" bIns="0" rtlCol="0" anchor="ctr"/>
          <a:lstStyle/>
          <a:p>
            <a:pPr algn="ctr" indent="0" marL="0">
              <a:buNone/>
            </a:pPr>
            <a:r>
              <a:rPr lang="en-US" sz="1800" b="1" dirty="0">
                <a:solidFill>
                  <a:srgbClr val="5E6878"/>
                </a:solidFill>
                <a:latin typeface="IBM Plex Sans" pitchFamily="34" charset="0"/>
                <a:ea typeface="IBM Plex Sans" pitchFamily="34" charset="-122"/>
                <a:cs typeface="IBM Plex Sans" pitchFamily="34" charset="-120"/>
              </a:rPr>
              <a:t>→</a:t>
            </a:r>
            <a:endParaRPr lang="en-US" sz="1800" dirty="0"/>
          </a:p>
        </p:txBody>
      </p:sp>
      <p:sp>
        <p:nvSpPr>
          <p:cNvPr id="13" name="Shape 10"/>
          <p:cNvSpPr/>
          <p:nvPr/>
        </p:nvSpPr>
        <p:spPr>
          <a:xfrm>
            <a:off x="4379976" y="1783080"/>
            <a:ext cx="1554480" cy="2011680"/>
          </a:xfrm>
          <a:prstGeom prst="roundRect">
            <a:avLst>
              <a:gd name="adj" fmla="val 4706"/>
            </a:avLst>
          </a:prstGeom>
          <a:solidFill>
            <a:srgbClr val="16213A"/>
          </a:solidFill>
          <a:ln w="12700">
            <a:solidFill>
              <a:srgbClr val="16213A"/>
            </a:solidFill>
            <a:prstDash val="solid"/>
          </a:ln>
        </p:spPr>
      </p:sp>
      <p:sp>
        <p:nvSpPr>
          <p:cNvPr id="14" name="Text 11"/>
          <p:cNvSpPr txBox="1"/>
          <p:nvPr/>
        </p:nvSpPr>
        <p:spPr>
          <a:xfrm>
            <a:off x="4517136" y="1920240"/>
            <a:ext cx="1280160" cy="365760"/>
          </a:xfrm>
          <a:prstGeom prst="rect">
            <a:avLst/>
          </a:prstGeom>
          <a:noFill/>
          <a:ln/>
        </p:spPr>
        <p:txBody>
          <a:bodyPr wrap="square" lIns="0" tIns="0" rIns="0" bIns="0" rtlCol="0" anchor="ctr"/>
          <a:lstStyle/>
          <a:p>
            <a:pPr indent="0" marL="0">
              <a:buNone/>
            </a:pPr>
            <a:r>
              <a:rPr lang="en-US" sz="1500" b="1" dirty="0">
                <a:solidFill>
                  <a:srgbClr val="F6F4EE"/>
                </a:solidFill>
                <a:latin typeface="JetBrains Mono" pitchFamily="34" charset="0"/>
                <a:ea typeface="JetBrains Mono" pitchFamily="34" charset="-122"/>
                <a:cs typeface="JetBrains Mono" pitchFamily="34" charset="-120"/>
              </a:rPr>
              <a:t>move()</a:t>
            </a:r>
            <a:endParaRPr lang="en-US" sz="1500" dirty="0"/>
          </a:p>
        </p:txBody>
      </p:sp>
      <p:sp>
        <p:nvSpPr>
          <p:cNvPr id="15" name="Text 12"/>
          <p:cNvSpPr txBox="1"/>
          <p:nvPr/>
        </p:nvSpPr>
        <p:spPr>
          <a:xfrm>
            <a:off x="4517136" y="2377440"/>
            <a:ext cx="1280160" cy="128016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motor difference turns, motor average drives</a:t>
            </a:r>
            <a:endParaRPr lang="en-US" sz="1200" dirty="0"/>
          </a:p>
        </p:txBody>
      </p:sp>
      <p:sp>
        <p:nvSpPr>
          <p:cNvPr id="16" name="Text 13"/>
          <p:cNvSpPr txBox="1"/>
          <p:nvPr/>
        </p:nvSpPr>
        <p:spPr>
          <a:xfrm>
            <a:off x="813816" y="4114800"/>
            <a:ext cx="5120640" cy="17373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3E4A5C"/>
                </a:solidFill>
                <a:latin typeface="IBM Plex Sans" pitchFamily="34" charset="0"/>
                <a:ea typeface="IBM Plex Sans" pitchFamily="34" charset="-122"/>
                <a:cs typeface="IBM Plex Sans" pitchFamily="34" charset="-120"/>
              </a:rPr>
              <a:t>Light at the origin. Start on a </a:t>
            </a:r>
            <a:pPr indent="0" marL="0">
              <a:spcAft>
                <a:spcPts val="800"/>
              </a:spcAft>
              <a:buNone/>
            </a:pPr>
            <a:r>
              <a:rPr lang="en-US" sz="1300" b="1" dirty="0">
                <a:solidFill>
                  <a:srgbClr val="16213A"/>
                </a:solidFill>
                <a:latin typeface="IBM Plex Sans" pitchFamily="34" charset="0"/>
                <a:ea typeface="IBM Plex Sans" pitchFamily="34" charset="-122"/>
                <a:cs typeface="IBM Plex Sans" pitchFamily="34" charset="-120"/>
              </a:rPr>
              <a:t>random point 5 units away</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 random heading.</a:t>
            </a:r>
            <a:endParaRPr lang="en-US" sz="1300" dirty="0"/>
          </a:p>
          <a:p>
            <a:pPr marL="203200" indent="-203200">
              <a:spcAft>
                <a:spcPts val="800"/>
              </a:spcAft>
              <a:buSzPct val="100000"/>
              <a:buChar char="•"/>
            </a:pPr>
            <a:r>
              <a:rPr lang="en-US" sz="1300" dirty="0">
                <a:solidFill>
                  <a:srgbClr val="3E4A5C"/>
                </a:solidFill>
                <a:latin typeface="IBM Plex Sans" pitchFamily="34" charset="0"/>
                <a:ea typeface="IBM Plex Sans" pitchFamily="34" charset="-122"/>
                <a:cs typeface="IBM Plex Sans" pitchFamily="34" charset="-120"/>
              </a:rPr>
              <a:t>Turn = </a:t>
            </a:r>
            <a:pPr indent="0" marL="0">
              <a:spcAft>
                <a:spcPts val="800"/>
              </a:spcAft>
              <a:buNone/>
            </a:pPr>
            <a:r>
              <a:rPr lang="en-US" sz="1300" b="1" dirty="0">
                <a:solidFill>
                  <a:srgbClr val="16213A"/>
                </a:solidFill>
                <a:latin typeface="IBM Plex Sans" pitchFamily="34" charset="0"/>
                <a:ea typeface="IBM Plex Sans" pitchFamily="34" charset="-122"/>
                <a:cs typeface="IBM Plex Sans" pitchFamily="34" charset="-120"/>
              </a:rPr>
              <a:t>turngain × (right − left)</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 + noise.</a:t>
            </a:r>
            <a:endParaRPr lang="en-US" sz="1300" dirty="0"/>
          </a:p>
          <a:p>
            <a:pPr marL="203200" indent="-203200">
              <a:spcAft>
                <a:spcPts val="800"/>
              </a:spcAft>
              <a:buSzPct val="100000"/>
              <a:buChar char="•"/>
            </a:pPr>
            <a:r>
              <a:rPr lang="en-US" sz="1300" dirty="0">
                <a:solidFill>
                  <a:srgbClr val="3E4A5C"/>
                </a:solidFill>
                <a:latin typeface="IBM Plex Sans" pitchFamily="34" charset="0"/>
                <a:ea typeface="IBM Plex Sans" pitchFamily="34" charset="-122"/>
                <a:cs typeface="IBM Plex Sans" pitchFamily="34" charset="-120"/>
              </a:rPr>
              <a:t>Speed = </a:t>
            </a:r>
            <a:pPr indent="0" marL="0">
              <a:spcAft>
                <a:spcPts val="800"/>
              </a:spcAft>
              <a:buNone/>
            </a:pPr>
            <a:r>
              <a:rPr lang="en-US" sz="1300" b="1" dirty="0">
                <a:solidFill>
                  <a:srgbClr val="16213A"/>
                </a:solidFill>
                <a:latin typeface="IBM Plex Sans" pitchFamily="34" charset="0"/>
                <a:ea typeface="IBM Plex Sans" pitchFamily="34" charset="-122"/>
                <a:cs typeface="IBM Plex Sans" pitchFamily="34" charset="-120"/>
              </a:rPr>
              <a:t>velgain × mean(left, right)</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a:t>
            </a:r>
            <a:endParaRPr lang="en-US" sz="1300" dirty="0"/>
          </a:p>
        </p:txBody>
      </p:sp>
      <p:sp>
        <p:nvSpPr>
          <p:cNvPr id="17" name="Shape 14"/>
          <p:cNvSpPr/>
          <p:nvPr/>
        </p:nvSpPr>
        <p:spPr>
          <a:xfrm>
            <a:off x="6309360" y="1783080"/>
            <a:ext cx="5065776" cy="2926080"/>
          </a:xfrm>
          <a:prstGeom prst="roundRect">
            <a:avLst>
              <a:gd name="adj" fmla="val 2500"/>
            </a:avLst>
          </a:prstGeom>
          <a:solidFill>
            <a:srgbClr val="16213A"/>
          </a:solidFill>
          <a:ln w="12700">
            <a:solidFill>
              <a:srgbClr val="16213A"/>
            </a:solidFill>
            <a:prstDash val="solid"/>
          </a:ln>
        </p:spPr>
      </p:sp>
      <p:sp>
        <p:nvSpPr>
          <p:cNvPr id="18" name="Text 15"/>
          <p:cNvSpPr txBox="1"/>
          <p:nvPr/>
        </p:nvSpPr>
        <p:spPr>
          <a:xfrm>
            <a:off x="6537960" y="1965960"/>
            <a:ext cx="4608576" cy="2560320"/>
          </a:xfrm>
          <a:prstGeom prst="rect">
            <a:avLst/>
          </a:prstGeom>
          <a:noFill/>
          <a:ln/>
        </p:spPr>
        <p:txBody>
          <a:bodyPr wrap="square" lIns="0" tIns="0" rIns="0" bIns="0" rtlCol="0" anchor="t"/>
          <a:lstStyle/>
          <a:p>
            <a:pPr indent="0" marL="0">
              <a:spcAft>
                <a:spcPts val="200"/>
              </a:spcAft>
              <a:buNone/>
            </a:pPr>
            <a:r>
              <a:rPr lang="en-US" sz="1100" dirty="0">
                <a:solidFill>
                  <a:srgbClr val="8FA0B8"/>
                </a:solidFill>
                <a:latin typeface="JetBrains Mono" pitchFamily="34" charset="0"/>
                <a:ea typeface="JetBrains Mono" pitchFamily="34" charset="-122"/>
                <a:cs typeface="JetBrains Mono" pitchFamily="34" charset="-120"/>
              </a:rPr>
              <a:t># env.py: Braitenberg (trimmed)</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def sense(self, light):</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self.sensors[0] = 1/(1 + gain * left_dist)</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self.sensors[1] = 1/(1 + gain * right_dist)</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def think(self):</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self.motors = self.controller.forward(self.sensors)[0]</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def move(self):</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self.orientation += turngain*(m[1]-m[0]) + noise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self.velocity = velgain*(m[0]+m[1])/2</a:t>
            </a:r>
            <a:endParaRPr lang="en-US" sz="1100" dirty="0"/>
          </a:p>
        </p:txBody>
      </p:sp>
      <p:sp>
        <p:nvSpPr>
          <p:cNvPr id="19" name="Text 16"/>
          <p:cNvSpPr txBox="1"/>
          <p:nvPr/>
        </p:nvSpPr>
        <p:spPr>
          <a:xfrm>
            <a:off x="6309360" y="4892040"/>
            <a:ext cx="5065776" cy="365760"/>
          </a:xfrm>
          <a:prstGeom prst="rect">
            <a:avLst/>
          </a:prstGeom>
          <a:noFill/>
          <a:ln/>
        </p:spPr>
        <p:txBody>
          <a:bodyPr wrap="square" lIns="0" tIns="0" rIns="0" bIns="0" rtlCol="0" anchor="ctr"/>
          <a:lstStyle/>
          <a:p>
            <a:pPr indent="0" marL="0">
              <a:buNone/>
            </a:pPr>
            <a:r>
              <a:rPr lang="en-US" sz="1300" i="1" dirty="0">
                <a:solidFill>
                  <a:srgbClr val="3E4A5C"/>
                </a:solidFill>
                <a:latin typeface="IBM Plex Sans" pitchFamily="34" charset="0"/>
                <a:ea typeface="IBM Plex Sans" pitchFamily="34" charset="-122"/>
                <a:cs typeface="IBM Plex Sans" pitchFamily="34" charset="-120"/>
              </a:rPr>
              <a:t>The brain is whatever object sits in self.controller.</a:t>
            </a:r>
            <a:endParaRPr lang="en-US" sz="1300" dirty="0"/>
          </a:p>
        </p:txBody>
      </p:sp>
      <p:sp>
        <p:nvSpPr>
          <p:cNvPr id="20" name="Text 17"/>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PythonBasics/Unit4/env.py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RECAP · THE ALGORITHM</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The evolutionary algorithm: one tournament</a:t>
            </a:r>
            <a:endParaRPr lang="en-US" sz="3200" dirty="0"/>
          </a:p>
        </p:txBody>
      </p:sp>
      <p:sp>
        <p:nvSpPr>
          <p:cNvPr id="5" name="Shape 2"/>
          <p:cNvSpPr/>
          <p:nvPr/>
        </p:nvSpPr>
        <p:spPr>
          <a:xfrm>
            <a:off x="813816" y="1783080"/>
            <a:ext cx="1920240" cy="1783080"/>
          </a:xfrm>
          <a:prstGeom prst="roundRect">
            <a:avLst>
              <a:gd name="adj" fmla="val 4103"/>
            </a:avLst>
          </a:prstGeom>
          <a:solidFill>
            <a:srgbClr val="FFFDF8"/>
          </a:solidFill>
          <a:ln w="12700">
            <a:solidFill>
              <a:srgbClr val="E2DDD0"/>
            </a:solidFill>
            <a:prstDash val="solid"/>
          </a:ln>
        </p:spPr>
      </p:sp>
      <p:sp>
        <p:nvSpPr>
          <p:cNvPr id="6" name="Shape 3"/>
          <p:cNvSpPr/>
          <p:nvPr/>
        </p:nvSpPr>
        <p:spPr>
          <a:xfrm>
            <a:off x="996696" y="1947672"/>
            <a:ext cx="384048" cy="384048"/>
          </a:xfrm>
          <a:prstGeom prst="ellipse">
            <a:avLst/>
          </a:prstGeom>
          <a:solidFill>
            <a:srgbClr val="1D6F66"/>
          </a:solidFill>
          <a:ln w="12700">
            <a:solidFill>
              <a:srgbClr val="1D6F66"/>
            </a:solidFill>
            <a:prstDash val="solid"/>
          </a:ln>
        </p:spPr>
      </p:sp>
      <p:sp>
        <p:nvSpPr>
          <p:cNvPr id="7" name="Text 4"/>
          <p:cNvSpPr txBox="1"/>
          <p:nvPr/>
        </p:nvSpPr>
        <p:spPr>
          <a:xfrm>
            <a:off x="996696" y="1947672"/>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1</a:t>
            </a:r>
            <a:endParaRPr lang="en-US" sz="1400" dirty="0"/>
          </a:p>
        </p:txBody>
      </p:sp>
      <p:sp>
        <p:nvSpPr>
          <p:cNvPr id="8" name="Text 5"/>
          <p:cNvSpPr txBox="1"/>
          <p:nvPr/>
        </p:nvSpPr>
        <p:spPr>
          <a:xfrm>
            <a:off x="996696" y="2468880"/>
            <a:ext cx="1600200" cy="320040"/>
          </a:xfrm>
          <a:prstGeom prst="rect">
            <a:avLst/>
          </a:prstGeom>
          <a:noFill/>
          <a:ln/>
        </p:spPr>
        <p:txBody>
          <a:bodyPr wrap="square" lIns="0" tIns="0" rIns="0" bIns="0" rtlCol="0" anchor="ctr"/>
          <a:lstStyle/>
          <a:p>
            <a:pPr indent="0" marL="0">
              <a:buNone/>
            </a:pPr>
            <a:r>
              <a:rPr lang="en-US" sz="1600" b="1" dirty="0">
                <a:solidFill>
                  <a:srgbClr val="16213A"/>
                </a:solidFill>
                <a:latin typeface="IBM Plex Sans" pitchFamily="34" charset="0"/>
                <a:ea typeface="IBM Plex Sans" pitchFamily="34" charset="-122"/>
                <a:cs typeface="IBM Plex Sans" pitchFamily="34" charset="-120"/>
              </a:rPr>
              <a:t>Pick two</a:t>
            </a:r>
            <a:endParaRPr lang="en-US" sz="1600" dirty="0"/>
          </a:p>
        </p:txBody>
      </p:sp>
      <p:sp>
        <p:nvSpPr>
          <p:cNvPr id="9" name="Text 6"/>
          <p:cNvSpPr txBox="1"/>
          <p:nvPr/>
        </p:nvSpPr>
        <p:spPr>
          <a:xfrm>
            <a:off x="996696" y="2788920"/>
            <a:ext cx="1600200" cy="7315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Random a, and a neighbor b within a deme of 5</a:t>
            </a:r>
            <a:endParaRPr lang="en-US" sz="1200" dirty="0"/>
          </a:p>
        </p:txBody>
      </p:sp>
      <p:sp>
        <p:nvSpPr>
          <p:cNvPr id="10" name="Text 7"/>
          <p:cNvSpPr txBox="1"/>
          <p:nvPr/>
        </p:nvSpPr>
        <p:spPr>
          <a:xfrm>
            <a:off x="2715768" y="2377440"/>
            <a:ext cx="274320" cy="365760"/>
          </a:xfrm>
          <a:prstGeom prst="rect">
            <a:avLst/>
          </a:prstGeom>
          <a:noFill/>
          <a:ln/>
        </p:spPr>
        <p:txBody>
          <a:bodyPr wrap="square" lIns="0" tIns="0" rIns="0" bIns="0" rtlCol="0" anchor="ctr"/>
          <a:lstStyle/>
          <a:p>
            <a:pPr algn="ctr" indent="0" marL="0">
              <a:buNone/>
            </a:pPr>
            <a:r>
              <a:rPr lang="en-US" sz="1600" b="1" dirty="0">
                <a:solidFill>
                  <a:srgbClr val="5E6878"/>
                </a:solidFill>
                <a:latin typeface="IBM Plex Sans" pitchFamily="34" charset="0"/>
                <a:ea typeface="IBM Plex Sans" pitchFamily="34" charset="-122"/>
                <a:cs typeface="IBM Plex Sans" pitchFamily="34" charset="-120"/>
              </a:rPr>
              <a:t>→</a:t>
            </a:r>
            <a:endParaRPr lang="en-US" sz="1600" dirty="0"/>
          </a:p>
        </p:txBody>
      </p:sp>
      <p:sp>
        <p:nvSpPr>
          <p:cNvPr id="11" name="Shape 8"/>
          <p:cNvSpPr/>
          <p:nvPr/>
        </p:nvSpPr>
        <p:spPr>
          <a:xfrm>
            <a:off x="2980944" y="1783080"/>
            <a:ext cx="1920240" cy="1783080"/>
          </a:xfrm>
          <a:prstGeom prst="roundRect">
            <a:avLst>
              <a:gd name="adj" fmla="val 4103"/>
            </a:avLst>
          </a:prstGeom>
          <a:solidFill>
            <a:srgbClr val="FFFDF8"/>
          </a:solidFill>
          <a:ln w="12700">
            <a:solidFill>
              <a:srgbClr val="E2DDD0"/>
            </a:solidFill>
            <a:prstDash val="solid"/>
          </a:ln>
        </p:spPr>
      </p:sp>
      <p:sp>
        <p:nvSpPr>
          <p:cNvPr id="12" name="Shape 9"/>
          <p:cNvSpPr/>
          <p:nvPr/>
        </p:nvSpPr>
        <p:spPr>
          <a:xfrm>
            <a:off x="3163824" y="1947672"/>
            <a:ext cx="384048" cy="384048"/>
          </a:xfrm>
          <a:prstGeom prst="ellipse">
            <a:avLst/>
          </a:prstGeom>
          <a:solidFill>
            <a:srgbClr val="1D6F66"/>
          </a:solidFill>
          <a:ln w="12700">
            <a:solidFill>
              <a:srgbClr val="1D6F66"/>
            </a:solidFill>
            <a:prstDash val="solid"/>
          </a:ln>
        </p:spPr>
      </p:sp>
      <p:sp>
        <p:nvSpPr>
          <p:cNvPr id="13" name="Text 10"/>
          <p:cNvSpPr txBox="1"/>
          <p:nvPr/>
        </p:nvSpPr>
        <p:spPr>
          <a:xfrm>
            <a:off x="3163824" y="1947672"/>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2</a:t>
            </a:r>
            <a:endParaRPr lang="en-US" sz="1400" dirty="0"/>
          </a:p>
        </p:txBody>
      </p:sp>
      <p:sp>
        <p:nvSpPr>
          <p:cNvPr id="14" name="Text 11"/>
          <p:cNvSpPr txBox="1"/>
          <p:nvPr/>
        </p:nvSpPr>
        <p:spPr>
          <a:xfrm>
            <a:off x="3163824" y="2468880"/>
            <a:ext cx="1600200" cy="320040"/>
          </a:xfrm>
          <a:prstGeom prst="rect">
            <a:avLst/>
          </a:prstGeom>
          <a:noFill/>
          <a:ln/>
        </p:spPr>
        <p:txBody>
          <a:bodyPr wrap="square" lIns="0" tIns="0" rIns="0" bIns="0" rtlCol="0" anchor="ctr"/>
          <a:lstStyle/>
          <a:p>
            <a:pPr indent="0" marL="0">
              <a:buNone/>
            </a:pPr>
            <a:r>
              <a:rPr lang="en-US" sz="1600" b="1" dirty="0">
                <a:solidFill>
                  <a:srgbClr val="16213A"/>
                </a:solidFill>
                <a:latin typeface="IBM Plex Sans" pitchFamily="34" charset="0"/>
                <a:ea typeface="IBM Plex Sans" pitchFamily="34" charset="-122"/>
                <a:cs typeface="IBM Plex Sans" pitchFamily="34" charset="-120"/>
              </a:rPr>
              <a:t>Compare</a:t>
            </a:r>
            <a:endParaRPr lang="en-US" sz="1600" dirty="0"/>
          </a:p>
        </p:txBody>
      </p:sp>
      <p:sp>
        <p:nvSpPr>
          <p:cNvPr id="15" name="Text 12"/>
          <p:cNvSpPr txBox="1"/>
          <p:nvPr/>
        </p:nvSpPr>
        <p:spPr>
          <a:xfrm>
            <a:off x="3163824" y="2788920"/>
            <a:ext cx="1600200" cy="7315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The higher fitness is the winner</a:t>
            </a:r>
            <a:endParaRPr lang="en-US" sz="1200" dirty="0"/>
          </a:p>
        </p:txBody>
      </p:sp>
      <p:sp>
        <p:nvSpPr>
          <p:cNvPr id="16" name="Text 13"/>
          <p:cNvSpPr txBox="1"/>
          <p:nvPr/>
        </p:nvSpPr>
        <p:spPr>
          <a:xfrm>
            <a:off x="4882896" y="2377440"/>
            <a:ext cx="274320" cy="365760"/>
          </a:xfrm>
          <a:prstGeom prst="rect">
            <a:avLst/>
          </a:prstGeom>
          <a:noFill/>
          <a:ln/>
        </p:spPr>
        <p:txBody>
          <a:bodyPr wrap="square" lIns="0" tIns="0" rIns="0" bIns="0" rtlCol="0" anchor="ctr"/>
          <a:lstStyle/>
          <a:p>
            <a:pPr algn="ctr" indent="0" marL="0">
              <a:buNone/>
            </a:pPr>
            <a:r>
              <a:rPr lang="en-US" sz="1600" b="1" dirty="0">
                <a:solidFill>
                  <a:srgbClr val="5E6878"/>
                </a:solidFill>
                <a:latin typeface="IBM Plex Sans" pitchFamily="34" charset="0"/>
                <a:ea typeface="IBM Plex Sans" pitchFamily="34" charset="-122"/>
                <a:cs typeface="IBM Plex Sans" pitchFamily="34" charset="-120"/>
              </a:rPr>
              <a:t>→</a:t>
            </a:r>
            <a:endParaRPr lang="en-US" sz="1600" dirty="0"/>
          </a:p>
        </p:txBody>
      </p:sp>
      <p:sp>
        <p:nvSpPr>
          <p:cNvPr id="17" name="Shape 14"/>
          <p:cNvSpPr/>
          <p:nvPr/>
        </p:nvSpPr>
        <p:spPr>
          <a:xfrm>
            <a:off x="5148072" y="1783080"/>
            <a:ext cx="1920240" cy="1783080"/>
          </a:xfrm>
          <a:prstGeom prst="roundRect">
            <a:avLst>
              <a:gd name="adj" fmla="val 4103"/>
            </a:avLst>
          </a:prstGeom>
          <a:solidFill>
            <a:srgbClr val="FFFDF8"/>
          </a:solidFill>
          <a:ln w="12700">
            <a:solidFill>
              <a:srgbClr val="E2DDD0"/>
            </a:solidFill>
            <a:prstDash val="solid"/>
          </a:ln>
        </p:spPr>
      </p:sp>
      <p:sp>
        <p:nvSpPr>
          <p:cNvPr id="18" name="Shape 15"/>
          <p:cNvSpPr/>
          <p:nvPr/>
        </p:nvSpPr>
        <p:spPr>
          <a:xfrm>
            <a:off x="5330952" y="1947672"/>
            <a:ext cx="384048" cy="384048"/>
          </a:xfrm>
          <a:prstGeom prst="ellipse">
            <a:avLst/>
          </a:prstGeom>
          <a:solidFill>
            <a:srgbClr val="1D6F66"/>
          </a:solidFill>
          <a:ln w="12700">
            <a:solidFill>
              <a:srgbClr val="1D6F66"/>
            </a:solidFill>
            <a:prstDash val="solid"/>
          </a:ln>
        </p:spPr>
      </p:sp>
      <p:sp>
        <p:nvSpPr>
          <p:cNvPr id="19" name="Text 16"/>
          <p:cNvSpPr txBox="1"/>
          <p:nvPr/>
        </p:nvSpPr>
        <p:spPr>
          <a:xfrm>
            <a:off x="5330952" y="1947672"/>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3</a:t>
            </a:r>
            <a:endParaRPr lang="en-US" sz="1400" dirty="0"/>
          </a:p>
        </p:txBody>
      </p:sp>
      <p:sp>
        <p:nvSpPr>
          <p:cNvPr id="20" name="Text 17"/>
          <p:cNvSpPr txBox="1"/>
          <p:nvPr/>
        </p:nvSpPr>
        <p:spPr>
          <a:xfrm>
            <a:off x="5330952" y="2468880"/>
            <a:ext cx="1600200" cy="320040"/>
          </a:xfrm>
          <a:prstGeom prst="rect">
            <a:avLst/>
          </a:prstGeom>
          <a:noFill/>
          <a:ln/>
        </p:spPr>
        <p:txBody>
          <a:bodyPr wrap="square" lIns="0" tIns="0" rIns="0" bIns="0" rtlCol="0" anchor="ctr"/>
          <a:lstStyle/>
          <a:p>
            <a:pPr indent="0" marL="0">
              <a:buNone/>
            </a:pPr>
            <a:r>
              <a:rPr lang="en-US" sz="1600" b="1" dirty="0">
                <a:solidFill>
                  <a:srgbClr val="16213A"/>
                </a:solidFill>
                <a:latin typeface="IBM Plex Sans" pitchFamily="34" charset="0"/>
                <a:ea typeface="IBM Plex Sans" pitchFamily="34" charset="-122"/>
                <a:cs typeface="IBM Plex Sans" pitchFamily="34" charset="-120"/>
              </a:rPr>
              <a:t>Transfect</a:t>
            </a:r>
            <a:endParaRPr lang="en-US" sz="1600" dirty="0"/>
          </a:p>
        </p:txBody>
      </p:sp>
      <p:sp>
        <p:nvSpPr>
          <p:cNvPr id="21" name="Text 18"/>
          <p:cNvSpPr txBox="1"/>
          <p:nvPr/>
        </p:nvSpPr>
        <p:spPr>
          <a:xfrm>
            <a:off x="5330952" y="2788920"/>
            <a:ext cx="1600200" cy="7315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Loser takes each gene from the winner with prob. 0.5</a:t>
            </a:r>
            <a:endParaRPr lang="en-US" sz="1200" dirty="0"/>
          </a:p>
        </p:txBody>
      </p:sp>
      <p:sp>
        <p:nvSpPr>
          <p:cNvPr id="22" name="Text 19"/>
          <p:cNvSpPr txBox="1"/>
          <p:nvPr/>
        </p:nvSpPr>
        <p:spPr>
          <a:xfrm>
            <a:off x="7050024" y="2377440"/>
            <a:ext cx="274320" cy="365760"/>
          </a:xfrm>
          <a:prstGeom prst="rect">
            <a:avLst/>
          </a:prstGeom>
          <a:noFill/>
          <a:ln/>
        </p:spPr>
        <p:txBody>
          <a:bodyPr wrap="square" lIns="0" tIns="0" rIns="0" bIns="0" rtlCol="0" anchor="ctr"/>
          <a:lstStyle/>
          <a:p>
            <a:pPr algn="ctr" indent="0" marL="0">
              <a:buNone/>
            </a:pPr>
            <a:r>
              <a:rPr lang="en-US" sz="1600" b="1" dirty="0">
                <a:solidFill>
                  <a:srgbClr val="5E6878"/>
                </a:solidFill>
                <a:latin typeface="IBM Plex Sans" pitchFamily="34" charset="0"/>
                <a:ea typeface="IBM Plex Sans" pitchFamily="34" charset="-122"/>
                <a:cs typeface="IBM Plex Sans" pitchFamily="34" charset="-120"/>
              </a:rPr>
              <a:t>→</a:t>
            </a:r>
            <a:endParaRPr lang="en-US" sz="1600" dirty="0"/>
          </a:p>
        </p:txBody>
      </p:sp>
      <p:sp>
        <p:nvSpPr>
          <p:cNvPr id="23" name="Shape 20"/>
          <p:cNvSpPr/>
          <p:nvPr/>
        </p:nvSpPr>
        <p:spPr>
          <a:xfrm>
            <a:off x="7315200" y="1783080"/>
            <a:ext cx="1920240" cy="1783080"/>
          </a:xfrm>
          <a:prstGeom prst="roundRect">
            <a:avLst>
              <a:gd name="adj" fmla="val 4103"/>
            </a:avLst>
          </a:prstGeom>
          <a:solidFill>
            <a:srgbClr val="FFFDF8"/>
          </a:solidFill>
          <a:ln w="12700">
            <a:solidFill>
              <a:srgbClr val="E2DDD0"/>
            </a:solidFill>
            <a:prstDash val="solid"/>
          </a:ln>
        </p:spPr>
      </p:sp>
      <p:sp>
        <p:nvSpPr>
          <p:cNvPr id="24" name="Shape 21"/>
          <p:cNvSpPr/>
          <p:nvPr/>
        </p:nvSpPr>
        <p:spPr>
          <a:xfrm>
            <a:off x="7498080" y="1947672"/>
            <a:ext cx="384048" cy="384048"/>
          </a:xfrm>
          <a:prstGeom prst="ellipse">
            <a:avLst/>
          </a:prstGeom>
          <a:solidFill>
            <a:srgbClr val="1D6F66"/>
          </a:solidFill>
          <a:ln w="12700">
            <a:solidFill>
              <a:srgbClr val="1D6F66"/>
            </a:solidFill>
            <a:prstDash val="solid"/>
          </a:ln>
        </p:spPr>
      </p:sp>
      <p:sp>
        <p:nvSpPr>
          <p:cNvPr id="25" name="Text 22"/>
          <p:cNvSpPr txBox="1"/>
          <p:nvPr/>
        </p:nvSpPr>
        <p:spPr>
          <a:xfrm>
            <a:off x="7498080" y="1947672"/>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4</a:t>
            </a:r>
            <a:endParaRPr lang="en-US" sz="1400" dirty="0"/>
          </a:p>
        </p:txBody>
      </p:sp>
      <p:sp>
        <p:nvSpPr>
          <p:cNvPr id="26" name="Text 23"/>
          <p:cNvSpPr txBox="1"/>
          <p:nvPr/>
        </p:nvSpPr>
        <p:spPr>
          <a:xfrm>
            <a:off x="7498080" y="2468880"/>
            <a:ext cx="1600200" cy="320040"/>
          </a:xfrm>
          <a:prstGeom prst="rect">
            <a:avLst/>
          </a:prstGeom>
          <a:noFill/>
          <a:ln/>
        </p:spPr>
        <p:txBody>
          <a:bodyPr wrap="square" lIns="0" tIns="0" rIns="0" bIns="0" rtlCol="0" anchor="ctr"/>
          <a:lstStyle/>
          <a:p>
            <a:pPr indent="0" marL="0">
              <a:buNone/>
            </a:pPr>
            <a:r>
              <a:rPr lang="en-US" sz="1600" b="1" dirty="0">
                <a:solidFill>
                  <a:srgbClr val="16213A"/>
                </a:solidFill>
                <a:latin typeface="IBM Plex Sans" pitchFamily="34" charset="0"/>
                <a:ea typeface="IBM Plex Sans" pitchFamily="34" charset="-122"/>
                <a:cs typeface="IBM Plex Sans" pitchFamily="34" charset="-120"/>
              </a:rPr>
              <a:t>Mutate</a:t>
            </a:r>
            <a:endParaRPr lang="en-US" sz="1600" dirty="0"/>
          </a:p>
        </p:txBody>
      </p:sp>
      <p:sp>
        <p:nvSpPr>
          <p:cNvPr id="27" name="Text 24"/>
          <p:cNvSpPr txBox="1"/>
          <p:nvPr/>
        </p:nvSpPr>
        <p:spPr>
          <a:xfrm>
            <a:off x="7498080" y="2788920"/>
            <a:ext cx="1600200" cy="7315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Add Gaussian noise (std 0.05), clip to [−1, 1]</a:t>
            </a:r>
            <a:endParaRPr lang="en-US" sz="1200" dirty="0"/>
          </a:p>
        </p:txBody>
      </p:sp>
      <p:sp>
        <p:nvSpPr>
          <p:cNvPr id="28" name="Text 25"/>
          <p:cNvSpPr txBox="1"/>
          <p:nvPr/>
        </p:nvSpPr>
        <p:spPr>
          <a:xfrm>
            <a:off x="9217152" y="2377440"/>
            <a:ext cx="274320" cy="365760"/>
          </a:xfrm>
          <a:prstGeom prst="rect">
            <a:avLst/>
          </a:prstGeom>
          <a:noFill/>
          <a:ln/>
        </p:spPr>
        <p:txBody>
          <a:bodyPr wrap="square" lIns="0" tIns="0" rIns="0" bIns="0" rtlCol="0" anchor="ctr"/>
          <a:lstStyle/>
          <a:p>
            <a:pPr algn="ctr" indent="0" marL="0">
              <a:buNone/>
            </a:pPr>
            <a:r>
              <a:rPr lang="en-US" sz="1600" b="1" dirty="0">
                <a:solidFill>
                  <a:srgbClr val="5E6878"/>
                </a:solidFill>
                <a:latin typeface="IBM Plex Sans" pitchFamily="34" charset="0"/>
                <a:ea typeface="IBM Plex Sans" pitchFamily="34" charset="-122"/>
                <a:cs typeface="IBM Plex Sans" pitchFamily="34" charset="-120"/>
              </a:rPr>
              <a:t>→</a:t>
            </a:r>
            <a:endParaRPr lang="en-US" sz="1600" dirty="0"/>
          </a:p>
        </p:txBody>
      </p:sp>
      <p:sp>
        <p:nvSpPr>
          <p:cNvPr id="29" name="Shape 26"/>
          <p:cNvSpPr/>
          <p:nvPr/>
        </p:nvSpPr>
        <p:spPr>
          <a:xfrm>
            <a:off x="9482328" y="1783080"/>
            <a:ext cx="1920240" cy="1783080"/>
          </a:xfrm>
          <a:prstGeom prst="roundRect">
            <a:avLst>
              <a:gd name="adj" fmla="val 4103"/>
            </a:avLst>
          </a:prstGeom>
          <a:solidFill>
            <a:srgbClr val="FFFDF8"/>
          </a:solidFill>
          <a:ln w="12700">
            <a:solidFill>
              <a:srgbClr val="E2DDD0"/>
            </a:solidFill>
            <a:prstDash val="solid"/>
          </a:ln>
        </p:spPr>
      </p:sp>
      <p:sp>
        <p:nvSpPr>
          <p:cNvPr id="30" name="Shape 27"/>
          <p:cNvSpPr/>
          <p:nvPr/>
        </p:nvSpPr>
        <p:spPr>
          <a:xfrm>
            <a:off x="9665208" y="1947672"/>
            <a:ext cx="384048" cy="384048"/>
          </a:xfrm>
          <a:prstGeom prst="ellipse">
            <a:avLst/>
          </a:prstGeom>
          <a:solidFill>
            <a:srgbClr val="B4521C"/>
          </a:solidFill>
          <a:ln w="12700">
            <a:solidFill>
              <a:srgbClr val="B4521C"/>
            </a:solidFill>
            <a:prstDash val="solid"/>
          </a:ln>
        </p:spPr>
      </p:sp>
      <p:sp>
        <p:nvSpPr>
          <p:cNvPr id="31" name="Text 28"/>
          <p:cNvSpPr txBox="1"/>
          <p:nvPr/>
        </p:nvSpPr>
        <p:spPr>
          <a:xfrm>
            <a:off x="9665208" y="1947672"/>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5</a:t>
            </a:r>
            <a:endParaRPr lang="en-US" sz="1400" dirty="0"/>
          </a:p>
        </p:txBody>
      </p:sp>
      <p:sp>
        <p:nvSpPr>
          <p:cNvPr id="32" name="Text 29"/>
          <p:cNvSpPr txBox="1"/>
          <p:nvPr/>
        </p:nvSpPr>
        <p:spPr>
          <a:xfrm>
            <a:off x="9665208" y="2468880"/>
            <a:ext cx="1600200" cy="320040"/>
          </a:xfrm>
          <a:prstGeom prst="rect">
            <a:avLst/>
          </a:prstGeom>
          <a:noFill/>
          <a:ln/>
        </p:spPr>
        <p:txBody>
          <a:bodyPr wrap="square" lIns="0" tIns="0" rIns="0" bIns="0" rtlCol="0" anchor="ctr"/>
          <a:lstStyle/>
          <a:p>
            <a:pPr indent="0" marL="0">
              <a:buNone/>
            </a:pPr>
            <a:r>
              <a:rPr lang="en-US" sz="1600" b="1" dirty="0">
                <a:solidFill>
                  <a:srgbClr val="16213A"/>
                </a:solidFill>
                <a:latin typeface="IBM Plex Sans" pitchFamily="34" charset="0"/>
                <a:ea typeface="IBM Plex Sans" pitchFamily="34" charset="-122"/>
                <a:cs typeface="IBM Plex Sans" pitchFamily="34" charset="-120"/>
              </a:rPr>
              <a:t>Re-score</a:t>
            </a:r>
            <a:endParaRPr lang="en-US" sz="1600" dirty="0"/>
          </a:p>
        </p:txBody>
      </p:sp>
      <p:sp>
        <p:nvSpPr>
          <p:cNvPr id="33" name="Text 30"/>
          <p:cNvSpPr txBox="1"/>
          <p:nvPr/>
        </p:nvSpPr>
        <p:spPr>
          <a:xfrm>
            <a:off x="9665208" y="2788920"/>
            <a:ext cx="1600200" cy="7315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Only the loser gets a new fitness evaluation</a:t>
            </a:r>
            <a:endParaRPr lang="en-US" sz="1200" dirty="0"/>
          </a:p>
        </p:txBody>
      </p:sp>
      <p:sp>
        <p:nvSpPr>
          <p:cNvPr id="34" name="Shape 31"/>
          <p:cNvSpPr/>
          <p:nvPr/>
        </p:nvSpPr>
        <p:spPr>
          <a:xfrm>
            <a:off x="813816" y="3931920"/>
            <a:ext cx="10561320" cy="822960"/>
          </a:xfrm>
          <a:prstGeom prst="roundRect">
            <a:avLst>
              <a:gd name="adj" fmla="val 8889"/>
            </a:avLst>
          </a:prstGeom>
          <a:solidFill>
            <a:srgbClr val="ECE8DE"/>
          </a:solidFill>
          <a:ln w="12700">
            <a:solidFill>
              <a:srgbClr val="ECE8DE"/>
            </a:solidFill>
            <a:prstDash val="solid"/>
          </a:ln>
        </p:spPr>
      </p:sp>
      <p:sp>
        <p:nvSpPr>
          <p:cNvPr id="35" name="Text 32"/>
          <p:cNvSpPr txBox="1"/>
          <p:nvPr/>
        </p:nvSpPr>
        <p:spPr>
          <a:xfrm>
            <a:off x="1088136" y="4005072"/>
            <a:ext cx="1828800" cy="365760"/>
          </a:xfrm>
          <a:prstGeom prst="rect">
            <a:avLst/>
          </a:prstGeom>
          <a:noFill/>
          <a:ln/>
        </p:spPr>
        <p:txBody>
          <a:bodyPr wrap="square" lIns="0" tIns="0" rIns="0" bIns="0" rtlCol="0" anchor="ctr"/>
          <a:lstStyle/>
          <a:p>
            <a:pPr indent="0" marL="0">
              <a:buNone/>
            </a:pPr>
            <a:r>
              <a:rPr lang="en-US" sz="2000" b="1" dirty="0">
                <a:solidFill>
                  <a:srgbClr val="1D6F66"/>
                </a:solidFill>
                <a:latin typeface="IBM Plex Sans" pitchFamily="34" charset="0"/>
                <a:ea typeface="IBM Plex Sans" pitchFamily="34" charset="-122"/>
                <a:cs typeface="IBM Plex Sans" pitchFamily="34" charset="-120"/>
              </a:rPr>
              <a:t>50</a:t>
            </a:r>
            <a:endParaRPr lang="en-US" sz="2000" dirty="0"/>
          </a:p>
        </p:txBody>
      </p:sp>
      <p:sp>
        <p:nvSpPr>
          <p:cNvPr id="36" name="Text 33"/>
          <p:cNvSpPr txBox="1"/>
          <p:nvPr/>
        </p:nvSpPr>
        <p:spPr>
          <a:xfrm>
            <a:off x="1088136" y="4370832"/>
            <a:ext cx="1828800" cy="274320"/>
          </a:xfrm>
          <a:prstGeom prst="rect">
            <a:avLst/>
          </a:prstGeom>
          <a:noFill/>
          <a:ln/>
        </p:spPr>
        <p:txBody>
          <a:bodyPr wrap="square" lIns="0" tIns="0" rIns="0" bIns="0" rtlCol="0" anchor="ctr"/>
          <a:lstStyle/>
          <a:p>
            <a:pPr indent="0" marL="0">
              <a:buNone/>
            </a:pPr>
            <a:r>
              <a:rPr lang="en-US" sz="1100" dirty="0">
                <a:solidFill>
                  <a:srgbClr val="5E6878"/>
                </a:solidFill>
                <a:latin typeface="JetBrains Mono" pitchFamily="34" charset="0"/>
                <a:ea typeface="JetBrains Mono" pitchFamily="34" charset="-122"/>
                <a:cs typeface="JetBrains Mono" pitchFamily="34" charset="-120"/>
              </a:rPr>
              <a:t>popsize</a:t>
            </a:r>
            <a:endParaRPr lang="en-US" sz="1100" dirty="0"/>
          </a:p>
        </p:txBody>
      </p:sp>
      <p:sp>
        <p:nvSpPr>
          <p:cNvPr id="37" name="Text 34"/>
          <p:cNvSpPr txBox="1"/>
          <p:nvPr/>
        </p:nvSpPr>
        <p:spPr>
          <a:xfrm>
            <a:off x="3145536" y="4005072"/>
            <a:ext cx="1828800" cy="365760"/>
          </a:xfrm>
          <a:prstGeom prst="rect">
            <a:avLst/>
          </a:prstGeom>
          <a:noFill/>
          <a:ln/>
        </p:spPr>
        <p:txBody>
          <a:bodyPr wrap="square" lIns="0" tIns="0" rIns="0" bIns="0" rtlCol="0" anchor="ctr"/>
          <a:lstStyle/>
          <a:p>
            <a:pPr indent="0" marL="0">
              <a:buNone/>
            </a:pPr>
            <a:r>
              <a:rPr lang="en-US" sz="2000" b="1" dirty="0">
                <a:solidFill>
                  <a:srgbClr val="1D6F66"/>
                </a:solidFill>
                <a:latin typeface="IBM Plex Sans" pitchFamily="34" charset="0"/>
                <a:ea typeface="IBM Plex Sans" pitchFamily="34" charset="-122"/>
                <a:cs typeface="IBM Plex Sans" pitchFamily="34" charset="-120"/>
              </a:rPr>
              <a:t>50</a:t>
            </a:r>
            <a:endParaRPr lang="en-US" sz="2000" dirty="0"/>
          </a:p>
        </p:txBody>
      </p:sp>
      <p:sp>
        <p:nvSpPr>
          <p:cNvPr id="38" name="Text 35"/>
          <p:cNvSpPr txBox="1"/>
          <p:nvPr/>
        </p:nvSpPr>
        <p:spPr>
          <a:xfrm>
            <a:off x="3145536" y="4370832"/>
            <a:ext cx="1828800" cy="274320"/>
          </a:xfrm>
          <a:prstGeom prst="rect">
            <a:avLst/>
          </a:prstGeom>
          <a:noFill/>
          <a:ln/>
        </p:spPr>
        <p:txBody>
          <a:bodyPr wrap="square" lIns="0" tIns="0" rIns="0" bIns="0" rtlCol="0" anchor="ctr"/>
          <a:lstStyle/>
          <a:p>
            <a:pPr indent="0" marL="0">
              <a:buNone/>
            </a:pPr>
            <a:r>
              <a:rPr lang="en-US" sz="1100" dirty="0">
                <a:solidFill>
                  <a:srgbClr val="5E6878"/>
                </a:solidFill>
                <a:latin typeface="JetBrains Mono" pitchFamily="34" charset="0"/>
                <a:ea typeface="JetBrains Mono" pitchFamily="34" charset="-122"/>
                <a:cs typeface="JetBrains Mono" pitchFamily="34" charset="-120"/>
              </a:rPr>
              <a:t>generations</a:t>
            </a:r>
            <a:endParaRPr lang="en-US" sz="1100" dirty="0"/>
          </a:p>
        </p:txBody>
      </p:sp>
      <p:sp>
        <p:nvSpPr>
          <p:cNvPr id="39" name="Text 36"/>
          <p:cNvSpPr txBox="1"/>
          <p:nvPr/>
        </p:nvSpPr>
        <p:spPr>
          <a:xfrm>
            <a:off x="5202936" y="4005072"/>
            <a:ext cx="1828800" cy="365760"/>
          </a:xfrm>
          <a:prstGeom prst="rect">
            <a:avLst/>
          </a:prstGeom>
          <a:noFill/>
          <a:ln/>
        </p:spPr>
        <p:txBody>
          <a:bodyPr wrap="square" lIns="0" tIns="0" rIns="0" bIns="0" rtlCol="0" anchor="ctr"/>
          <a:lstStyle/>
          <a:p>
            <a:pPr indent="0" marL="0">
              <a:buNone/>
            </a:pPr>
            <a:r>
              <a:rPr lang="en-US" sz="2000" b="1" dirty="0">
                <a:solidFill>
                  <a:srgbClr val="1D6F66"/>
                </a:solidFill>
                <a:latin typeface="IBM Plex Sans" pitchFamily="34" charset="0"/>
                <a:ea typeface="IBM Plex Sans" pitchFamily="34" charset="-122"/>
                <a:cs typeface="IBM Plex Sans" pitchFamily="34" charset="-120"/>
              </a:rPr>
              <a:t>0.5</a:t>
            </a:r>
            <a:endParaRPr lang="en-US" sz="2000" dirty="0"/>
          </a:p>
        </p:txBody>
      </p:sp>
      <p:sp>
        <p:nvSpPr>
          <p:cNvPr id="40" name="Text 37"/>
          <p:cNvSpPr txBox="1"/>
          <p:nvPr/>
        </p:nvSpPr>
        <p:spPr>
          <a:xfrm>
            <a:off x="5202936" y="4370832"/>
            <a:ext cx="1828800" cy="274320"/>
          </a:xfrm>
          <a:prstGeom prst="rect">
            <a:avLst/>
          </a:prstGeom>
          <a:noFill/>
          <a:ln/>
        </p:spPr>
        <p:txBody>
          <a:bodyPr wrap="square" lIns="0" tIns="0" rIns="0" bIns="0" rtlCol="0" anchor="ctr"/>
          <a:lstStyle/>
          <a:p>
            <a:pPr indent="0" marL="0">
              <a:buNone/>
            </a:pPr>
            <a:r>
              <a:rPr lang="en-US" sz="1100" dirty="0">
                <a:solidFill>
                  <a:srgbClr val="5E6878"/>
                </a:solidFill>
                <a:latin typeface="JetBrains Mono" pitchFamily="34" charset="0"/>
                <a:ea typeface="JetBrains Mono" pitchFamily="34" charset="-122"/>
                <a:cs typeface="JetBrains Mono" pitchFamily="34" charset="-120"/>
              </a:rPr>
              <a:t>recombProb</a:t>
            </a:r>
            <a:endParaRPr lang="en-US" sz="1100" dirty="0"/>
          </a:p>
        </p:txBody>
      </p:sp>
      <p:sp>
        <p:nvSpPr>
          <p:cNvPr id="41" name="Text 38"/>
          <p:cNvSpPr txBox="1"/>
          <p:nvPr/>
        </p:nvSpPr>
        <p:spPr>
          <a:xfrm>
            <a:off x="7260336" y="4005072"/>
            <a:ext cx="1828800" cy="365760"/>
          </a:xfrm>
          <a:prstGeom prst="rect">
            <a:avLst/>
          </a:prstGeom>
          <a:noFill/>
          <a:ln/>
        </p:spPr>
        <p:txBody>
          <a:bodyPr wrap="square" lIns="0" tIns="0" rIns="0" bIns="0" rtlCol="0" anchor="ctr"/>
          <a:lstStyle/>
          <a:p>
            <a:pPr indent="0" marL="0">
              <a:buNone/>
            </a:pPr>
            <a:r>
              <a:rPr lang="en-US" sz="2000" b="1" dirty="0">
                <a:solidFill>
                  <a:srgbClr val="1D6F66"/>
                </a:solidFill>
                <a:latin typeface="IBM Plex Sans" pitchFamily="34" charset="0"/>
                <a:ea typeface="IBM Plex Sans" pitchFamily="34" charset="-122"/>
                <a:cs typeface="IBM Plex Sans" pitchFamily="34" charset="-120"/>
              </a:rPr>
              <a:t>0.05</a:t>
            </a:r>
            <a:endParaRPr lang="en-US" sz="2000" dirty="0"/>
          </a:p>
        </p:txBody>
      </p:sp>
      <p:sp>
        <p:nvSpPr>
          <p:cNvPr id="42" name="Text 39"/>
          <p:cNvSpPr txBox="1"/>
          <p:nvPr/>
        </p:nvSpPr>
        <p:spPr>
          <a:xfrm>
            <a:off x="7260336" y="4370832"/>
            <a:ext cx="1828800" cy="274320"/>
          </a:xfrm>
          <a:prstGeom prst="rect">
            <a:avLst/>
          </a:prstGeom>
          <a:noFill/>
          <a:ln/>
        </p:spPr>
        <p:txBody>
          <a:bodyPr wrap="square" lIns="0" tIns="0" rIns="0" bIns="0" rtlCol="0" anchor="ctr"/>
          <a:lstStyle/>
          <a:p>
            <a:pPr indent="0" marL="0">
              <a:buNone/>
            </a:pPr>
            <a:r>
              <a:rPr lang="en-US" sz="1100" dirty="0">
                <a:solidFill>
                  <a:srgbClr val="5E6878"/>
                </a:solidFill>
                <a:latin typeface="JetBrains Mono" pitchFamily="34" charset="0"/>
                <a:ea typeface="JetBrains Mono" pitchFamily="34" charset="-122"/>
                <a:cs typeface="JetBrains Mono" pitchFamily="34" charset="-120"/>
              </a:rPr>
              <a:t>mutatStd</a:t>
            </a:r>
            <a:endParaRPr lang="en-US" sz="1100" dirty="0"/>
          </a:p>
        </p:txBody>
      </p:sp>
      <p:sp>
        <p:nvSpPr>
          <p:cNvPr id="43" name="Text 40"/>
          <p:cNvSpPr txBox="1"/>
          <p:nvPr/>
        </p:nvSpPr>
        <p:spPr>
          <a:xfrm>
            <a:off x="9317736" y="4005072"/>
            <a:ext cx="1828800" cy="365760"/>
          </a:xfrm>
          <a:prstGeom prst="rect">
            <a:avLst/>
          </a:prstGeom>
          <a:noFill/>
          <a:ln/>
        </p:spPr>
        <p:txBody>
          <a:bodyPr wrap="square" lIns="0" tIns="0" rIns="0" bIns="0" rtlCol="0" anchor="ctr"/>
          <a:lstStyle/>
          <a:p>
            <a:pPr indent="0" marL="0">
              <a:buNone/>
            </a:pPr>
            <a:r>
              <a:rPr lang="en-US" sz="2000" b="1" dirty="0">
                <a:solidFill>
                  <a:srgbClr val="1D6F66"/>
                </a:solidFill>
                <a:latin typeface="IBM Plex Sans" pitchFamily="34" charset="0"/>
                <a:ea typeface="IBM Plex Sans" pitchFamily="34" charset="-122"/>
                <a:cs typeface="IBM Plex Sans" pitchFamily="34" charset="-120"/>
              </a:rPr>
              <a:t>5</a:t>
            </a:r>
            <a:endParaRPr lang="en-US" sz="2000" dirty="0"/>
          </a:p>
        </p:txBody>
      </p:sp>
      <p:sp>
        <p:nvSpPr>
          <p:cNvPr id="44" name="Text 41"/>
          <p:cNvSpPr txBox="1"/>
          <p:nvPr/>
        </p:nvSpPr>
        <p:spPr>
          <a:xfrm>
            <a:off x="9317736" y="4370832"/>
            <a:ext cx="1828800" cy="274320"/>
          </a:xfrm>
          <a:prstGeom prst="rect">
            <a:avLst/>
          </a:prstGeom>
          <a:noFill/>
          <a:ln/>
        </p:spPr>
        <p:txBody>
          <a:bodyPr wrap="square" lIns="0" tIns="0" rIns="0" bIns="0" rtlCol="0" anchor="ctr"/>
          <a:lstStyle/>
          <a:p>
            <a:pPr indent="0" marL="0">
              <a:buNone/>
            </a:pPr>
            <a:r>
              <a:rPr lang="en-US" sz="1100" dirty="0">
                <a:solidFill>
                  <a:srgbClr val="5E6878"/>
                </a:solidFill>
                <a:latin typeface="JetBrains Mono" pitchFamily="34" charset="0"/>
                <a:ea typeface="JetBrains Mono" pitchFamily="34" charset="-122"/>
                <a:cs typeface="JetBrains Mono" pitchFamily="34" charset="-120"/>
              </a:rPr>
              <a:t>demeSize</a:t>
            </a:r>
            <a:endParaRPr lang="en-US" sz="1100" dirty="0"/>
          </a:p>
        </p:txBody>
      </p:sp>
      <p:sp>
        <p:nvSpPr>
          <p:cNvPr id="45" name="Text 42"/>
          <p:cNvSpPr txBox="1"/>
          <p:nvPr/>
        </p:nvSpPr>
        <p:spPr>
          <a:xfrm>
            <a:off x="813816" y="5120640"/>
            <a:ext cx="10561320" cy="457200"/>
          </a:xfrm>
          <a:prstGeom prst="rect">
            <a:avLst/>
          </a:prstGeom>
          <a:noFill/>
          <a:ln/>
        </p:spPr>
        <p:txBody>
          <a:bodyPr wrap="square" lIns="0" tIns="0" rIns="0" bIns="0" rtlCol="0" anchor="ctr"/>
          <a:lstStyle/>
          <a:p>
            <a:pPr indent="0" marL="0">
              <a:buNone/>
            </a:pPr>
            <a:r>
              <a:rPr lang="en-US" sz="1600" b="1" dirty="0">
                <a:solidFill>
                  <a:srgbClr val="16213A"/>
                </a:solidFill>
                <a:latin typeface="IBM Plex Sans" pitchFamily="34" charset="0"/>
                <a:ea typeface="IBM Plex Sans" pitchFamily="34" charset="-122"/>
                <a:cs typeface="IBM Plex Sans" pitchFamily="34" charset="-120"/>
              </a:rPr>
              <a:t>The GA's whole view of the problem: </a:t>
            </a:r>
            <a:pPr indent="0" marL="0">
              <a:buNone/>
            </a:pPr>
            <a:r>
              <a:rPr lang="en-US" sz="1600" dirty="0">
                <a:solidFill>
                  <a:srgbClr val="3E4A5C"/>
                </a:solidFill>
                <a:latin typeface="IBM Plex Sans" pitchFamily="34" charset="0"/>
                <a:ea typeface="IBM Plex Sans" pitchFamily="34" charset="-122"/>
                <a:cs typeface="IBM Plex Sans" pitchFamily="34" charset="-120"/>
              </a:rPr>
              <a:t>a vector of 32 numbers in [−1, 1] goes in, one fitness number comes out.</a:t>
            </a:r>
            <a:endParaRPr lang="en-US" sz="1600" dirty="0"/>
          </a:p>
        </p:txBody>
      </p:sp>
      <p:sp>
        <p:nvSpPr>
          <p:cNvPr id="46" name="Text 43"/>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PythonBasics/Unit4/eas.py · Microbial  ·  settings from evolve.py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RECAP · THE BRAIN</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The network: 2 sensors in, 2 motors out</a:t>
            </a:r>
            <a:endParaRPr lang="en-US" sz="3200" dirty="0"/>
          </a:p>
        </p:txBody>
      </p:sp>
      <p:sp>
        <p:nvSpPr>
          <p:cNvPr id="5" name="Shape 2"/>
          <p:cNvSpPr/>
          <p:nvPr/>
        </p:nvSpPr>
        <p:spPr>
          <a:xfrm flipV="1">
            <a:off x="1371600" y="2125980"/>
            <a:ext cx="1874520" cy="388620"/>
          </a:xfrm>
          <a:prstGeom prst="line">
            <a:avLst/>
          </a:prstGeom>
          <a:noFill/>
          <a:ln w="9525">
            <a:solidFill>
              <a:srgbClr val="C4C3BE"/>
            </a:solidFill>
            <a:prstDash val="solid"/>
          </a:ln>
        </p:spPr>
      </p:sp>
      <p:sp>
        <p:nvSpPr>
          <p:cNvPr id="6" name="Shape 3"/>
          <p:cNvSpPr/>
          <p:nvPr/>
        </p:nvSpPr>
        <p:spPr>
          <a:xfrm>
            <a:off x="1371600" y="2514600"/>
            <a:ext cx="1874520" cy="297180"/>
          </a:xfrm>
          <a:prstGeom prst="line">
            <a:avLst/>
          </a:prstGeom>
          <a:noFill/>
          <a:ln w="9525">
            <a:solidFill>
              <a:srgbClr val="C4C3BE"/>
            </a:solidFill>
            <a:prstDash val="solid"/>
          </a:ln>
        </p:spPr>
      </p:sp>
      <p:sp>
        <p:nvSpPr>
          <p:cNvPr id="7" name="Shape 4"/>
          <p:cNvSpPr/>
          <p:nvPr/>
        </p:nvSpPr>
        <p:spPr>
          <a:xfrm>
            <a:off x="1371600" y="2514600"/>
            <a:ext cx="1874520" cy="982980"/>
          </a:xfrm>
          <a:prstGeom prst="line">
            <a:avLst/>
          </a:prstGeom>
          <a:noFill/>
          <a:ln w="9525">
            <a:solidFill>
              <a:srgbClr val="C4C3BE"/>
            </a:solidFill>
            <a:prstDash val="solid"/>
          </a:ln>
        </p:spPr>
      </p:sp>
      <p:sp>
        <p:nvSpPr>
          <p:cNvPr id="8" name="Shape 5"/>
          <p:cNvSpPr/>
          <p:nvPr/>
        </p:nvSpPr>
        <p:spPr>
          <a:xfrm>
            <a:off x="1371600" y="2514600"/>
            <a:ext cx="1874520" cy="1668780"/>
          </a:xfrm>
          <a:prstGeom prst="line">
            <a:avLst/>
          </a:prstGeom>
          <a:noFill/>
          <a:ln w="9525">
            <a:solidFill>
              <a:srgbClr val="C4C3BE"/>
            </a:solidFill>
            <a:prstDash val="solid"/>
          </a:ln>
        </p:spPr>
      </p:sp>
      <p:sp>
        <p:nvSpPr>
          <p:cNvPr id="9" name="Shape 6"/>
          <p:cNvSpPr/>
          <p:nvPr/>
        </p:nvSpPr>
        <p:spPr>
          <a:xfrm flipV="1">
            <a:off x="1371600" y="2125980"/>
            <a:ext cx="1874520" cy="1668780"/>
          </a:xfrm>
          <a:prstGeom prst="line">
            <a:avLst/>
          </a:prstGeom>
          <a:noFill/>
          <a:ln w="9525">
            <a:solidFill>
              <a:srgbClr val="C4C3BE"/>
            </a:solidFill>
            <a:prstDash val="solid"/>
          </a:ln>
        </p:spPr>
      </p:sp>
      <p:sp>
        <p:nvSpPr>
          <p:cNvPr id="10" name="Shape 7"/>
          <p:cNvSpPr/>
          <p:nvPr/>
        </p:nvSpPr>
        <p:spPr>
          <a:xfrm flipV="1">
            <a:off x="1371600" y="2811780"/>
            <a:ext cx="1874520" cy="982980"/>
          </a:xfrm>
          <a:prstGeom prst="line">
            <a:avLst/>
          </a:prstGeom>
          <a:noFill/>
          <a:ln w="9525">
            <a:solidFill>
              <a:srgbClr val="C4C3BE"/>
            </a:solidFill>
            <a:prstDash val="solid"/>
          </a:ln>
        </p:spPr>
      </p:sp>
      <p:sp>
        <p:nvSpPr>
          <p:cNvPr id="11" name="Shape 8"/>
          <p:cNvSpPr/>
          <p:nvPr/>
        </p:nvSpPr>
        <p:spPr>
          <a:xfrm flipV="1">
            <a:off x="1371600" y="3497580"/>
            <a:ext cx="1874520" cy="297180"/>
          </a:xfrm>
          <a:prstGeom prst="line">
            <a:avLst/>
          </a:prstGeom>
          <a:noFill/>
          <a:ln w="9525">
            <a:solidFill>
              <a:srgbClr val="C4C3BE"/>
            </a:solidFill>
            <a:prstDash val="solid"/>
          </a:ln>
        </p:spPr>
      </p:sp>
      <p:sp>
        <p:nvSpPr>
          <p:cNvPr id="12" name="Shape 9"/>
          <p:cNvSpPr/>
          <p:nvPr/>
        </p:nvSpPr>
        <p:spPr>
          <a:xfrm>
            <a:off x="1371600" y="3794760"/>
            <a:ext cx="1874520" cy="388620"/>
          </a:xfrm>
          <a:prstGeom prst="line">
            <a:avLst/>
          </a:prstGeom>
          <a:noFill/>
          <a:ln w="9525">
            <a:solidFill>
              <a:srgbClr val="C4C3BE"/>
            </a:solidFill>
            <a:prstDash val="solid"/>
          </a:ln>
        </p:spPr>
      </p:sp>
      <p:sp>
        <p:nvSpPr>
          <p:cNvPr id="13" name="Shape 10"/>
          <p:cNvSpPr/>
          <p:nvPr/>
        </p:nvSpPr>
        <p:spPr>
          <a:xfrm>
            <a:off x="3246120" y="2125980"/>
            <a:ext cx="1874520" cy="388620"/>
          </a:xfrm>
          <a:prstGeom prst="line">
            <a:avLst/>
          </a:prstGeom>
          <a:noFill/>
          <a:ln w="9525">
            <a:solidFill>
              <a:srgbClr val="C4C3BE"/>
            </a:solidFill>
            <a:prstDash val="solid"/>
          </a:ln>
        </p:spPr>
      </p:sp>
      <p:sp>
        <p:nvSpPr>
          <p:cNvPr id="14" name="Shape 11"/>
          <p:cNvSpPr/>
          <p:nvPr/>
        </p:nvSpPr>
        <p:spPr>
          <a:xfrm>
            <a:off x="3246120" y="2125980"/>
            <a:ext cx="1874520" cy="1668780"/>
          </a:xfrm>
          <a:prstGeom prst="line">
            <a:avLst/>
          </a:prstGeom>
          <a:noFill/>
          <a:ln w="9525">
            <a:solidFill>
              <a:srgbClr val="C4C3BE"/>
            </a:solidFill>
            <a:prstDash val="solid"/>
          </a:ln>
        </p:spPr>
      </p:sp>
      <p:sp>
        <p:nvSpPr>
          <p:cNvPr id="15" name="Shape 12"/>
          <p:cNvSpPr/>
          <p:nvPr/>
        </p:nvSpPr>
        <p:spPr>
          <a:xfrm flipV="1">
            <a:off x="3246120" y="2514600"/>
            <a:ext cx="1874520" cy="297180"/>
          </a:xfrm>
          <a:prstGeom prst="line">
            <a:avLst/>
          </a:prstGeom>
          <a:noFill/>
          <a:ln w="9525">
            <a:solidFill>
              <a:srgbClr val="C4C3BE"/>
            </a:solidFill>
            <a:prstDash val="solid"/>
          </a:ln>
        </p:spPr>
      </p:sp>
      <p:sp>
        <p:nvSpPr>
          <p:cNvPr id="16" name="Shape 13"/>
          <p:cNvSpPr/>
          <p:nvPr/>
        </p:nvSpPr>
        <p:spPr>
          <a:xfrm>
            <a:off x="3246120" y="2811780"/>
            <a:ext cx="1874520" cy="982980"/>
          </a:xfrm>
          <a:prstGeom prst="line">
            <a:avLst/>
          </a:prstGeom>
          <a:noFill/>
          <a:ln w="9525">
            <a:solidFill>
              <a:srgbClr val="C4C3BE"/>
            </a:solidFill>
            <a:prstDash val="solid"/>
          </a:ln>
        </p:spPr>
      </p:sp>
      <p:sp>
        <p:nvSpPr>
          <p:cNvPr id="17" name="Shape 14"/>
          <p:cNvSpPr/>
          <p:nvPr/>
        </p:nvSpPr>
        <p:spPr>
          <a:xfrm flipV="1">
            <a:off x="3246120" y="2514600"/>
            <a:ext cx="1874520" cy="982980"/>
          </a:xfrm>
          <a:prstGeom prst="line">
            <a:avLst/>
          </a:prstGeom>
          <a:noFill/>
          <a:ln w="9525">
            <a:solidFill>
              <a:srgbClr val="C4C3BE"/>
            </a:solidFill>
            <a:prstDash val="solid"/>
          </a:ln>
        </p:spPr>
      </p:sp>
      <p:sp>
        <p:nvSpPr>
          <p:cNvPr id="18" name="Shape 15"/>
          <p:cNvSpPr/>
          <p:nvPr/>
        </p:nvSpPr>
        <p:spPr>
          <a:xfrm>
            <a:off x="3246120" y="3497580"/>
            <a:ext cx="1874520" cy="297180"/>
          </a:xfrm>
          <a:prstGeom prst="line">
            <a:avLst/>
          </a:prstGeom>
          <a:noFill/>
          <a:ln w="9525">
            <a:solidFill>
              <a:srgbClr val="C4C3BE"/>
            </a:solidFill>
            <a:prstDash val="solid"/>
          </a:ln>
        </p:spPr>
      </p:sp>
      <p:sp>
        <p:nvSpPr>
          <p:cNvPr id="19" name="Shape 16"/>
          <p:cNvSpPr/>
          <p:nvPr/>
        </p:nvSpPr>
        <p:spPr>
          <a:xfrm flipV="1">
            <a:off x="3246120" y="2514600"/>
            <a:ext cx="1874520" cy="1668780"/>
          </a:xfrm>
          <a:prstGeom prst="line">
            <a:avLst/>
          </a:prstGeom>
          <a:noFill/>
          <a:ln w="9525">
            <a:solidFill>
              <a:srgbClr val="C4C3BE"/>
            </a:solidFill>
            <a:prstDash val="solid"/>
          </a:ln>
        </p:spPr>
      </p:sp>
      <p:sp>
        <p:nvSpPr>
          <p:cNvPr id="20" name="Shape 17"/>
          <p:cNvSpPr/>
          <p:nvPr/>
        </p:nvSpPr>
        <p:spPr>
          <a:xfrm flipV="1">
            <a:off x="3246120" y="3794760"/>
            <a:ext cx="1874520" cy="388620"/>
          </a:xfrm>
          <a:prstGeom prst="line">
            <a:avLst/>
          </a:prstGeom>
          <a:noFill/>
          <a:ln w="9525">
            <a:solidFill>
              <a:srgbClr val="C4C3BE"/>
            </a:solidFill>
            <a:prstDash val="solid"/>
          </a:ln>
        </p:spPr>
      </p:sp>
      <p:sp>
        <p:nvSpPr>
          <p:cNvPr id="21" name="Shape 18"/>
          <p:cNvSpPr/>
          <p:nvPr/>
        </p:nvSpPr>
        <p:spPr>
          <a:xfrm>
            <a:off x="1216152" y="2359152"/>
            <a:ext cx="310896" cy="310896"/>
          </a:xfrm>
          <a:prstGeom prst="ellipse">
            <a:avLst/>
          </a:prstGeom>
          <a:solidFill>
            <a:srgbClr val="16213A"/>
          </a:solidFill>
          <a:ln w="12700">
            <a:solidFill>
              <a:srgbClr val="16213A"/>
            </a:solidFill>
            <a:prstDash val="solid"/>
          </a:ln>
        </p:spPr>
      </p:sp>
      <p:sp>
        <p:nvSpPr>
          <p:cNvPr id="22" name="Shape 19"/>
          <p:cNvSpPr/>
          <p:nvPr/>
        </p:nvSpPr>
        <p:spPr>
          <a:xfrm>
            <a:off x="1216152" y="3639312"/>
            <a:ext cx="310896" cy="310896"/>
          </a:xfrm>
          <a:prstGeom prst="ellipse">
            <a:avLst/>
          </a:prstGeom>
          <a:solidFill>
            <a:srgbClr val="16213A"/>
          </a:solidFill>
          <a:ln w="12700">
            <a:solidFill>
              <a:srgbClr val="16213A"/>
            </a:solidFill>
            <a:prstDash val="solid"/>
          </a:ln>
        </p:spPr>
      </p:sp>
      <p:sp>
        <p:nvSpPr>
          <p:cNvPr id="23" name="Shape 20"/>
          <p:cNvSpPr/>
          <p:nvPr/>
        </p:nvSpPr>
        <p:spPr>
          <a:xfrm>
            <a:off x="3090672" y="1970532"/>
            <a:ext cx="310896" cy="310896"/>
          </a:xfrm>
          <a:prstGeom prst="ellipse">
            <a:avLst/>
          </a:prstGeom>
          <a:solidFill>
            <a:srgbClr val="F4C9A8"/>
          </a:solidFill>
          <a:ln w="12700">
            <a:solidFill>
              <a:srgbClr val="16213A"/>
            </a:solidFill>
            <a:prstDash val="solid"/>
          </a:ln>
        </p:spPr>
      </p:sp>
      <p:sp>
        <p:nvSpPr>
          <p:cNvPr id="24" name="Shape 21"/>
          <p:cNvSpPr/>
          <p:nvPr/>
        </p:nvSpPr>
        <p:spPr>
          <a:xfrm>
            <a:off x="3090672" y="2656332"/>
            <a:ext cx="310896" cy="310896"/>
          </a:xfrm>
          <a:prstGeom prst="ellipse">
            <a:avLst/>
          </a:prstGeom>
          <a:solidFill>
            <a:srgbClr val="F4C9A8"/>
          </a:solidFill>
          <a:ln w="12700">
            <a:solidFill>
              <a:srgbClr val="16213A"/>
            </a:solidFill>
            <a:prstDash val="solid"/>
          </a:ln>
        </p:spPr>
      </p:sp>
      <p:sp>
        <p:nvSpPr>
          <p:cNvPr id="25" name="Shape 22"/>
          <p:cNvSpPr/>
          <p:nvPr/>
        </p:nvSpPr>
        <p:spPr>
          <a:xfrm>
            <a:off x="3090672" y="3342132"/>
            <a:ext cx="310896" cy="310896"/>
          </a:xfrm>
          <a:prstGeom prst="ellipse">
            <a:avLst/>
          </a:prstGeom>
          <a:solidFill>
            <a:srgbClr val="F4C9A8"/>
          </a:solidFill>
          <a:ln w="12700">
            <a:solidFill>
              <a:srgbClr val="16213A"/>
            </a:solidFill>
            <a:prstDash val="solid"/>
          </a:ln>
        </p:spPr>
      </p:sp>
      <p:sp>
        <p:nvSpPr>
          <p:cNvPr id="26" name="Shape 23"/>
          <p:cNvSpPr/>
          <p:nvPr/>
        </p:nvSpPr>
        <p:spPr>
          <a:xfrm>
            <a:off x="3090672" y="4027932"/>
            <a:ext cx="310896" cy="310896"/>
          </a:xfrm>
          <a:prstGeom prst="ellipse">
            <a:avLst/>
          </a:prstGeom>
          <a:solidFill>
            <a:srgbClr val="F4C9A8"/>
          </a:solidFill>
          <a:ln w="12700">
            <a:solidFill>
              <a:srgbClr val="16213A"/>
            </a:solidFill>
            <a:prstDash val="solid"/>
          </a:ln>
        </p:spPr>
      </p:sp>
      <p:sp>
        <p:nvSpPr>
          <p:cNvPr id="27" name="Shape 24"/>
          <p:cNvSpPr/>
          <p:nvPr/>
        </p:nvSpPr>
        <p:spPr>
          <a:xfrm>
            <a:off x="4965192" y="2359152"/>
            <a:ext cx="310896" cy="310896"/>
          </a:xfrm>
          <a:prstGeom prst="ellipse">
            <a:avLst/>
          </a:prstGeom>
          <a:solidFill>
            <a:srgbClr val="B4521C"/>
          </a:solidFill>
          <a:ln w="12700">
            <a:solidFill>
              <a:srgbClr val="16213A"/>
            </a:solidFill>
            <a:prstDash val="solid"/>
          </a:ln>
        </p:spPr>
      </p:sp>
      <p:sp>
        <p:nvSpPr>
          <p:cNvPr id="28" name="Shape 25"/>
          <p:cNvSpPr/>
          <p:nvPr/>
        </p:nvSpPr>
        <p:spPr>
          <a:xfrm>
            <a:off x="4965192" y="3639312"/>
            <a:ext cx="310896" cy="310896"/>
          </a:xfrm>
          <a:prstGeom prst="ellipse">
            <a:avLst/>
          </a:prstGeom>
          <a:solidFill>
            <a:srgbClr val="B4521C"/>
          </a:solidFill>
          <a:ln w="12700">
            <a:solidFill>
              <a:srgbClr val="16213A"/>
            </a:solidFill>
            <a:prstDash val="solid"/>
          </a:ln>
        </p:spPr>
      </p:sp>
      <p:sp>
        <p:nvSpPr>
          <p:cNvPr id="29" name="Text 26"/>
          <p:cNvSpPr txBox="1"/>
          <p:nvPr/>
        </p:nvSpPr>
        <p:spPr>
          <a:xfrm>
            <a:off x="594360" y="4846320"/>
            <a:ext cx="1554480" cy="548640"/>
          </a:xfrm>
          <a:prstGeom prst="rect">
            <a:avLst/>
          </a:prstGeom>
          <a:noFill/>
          <a:ln/>
        </p:spPr>
        <p:txBody>
          <a:bodyPr wrap="square" lIns="0" tIns="0" rIns="0" bIns="0" rtlCol="0" anchor="t"/>
          <a:lstStyle/>
          <a:p>
            <a:pPr algn="ctr" indent="0" marL="0">
              <a:buNone/>
            </a:pPr>
            <a:r>
              <a:rPr lang="en-US" sz="1100" b="1" dirty="0">
                <a:solidFill>
                  <a:srgbClr val="16213A"/>
                </a:solidFill>
                <a:latin typeface="IBM Plex Sans" pitchFamily="34" charset="0"/>
                <a:ea typeface="IBM Plex Sans" pitchFamily="34" charset="-122"/>
                <a:cs typeface="IBM Plex Sans" pitchFamily="34" charset="-120"/>
              </a:rPr>
              <a:t>Input</a:t>
            </a:r>
            <a:endParaRPr lang="en-US" sz="1100" dirty="0"/>
          </a:p>
          <a:p>
            <a:pPr algn="ctr" indent="0" marL="0">
              <a:buNone/>
            </a:pPr>
            <a:r>
              <a:rPr lang="en-US" sz="1100" dirty="0">
                <a:solidFill>
                  <a:srgbClr val="5E6878"/>
                </a:solidFill>
                <a:latin typeface="IBM Plex Sans" pitchFamily="34" charset="0"/>
                <a:ea typeface="IBM Plex Sans" pitchFamily="34" charset="-122"/>
                <a:cs typeface="IBM Plex Sans" pitchFamily="34" charset="-120"/>
              </a:rPr>
              <a:t>left, right sensor</a:t>
            </a:r>
            <a:endParaRPr lang="en-US" sz="1100" dirty="0"/>
          </a:p>
        </p:txBody>
      </p:sp>
      <p:sp>
        <p:nvSpPr>
          <p:cNvPr id="30" name="Text 27"/>
          <p:cNvSpPr txBox="1"/>
          <p:nvPr/>
        </p:nvSpPr>
        <p:spPr>
          <a:xfrm>
            <a:off x="2468880" y="4846320"/>
            <a:ext cx="1554480" cy="548640"/>
          </a:xfrm>
          <a:prstGeom prst="rect">
            <a:avLst/>
          </a:prstGeom>
          <a:noFill/>
          <a:ln/>
        </p:spPr>
        <p:txBody>
          <a:bodyPr wrap="square" lIns="0" tIns="0" rIns="0" bIns="0" rtlCol="0" anchor="t"/>
          <a:lstStyle/>
          <a:p>
            <a:pPr algn="ctr" indent="0" marL="0">
              <a:buNone/>
            </a:pPr>
            <a:r>
              <a:rPr lang="en-US" sz="1100" b="1" dirty="0">
                <a:solidFill>
                  <a:srgbClr val="16213A"/>
                </a:solidFill>
                <a:latin typeface="IBM Plex Sans" pitchFamily="34" charset="0"/>
                <a:ea typeface="IBM Plex Sans" pitchFamily="34" charset="-122"/>
                <a:cs typeface="IBM Plex Sans" pitchFamily="34" charset="-120"/>
              </a:rPr>
              <a:t>Hidden</a:t>
            </a:r>
            <a:endParaRPr lang="en-US" sz="1100" dirty="0"/>
          </a:p>
          <a:p>
            <a:pPr algn="ctr" indent="0" marL="0">
              <a:buNone/>
            </a:pPr>
            <a:r>
              <a:rPr lang="en-US" sz="1100" dirty="0">
                <a:solidFill>
                  <a:srgbClr val="5E6878"/>
                </a:solidFill>
                <a:latin typeface="IBM Plex Sans" pitchFamily="34" charset="0"/>
                <a:ea typeface="IBM Plex Sans" pitchFamily="34" charset="-122"/>
                <a:cs typeface="IBM Plex Sans" pitchFamily="34" charset="-120"/>
              </a:rPr>
              <a:t>4 units</a:t>
            </a:r>
            <a:endParaRPr lang="en-US" sz="1100" dirty="0"/>
          </a:p>
        </p:txBody>
      </p:sp>
      <p:sp>
        <p:nvSpPr>
          <p:cNvPr id="31" name="Text 28"/>
          <p:cNvSpPr txBox="1"/>
          <p:nvPr/>
        </p:nvSpPr>
        <p:spPr>
          <a:xfrm>
            <a:off x="4343400" y="4846320"/>
            <a:ext cx="1554480" cy="548640"/>
          </a:xfrm>
          <a:prstGeom prst="rect">
            <a:avLst/>
          </a:prstGeom>
          <a:noFill/>
          <a:ln/>
        </p:spPr>
        <p:txBody>
          <a:bodyPr wrap="square" lIns="0" tIns="0" rIns="0" bIns="0" rtlCol="0" anchor="t"/>
          <a:lstStyle/>
          <a:p>
            <a:pPr algn="ctr" indent="0" marL="0">
              <a:buNone/>
            </a:pPr>
            <a:r>
              <a:rPr lang="en-US" sz="1100" b="1" dirty="0">
                <a:solidFill>
                  <a:srgbClr val="16213A"/>
                </a:solidFill>
                <a:latin typeface="IBM Plex Sans" pitchFamily="34" charset="0"/>
                <a:ea typeface="IBM Plex Sans" pitchFamily="34" charset="-122"/>
                <a:cs typeface="IBM Plex Sans" pitchFamily="34" charset="-120"/>
              </a:rPr>
              <a:t>Output</a:t>
            </a:r>
            <a:endParaRPr lang="en-US" sz="1100" dirty="0"/>
          </a:p>
          <a:p>
            <a:pPr algn="ctr" indent="0" marL="0">
              <a:buNone/>
            </a:pPr>
            <a:r>
              <a:rPr lang="en-US" sz="1100" dirty="0">
                <a:solidFill>
                  <a:srgbClr val="5E6878"/>
                </a:solidFill>
                <a:latin typeface="IBM Plex Sans" pitchFamily="34" charset="0"/>
                <a:ea typeface="IBM Plex Sans" pitchFamily="34" charset="-122"/>
                <a:cs typeface="IBM Plex Sans" pitchFamily="34" charset="-120"/>
              </a:rPr>
              <a:t>left, right motor</a:t>
            </a:r>
            <a:endParaRPr lang="en-US" sz="1100" dirty="0"/>
          </a:p>
        </p:txBody>
      </p:sp>
      <p:sp>
        <p:nvSpPr>
          <p:cNvPr id="32" name="Text 29"/>
          <p:cNvSpPr txBox="1"/>
          <p:nvPr/>
        </p:nvSpPr>
        <p:spPr>
          <a:xfrm>
            <a:off x="6583680" y="1783080"/>
            <a:ext cx="475488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THE GENOTYPE: ONE FLAT VECTOR</a:t>
            </a:r>
            <a:endParaRPr lang="en-US" sz="1200" dirty="0"/>
          </a:p>
        </p:txBody>
      </p:sp>
      <p:sp>
        <p:nvSpPr>
          <p:cNvPr id="33" name="Shape 30"/>
          <p:cNvSpPr/>
          <p:nvPr/>
        </p:nvSpPr>
        <p:spPr>
          <a:xfrm>
            <a:off x="6583680" y="2148840"/>
            <a:ext cx="2395728" cy="502920"/>
          </a:xfrm>
          <a:prstGeom prst="rect">
            <a:avLst/>
          </a:prstGeom>
          <a:solidFill>
            <a:srgbClr val="1D6F66"/>
          </a:solidFill>
          <a:ln w="12700">
            <a:solidFill>
              <a:srgbClr val="F6F4EE"/>
            </a:solidFill>
            <a:prstDash val="solid"/>
          </a:ln>
        </p:spPr>
      </p:sp>
      <p:sp>
        <p:nvSpPr>
          <p:cNvPr id="34" name="Text 31"/>
          <p:cNvSpPr txBox="1"/>
          <p:nvPr/>
        </p:nvSpPr>
        <p:spPr>
          <a:xfrm>
            <a:off x="6583680" y="2148840"/>
            <a:ext cx="2395728" cy="502920"/>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16</a:t>
            </a:r>
            <a:endParaRPr lang="en-US" sz="1400" dirty="0"/>
          </a:p>
        </p:txBody>
      </p:sp>
      <p:sp>
        <p:nvSpPr>
          <p:cNvPr id="35" name="Text 32"/>
          <p:cNvSpPr txBox="1"/>
          <p:nvPr/>
        </p:nvSpPr>
        <p:spPr>
          <a:xfrm>
            <a:off x="6492240" y="2697480"/>
            <a:ext cx="2578608" cy="274320"/>
          </a:xfrm>
          <a:prstGeom prst="rect">
            <a:avLst/>
          </a:prstGeom>
          <a:noFill/>
          <a:ln/>
        </p:spPr>
        <p:txBody>
          <a:bodyPr wrap="square" lIns="0" tIns="0" rIns="0" bIns="0" rtlCol="0" anchor="ctr"/>
          <a:lstStyle/>
          <a:p>
            <a:pPr algn="ctr" indent="0" marL="0">
              <a:buNone/>
            </a:pPr>
            <a:r>
              <a:rPr lang="en-US" sz="1000" dirty="0">
                <a:solidFill>
                  <a:srgbClr val="5E6878"/>
                </a:solidFill>
                <a:latin typeface="JetBrains Mono" pitchFamily="34" charset="0"/>
                <a:ea typeface="JetBrains Mono" pitchFamily="34" charset="-122"/>
                <a:cs typeface="JetBrains Mono" pitchFamily="34" charset="-120"/>
              </a:rPr>
              <a:t>weights</a:t>
            </a:r>
            <a:endParaRPr lang="en-US" sz="1000" dirty="0"/>
          </a:p>
        </p:txBody>
      </p:sp>
      <p:sp>
        <p:nvSpPr>
          <p:cNvPr id="36" name="Shape 33"/>
          <p:cNvSpPr/>
          <p:nvPr/>
        </p:nvSpPr>
        <p:spPr>
          <a:xfrm>
            <a:off x="8979408" y="2148840"/>
            <a:ext cx="898398" cy="502920"/>
          </a:xfrm>
          <a:prstGeom prst="rect">
            <a:avLst/>
          </a:prstGeom>
          <a:solidFill>
            <a:srgbClr val="16213A"/>
          </a:solidFill>
          <a:ln w="12700">
            <a:solidFill>
              <a:srgbClr val="F6F4EE"/>
            </a:solidFill>
            <a:prstDash val="solid"/>
          </a:ln>
        </p:spPr>
      </p:sp>
      <p:sp>
        <p:nvSpPr>
          <p:cNvPr id="37" name="Text 34"/>
          <p:cNvSpPr txBox="1"/>
          <p:nvPr/>
        </p:nvSpPr>
        <p:spPr>
          <a:xfrm>
            <a:off x="8979408" y="2148840"/>
            <a:ext cx="898398" cy="502920"/>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6</a:t>
            </a:r>
            <a:endParaRPr lang="en-US" sz="1400" dirty="0"/>
          </a:p>
        </p:txBody>
      </p:sp>
      <p:sp>
        <p:nvSpPr>
          <p:cNvPr id="38" name="Text 35"/>
          <p:cNvSpPr txBox="1"/>
          <p:nvPr/>
        </p:nvSpPr>
        <p:spPr>
          <a:xfrm>
            <a:off x="8887968" y="2697480"/>
            <a:ext cx="1081278" cy="274320"/>
          </a:xfrm>
          <a:prstGeom prst="rect">
            <a:avLst/>
          </a:prstGeom>
          <a:noFill/>
          <a:ln/>
        </p:spPr>
        <p:txBody>
          <a:bodyPr wrap="square" lIns="0" tIns="0" rIns="0" bIns="0" rtlCol="0" anchor="ctr"/>
          <a:lstStyle/>
          <a:p>
            <a:pPr algn="ctr" indent="0" marL="0">
              <a:buNone/>
            </a:pPr>
            <a:r>
              <a:rPr lang="en-US" sz="1000" dirty="0">
                <a:solidFill>
                  <a:srgbClr val="5E6878"/>
                </a:solidFill>
                <a:latin typeface="JetBrains Mono" pitchFamily="34" charset="0"/>
                <a:ea typeface="JetBrains Mono" pitchFamily="34" charset="-122"/>
                <a:cs typeface="JetBrains Mono" pitchFamily="34" charset="-120"/>
              </a:rPr>
              <a:t>biases</a:t>
            </a:r>
            <a:endParaRPr lang="en-US" sz="1000" dirty="0"/>
          </a:p>
        </p:txBody>
      </p:sp>
      <p:sp>
        <p:nvSpPr>
          <p:cNvPr id="39" name="Shape 36"/>
          <p:cNvSpPr/>
          <p:nvPr/>
        </p:nvSpPr>
        <p:spPr>
          <a:xfrm>
            <a:off x="9877806" y="2148840"/>
            <a:ext cx="1497330" cy="502920"/>
          </a:xfrm>
          <a:prstGeom prst="rect">
            <a:avLst/>
          </a:prstGeom>
          <a:solidFill>
            <a:srgbClr val="9AA5B8"/>
          </a:solidFill>
          <a:ln w="12700">
            <a:solidFill>
              <a:srgbClr val="F6F4EE"/>
            </a:solidFill>
            <a:prstDash val="solid"/>
          </a:ln>
        </p:spPr>
      </p:sp>
      <p:sp>
        <p:nvSpPr>
          <p:cNvPr id="40" name="Text 37"/>
          <p:cNvSpPr txBox="1"/>
          <p:nvPr/>
        </p:nvSpPr>
        <p:spPr>
          <a:xfrm>
            <a:off x="9877806" y="2148840"/>
            <a:ext cx="1497330" cy="502920"/>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10</a:t>
            </a:r>
            <a:endParaRPr lang="en-US" sz="1400" dirty="0"/>
          </a:p>
        </p:txBody>
      </p:sp>
      <p:sp>
        <p:nvSpPr>
          <p:cNvPr id="41" name="Text 38"/>
          <p:cNvSpPr txBox="1"/>
          <p:nvPr/>
        </p:nvSpPr>
        <p:spPr>
          <a:xfrm>
            <a:off x="9786366" y="2697480"/>
            <a:ext cx="1680210" cy="274320"/>
          </a:xfrm>
          <a:prstGeom prst="rect">
            <a:avLst/>
          </a:prstGeom>
          <a:noFill/>
          <a:ln/>
        </p:spPr>
        <p:txBody>
          <a:bodyPr wrap="square" lIns="0" tIns="0" rIns="0" bIns="0" rtlCol="0" anchor="ctr"/>
          <a:lstStyle/>
          <a:p>
            <a:pPr algn="ctr" indent="0" marL="0">
              <a:buNone/>
            </a:pPr>
            <a:r>
              <a:rPr lang="en-US" sz="1000" dirty="0">
                <a:solidFill>
                  <a:srgbClr val="5E6878"/>
                </a:solidFill>
                <a:latin typeface="JetBrains Mono" pitchFamily="34" charset="0"/>
                <a:ea typeface="JetBrains Mono" pitchFamily="34" charset="-122"/>
                <a:cs typeface="JetBrains Mono" pitchFamily="34" charset="-120"/>
              </a:rPr>
              <a:t>activation genes</a:t>
            </a:r>
            <a:endParaRPr lang="en-US" sz="1000" dirty="0"/>
          </a:p>
        </p:txBody>
      </p:sp>
      <p:sp>
        <p:nvSpPr>
          <p:cNvPr id="42" name="Text 39"/>
          <p:cNvSpPr txBox="1"/>
          <p:nvPr/>
        </p:nvSpPr>
        <p:spPr>
          <a:xfrm>
            <a:off x="6583680" y="3063240"/>
            <a:ext cx="4754880" cy="365760"/>
          </a:xfrm>
          <a:prstGeom prst="rect">
            <a:avLst/>
          </a:prstGeom>
          <a:noFill/>
          <a:ln/>
        </p:spPr>
        <p:txBody>
          <a:bodyPr wrap="square" lIns="0" tIns="0" rIns="0" bIns="0" rtlCol="0" anchor="ctr"/>
          <a:lstStyle/>
          <a:p>
            <a:pPr indent="0" marL="0">
              <a:buNone/>
            </a:pPr>
            <a:r>
              <a:rPr lang="en-US" sz="2000" b="1" dirty="0">
                <a:solidFill>
                  <a:srgbClr val="16213A"/>
                </a:solidFill>
                <a:latin typeface="IBM Plex Sans" pitchFamily="34" charset="0"/>
                <a:ea typeface="IBM Plex Sans" pitchFamily="34" charset="-122"/>
                <a:cs typeface="IBM Plex Sans" pitchFamily="34" charset="-120"/>
              </a:rPr>
              <a:t>= 32 numbers</a:t>
            </a:r>
            <a:endParaRPr lang="en-US" sz="2000" dirty="0"/>
          </a:p>
        </p:txBody>
      </p:sp>
      <p:sp>
        <p:nvSpPr>
          <p:cNvPr id="43" name="Text 40"/>
          <p:cNvSpPr txBox="1"/>
          <p:nvPr/>
        </p:nvSpPr>
        <p:spPr>
          <a:xfrm>
            <a:off x="6583680" y="3657600"/>
            <a:ext cx="4791456" cy="237744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weightrange = 5.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Genes stay in [−1, 1]; setParams scales them so weights and biases are in [−5, 5].</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Two outputs,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one per motor.</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Activation genes: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5 per layer. The largest picks that layer's function: sigmoid, tanh, relu, linear or gaussian.</a:t>
            </a:r>
            <a:endParaRPr lang="en-US" sz="1300" dirty="0"/>
          </a:p>
        </p:txBody>
      </p:sp>
      <p:sp>
        <p:nvSpPr>
          <p:cNvPr id="44" name="Text 41"/>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PythonBasics/Unit4/fnn.py · setParams()  ·  layers = [2, 4, 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D6F66"/>
        </a:solidFill>
      </p:bgPr>
    </p:bg>
    <p:spTree>
      <p:nvGrpSpPr>
        <p:cNvPr id="1" name=""/>
        <p:cNvGrpSpPr/>
        <p:nvPr/>
      </p:nvGrpSpPr>
      <p:grpSpPr>
        <a:xfrm>
          <a:off x="0" y="0"/>
          <a:ext cx="0" cy="0"/>
          <a:chOff x="0" y="0"/>
          <a:chExt cx="0" cy="0"/>
        </a:xfrm>
      </p:grpSpPr>
      <p:sp>
        <p:nvSpPr>
          <p:cNvPr id="2" name="Text 0"/>
          <p:cNvSpPr txBox="1"/>
          <p:nvPr/>
        </p:nvSpPr>
        <p:spPr>
          <a:xfrm>
            <a:off x="813816" y="2011680"/>
            <a:ext cx="10561320" cy="274320"/>
          </a:xfrm>
          <a:prstGeom prst="rect">
            <a:avLst/>
          </a:prstGeom>
          <a:noFill/>
          <a:ln/>
        </p:spPr>
        <p:txBody>
          <a:bodyPr wrap="square" lIns="0" tIns="0" rIns="0" bIns="0" rtlCol="0" anchor="ctr"/>
          <a:lstStyle/>
          <a:p>
            <a:pPr indent="0" marL="0">
              <a:buNone/>
            </a:pPr>
            <a:r>
              <a:rPr lang="en-US" sz="1200" b="1" spc="200" kern="0" dirty="0">
                <a:solidFill>
                  <a:srgbClr val="F2A65A"/>
                </a:solidFill>
                <a:latin typeface="IBM Plex Sans" pitchFamily="34" charset="0"/>
                <a:ea typeface="IBM Plex Sans" pitchFamily="34" charset="-122"/>
                <a:cs typeface="IBM Plex Sans" pitchFamily="34" charset="-120"/>
              </a:rPr>
              <a:t>HOW THEY CONNECT</a:t>
            </a:r>
            <a:endParaRPr lang="en-US" sz="1200" dirty="0"/>
          </a:p>
        </p:txBody>
      </p:sp>
      <p:sp>
        <p:nvSpPr>
          <p:cNvPr id="3" name="Text 1"/>
          <p:cNvSpPr txBox="1"/>
          <p:nvPr/>
        </p:nvSpPr>
        <p:spPr>
          <a:xfrm>
            <a:off x="813816" y="2377440"/>
            <a:ext cx="9601200" cy="1097280"/>
          </a:xfrm>
          <a:prstGeom prst="rect">
            <a:avLst/>
          </a:prstGeom>
          <a:noFill/>
          <a:ln/>
        </p:spPr>
        <p:txBody>
          <a:bodyPr wrap="square" lIns="0" tIns="0" rIns="0" bIns="0" rtlCol="0" anchor="t"/>
          <a:lstStyle/>
          <a:p>
            <a:pPr indent="0" marL="0">
              <a:buNone/>
            </a:pPr>
            <a:r>
              <a:rPr lang="en-US" sz="4000" b="1" dirty="0">
                <a:solidFill>
                  <a:srgbClr val="F6F4EE"/>
                </a:solidFill>
                <a:latin typeface="IBM Plex Sans" pitchFamily="34" charset="0"/>
                <a:ea typeface="IBM Plex Sans" pitchFamily="34" charset="-122"/>
                <a:cs typeface="IBM Plex Sans" pitchFamily="34" charset="-120"/>
              </a:rPr>
              <a:t>What if fitness is not a lookup, but a life?</a:t>
            </a:r>
            <a:endParaRPr lang="en-US" sz="4000" dirty="0"/>
          </a:p>
        </p:txBody>
      </p:sp>
      <p:sp>
        <p:nvSpPr>
          <p:cNvPr id="4" name="Text 2"/>
          <p:cNvSpPr txBox="1"/>
          <p:nvPr/>
        </p:nvSpPr>
        <p:spPr>
          <a:xfrm>
            <a:off x="813816" y="3840480"/>
            <a:ext cx="8686800" cy="731520"/>
          </a:xfrm>
          <a:prstGeom prst="rect">
            <a:avLst/>
          </a:prstGeom>
          <a:noFill/>
          <a:ln/>
        </p:spPr>
        <p:txBody>
          <a:bodyPr wrap="square" lIns="0" tIns="0" rIns="0" bIns="0" rtlCol="0" anchor="t"/>
          <a:lstStyle/>
          <a:p>
            <a:pPr indent="0" marL="0">
              <a:buNone/>
            </a:pPr>
            <a:r>
              <a:rPr lang="en-US" sz="1800" dirty="0">
                <a:solidFill>
                  <a:srgbClr val="F6F4EE"/>
                </a:solidFill>
                <a:latin typeface="IBM Plex Sans" pitchFamily="34" charset="0"/>
                <a:ea typeface="IBM Plex Sans" pitchFamily="34" charset="-122"/>
                <a:cs typeface="IBM Plex Sans" pitchFamily="34" charset="-120"/>
              </a:rPr>
              <a:t>Every genotype gets a body, a random start, and 200 steps to show what it can do.</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CONNECTION 1 · BRAIN ↔ BODY</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The body is handed its brain</a:t>
            </a:r>
            <a:endParaRPr lang="en-US" sz="3200" dirty="0"/>
          </a:p>
        </p:txBody>
      </p:sp>
      <p:sp>
        <p:nvSpPr>
          <p:cNvPr id="5" name="Shape 2"/>
          <p:cNvSpPr/>
          <p:nvPr/>
        </p:nvSpPr>
        <p:spPr>
          <a:xfrm>
            <a:off x="813816" y="1783080"/>
            <a:ext cx="5120640" cy="2377440"/>
          </a:xfrm>
          <a:prstGeom prst="roundRect">
            <a:avLst>
              <a:gd name="adj" fmla="val 3077"/>
            </a:avLst>
          </a:prstGeom>
          <a:solidFill>
            <a:srgbClr val="FFFDF8"/>
          </a:solidFill>
          <a:ln w="12700">
            <a:solidFill>
              <a:srgbClr val="E2DDD0"/>
            </a:solidFill>
            <a:prstDash val="solid"/>
          </a:ln>
        </p:spPr>
      </p:sp>
      <p:sp>
        <p:nvSpPr>
          <p:cNvPr id="6" name="Text 3"/>
          <p:cNvSpPr txBox="1"/>
          <p:nvPr/>
        </p:nvSpPr>
        <p:spPr>
          <a:xfrm>
            <a:off x="1042416" y="1920240"/>
            <a:ext cx="365760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INSIDE THE BODY · env.py</a:t>
            </a:r>
            <a:endParaRPr lang="en-US" sz="1200" dirty="0"/>
          </a:p>
        </p:txBody>
      </p:sp>
      <p:sp>
        <p:nvSpPr>
          <p:cNvPr id="7" name="Shape 4"/>
          <p:cNvSpPr/>
          <p:nvPr/>
        </p:nvSpPr>
        <p:spPr>
          <a:xfrm>
            <a:off x="1042416" y="2286000"/>
            <a:ext cx="4663440" cy="1691640"/>
          </a:xfrm>
          <a:prstGeom prst="roundRect">
            <a:avLst>
              <a:gd name="adj" fmla="val 4324"/>
            </a:avLst>
          </a:prstGeom>
          <a:solidFill>
            <a:srgbClr val="16213A"/>
          </a:solidFill>
          <a:ln w="12700">
            <a:solidFill>
              <a:srgbClr val="16213A"/>
            </a:solidFill>
            <a:prstDash val="solid"/>
          </a:ln>
        </p:spPr>
      </p:sp>
      <p:sp>
        <p:nvSpPr>
          <p:cNvPr id="8" name="Text 5"/>
          <p:cNvSpPr txBox="1"/>
          <p:nvPr/>
        </p:nvSpPr>
        <p:spPr>
          <a:xfrm>
            <a:off x="1271016" y="2468880"/>
            <a:ext cx="4206240" cy="1325880"/>
          </a:xfrm>
          <a:prstGeom prst="rect">
            <a:avLst/>
          </a:prstGeom>
          <a:noFill/>
          <a:ln/>
        </p:spPr>
        <p:txBody>
          <a:bodyPr wrap="square" lIns="0" tIns="0" rIns="0" bIns="0" rtlCol="0" anchor="t"/>
          <a:lstStyle/>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class Braitenberg:</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def __init__(self, neuralnetwork, distance):</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self.controller = neuralnetwork</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def think(self):</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self.motors = self.controller.forward(</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self.sensors)[0]</a:t>
            </a:r>
            <a:endParaRPr lang="en-US" sz="1100" dirty="0"/>
          </a:p>
        </p:txBody>
      </p:sp>
      <p:sp>
        <p:nvSpPr>
          <p:cNvPr id="9" name="Shape 6"/>
          <p:cNvSpPr/>
          <p:nvPr/>
        </p:nvSpPr>
        <p:spPr>
          <a:xfrm>
            <a:off x="6254496" y="1783080"/>
            <a:ext cx="5120640" cy="2377440"/>
          </a:xfrm>
          <a:prstGeom prst="roundRect">
            <a:avLst>
              <a:gd name="adj" fmla="val 3077"/>
            </a:avLst>
          </a:prstGeom>
          <a:solidFill>
            <a:srgbClr val="FFFDF8"/>
          </a:solidFill>
          <a:ln w="12700">
            <a:solidFill>
              <a:srgbClr val="E2DDD0"/>
            </a:solidFill>
            <a:prstDash val="solid"/>
          </a:ln>
        </p:spPr>
      </p:sp>
      <p:sp>
        <p:nvSpPr>
          <p:cNvPr id="10" name="Text 7"/>
          <p:cNvSpPr txBox="1"/>
          <p:nvPr/>
        </p:nvSpPr>
        <p:spPr>
          <a:xfrm>
            <a:off x="6483096" y="1920240"/>
            <a:ext cx="4206240" cy="274320"/>
          </a:xfrm>
          <a:prstGeom prst="rect">
            <a:avLst/>
          </a:prstGeom>
          <a:noFill/>
          <a:ln/>
        </p:spPr>
        <p:txBody>
          <a:bodyPr wrap="square" lIns="0" tIns="0" rIns="0" bIns="0" rtlCol="0" anchor="ctr"/>
          <a:lstStyle/>
          <a:p>
            <a:pPr indent="0" marL="0">
              <a:buNone/>
            </a:pPr>
            <a:r>
              <a:rPr lang="en-US" sz="1200" b="1" spc="100" kern="0" dirty="0">
                <a:solidFill>
                  <a:srgbClr val="1D6F66"/>
                </a:solidFill>
                <a:latin typeface="IBM Plex Sans" pitchFamily="34" charset="0"/>
                <a:ea typeface="IBM Plex Sans" pitchFamily="34" charset="-122"/>
                <a:cs typeface="IBM Plex Sans" pitchFamily="34" charset="-120"/>
              </a:rPr>
              <a:t>WHERE IT'S ASSEMBLED · evolve.py</a:t>
            </a:r>
            <a:endParaRPr lang="en-US" sz="1200" dirty="0"/>
          </a:p>
        </p:txBody>
      </p:sp>
      <p:sp>
        <p:nvSpPr>
          <p:cNvPr id="11" name="Shape 8"/>
          <p:cNvSpPr/>
          <p:nvPr/>
        </p:nvSpPr>
        <p:spPr>
          <a:xfrm>
            <a:off x="6483096" y="2286000"/>
            <a:ext cx="4663440" cy="1691640"/>
          </a:xfrm>
          <a:prstGeom prst="roundRect">
            <a:avLst>
              <a:gd name="adj" fmla="val 4324"/>
            </a:avLst>
          </a:prstGeom>
          <a:solidFill>
            <a:srgbClr val="16213A"/>
          </a:solidFill>
          <a:ln w="12700">
            <a:solidFill>
              <a:srgbClr val="16213A"/>
            </a:solidFill>
            <a:prstDash val="solid"/>
          </a:ln>
        </p:spPr>
      </p:sp>
      <p:sp>
        <p:nvSpPr>
          <p:cNvPr id="12" name="Text 9"/>
          <p:cNvSpPr txBox="1"/>
          <p:nvPr/>
        </p:nvSpPr>
        <p:spPr>
          <a:xfrm>
            <a:off x="6711696" y="2468880"/>
            <a:ext cx="4206240" cy="1325880"/>
          </a:xfrm>
          <a:prstGeom prst="rect">
            <a:avLst/>
          </a:prstGeom>
          <a:noFill/>
          <a:ln/>
        </p:spPr>
        <p:txBody>
          <a:bodyPr wrap="square" lIns="0" tIns="0" rIns="0" bIns="0" rtlCol="0" anchor="t"/>
          <a:lstStyle/>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controller = fnn.FNN(layers)</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controller.setParams(genotype)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agent = env.Braitenberg(controller, distance)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light = env.Light()</a:t>
            </a:r>
            <a:endParaRPr lang="en-US" sz="1100" dirty="0"/>
          </a:p>
        </p:txBody>
      </p:sp>
      <p:sp>
        <p:nvSpPr>
          <p:cNvPr id="13" name="Text 10"/>
          <p:cNvSpPr txBox="1"/>
          <p:nvPr/>
        </p:nvSpPr>
        <p:spPr>
          <a:xfrm>
            <a:off x="813816" y="4480560"/>
            <a:ext cx="10561320" cy="164592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6213A"/>
                </a:solidFill>
                <a:latin typeface="IBM Plex Sans" pitchFamily="34" charset="0"/>
                <a:ea typeface="IBM Plex Sans" pitchFamily="34" charset="-122"/>
                <a:cs typeface="IBM Plex Sans" pitchFamily="34" charset="-120"/>
              </a:rPr>
              <a:t>Same interface: </a:t>
            </a:r>
            <a:pPr indent="0" marL="0">
              <a:spcAft>
                <a:spcPts val="800"/>
              </a:spcAft>
              <a:buNone/>
            </a:pPr>
            <a:r>
              <a:rPr lang="en-US" sz="1400" dirty="0">
                <a:solidFill>
                  <a:srgbClr val="3E4A5C"/>
                </a:solidFill>
                <a:latin typeface="IBM Plex Sans" pitchFamily="34" charset="0"/>
                <a:ea typeface="IBM Plex Sans" pitchFamily="34" charset="-122"/>
                <a:cs typeface="IBM Plex Sans" pitchFamily="34" charset="-120"/>
              </a:rPr>
              <a:t>any object with forward([left, right]) that returns two motor values can drive the body.</a:t>
            </a:r>
            <a:endParaRPr lang="en-US" sz="1400" dirty="0"/>
          </a:p>
          <a:p>
            <a:pPr marL="203200" indent="-203200">
              <a:spcAft>
                <a:spcPts val="800"/>
              </a:spcAft>
              <a:buSzPct val="100000"/>
              <a:buChar char="•"/>
            </a:pPr>
            <a:r>
              <a:rPr lang="en-US" sz="1400" b="1" dirty="0">
                <a:solidFill>
                  <a:srgbClr val="16213A"/>
                </a:solidFill>
                <a:latin typeface="IBM Plex Sans" pitchFamily="34" charset="0"/>
                <a:ea typeface="IBM Plex Sans" pitchFamily="34" charset="-122"/>
                <a:cs typeface="IBM Plex Sans" pitchFamily="34" charset="-120"/>
              </a:rPr>
              <a:t>Loose coupling: </a:t>
            </a:r>
            <a:pPr indent="0" marL="0">
              <a:spcAft>
                <a:spcPts val="800"/>
              </a:spcAft>
              <a:buNone/>
            </a:pPr>
            <a:r>
              <a:rPr lang="en-US" sz="1400" dirty="0">
                <a:solidFill>
                  <a:srgbClr val="3E4A5C"/>
                </a:solidFill>
                <a:latin typeface="IBM Plex Sans" pitchFamily="34" charset="0"/>
                <a:ea typeface="IBM Plex Sans" pitchFamily="34" charset="-122"/>
                <a:cs typeface="IBM Plex Sans" pitchFamily="34" charset="-120"/>
              </a:rPr>
              <a:t>env.py knows nothing about evolution, and eas.py knows nothing about vehicles.</a:t>
            </a:r>
            <a:endParaRPr lang="en-US" sz="1400" dirty="0"/>
          </a:p>
          <a:p>
            <a:pPr marL="203200" indent="-203200">
              <a:spcAft>
                <a:spcPts val="800"/>
              </a:spcAft>
              <a:buSzPct val="100000"/>
              <a:buChar char="•"/>
            </a:pPr>
            <a:r>
              <a:rPr lang="en-US" sz="1400" b="1" dirty="0">
                <a:solidFill>
                  <a:srgbClr val="16213A"/>
                </a:solidFill>
                <a:latin typeface="IBM Plex Sans" pitchFamily="34" charset="0"/>
                <a:ea typeface="IBM Plex Sans" pitchFamily="34" charset="-122"/>
                <a:cs typeface="IBM Plex Sans" pitchFamily="34" charset="-120"/>
              </a:rPr>
              <a:t>Only setParams connects a genotype to behavior: </a:t>
            </a:r>
            <a:pPr indent="0" marL="0">
              <a:spcAft>
                <a:spcPts val="800"/>
              </a:spcAft>
              <a:buNone/>
            </a:pPr>
            <a:r>
              <a:rPr lang="en-US" sz="1400" dirty="0">
                <a:solidFill>
                  <a:srgbClr val="3E4A5C"/>
                </a:solidFill>
                <a:latin typeface="IBM Plex Sans" pitchFamily="34" charset="0"/>
                <a:ea typeface="IBM Plex Sans" pitchFamily="34" charset="-122"/>
                <a:cs typeface="IBM Plex Sans" pitchFamily="34" charset="-120"/>
              </a:rPr>
              <a:t>the same vector becomes different weights, so a different vehicle.</a:t>
            </a:r>
            <a:endParaRPr lang="en-US" sz="1400" dirty="0"/>
          </a:p>
        </p:txBody>
      </p:sp>
      <p:sp>
        <p:nvSpPr>
          <p:cNvPr id="14" name="Text 11"/>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PythonBasics/Unit4/env.py · evolve.py · fitnessFunction()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CONNECTION 2 · CLOSED LOOP</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The network's output changes its own input</a:t>
            </a:r>
            <a:endParaRPr lang="en-US" sz="3200" dirty="0"/>
          </a:p>
        </p:txBody>
      </p:sp>
      <p:sp>
        <p:nvSpPr>
          <p:cNvPr id="5" name="Shape 2"/>
          <p:cNvSpPr/>
          <p:nvPr/>
        </p:nvSpPr>
        <p:spPr>
          <a:xfrm>
            <a:off x="813816" y="1828800"/>
            <a:ext cx="2148840" cy="1463040"/>
          </a:xfrm>
          <a:prstGeom prst="roundRect">
            <a:avLst>
              <a:gd name="adj" fmla="val 5000"/>
            </a:avLst>
          </a:prstGeom>
          <a:solidFill>
            <a:srgbClr val="16213A"/>
          </a:solidFill>
          <a:ln w="12700">
            <a:solidFill>
              <a:srgbClr val="16213A"/>
            </a:solidFill>
            <a:prstDash val="solid"/>
          </a:ln>
        </p:spPr>
      </p:sp>
      <p:sp>
        <p:nvSpPr>
          <p:cNvPr id="6" name="Text 3"/>
          <p:cNvSpPr txBox="1"/>
          <p:nvPr/>
        </p:nvSpPr>
        <p:spPr>
          <a:xfrm>
            <a:off x="996696" y="1965960"/>
            <a:ext cx="1783080" cy="365760"/>
          </a:xfrm>
          <a:prstGeom prst="rect">
            <a:avLst/>
          </a:prstGeom>
          <a:noFill/>
          <a:ln/>
        </p:spPr>
        <p:txBody>
          <a:bodyPr wrap="square" lIns="0" tIns="0" rIns="0" bIns="0" rtlCol="0" anchor="ctr"/>
          <a:lstStyle/>
          <a:p>
            <a:pPr indent="0" marL="0">
              <a:buNone/>
            </a:pPr>
            <a:r>
              <a:rPr lang="en-US" sz="1800" b="1" dirty="0">
                <a:solidFill>
                  <a:srgbClr val="F6F4EE"/>
                </a:solidFill>
                <a:latin typeface="IBM Plex Sans" pitchFamily="34" charset="0"/>
                <a:ea typeface="IBM Plex Sans" pitchFamily="34" charset="-122"/>
                <a:cs typeface="IBM Plex Sans" pitchFamily="34" charset="-120"/>
              </a:rPr>
              <a:t>Sense</a:t>
            </a:r>
            <a:endParaRPr lang="en-US" sz="1800" dirty="0"/>
          </a:p>
        </p:txBody>
      </p:sp>
      <p:sp>
        <p:nvSpPr>
          <p:cNvPr id="7" name="Text 4"/>
          <p:cNvSpPr txBox="1"/>
          <p:nvPr/>
        </p:nvSpPr>
        <p:spPr>
          <a:xfrm>
            <a:off x="996696" y="2423160"/>
            <a:ext cx="1783080" cy="777240"/>
          </a:xfrm>
          <a:prstGeom prst="rect">
            <a:avLst/>
          </a:prstGeom>
          <a:noFill/>
          <a:ln/>
        </p:spPr>
        <p:txBody>
          <a:bodyPr wrap="square" lIns="0" tIns="0" rIns="0" bIns="0" rtlCol="0" anchor="t"/>
          <a:lstStyle/>
          <a:p>
            <a:pPr indent="0" marL="0">
              <a:buNone/>
            </a:pPr>
            <a:r>
              <a:rPr lang="en-US" sz="1200" dirty="0">
                <a:solidFill>
                  <a:srgbClr val="E8E4D8"/>
                </a:solidFill>
                <a:latin typeface="JetBrains Mono" pitchFamily="34" charset="0"/>
                <a:ea typeface="JetBrains Mono" pitchFamily="34" charset="-122"/>
                <a:cs typeface="JetBrains Mono" pitchFamily="34" charset="-120"/>
              </a:rPr>
              <a:t>left_sensor</a:t>
            </a:r>
            <a:endParaRPr lang="en-US" sz="1200" dirty="0"/>
          </a:p>
          <a:p>
            <a:pPr indent="0" marL="0">
              <a:buNone/>
            </a:pPr>
            <a:r>
              <a:rPr lang="en-US" sz="1200" dirty="0">
                <a:solidFill>
                  <a:srgbClr val="E8E4D8"/>
                </a:solidFill>
                <a:latin typeface="JetBrains Mono" pitchFamily="34" charset="0"/>
                <a:ea typeface="JetBrains Mono" pitchFamily="34" charset="-122"/>
                <a:cs typeface="JetBrains Mono" pitchFamily="34" charset="-120"/>
              </a:rPr>
              <a:t>right_sensor</a:t>
            </a:r>
            <a:endParaRPr lang="en-US" sz="1200" dirty="0"/>
          </a:p>
        </p:txBody>
      </p:sp>
      <p:sp>
        <p:nvSpPr>
          <p:cNvPr id="8" name="Shape 5"/>
          <p:cNvSpPr/>
          <p:nvPr/>
        </p:nvSpPr>
        <p:spPr>
          <a:xfrm>
            <a:off x="3035808" y="2560320"/>
            <a:ext cx="512064" cy="0"/>
          </a:xfrm>
          <a:prstGeom prst="line">
            <a:avLst/>
          </a:prstGeom>
          <a:noFill/>
          <a:ln w="25400">
            <a:solidFill>
              <a:srgbClr val="5E6878"/>
            </a:solidFill>
            <a:prstDash val="solid"/>
            <a:tailEnd type="triangle"/>
          </a:ln>
        </p:spPr>
      </p:sp>
      <p:sp>
        <p:nvSpPr>
          <p:cNvPr id="9" name="Shape 6"/>
          <p:cNvSpPr/>
          <p:nvPr/>
        </p:nvSpPr>
        <p:spPr>
          <a:xfrm>
            <a:off x="3621024" y="1828800"/>
            <a:ext cx="2148840" cy="1463040"/>
          </a:xfrm>
          <a:prstGeom prst="roundRect">
            <a:avLst>
              <a:gd name="adj" fmla="val 5000"/>
            </a:avLst>
          </a:prstGeom>
          <a:solidFill>
            <a:srgbClr val="B4521C"/>
          </a:solidFill>
          <a:ln w="12700">
            <a:solidFill>
              <a:srgbClr val="B4521C"/>
            </a:solidFill>
            <a:prstDash val="solid"/>
          </a:ln>
        </p:spPr>
      </p:sp>
      <p:sp>
        <p:nvSpPr>
          <p:cNvPr id="10" name="Text 7"/>
          <p:cNvSpPr txBox="1"/>
          <p:nvPr/>
        </p:nvSpPr>
        <p:spPr>
          <a:xfrm>
            <a:off x="3803904" y="1965960"/>
            <a:ext cx="1783080" cy="365760"/>
          </a:xfrm>
          <a:prstGeom prst="rect">
            <a:avLst/>
          </a:prstGeom>
          <a:noFill/>
          <a:ln/>
        </p:spPr>
        <p:txBody>
          <a:bodyPr wrap="square" lIns="0" tIns="0" rIns="0" bIns="0" rtlCol="0" anchor="ctr"/>
          <a:lstStyle/>
          <a:p>
            <a:pPr indent="0" marL="0">
              <a:buNone/>
            </a:pPr>
            <a:r>
              <a:rPr lang="en-US" sz="1800" b="1" dirty="0">
                <a:solidFill>
                  <a:srgbClr val="F6F4EE"/>
                </a:solidFill>
                <a:latin typeface="IBM Plex Sans" pitchFamily="34" charset="0"/>
                <a:ea typeface="IBM Plex Sans" pitchFamily="34" charset="-122"/>
                <a:cs typeface="IBM Plex Sans" pitchFamily="34" charset="-120"/>
              </a:rPr>
              <a:t>Think</a:t>
            </a:r>
            <a:endParaRPr lang="en-US" sz="1800" dirty="0"/>
          </a:p>
        </p:txBody>
      </p:sp>
      <p:sp>
        <p:nvSpPr>
          <p:cNvPr id="11" name="Text 8"/>
          <p:cNvSpPr txBox="1"/>
          <p:nvPr/>
        </p:nvSpPr>
        <p:spPr>
          <a:xfrm>
            <a:off x="3803904" y="2423160"/>
            <a:ext cx="1783080" cy="777240"/>
          </a:xfrm>
          <a:prstGeom prst="rect">
            <a:avLst/>
          </a:prstGeom>
          <a:noFill/>
          <a:ln/>
        </p:spPr>
        <p:txBody>
          <a:bodyPr wrap="square" lIns="0" tIns="0" rIns="0" bIns="0" rtlCol="0" anchor="t"/>
          <a:lstStyle/>
          <a:p>
            <a:pPr indent="0" marL="0">
              <a:buNone/>
            </a:pPr>
            <a:r>
              <a:rPr lang="en-US" sz="1200" dirty="0">
                <a:solidFill>
                  <a:srgbClr val="F6F4EE"/>
                </a:solidFill>
                <a:latin typeface="JetBrains Mono" pitchFamily="34" charset="0"/>
                <a:ea typeface="JetBrains Mono" pitchFamily="34" charset="-122"/>
                <a:cs typeface="JetBrains Mono" pitchFamily="34" charset="-120"/>
              </a:rPr>
              <a:t>FNN [2, 4, 2]</a:t>
            </a:r>
            <a:endParaRPr lang="en-US" sz="1200" dirty="0"/>
          </a:p>
          <a:p>
            <a:pPr indent="0" marL="0">
              <a:buNone/>
            </a:pPr>
            <a:r>
              <a:rPr lang="en-US" sz="1200" dirty="0">
                <a:solidFill>
                  <a:srgbClr val="F6F4EE"/>
                </a:solidFill>
                <a:latin typeface="JetBrains Mono" pitchFamily="34" charset="0"/>
                <a:ea typeface="JetBrains Mono" pitchFamily="34" charset="-122"/>
                <a:cs typeface="JetBrains Mono" pitchFamily="34" charset="-120"/>
              </a:rPr>
              <a:t>controller.forward</a:t>
            </a:r>
            <a:endParaRPr lang="en-US" sz="1200" dirty="0"/>
          </a:p>
        </p:txBody>
      </p:sp>
      <p:sp>
        <p:nvSpPr>
          <p:cNvPr id="12" name="Shape 9"/>
          <p:cNvSpPr/>
          <p:nvPr/>
        </p:nvSpPr>
        <p:spPr>
          <a:xfrm>
            <a:off x="5843016" y="2560320"/>
            <a:ext cx="512064" cy="0"/>
          </a:xfrm>
          <a:prstGeom prst="line">
            <a:avLst/>
          </a:prstGeom>
          <a:noFill/>
          <a:ln w="25400">
            <a:solidFill>
              <a:srgbClr val="5E6878"/>
            </a:solidFill>
            <a:prstDash val="solid"/>
            <a:tailEnd type="triangle"/>
          </a:ln>
        </p:spPr>
      </p:sp>
      <p:sp>
        <p:nvSpPr>
          <p:cNvPr id="13" name="Shape 10"/>
          <p:cNvSpPr/>
          <p:nvPr/>
        </p:nvSpPr>
        <p:spPr>
          <a:xfrm>
            <a:off x="6428232" y="1828800"/>
            <a:ext cx="2148840" cy="1463040"/>
          </a:xfrm>
          <a:prstGeom prst="roundRect">
            <a:avLst>
              <a:gd name="adj" fmla="val 5000"/>
            </a:avLst>
          </a:prstGeom>
          <a:solidFill>
            <a:srgbClr val="16213A"/>
          </a:solidFill>
          <a:ln w="12700">
            <a:solidFill>
              <a:srgbClr val="16213A"/>
            </a:solidFill>
            <a:prstDash val="solid"/>
          </a:ln>
        </p:spPr>
      </p:sp>
      <p:sp>
        <p:nvSpPr>
          <p:cNvPr id="14" name="Text 11"/>
          <p:cNvSpPr txBox="1"/>
          <p:nvPr/>
        </p:nvSpPr>
        <p:spPr>
          <a:xfrm>
            <a:off x="6611112" y="1965960"/>
            <a:ext cx="1783080" cy="365760"/>
          </a:xfrm>
          <a:prstGeom prst="rect">
            <a:avLst/>
          </a:prstGeom>
          <a:noFill/>
          <a:ln/>
        </p:spPr>
        <p:txBody>
          <a:bodyPr wrap="square" lIns="0" tIns="0" rIns="0" bIns="0" rtlCol="0" anchor="ctr"/>
          <a:lstStyle/>
          <a:p>
            <a:pPr indent="0" marL="0">
              <a:buNone/>
            </a:pPr>
            <a:r>
              <a:rPr lang="en-US" sz="1800" b="1" dirty="0">
                <a:solidFill>
                  <a:srgbClr val="F6F4EE"/>
                </a:solidFill>
                <a:latin typeface="IBM Plex Sans" pitchFamily="34" charset="0"/>
                <a:ea typeface="IBM Plex Sans" pitchFamily="34" charset="-122"/>
                <a:cs typeface="IBM Plex Sans" pitchFamily="34" charset="-120"/>
              </a:rPr>
              <a:t>Move</a:t>
            </a:r>
            <a:endParaRPr lang="en-US" sz="1800" dirty="0"/>
          </a:p>
        </p:txBody>
      </p:sp>
      <p:sp>
        <p:nvSpPr>
          <p:cNvPr id="15" name="Text 12"/>
          <p:cNvSpPr txBox="1"/>
          <p:nvPr/>
        </p:nvSpPr>
        <p:spPr>
          <a:xfrm>
            <a:off x="6611112" y="2423160"/>
            <a:ext cx="1783080" cy="777240"/>
          </a:xfrm>
          <a:prstGeom prst="rect">
            <a:avLst/>
          </a:prstGeom>
          <a:noFill/>
          <a:ln/>
        </p:spPr>
        <p:txBody>
          <a:bodyPr wrap="square" lIns="0" tIns="0" rIns="0" bIns="0" rtlCol="0" anchor="t"/>
          <a:lstStyle/>
          <a:p>
            <a:pPr indent="0" marL="0">
              <a:buNone/>
            </a:pPr>
            <a:r>
              <a:rPr lang="en-US" sz="1200" dirty="0">
                <a:solidFill>
                  <a:srgbClr val="E8E4D8"/>
                </a:solidFill>
                <a:latin typeface="JetBrains Mono" pitchFamily="34" charset="0"/>
                <a:ea typeface="JetBrains Mono" pitchFamily="34" charset="-122"/>
                <a:cs typeface="JetBrains Mono" pitchFamily="34" charset="-120"/>
              </a:rPr>
              <a:t>left_motor</a:t>
            </a:r>
            <a:endParaRPr lang="en-US" sz="1200" dirty="0"/>
          </a:p>
          <a:p>
            <a:pPr indent="0" marL="0">
              <a:buNone/>
            </a:pPr>
            <a:r>
              <a:rPr lang="en-US" sz="1200" dirty="0">
                <a:solidFill>
                  <a:srgbClr val="E8E4D8"/>
                </a:solidFill>
                <a:latin typeface="JetBrains Mono" pitchFamily="34" charset="0"/>
                <a:ea typeface="JetBrains Mono" pitchFamily="34" charset="-122"/>
                <a:cs typeface="JetBrains Mono" pitchFamily="34" charset="-120"/>
              </a:rPr>
              <a:t>right_motor</a:t>
            </a:r>
            <a:endParaRPr lang="en-US" sz="1200" dirty="0"/>
          </a:p>
        </p:txBody>
      </p:sp>
      <p:sp>
        <p:nvSpPr>
          <p:cNvPr id="16" name="Shape 13"/>
          <p:cNvSpPr/>
          <p:nvPr/>
        </p:nvSpPr>
        <p:spPr>
          <a:xfrm>
            <a:off x="8650224" y="2560320"/>
            <a:ext cx="512064" cy="0"/>
          </a:xfrm>
          <a:prstGeom prst="line">
            <a:avLst/>
          </a:prstGeom>
          <a:noFill/>
          <a:ln w="25400">
            <a:solidFill>
              <a:srgbClr val="5E6878"/>
            </a:solidFill>
            <a:prstDash val="solid"/>
            <a:tailEnd type="triangle"/>
          </a:ln>
        </p:spPr>
      </p:sp>
      <p:sp>
        <p:nvSpPr>
          <p:cNvPr id="17" name="Shape 14"/>
          <p:cNvSpPr/>
          <p:nvPr/>
        </p:nvSpPr>
        <p:spPr>
          <a:xfrm>
            <a:off x="9235440" y="1828800"/>
            <a:ext cx="2148840" cy="1463040"/>
          </a:xfrm>
          <a:prstGeom prst="roundRect">
            <a:avLst>
              <a:gd name="adj" fmla="val 5000"/>
            </a:avLst>
          </a:prstGeom>
          <a:solidFill>
            <a:srgbClr val="16213A"/>
          </a:solidFill>
          <a:ln w="12700">
            <a:solidFill>
              <a:srgbClr val="16213A"/>
            </a:solidFill>
            <a:prstDash val="solid"/>
          </a:ln>
        </p:spPr>
      </p:sp>
      <p:sp>
        <p:nvSpPr>
          <p:cNvPr id="18" name="Text 15"/>
          <p:cNvSpPr txBox="1"/>
          <p:nvPr/>
        </p:nvSpPr>
        <p:spPr>
          <a:xfrm>
            <a:off x="9418320" y="1965960"/>
            <a:ext cx="1783080" cy="365760"/>
          </a:xfrm>
          <a:prstGeom prst="rect">
            <a:avLst/>
          </a:prstGeom>
          <a:noFill/>
          <a:ln/>
        </p:spPr>
        <p:txBody>
          <a:bodyPr wrap="square" lIns="0" tIns="0" rIns="0" bIns="0" rtlCol="0" anchor="ctr"/>
          <a:lstStyle/>
          <a:p>
            <a:pPr indent="0" marL="0">
              <a:buNone/>
            </a:pPr>
            <a:r>
              <a:rPr lang="en-US" sz="1800" b="1" dirty="0">
                <a:solidFill>
                  <a:srgbClr val="F6F4EE"/>
                </a:solidFill>
                <a:latin typeface="IBM Plex Sans" pitchFamily="34" charset="0"/>
                <a:ea typeface="IBM Plex Sans" pitchFamily="34" charset="-122"/>
                <a:cs typeface="IBM Plex Sans" pitchFamily="34" charset="-120"/>
              </a:rPr>
              <a:t>New pose</a:t>
            </a:r>
            <a:endParaRPr lang="en-US" sz="1800" dirty="0"/>
          </a:p>
        </p:txBody>
      </p:sp>
      <p:sp>
        <p:nvSpPr>
          <p:cNvPr id="19" name="Text 16"/>
          <p:cNvSpPr txBox="1"/>
          <p:nvPr/>
        </p:nvSpPr>
        <p:spPr>
          <a:xfrm>
            <a:off x="9418320" y="2423160"/>
            <a:ext cx="1783080" cy="777240"/>
          </a:xfrm>
          <a:prstGeom prst="rect">
            <a:avLst/>
          </a:prstGeom>
          <a:noFill/>
          <a:ln/>
        </p:spPr>
        <p:txBody>
          <a:bodyPr wrap="square" lIns="0" tIns="0" rIns="0" bIns="0" rtlCol="0" anchor="t"/>
          <a:lstStyle/>
          <a:p>
            <a:pPr indent="0" marL="0">
              <a:buNone/>
            </a:pPr>
            <a:r>
              <a:rPr lang="en-US" sz="1200" dirty="0">
                <a:solidFill>
                  <a:srgbClr val="E8E4D8"/>
                </a:solidFill>
                <a:latin typeface="JetBrains Mono" pitchFamily="34" charset="0"/>
                <a:ea typeface="JetBrains Mono" pitchFamily="34" charset="-122"/>
                <a:cs typeface="JetBrains Mono" pitchFamily="34" charset="-120"/>
              </a:rPr>
              <a:t>x, y,</a:t>
            </a:r>
            <a:endParaRPr lang="en-US" sz="1200" dirty="0"/>
          </a:p>
          <a:p>
            <a:pPr indent="0" marL="0">
              <a:buNone/>
            </a:pPr>
            <a:r>
              <a:rPr lang="en-US" sz="1200" dirty="0">
                <a:solidFill>
                  <a:srgbClr val="E8E4D8"/>
                </a:solidFill>
                <a:latin typeface="JetBrains Mono" pitchFamily="34" charset="0"/>
                <a:ea typeface="JetBrains Mono" pitchFamily="34" charset="-122"/>
                <a:cs typeface="JetBrains Mono" pitchFamily="34" charset="-120"/>
              </a:rPr>
              <a:t>orientation</a:t>
            </a:r>
            <a:endParaRPr lang="en-US" sz="1200" dirty="0"/>
          </a:p>
        </p:txBody>
      </p:sp>
      <p:sp>
        <p:nvSpPr>
          <p:cNvPr id="20" name="Shape 17"/>
          <p:cNvSpPr/>
          <p:nvPr/>
        </p:nvSpPr>
        <p:spPr>
          <a:xfrm>
            <a:off x="10309860" y="3291840"/>
            <a:ext cx="0" cy="502920"/>
          </a:xfrm>
          <a:prstGeom prst="line">
            <a:avLst/>
          </a:prstGeom>
          <a:noFill/>
          <a:ln w="25400">
            <a:solidFill>
              <a:srgbClr val="5E6878"/>
            </a:solidFill>
            <a:prstDash val="solid"/>
          </a:ln>
        </p:spPr>
      </p:sp>
      <p:sp>
        <p:nvSpPr>
          <p:cNvPr id="21" name="Shape 18"/>
          <p:cNvSpPr/>
          <p:nvPr/>
        </p:nvSpPr>
        <p:spPr>
          <a:xfrm>
            <a:off x="1888236" y="3794760"/>
            <a:ext cx="8421624" cy="0"/>
          </a:xfrm>
          <a:prstGeom prst="line">
            <a:avLst/>
          </a:prstGeom>
          <a:noFill/>
          <a:ln w="25400">
            <a:solidFill>
              <a:srgbClr val="5E6878"/>
            </a:solidFill>
            <a:prstDash val="solid"/>
          </a:ln>
        </p:spPr>
      </p:sp>
      <p:sp>
        <p:nvSpPr>
          <p:cNvPr id="22" name="Shape 19"/>
          <p:cNvSpPr/>
          <p:nvPr/>
        </p:nvSpPr>
        <p:spPr>
          <a:xfrm flipV="1">
            <a:off x="1888236" y="3291840"/>
            <a:ext cx="0" cy="502920"/>
          </a:xfrm>
          <a:prstGeom prst="line">
            <a:avLst/>
          </a:prstGeom>
          <a:noFill/>
          <a:ln w="25400">
            <a:solidFill>
              <a:srgbClr val="5E6878"/>
            </a:solidFill>
            <a:prstDash val="solid"/>
            <a:tailEnd type="triangle"/>
          </a:ln>
        </p:spPr>
      </p:sp>
      <p:sp>
        <p:nvSpPr>
          <p:cNvPr id="23" name="Text 20"/>
          <p:cNvSpPr txBox="1"/>
          <p:nvPr/>
        </p:nvSpPr>
        <p:spPr>
          <a:xfrm>
            <a:off x="2162556" y="3886200"/>
            <a:ext cx="7872984" cy="320040"/>
          </a:xfrm>
          <a:prstGeom prst="rect">
            <a:avLst/>
          </a:prstGeom>
          <a:noFill/>
          <a:ln/>
        </p:spPr>
        <p:txBody>
          <a:bodyPr wrap="square" lIns="0" tIns="0" rIns="0" bIns="0" rtlCol="0" anchor="ctr"/>
          <a:lstStyle/>
          <a:p>
            <a:pPr algn="ctr" indent="0" marL="0">
              <a:buNone/>
            </a:pPr>
            <a:r>
              <a:rPr lang="en-US" sz="1200" i="1" dirty="0">
                <a:solidFill>
                  <a:srgbClr val="5E6878"/>
                </a:solidFill>
                <a:latin typeface="IBM Plex Sans" pitchFamily="34" charset="0"/>
                <a:ea typeface="IBM Plex Sans" pitchFamily="34" charset="-122"/>
                <a:cs typeface="IBM Plex Sans" pitchFamily="34" charset="-120"/>
              </a:rPr>
              <a:t>repeated 200 times per trial: the new pose gives new sensor readings</a:t>
            </a:r>
            <a:endParaRPr lang="en-US" sz="1200" dirty="0"/>
          </a:p>
        </p:txBody>
      </p:sp>
      <p:sp>
        <p:nvSpPr>
          <p:cNvPr id="24" name="Shape 21"/>
          <p:cNvSpPr/>
          <p:nvPr/>
        </p:nvSpPr>
        <p:spPr>
          <a:xfrm>
            <a:off x="813816" y="4480560"/>
            <a:ext cx="3337560" cy="1600200"/>
          </a:xfrm>
          <a:prstGeom prst="roundRect">
            <a:avLst>
              <a:gd name="adj" fmla="val 4571"/>
            </a:avLst>
          </a:prstGeom>
          <a:solidFill>
            <a:srgbClr val="FFFDF8"/>
          </a:solidFill>
          <a:ln w="12700">
            <a:solidFill>
              <a:srgbClr val="E2DDD0"/>
            </a:solidFill>
            <a:prstDash val="solid"/>
          </a:ln>
        </p:spPr>
      </p:sp>
      <p:sp>
        <p:nvSpPr>
          <p:cNvPr id="25" name="Text 22"/>
          <p:cNvSpPr txBox="1"/>
          <p:nvPr/>
        </p:nvSpPr>
        <p:spPr>
          <a:xfrm>
            <a:off x="1042416" y="4617720"/>
            <a:ext cx="2926080" cy="320040"/>
          </a:xfrm>
          <a:prstGeom prst="rect">
            <a:avLst/>
          </a:prstGeom>
          <a:noFill/>
          <a:ln/>
        </p:spPr>
        <p:txBody>
          <a:bodyPr wrap="square" lIns="0" tIns="0" rIns="0" bIns="0" rtlCol="0" anchor="ctr"/>
          <a:lstStyle/>
          <a:p>
            <a:pPr indent="0" marL="0">
              <a:buNone/>
            </a:pPr>
            <a:r>
              <a:rPr lang="en-US" sz="1500" b="1" dirty="0">
                <a:solidFill>
                  <a:srgbClr val="16213A"/>
                </a:solidFill>
                <a:latin typeface="IBM Plex Sans" pitchFamily="34" charset="0"/>
                <a:ea typeface="IBM Plex Sans" pitchFamily="34" charset="-122"/>
                <a:cs typeface="IBM Plex Sans" pitchFamily="34" charset="-120"/>
              </a:rPr>
              <a:t>Not like XOR</a:t>
            </a:r>
            <a:endParaRPr lang="en-US" sz="1500" dirty="0"/>
          </a:p>
        </p:txBody>
      </p:sp>
      <p:sp>
        <p:nvSpPr>
          <p:cNvPr id="26" name="Text 23"/>
          <p:cNvSpPr txBox="1"/>
          <p:nvPr/>
        </p:nvSpPr>
        <p:spPr>
          <a:xfrm>
            <a:off x="1042416" y="4983480"/>
            <a:ext cx="2926080" cy="100584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There, inputs were fixed and independent. Here, every output changes the next input.</a:t>
            </a:r>
            <a:endParaRPr lang="en-US" sz="1200" dirty="0"/>
          </a:p>
        </p:txBody>
      </p:sp>
      <p:sp>
        <p:nvSpPr>
          <p:cNvPr id="27" name="Shape 24"/>
          <p:cNvSpPr/>
          <p:nvPr/>
        </p:nvSpPr>
        <p:spPr>
          <a:xfrm>
            <a:off x="4379976" y="4480560"/>
            <a:ext cx="3337560" cy="1600200"/>
          </a:xfrm>
          <a:prstGeom prst="roundRect">
            <a:avLst>
              <a:gd name="adj" fmla="val 4571"/>
            </a:avLst>
          </a:prstGeom>
          <a:solidFill>
            <a:srgbClr val="FFFDF8"/>
          </a:solidFill>
          <a:ln w="12700">
            <a:solidFill>
              <a:srgbClr val="E2DDD0"/>
            </a:solidFill>
            <a:prstDash val="solid"/>
          </a:ln>
        </p:spPr>
      </p:sp>
      <p:sp>
        <p:nvSpPr>
          <p:cNvPr id="28" name="Text 25"/>
          <p:cNvSpPr txBox="1"/>
          <p:nvPr/>
        </p:nvSpPr>
        <p:spPr>
          <a:xfrm>
            <a:off x="4608576" y="4617720"/>
            <a:ext cx="2926080" cy="320040"/>
          </a:xfrm>
          <a:prstGeom prst="rect">
            <a:avLst/>
          </a:prstGeom>
          <a:noFill/>
          <a:ln/>
        </p:spPr>
        <p:txBody>
          <a:bodyPr wrap="square" lIns="0" tIns="0" rIns="0" bIns="0" rtlCol="0" anchor="ctr"/>
          <a:lstStyle/>
          <a:p>
            <a:pPr indent="0" marL="0">
              <a:buNone/>
            </a:pPr>
            <a:r>
              <a:rPr lang="en-US" sz="1500" b="1" dirty="0">
                <a:solidFill>
                  <a:srgbClr val="16213A"/>
                </a:solidFill>
                <a:latin typeface="IBM Plex Sans" pitchFamily="34" charset="0"/>
                <a:ea typeface="IBM Plex Sans" pitchFamily="34" charset="-122"/>
                <a:cs typeface="IBM Plex Sans" pitchFamily="34" charset="-120"/>
              </a:rPr>
              <a:t>Behavior is a loop</a:t>
            </a:r>
            <a:endParaRPr lang="en-US" sz="1500" dirty="0"/>
          </a:p>
        </p:txBody>
      </p:sp>
      <p:sp>
        <p:nvSpPr>
          <p:cNvPr id="29" name="Text 26"/>
          <p:cNvSpPr txBox="1"/>
          <p:nvPr/>
        </p:nvSpPr>
        <p:spPr>
          <a:xfrm>
            <a:off x="4608576" y="4983480"/>
            <a:ext cx="2926080" cy="100584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Steering emerges from network, body and world together. No layer alone "knows" the strategy.</a:t>
            </a:r>
            <a:endParaRPr lang="en-US" sz="1200" dirty="0"/>
          </a:p>
        </p:txBody>
      </p:sp>
      <p:sp>
        <p:nvSpPr>
          <p:cNvPr id="30" name="Shape 27"/>
          <p:cNvSpPr/>
          <p:nvPr/>
        </p:nvSpPr>
        <p:spPr>
          <a:xfrm>
            <a:off x="7946136" y="4480560"/>
            <a:ext cx="3337560" cy="1600200"/>
          </a:xfrm>
          <a:prstGeom prst="roundRect">
            <a:avLst>
              <a:gd name="adj" fmla="val 4571"/>
            </a:avLst>
          </a:prstGeom>
          <a:solidFill>
            <a:srgbClr val="FFFDF8"/>
          </a:solidFill>
          <a:ln w="12700">
            <a:solidFill>
              <a:srgbClr val="E2DDD0"/>
            </a:solidFill>
            <a:prstDash val="solid"/>
          </a:ln>
        </p:spPr>
      </p:sp>
      <p:sp>
        <p:nvSpPr>
          <p:cNvPr id="31" name="Text 28"/>
          <p:cNvSpPr txBox="1"/>
          <p:nvPr/>
        </p:nvSpPr>
        <p:spPr>
          <a:xfrm>
            <a:off x="8174736" y="4617720"/>
            <a:ext cx="2926080" cy="320040"/>
          </a:xfrm>
          <a:prstGeom prst="rect">
            <a:avLst/>
          </a:prstGeom>
          <a:noFill/>
          <a:ln/>
        </p:spPr>
        <p:txBody>
          <a:bodyPr wrap="square" lIns="0" tIns="0" rIns="0" bIns="0" rtlCol="0" anchor="ctr"/>
          <a:lstStyle/>
          <a:p>
            <a:pPr indent="0" marL="0">
              <a:buNone/>
            </a:pPr>
            <a:r>
              <a:rPr lang="en-US" sz="1500" b="1" dirty="0">
                <a:solidFill>
                  <a:srgbClr val="16213A"/>
                </a:solidFill>
                <a:latin typeface="IBM Plex Sans" pitchFamily="34" charset="0"/>
                <a:ea typeface="IBM Plex Sans" pitchFamily="34" charset="-122"/>
                <a:cs typeface="IBM Plex Sans" pitchFamily="34" charset="-120"/>
              </a:rPr>
              <a:t>Evolution's view</a:t>
            </a:r>
            <a:endParaRPr lang="en-US" sz="1500" dirty="0"/>
          </a:p>
        </p:txBody>
      </p:sp>
      <p:sp>
        <p:nvSpPr>
          <p:cNvPr id="32" name="Text 29"/>
          <p:cNvSpPr txBox="1"/>
          <p:nvPr/>
        </p:nvSpPr>
        <p:spPr>
          <a:xfrm>
            <a:off x="8174736" y="4983480"/>
            <a:ext cx="2926080" cy="100584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It sees none of this. It only receives one fitness number per genome.</a:t>
            </a:r>
            <a:endParaRPr lang="en-US" sz="1200" dirty="0"/>
          </a:p>
        </p:txBody>
      </p:sp>
      <p:sp>
        <p:nvSpPr>
          <p:cNvPr id="33" name="Text 30"/>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PythonBasics/Unit4/env.py · sense → think → move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CONNECTION 2 · FITNESS</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What changes when fitness comes from a body</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3816" y="1737360"/>
          <a:ext cx="10561320" cy="914400"/>
        </p:xfrm>
        <a:graphic>
          <a:graphicData uri="http://schemas.openxmlformats.org/drawingml/2006/table">
            <a:tbl>
              <a:tblPr/>
              <a:tblGrid>
                <a:gridCol w="2514600"/>
                <a:gridCol w="3291840"/>
                <a:gridCol w="4754880"/>
              </a:tblGrid>
              <a:tr h="502920">
                <a:tc>
                  <a:txBody>
                    <a:bodyPr/>
                    <a:lstStyle/>
                    <a:p>
                      <a:pPr indent="0" marL="0">
                        <a:buNone/>
                      </a:pP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16213A"/>
                    </a:solidFill>
                  </a:tcPr>
                </a:tc>
                <a:tc>
                  <a:txBody>
                    <a:bodyPr/>
                    <a:lstStyle/>
                    <a:p>
                      <a:pPr indent="0" marL="0">
                        <a:buNone/>
                      </a:pPr>
                      <a:r>
                        <a:rPr lang="en-US" sz="1300" b="1" dirty="0">
                          <a:solidFill>
                            <a:srgbClr val="F6F4EE"/>
                          </a:solidFill>
                          <a:latin typeface="IBM Plex Sans" pitchFamily="34" charset="0"/>
                          <a:ea typeface="IBM Plex Sans" pitchFamily="34" charset="-122"/>
                          <a:cs typeface="IBM Plex Sans" pitchFamily="34" charset="-120"/>
                        </a:rPr>
                        <a:t>Unit 3: classification</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16213A"/>
                    </a:solidFill>
                  </a:tcPr>
                </a:tc>
                <a:tc>
                  <a:txBody>
                    <a:bodyPr/>
                    <a:lstStyle/>
                    <a:p>
                      <a:pPr indent="0" marL="0">
                        <a:buNone/>
                      </a:pPr>
                      <a:r>
                        <a:rPr lang="en-US" sz="1300" b="1" dirty="0">
                          <a:solidFill>
                            <a:srgbClr val="F6F4EE"/>
                          </a:solidFill>
                          <a:latin typeface="IBM Plex Sans" pitchFamily="34" charset="0"/>
                          <a:ea typeface="IBM Plex Sans" pitchFamily="34" charset="-122"/>
                          <a:cs typeface="IBM Plex Sans" pitchFamily="34" charset="-120"/>
                        </a:rPr>
                        <a:t>Unit 4: Braitenberg</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1D6F66"/>
                    </a:solidFill>
                  </a:tcPr>
                </a:tc>
              </a:tr>
              <a:tr h="502920">
                <a:tc>
                  <a:txBody>
                    <a:bodyPr/>
                    <a:lstStyle/>
                    <a:p>
                      <a:pPr indent="0" marL="0">
                        <a:buNone/>
                      </a:pPr>
                      <a:r>
                        <a:rPr lang="en-US" sz="1300" b="1" dirty="0">
                          <a:solidFill>
                            <a:srgbClr val="16213A"/>
                          </a:solidFill>
                          <a:latin typeface="IBM Plex Sans" pitchFamily="34" charset="0"/>
                          <a:ea typeface="IBM Plex Sans" pitchFamily="34" charset="-122"/>
                          <a:cs typeface="IBM Plex Sans" pitchFamily="34" charset="-120"/>
                        </a:rPr>
                        <a:t>Fitness is</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score of the network on a fixed dataset</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how close the body stays to the light, over 200 steps</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r>
              <a:tr h="502920">
                <a:tc>
                  <a:txBody>
                    <a:bodyPr/>
                    <a:lstStyle/>
                    <a:p>
                      <a:pPr indent="0" marL="0">
                        <a:buNone/>
                      </a:pPr>
                      <a:r>
                        <a:rPr lang="en-US" sz="1300" b="1" dirty="0">
                          <a:solidFill>
                            <a:srgbClr val="16213A"/>
                          </a:solidFill>
                          <a:latin typeface="IBM Plex Sans" pitchFamily="34" charset="0"/>
                          <a:ea typeface="IBM Plex Sans" pitchFamily="34" charset="-122"/>
                          <a:cs typeface="IBM Plex Sans" pitchFamily="34" charset="-120"/>
                        </a:rPr>
                        <a:t>One evaluation</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a few forward passes</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4 trials × 200 steps = 800 network calls</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r>
              <a:tr h="502920">
                <a:tc>
                  <a:txBody>
                    <a:bodyPr/>
                    <a:lstStyle/>
                    <a:p>
                      <a:pPr indent="0" marL="0">
                        <a:buNone/>
                      </a:pPr>
                      <a:r>
                        <a:rPr lang="en-US" sz="1300" b="1" dirty="0">
                          <a:solidFill>
                            <a:srgbClr val="16213A"/>
                          </a:solidFill>
                          <a:latin typeface="IBM Plex Sans" pitchFamily="34" charset="0"/>
                          <a:ea typeface="IBM Plex Sans" pitchFamily="34" charset="-122"/>
                          <a:cs typeface="IBM Plex Sans" pitchFamily="34" charset="-120"/>
                        </a:rPr>
                        <a:t>Same genotype twice</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same score, deterministic</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different score: random start, heading, noise</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r>
              <a:tr h="502920">
                <a:tc>
                  <a:txBody>
                    <a:bodyPr/>
                    <a:lstStyle/>
                    <a:p>
                      <a:pPr indent="0" marL="0">
                        <a:buNone/>
                      </a:pPr>
                      <a:r>
                        <a:rPr lang="en-US" sz="1300" b="1" dirty="0">
                          <a:solidFill>
                            <a:srgbClr val="16213A"/>
                          </a:solidFill>
                          <a:latin typeface="IBM Plex Sans" pitchFamily="34" charset="0"/>
                          <a:ea typeface="IBM Plex Sans" pitchFamily="34" charset="-122"/>
                          <a:cs typeface="IBM Plex Sans" pitchFamily="34" charset="-120"/>
                        </a:rPr>
                        <a:t>Best possible score</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perfect score is reachable</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1.0 needs to start on the light; never moving scores 0.17</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r>
              <a:tr h="502920">
                <a:tc>
                  <a:txBody>
                    <a:bodyPr/>
                    <a:lstStyle/>
                    <a:p>
                      <a:pPr indent="0" marL="0">
                        <a:buNone/>
                      </a:pPr>
                      <a:r>
                        <a:rPr lang="en-US" sz="1300" b="1" dirty="0">
                          <a:solidFill>
                            <a:srgbClr val="16213A"/>
                          </a:solidFill>
                          <a:latin typeface="IBM Plex Sans" pitchFamily="34" charset="0"/>
                          <a:ea typeface="IBM Plex Sans" pitchFamily="34" charset="-122"/>
                          <a:cs typeface="IBM Plex Sans" pitchFamily="34" charset="-120"/>
                        </a:rPr>
                        <a:t>Fitness inputs</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data the network is shown</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300" dirty="0">
                          <a:solidFill>
                            <a:srgbClr val="3E4A5C"/>
                          </a:solidFill>
                          <a:latin typeface="IBM Plex Sans" pitchFamily="34" charset="0"/>
                          <a:ea typeface="IBM Plex Sans" pitchFamily="34" charset="-122"/>
                          <a:cs typeface="IBM Plex Sans" pitchFamily="34" charset="-120"/>
                        </a:rPr>
                        <a:t>data the network's own outputs help create</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r>
            </a:tbl>
          </a:graphicData>
        </a:graphic>
      </p:graphicFrame>
      <p:sp>
        <p:nvSpPr>
          <p:cNvPr id="6" name="Shape 2"/>
          <p:cNvSpPr/>
          <p:nvPr/>
        </p:nvSpPr>
        <p:spPr>
          <a:xfrm>
            <a:off x="813816" y="5029200"/>
            <a:ext cx="10561320" cy="777240"/>
          </a:xfrm>
          <a:prstGeom prst="roundRect">
            <a:avLst>
              <a:gd name="adj" fmla="val 9412"/>
            </a:avLst>
          </a:prstGeom>
          <a:solidFill>
            <a:srgbClr val="F6DCCB"/>
          </a:solidFill>
          <a:ln w="12700">
            <a:solidFill>
              <a:srgbClr val="F6DCCB"/>
            </a:solidFill>
            <a:prstDash val="solid"/>
          </a:ln>
        </p:spPr>
      </p:sp>
      <p:sp>
        <p:nvSpPr>
          <p:cNvPr id="7" name="Text 3"/>
          <p:cNvSpPr txBox="1"/>
          <p:nvPr/>
        </p:nvSpPr>
        <p:spPr>
          <a:xfrm>
            <a:off x="1088136" y="5029200"/>
            <a:ext cx="10012680" cy="777240"/>
          </a:xfrm>
          <a:prstGeom prst="rect">
            <a:avLst/>
          </a:prstGeom>
          <a:noFill/>
          <a:ln/>
        </p:spPr>
        <p:txBody>
          <a:bodyPr wrap="square" lIns="0" tIns="0" rIns="0" bIns="0" rtlCol="0" anchor="ctr"/>
          <a:lstStyle/>
          <a:p>
            <a:pPr indent="0" marL="0">
              <a:buNone/>
            </a:pPr>
            <a:r>
              <a:rPr lang="en-US" sz="1500" b="1" dirty="0">
                <a:solidFill>
                  <a:srgbClr val="16213A"/>
                </a:solidFill>
                <a:latin typeface="IBM Plex Sans" pitchFamily="34" charset="0"/>
                <a:ea typeface="IBM Plex Sans" pitchFamily="34" charset="-122"/>
                <a:cs typeface="IBM Plex Sans" pitchFamily="34" charset="-120"/>
              </a:rPr>
              <a:t>Unchanged: </a:t>
            </a:r>
            <a:pPr indent="0" marL="0">
              <a:buNone/>
            </a:pPr>
            <a:r>
              <a:rPr lang="en-US" sz="1500" dirty="0">
                <a:solidFill>
                  <a:srgbClr val="3E4A5C"/>
                </a:solidFill>
                <a:latin typeface="IBM Plex Sans" pitchFamily="34" charset="0"/>
                <a:ea typeface="IBM Plex Sans" pitchFamily="34" charset="-122"/>
                <a:cs typeface="IBM Plex Sans" pitchFamily="34" charset="-120"/>
              </a:rPr>
              <a:t>fnn.py and eas.py. Only the fitness function is new, and it contains the whole simulation.</a:t>
            </a:r>
            <a:endParaRPr lang="en-US" sz="1500" dirty="0"/>
          </a:p>
        </p:txBody>
      </p:sp>
      <p:sp>
        <p:nvSpPr>
          <p:cNvPr id="8" name="Text 4"/>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PythonBasics/Unit4/evolve.py · fitnessFunction()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CONNECTION 3 · THE FITNESS FUNCTION</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Everything meets in fitnessFunction</a:t>
            </a:r>
            <a:endParaRPr lang="en-US" sz="3200" dirty="0"/>
          </a:p>
        </p:txBody>
      </p:sp>
      <p:sp>
        <p:nvSpPr>
          <p:cNvPr id="5" name="Shape 2"/>
          <p:cNvSpPr/>
          <p:nvPr/>
        </p:nvSpPr>
        <p:spPr>
          <a:xfrm>
            <a:off x="813816" y="1783080"/>
            <a:ext cx="6583680" cy="4251960"/>
          </a:xfrm>
          <a:prstGeom prst="roundRect">
            <a:avLst>
              <a:gd name="adj" fmla="val 1720"/>
            </a:avLst>
          </a:prstGeom>
          <a:solidFill>
            <a:srgbClr val="16213A"/>
          </a:solidFill>
          <a:ln w="12700">
            <a:solidFill>
              <a:srgbClr val="16213A"/>
            </a:solidFill>
            <a:prstDash val="solid"/>
          </a:ln>
        </p:spPr>
      </p:sp>
      <p:sp>
        <p:nvSpPr>
          <p:cNvPr id="6" name="Text 3"/>
          <p:cNvSpPr txBox="1"/>
          <p:nvPr/>
        </p:nvSpPr>
        <p:spPr>
          <a:xfrm>
            <a:off x="1042416" y="1965960"/>
            <a:ext cx="6126480" cy="3886200"/>
          </a:xfrm>
          <a:prstGeom prst="rect">
            <a:avLst/>
          </a:prstGeom>
          <a:noFill/>
          <a:ln/>
        </p:spPr>
        <p:txBody>
          <a:bodyPr wrap="square" lIns="0" tIns="0" rIns="0" bIns="0" rtlCol="0" anchor="t"/>
          <a:lstStyle/>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def fitnessFunction(genotype):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controller = fnn.FNN(layers)          # 1</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controller.weightrange = weightrange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controller.biasrange = weightrange</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controller.setParams(genotype)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fitness = 0.0</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for r in range(reps):                 # 2</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agent = env.Braitenberg(controller, distance)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light = env.Light()</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for t in range(duration):         # 3</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agent.sense(light)</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agent.think()</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agent.move()</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            fitness += 1/(1 + agent.distance(light))  # 4</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return fitness/(reps*duration)</a:t>
            </a:r>
            <a:endParaRPr lang="en-US" sz="1100" dirty="0"/>
          </a:p>
        </p:txBody>
      </p:sp>
      <p:sp>
        <p:nvSpPr>
          <p:cNvPr id="7" name="Shape 4"/>
          <p:cNvSpPr/>
          <p:nvPr/>
        </p:nvSpPr>
        <p:spPr>
          <a:xfrm>
            <a:off x="7680960" y="1783080"/>
            <a:ext cx="3694176" cy="960120"/>
          </a:xfrm>
          <a:prstGeom prst="roundRect">
            <a:avLst>
              <a:gd name="adj" fmla="val 7619"/>
            </a:avLst>
          </a:prstGeom>
          <a:solidFill>
            <a:srgbClr val="FFFDF8"/>
          </a:solidFill>
          <a:ln w="12700">
            <a:solidFill>
              <a:srgbClr val="E2DDD0"/>
            </a:solidFill>
            <a:prstDash val="solid"/>
          </a:ln>
        </p:spPr>
      </p:sp>
      <p:sp>
        <p:nvSpPr>
          <p:cNvPr id="8" name="Shape 5"/>
          <p:cNvSpPr/>
          <p:nvPr/>
        </p:nvSpPr>
        <p:spPr>
          <a:xfrm>
            <a:off x="7863840" y="2057400"/>
            <a:ext cx="384048" cy="384048"/>
          </a:xfrm>
          <a:prstGeom prst="ellipse">
            <a:avLst/>
          </a:prstGeom>
          <a:solidFill>
            <a:srgbClr val="1D6F66"/>
          </a:solidFill>
          <a:ln w="12700">
            <a:solidFill>
              <a:srgbClr val="1D6F66"/>
            </a:solidFill>
            <a:prstDash val="solid"/>
          </a:ln>
        </p:spPr>
      </p:sp>
      <p:sp>
        <p:nvSpPr>
          <p:cNvPr id="9" name="Text 6"/>
          <p:cNvSpPr txBox="1"/>
          <p:nvPr/>
        </p:nvSpPr>
        <p:spPr>
          <a:xfrm>
            <a:off x="7863840" y="2057400"/>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1</a:t>
            </a:r>
            <a:endParaRPr lang="en-US" sz="1400" dirty="0"/>
          </a:p>
        </p:txBody>
      </p:sp>
      <p:sp>
        <p:nvSpPr>
          <p:cNvPr id="10" name="Text 7"/>
          <p:cNvSpPr txBox="1"/>
          <p:nvPr/>
        </p:nvSpPr>
        <p:spPr>
          <a:xfrm>
            <a:off x="8412480" y="1892808"/>
            <a:ext cx="2834640" cy="292608"/>
          </a:xfrm>
          <a:prstGeom prst="rect">
            <a:avLst/>
          </a:prstGeom>
          <a:noFill/>
          <a:ln/>
        </p:spPr>
        <p:txBody>
          <a:bodyPr wrap="square" lIns="0" tIns="0" rIns="0" bIns="0" rtlCol="0" anchor="ctr"/>
          <a:lstStyle/>
          <a:p>
            <a:pPr indent="0" marL="0">
              <a:buNone/>
            </a:pPr>
            <a:r>
              <a:rPr lang="en-US" sz="1400" b="1" dirty="0">
                <a:solidFill>
                  <a:srgbClr val="16213A"/>
                </a:solidFill>
                <a:latin typeface="IBM Plex Sans" pitchFamily="34" charset="0"/>
                <a:ea typeface="IBM Plex Sans" pitchFamily="34" charset="-122"/>
                <a:cs typeface="IBM Plex Sans" pitchFamily="34" charset="-120"/>
              </a:rPr>
              <a:t>Genotype → network</a:t>
            </a:r>
            <a:endParaRPr lang="en-US" sz="1400" dirty="0"/>
          </a:p>
        </p:txBody>
      </p:sp>
      <p:sp>
        <p:nvSpPr>
          <p:cNvPr id="11" name="Text 8"/>
          <p:cNvSpPr txBox="1"/>
          <p:nvPr/>
        </p:nvSpPr>
        <p:spPr>
          <a:xfrm>
            <a:off x="8412480" y="2203704"/>
            <a:ext cx="2834640" cy="5029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setParams turns 32 numbers into weights and biases.</a:t>
            </a:r>
            <a:endParaRPr lang="en-US" sz="1200" dirty="0"/>
          </a:p>
        </p:txBody>
      </p:sp>
      <p:sp>
        <p:nvSpPr>
          <p:cNvPr id="12" name="Shape 9"/>
          <p:cNvSpPr/>
          <p:nvPr/>
        </p:nvSpPr>
        <p:spPr>
          <a:xfrm>
            <a:off x="7680960" y="2880360"/>
            <a:ext cx="3694176" cy="960120"/>
          </a:xfrm>
          <a:prstGeom prst="roundRect">
            <a:avLst>
              <a:gd name="adj" fmla="val 7619"/>
            </a:avLst>
          </a:prstGeom>
          <a:solidFill>
            <a:srgbClr val="FFFDF8"/>
          </a:solidFill>
          <a:ln w="12700">
            <a:solidFill>
              <a:srgbClr val="E2DDD0"/>
            </a:solidFill>
            <a:prstDash val="solid"/>
          </a:ln>
        </p:spPr>
      </p:sp>
      <p:sp>
        <p:nvSpPr>
          <p:cNvPr id="13" name="Shape 10"/>
          <p:cNvSpPr/>
          <p:nvPr/>
        </p:nvSpPr>
        <p:spPr>
          <a:xfrm>
            <a:off x="7863840" y="3154680"/>
            <a:ext cx="384048" cy="384048"/>
          </a:xfrm>
          <a:prstGeom prst="ellipse">
            <a:avLst/>
          </a:prstGeom>
          <a:solidFill>
            <a:srgbClr val="1D6F66"/>
          </a:solidFill>
          <a:ln w="12700">
            <a:solidFill>
              <a:srgbClr val="1D6F66"/>
            </a:solidFill>
            <a:prstDash val="solid"/>
          </a:ln>
        </p:spPr>
      </p:sp>
      <p:sp>
        <p:nvSpPr>
          <p:cNvPr id="14" name="Text 11"/>
          <p:cNvSpPr txBox="1"/>
          <p:nvPr/>
        </p:nvSpPr>
        <p:spPr>
          <a:xfrm>
            <a:off x="7863840" y="3154680"/>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2</a:t>
            </a:r>
            <a:endParaRPr lang="en-US" sz="1400" dirty="0"/>
          </a:p>
        </p:txBody>
      </p:sp>
      <p:sp>
        <p:nvSpPr>
          <p:cNvPr id="15" name="Text 12"/>
          <p:cNvSpPr txBox="1"/>
          <p:nvPr/>
        </p:nvSpPr>
        <p:spPr>
          <a:xfrm>
            <a:off x="8412480" y="2990088"/>
            <a:ext cx="2834640" cy="292608"/>
          </a:xfrm>
          <a:prstGeom prst="rect">
            <a:avLst/>
          </a:prstGeom>
          <a:noFill/>
          <a:ln/>
        </p:spPr>
        <p:txBody>
          <a:bodyPr wrap="square" lIns="0" tIns="0" rIns="0" bIns="0" rtlCol="0" anchor="ctr"/>
          <a:lstStyle/>
          <a:p>
            <a:pPr indent="0" marL="0">
              <a:buNone/>
            </a:pPr>
            <a:r>
              <a:rPr lang="en-US" sz="1400" b="1" dirty="0">
                <a:solidFill>
                  <a:srgbClr val="16213A"/>
                </a:solidFill>
                <a:latin typeface="IBM Plex Sans" pitchFamily="34" charset="0"/>
                <a:ea typeface="IBM Plex Sans" pitchFamily="34" charset="-122"/>
                <a:cs typeface="IBM Plex Sans" pitchFamily="34" charset="-120"/>
              </a:rPr>
              <a:t>Fresh random body</a:t>
            </a:r>
            <a:endParaRPr lang="en-US" sz="1400" dirty="0"/>
          </a:p>
        </p:txBody>
      </p:sp>
      <p:sp>
        <p:nvSpPr>
          <p:cNvPr id="16" name="Text 13"/>
          <p:cNvSpPr txBox="1"/>
          <p:nvPr/>
        </p:nvSpPr>
        <p:spPr>
          <a:xfrm>
            <a:off x="8412480" y="3300984"/>
            <a:ext cx="2834640" cy="5029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New start position and heading each trial.</a:t>
            </a:r>
            <a:endParaRPr lang="en-US" sz="1200" dirty="0"/>
          </a:p>
        </p:txBody>
      </p:sp>
      <p:sp>
        <p:nvSpPr>
          <p:cNvPr id="17" name="Shape 14"/>
          <p:cNvSpPr/>
          <p:nvPr/>
        </p:nvSpPr>
        <p:spPr>
          <a:xfrm>
            <a:off x="7680960" y="3977640"/>
            <a:ext cx="3694176" cy="960120"/>
          </a:xfrm>
          <a:prstGeom prst="roundRect">
            <a:avLst>
              <a:gd name="adj" fmla="val 7619"/>
            </a:avLst>
          </a:prstGeom>
          <a:solidFill>
            <a:srgbClr val="FFFDF8"/>
          </a:solidFill>
          <a:ln w="12700">
            <a:solidFill>
              <a:srgbClr val="E2DDD0"/>
            </a:solidFill>
            <a:prstDash val="solid"/>
          </a:ln>
        </p:spPr>
      </p:sp>
      <p:sp>
        <p:nvSpPr>
          <p:cNvPr id="18" name="Shape 15"/>
          <p:cNvSpPr/>
          <p:nvPr/>
        </p:nvSpPr>
        <p:spPr>
          <a:xfrm>
            <a:off x="7863840" y="4251960"/>
            <a:ext cx="384048" cy="384048"/>
          </a:xfrm>
          <a:prstGeom prst="ellipse">
            <a:avLst/>
          </a:prstGeom>
          <a:solidFill>
            <a:srgbClr val="1D6F66"/>
          </a:solidFill>
          <a:ln w="12700">
            <a:solidFill>
              <a:srgbClr val="1D6F66"/>
            </a:solidFill>
            <a:prstDash val="solid"/>
          </a:ln>
        </p:spPr>
      </p:sp>
      <p:sp>
        <p:nvSpPr>
          <p:cNvPr id="19" name="Text 16"/>
          <p:cNvSpPr txBox="1"/>
          <p:nvPr/>
        </p:nvSpPr>
        <p:spPr>
          <a:xfrm>
            <a:off x="7863840" y="4251960"/>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3</a:t>
            </a:r>
            <a:endParaRPr lang="en-US" sz="1400" dirty="0"/>
          </a:p>
        </p:txBody>
      </p:sp>
      <p:sp>
        <p:nvSpPr>
          <p:cNvPr id="20" name="Text 17"/>
          <p:cNvSpPr txBox="1"/>
          <p:nvPr/>
        </p:nvSpPr>
        <p:spPr>
          <a:xfrm>
            <a:off x="8412480" y="4087368"/>
            <a:ext cx="2834640" cy="292608"/>
          </a:xfrm>
          <a:prstGeom prst="rect">
            <a:avLst/>
          </a:prstGeom>
          <a:noFill/>
          <a:ln/>
        </p:spPr>
        <p:txBody>
          <a:bodyPr wrap="square" lIns="0" tIns="0" rIns="0" bIns="0" rtlCol="0" anchor="ctr"/>
          <a:lstStyle/>
          <a:p>
            <a:pPr indent="0" marL="0">
              <a:buNone/>
            </a:pPr>
            <a:r>
              <a:rPr lang="en-US" sz="1400" b="1" dirty="0">
                <a:solidFill>
                  <a:srgbClr val="16213A"/>
                </a:solidFill>
                <a:latin typeface="IBM Plex Sans" pitchFamily="34" charset="0"/>
                <a:ea typeface="IBM Plex Sans" pitchFamily="34" charset="-122"/>
                <a:cs typeface="IBM Plex Sans" pitchFamily="34" charset="-120"/>
              </a:rPr>
              <a:t>Closed loop</a:t>
            </a:r>
            <a:endParaRPr lang="en-US" sz="1400" dirty="0"/>
          </a:p>
        </p:txBody>
      </p:sp>
      <p:sp>
        <p:nvSpPr>
          <p:cNvPr id="21" name="Text 18"/>
          <p:cNvSpPr txBox="1"/>
          <p:nvPr/>
        </p:nvSpPr>
        <p:spPr>
          <a:xfrm>
            <a:off x="8412480" y="4398264"/>
            <a:ext cx="2834640" cy="5029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Sense, think, move, 200 times.</a:t>
            </a:r>
            <a:endParaRPr lang="en-US" sz="1200" dirty="0"/>
          </a:p>
        </p:txBody>
      </p:sp>
      <p:sp>
        <p:nvSpPr>
          <p:cNvPr id="22" name="Shape 19"/>
          <p:cNvSpPr/>
          <p:nvPr/>
        </p:nvSpPr>
        <p:spPr>
          <a:xfrm>
            <a:off x="7680960" y="5074920"/>
            <a:ext cx="3694176" cy="960120"/>
          </a:xfrm>
          <a:prstGeom prst="roundRect">
            <a:avLst>
              <a:gd name="adj" fmla="val 7619"/>
            </a:avLst>
          </a:prstGeom>
          <a:solidFill>
            <a:srgbClr val="FFFDF8"/>
          </a:solidFill>
          <a:ln w="12700">
            <a:solidFill>
              <a:srgbClr val="E2DDD0"/>
            </a:solidFill>
            <a:prstDash val="solid"/>
          </a:ln>
        </p:spPr>
      </p:sp>
      <p:sp>
        <p:nvSpPr>
          <p:cNvPr id="23" name="Shape 20"/>
          <p:cNvSpPr/>
          <p:nvPr/>
        </p:nvSpPr>
        <p:spPr>
          <a:xfrm>
            <a:off x="7863840" y="5349240"/>
            <a:ext cx="384048" cy="384048"/>
          </a:xfrm>
          <a:prstGeom prst="ellipse">
            <a:avLst/>
          </a:prstGeom>
          <a:solidFill>
            <a:srgbClr val="1D6F66"/>
          </a:solidFill>
          <a:ln w="12700">
            <a:solidFill>
              <a:srgbClr val="1D6F66"/>
            </a:solidFill>
            <a:prstDash val="solid"/>
          </a:ln>
        </p:spPr>
      </p:sp>
      <p:sp>
        <p:nvSpPr>
          <p:cNvPr id="24" name="Text 21"/>
          <p:cNvSpPr txBox="1"/>
          <p:nvPr/>
        </p:nvSpPr>
        <p:spPr>
          <a:xfrm>
            <a:off x="7863840" y="5349240"/>
            <a:ext cx="384048" cy="384048"/>
          </a:xfrm>
          <a:prstGeom prst="rect">
            <a:avLst/>
          </a:prstGeom>
          <a:noFill/>
          <a:ln/>
        </p:spPr>
        <p:txBody>
          <a:bodyPr wrap="square" lIns="0" tIns="0" rIns="0" bIns="0" rtlCol="0" anchor="ctr"/>
          <a:lstStyle/>
          <a:p>
            <a:pPr algn="ctr" indent="0" marL="0">
              <a:buNone/>
            </a:pPr>
            <a:r>
              <a:rPr lang="en-US" sz="1400" b="1" dirty="0">
                <a:solidFill>
                  <a:srgbClr val="F6F4EE"/>
                </a:solidFill>
                <a:latin typeface="IBM Plex Sans" pitchFamily="34" charset="0"/>
                <a:ea typeface="IBM Plex Sans" pitchFamily="34" charset="-122"/>
                <a:cs typeface="IBM Plex Sans" pitchFamily="34" charset="-120"/>
              </a:rPr>
              <a:t>4</a:t>
            </a:r>
            <a:endParaRPr lang="en-US" sz="1400" dirty="0"/>
          </a:p>
        </p:txBody>
      </p:sp>
      <p:sp>
        <p:nvSpPr>
          <p:cNvPr id="25" name="Text 22"/>
          <p:cNvSpPr txBox="1"/>
          <p:nvPr/>
        </p:nvSpPr>
        <p:spPr>
          <a:xfrm>
            <a:off x="8412480" y="5184648"/>
            <a:ext cx="2834640" cy="292608"/>
          </a:xfrm>
          <a:prstGeom prst="rect">
            <a:avLst/>
          </a:prstGeom>
          <a:noFill/>
          <a:ln/>
        </p:spPr>
        <p:txBody>
          <a:bodyPr wrap="square" lIns="0" tIns="0" rIns="0" bIns="0" rtlCol="0" anchor="ctr"/>
          <a:lstStyle/>
          <a:p>
            <a:pPr indent="0" marL="0">
              <a:buNone/>
            </a:pPr>
            <a:r>
              <a:rPr lang="en-US" sz="1400" b="1" dirty="0">
                <a:solidFill>
                  <a:srgbClr val="16213A"/>
                </a:solidFill>
                <a:latin typeface="IBM Plex Sans" pitchFamily="34" charset="0"/>
                <a:ea typeface="IBM Plex Sans" pitchFamily="34" charset="-122"/>
                <a:cs typeface="IBM Plex Sans" pitchFamily="34" charset="-120"/>
              </a:rPr>
              <a:t>Reward every step</a:t>
            </a:r>
            <a:endParaRPr lang="en-US" sz="1400" dirty="0"/>
          </a:p>
        </p:txBody>
      </p:sp>
      <p:sp>
        <p:nvSpPr>
          <p:cNvPr id="26" name="Text 23"/>
          <p:cNvSpPr txBox="1"/>
          <p:nvPr/>
        </p:nvSpPr>
        <p:spPr>
          <a:xfrm>
            <a:off x="8412480" y="5495544"/>
            <a:ext cx="2834640" cy="50292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1 / (1 + distance), averaged over steps and trials.</a:t>
            </a:r>
            <a:endParaRPr lang="en-US" sz="1200" dirty="0"/>
          </a:p>
        </p:txBody>
      </p:sp>
      <p:sp>
        <p:nvSpPr>
          <p:cNvPr id="27" name="Text 24"/>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PythonBasics/Unit4/evolve.py  ·  duration 200 · distance 5 · reps 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CONNECTION 4 · THE DATA FLOW</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From a vector of numbers to a single number</a:t>
            </a:r>
            <a:endParaRPr lang="en-US" sz="3200" dirty="0"/>
          </a:p>
        </p:txBody>
      </p:sp>
      <p:sp>
        <p:nvSpPr>
          <p:cNvPr id="5" name="Shape 2"/>
          <p:cNvSpPr/>
          <p:nvPr/>
        </p:nvSpPr>
        <p:spPr>
          <a:xfrm>
            <a:off x="813816" y="1783080"/>
            <a:ext cx="1783080" cy="1371600"/>
          </a:xfrm>
          <a:prstGeom prst="roundRect">
            <a:avLst>
              <a:gd name="adj" fmla="val 5333"/>
            </a:avLst>
          </a:prstGeom>
          <a:solidFill>
            <a:srgbClr val="16213A"/>
          </a:solidFill>
          <a:ln w="12700">
            <a:solidFill>
              <a:srgbClr val="16213A"/>
            </a:solidFill>
            <a:prstDash val="solid"/>
          </a:ln>
        </p:spPr>
      </p:sp>
      <p:sp>
        <p:nvSpPr>
          <p:cNvPr id="6" name="Text 3"/>
          <p:cNvSpPr txBox="1"/>
          <p:nvPr/>
        </p:nvSpPr>
        <p:spPr>
          <a:xfrm>
            <a:off x="950976" y="189280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genotype</a:t>
            </a:r>
            <a:endParaRPr lang="en-US" sz="1400" dirty="0"/>
          </a:p>
        </p:txBody>
      </p:sp>
      <p:sp>
        <p:nvSpPr>
          <p:cNvPr id="7" name="Text 4"/>
          <p:cNvSpPr txBox="1"/>
          <p:nvPr/>
        </p:nvSpPr>
        <p:spPr>
          <a:xfrm>
            <a:off x="950976" y="2350008"/>
            <a:ext cx="1508760" cy="73152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32 floats in [−1, 1]</a:t>
            </a:r>
            <a:endParaRPr lang="en-US" sz="1200" dirty="0"/>
          </a:p>
        </p:txBody>
      </p:sp>
      <p:sp>
        <p:nvSpPr>
          <p:cNvPr id="8" name="Shape 5"/>
          <p:cNvSpPr/>
          <p:nvPr/>
        </p:nvSpPr>
        <p:spPr>
          <a:xfrm>
            <a:off x="2651760" y="2468880"/>
            <a:ext cx="301752" cy="0"/>
          </a:xfrm>
          <a:prstGeom prst="line">
            <a:avLst/>
          </a:prstGeom>
          <a:noFill/>
          <a:ln w="25400">
            <a:solidFill>
              <a:srgbClr val="5E6878"/>
            </a:solidFill>
            <a:prstDash val="solid"/>
            <a:tailEnd type="triangle"/>
          </a:ln>
        </p:spPr>
      </p:sp>
      <p:sp>
        <p:nvSpPr>
          <p:cNvPr id="9" name="Shape 6"/>
          <p:cNvSpPr/>
          <p:nvPr/>
        </p:nvSpPr>
        <p:spPr>
          <a:xfrm>
            <a:off x="3008376" y="1783080"/>
            <a:ext cx="1783080" cy="1371600"/>
          </a:xfrm>
          <a:prstGeom prst="roundRect">
            <a:avLst>
              <a:gd name="adj" fmla="val 5333"/>
            </a:avLst>
          </a:prstGeom>
          <a:solidFill>
            <a:srgbClr val="16213A"/>
          </a:solidFill>
          <a:ln w="12700">
            <a:solidFill>
              <a:srgbClr val="16213A"/>
            </a:solidFill>
            <a:prstDash val="solid"/>
          </a:ln>
        </p:spPr>
      </p:sp>
      <p:sp>
        <p:nvSpPr>
          <p:cNvPr id="10" name="Text 7"/>
          <p:cNvSpPr txBox="1"/>
          <p:nvPr/>
        </p:nvSpPr>
        <p:spPr>
          <a:xfrm>
            <a:off x="3145536" y="189280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FNN</a:t>
            </a:r>
            <a:endParaRPr lang="en-US" sz="1400" dirty="0"/>
          </a:p>
        </p:txBody>
      </p:sp>
      <p:sp>
        <p:nvSpPr>
          <p:cNvPr id="11" name="Text 8"/>
          <p:cNvSpPr txBox="1"/>
          <p:nvPr/>
        </p:nvSpPr>
        <p:spPr>
          <a:xfrm>
            <a:off x="3145536" y="2350008"/>
            <a:ext cx="1508760" cy="73152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weights and biases, after setParams</a:t>
            </a:r>
            <a:endParaRPr lang="en-US" sz="1200" dirty="0"/>
          </a:p>
        </p:txBody>
      </p:sp>
      <p:sp>
        <p:nvSpPr>
          <p:cNvPr id="12" name="Shape 9"/>
          <p:cNvSpPr/>
          <p:nvPr/>
        </p:nvSpPr>
        <p:spPr>
          <a:xfrm>
            <a:off x="4846320" y="2468880"/>
            <a:ext cx="301752" cy="0"/>
          </a:xfrm>
          <a:prstGeom prst="line">
            <a:avLst/>
          </a:prstGeom>
          <a:noFill/>
          <a:ln w="25400">
            <a:solidFill>
              <a:srgbClr val="5E6878"/>
            </a:solidFill>
            <a:prstDash val="solid"/>
            <a:tailEnd type="triangle"/>
          </a:ln>
        </p:spPr>
      </p:sp>
      <p:sp>
        <p:nvSpPr>
          <p:cNvPr id="13" name="Shape 10"/>
          <p:cNvSpPr/>
          <p:nvPr/>
        </p:nvSpPr>
        <p:spPr>
          <a:xfrm>
            <a:off x="5202936" y="1783080"/>
            <a:ext cx="1783080" cy="1371600"/>
          </a:xfrm>
          <a:prstGeom prst="roundRect">
            <a:avLst>
              <a:gd name="adj" fmla="val 5333"/>
            </a:avLst>
          </a:prstGeom>
          <a:solidFill>
            <a:srgbClr val="B4521C"/>
          </a:solidFill>
          <a:ln w="12700">
            <a:solidFill>
              <a:srgbClr val="B4521C"/>
            </a:solidFill>
            <a:prstDash val="solid"/>
          </a:ln>
        </p:spPr>
      </p:sp>
      <p:sp>
        <p:nvSpPr>
          <p:cNvPr id="14" name="Text 11"/>
          <p:cNvSpPr txBox="1"/>
          <p:nvPr/>
        </p:nvSpPr>
        <p:spPr>
          <a:xfrm>
            <a:off x="5340096" y="189280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Braitenberg</a:t>
            </a:r>
            <a:endParaRPr lang="en-US" sz="1400" dirty="0"/>
          </a:p>
        </p:txBody>
      </p:sp>
      <p:sp>
        <p:nvSpPr>
          <p:cNvPr id="15" name="Text 12"/>
          <p:cNvSpPr txBox="1"/>
          <p:nvPr/>
        </p:nvSpPr>
        <p:spPr>
          <a:xfrm>
            <a:off x="5340096" y="2350008"/>
            <a:ext cx="1508760" cy="73152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body plus this brain, random start</a:t>
            </a:r>
            <a:endParaRPr lang="en-US" sz="1200" dirty="0"/>
          </a:p>
        </p:txBody>
      </p:sp>
      <p:sp>
        <p:nvSpPr>
          <p:cNvPr id="16" name="Shape 13"/>
          <p:cNvSpPr/>
          <p:nvPr/>
        </p:nvSpPr>
        <p:spPr>
          <a:xfrm>
            <a:off x="7040880" y="2468880"/>
            <a:ext cx="301752" cy="0"/>
          </a:xfrm>
          <a:prstGeom prst="line">
            <a:avLst/>
          </a:prstGeom>
          <a:noFill/>
          <a:ln w="25400">
            <a:solidFill>
              <a:srgbClr val="5E6878"/>
            </a:solidFill>
            <a:prstDash val="solid"/>
            <a:tailEnd type="triangle"/>
          </a:ln>
        </p:spPr>
      </p:sp>
      <p:sp>
        <p:nvSpPr>
          <p:cNvPr id="17" name="Shape 14"/>
          <p:cNvSpPr/>
          <p:nvPr/>
        </p:nvSpPr>
        <p:spPr>
          <a:xfrm>
            <a:off x="7397496" y="1783080"/>
            <a:ext cx="1783080" cy="1371600"/>
          </a:xfrm>
          <a:prstGeom prst="roundRect">
            <a:avLst>
              <a:gd name="adj" fmla="val 5333"/>
            </a:avLst>
          </a:prstGeom>
          <a:solidFill>
            <a:srgbClr val="16213A"/>
          </a:solidFill>
          <a:ln w="12700">
            <a:solidFill>
              <a:srgbClr val="16213A"/>
            </a:solidFill>
            <a:prstDash val="solid"/>
          </a:ln>
        </p:spPr>
      </p:sp>
      <p:sp>
        <p:nvSpPr>
          <p:cNvPr id="18" name="Text 15"/>
          <p:cNvSpPr txBox="1"/>
          <p:nvPr/>
        </p:nvSpPr>
        <p:spPr>
          <a:xfrm>
            <a:off x="7534656" y="189280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trajectory</a:t>
            </a:r>
            <a:endParaRPr lang="en-US" sz="1400" dirty="0"/>
          </a:p>
        </p:txBody>
      </p:sp>
      <p:sp>
        <p:nvSpPr>
          <p:cNvPr id="19" name="Text 16"/>
          <p:cNvSpPr txBox="1"/>
          <p:nvPr/>
        </p:nvSpPr>
        <p:spPr>
          <a:xfrm>
            <a:off x="7534656" y="2350008"/>
            <a:ext cx="1508760" cy="73152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200 positions and distances</a:t>
            </a:r>
            <a:endParaRPr lang="en-US" sz="1200" dirty="0"/>
          </a:p>
        </p:txBody>
      </p:sp>
      <p:sp>
        <p:nvSpPr>
          <p:cNvPr id="20" name="Shape 17"/>
          <p:cNvSpPr/>
          <p:nvPr/>
        </p:nvSpPr>
        <p:spPr>
          <a:xfrm>
            <a:off x="9235440" y="2468880"/>
            <a:ext cx="301752" cy="0"/>
          </a:xfrm>
          <a:prstGeom prst="line">
            <a:avLst/>
          </a:prstGeom>
          <a:noFill/>
          <a:ln w="25400">
            <a:solidFill>
              <a:srgbClr val="5E6878"/>
            </a:solidFill>
            <a:prstDash val="solid"/>
            <a:tailEnd type="triangle"/>
          </a:ln>
        </p:spPr>
      </p:sp>
      <p:sp>
        <p:nvSpPr>
          <p:cNvPr id="21" name="Shape 18"/>
          <p:cNvSpPr/>
          <p:nvPr/>
        </p:nvSpPr>
        <p:spPr>
          <a:xfrm>
            <a:off x="9592056" y="1783080"/>
            <a:ext cx="1783080" cy="1371600"/>
          </a:xfrm>
          <a:prstGeom prst="roundRect">
            <a:avLst>
              <a:gd name="adj" fmla="val 5333"/>
            </a:avLst>
          </a:prstGeom>
          <a:solidFill>
            <a:srgbClr val="1D6F66"/>
          </a:solidFill>
          <a:ln w="12700">
            <a:solidFill>
              <a:srgbClr val="1D6F66"/>
            </a:solidFill>
            <a:prstDash val="solid"/>
          </a:ln>
        </p:spPr>
      </p:sp>
      <p:sp>
        <p:nvSpPr>
          <p:cNvPr id="22" name="Text 19"/>
          <p:cNvSpPr txBox="1"/>
          <p:nvPr/>
        </p:nvSpPr>
        <p:spPr>
          <a:xfrm>
            <a:off x="9729216" y="189280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fitness</a:t>
            </a:r>
            <a:endParaRPr lang="en-US" sz="1400" dirty="0"/>
          </a:p>
        </p:txBody>
      </p:sp>
      <p:sp>
        <p:nvSpPr>
          <p:cNvPr id="23" name="Text 20"/>
          <p:cNvSpPr txBox="1"/>
          <p:nvPr/>
        </p:nvSpPr>
        <p:spPr>
          <a:xfrm>
            <a:off x="9729216" y="2350008"/>
            <a:ext cx="1508760" cy="73152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one float, mean of 1 / (1 + d)</a:t>
            </a:r>
            <a:endParaRPr lang="en-US" sz="1200" dirty="0"/>
          </a:p>
        </p:txBody>
      </p:sp>
      <p:sp>
        <p:nvSpPr>
          <p:cNvPr id="24" name="Shape 21"/>
          <p:cNvSpPr/>
          <p:nvPr/>
        </p:nvSpPr>
        <p:spPr>
          <a:xfrm>
            <a:off x="813816" y="3520440"/>
            <a:ext cx="10561320" cy="2560320"/>
          </a:xfrm>
          <a:prstGeom prst="roundRect">
            <a:avLst>
              <a:gd name="adj" fmla="val 2857"/>
            </a:avLst>
          </a:prstGeom>
          <a:solidFill>
            <a:srgbClr val="ECE8DE"/>
          </a:solidFill>
          <a:ln w="12700">
            <a:solidFill>
              <a:srgbClr val="E2DDD0"/>
            </a:solidFill>
            <a:prstDash val="solid"/>
          </a:ln>
        </p:spPr>
      </p:sp>
      <p:sp>
        <p:nvSpPr>
          <p:cNvPr id="25" name="Text 22"/>
          <p:cNvSpPr txBox="1"/>
          <p:nvPr/>
        </p:nvSpPr>
        <p:spPr>
          <a:xfrm>
            <a:off x="1088136" y="3657600"/>
            <a:ext cx="731520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THREE NESTED LOOPS</a:t>
            </a:r>
            <a:endParaRPr lang="en-US" sz="1200" dirty="0"/>
          </a:p>
        </p:txBody>
      </p:sp>
      <p:sp>
        <p:nvSpPr>
          <p:cNvPr id="26" name="Text 23"/>
          <p:cNvSpPr txBox="1"/>
          <p:nvPr/>
        </p:nvSpPr>
        <p:spPr>
          <a:xfrm>
            <a:off x="1088136" y="4069080"/>
            <a:ext cx="3108960" cy="502920"/>
          </a:xfrm>
          <a:prstGeom prst="rect">
            <a:avLst/>
          </a:prstGeom>
          <a:noFill/>
          <a:ln/>
        </p:spPr>
        <p:txBody>
          <a:bodyPr wrap="square" lIns="0" tIns="0" rIns="0" bIns="0" rtlCol="0" anchor="ctr"/>
          <a:lstStyle/>
          <a:p>
            <a:pPr indent="0" marL="0">
              <a:buNone/>
            </a:pPr>
            <a:r>
              <a:rPr lang="en-US" sz="2800" b="1" dirty="0">
                <a:solidFill>
                  <a:srgbClr val="1D6F66"/>
                </a:solidFill>
                <a:latin typeface="IBM Plex Sans" pitchFamily="34" charset="0"/>
                <a:ea typeface="IBM Plex Sans" pitchFamily="34" charset="-122"/>
                <a:cs typeface="IBM Plex Sans" pitchFamily="34" charset="-120"/>
              </a:rPr>
              <a:t>50 × 50</a:t>
            </a:r>
            <a:endParaRPr lang="en-US" sz="2800" dirty="0"/>
          </a:p>
        </p:txBody>
      </p:sp>
      <p:sp>
        <p:nvSpPr>
          <p:cNvPr id="27" name="Text 24"/>
          <p:cNvSpPr txBox="1"/>
          <p:nvPr/>
        </p:nvSpPr>
        <p:spPr>
          <a:xfrm>
            <a:off x="1088136" y="4572000"/>
            <a:ext cx="3108960" cy="274320"/>
          </a:xfrm>
          <a:prstGeom prst="rect">
            <a:avLst/>
          </a:prstGeom>
          <a:noFill/>
          <a:ln/>
        </p:spPr>
        <p:txBody>
          <a:bodyPr wrap="square" lIns="0" tIns="0" rIns="0" bIns="0" rtlCol="0" anchor="ctr"/>
          <a:lstStyle/>
          <a:p>
            <a:pPr indent="0" marL="0">
              <a:buNone/>
            </a:pPr>
            <a:r>
              <a:rPr lang="en-US" sz="1200" b="1" dirty="0">
                <a:solidFill>
                  <a:srgbClr val="16213A"/>
                </a:solidFill>
                <a:latin typeface="JetBrains Mono" pitchFamily="34" charset="0"/>
                <a:ea typeface="JetBrains Mono" pitchFamily="34" charset="-122"/>
                <a:cs typeface="JetBrains Mono" pitchFamily="34" charset="-120"/>
              </a:rPr>
              <a:t>generations × tournaments</a:t>
            </a:r>
            <a:endParaRPr lang="en-US" sz="1200" dirty="0"/>
          </a:p>
        </p:txBody>
      </p:sp>
      <p:sp>
        <p:nvSpPr>
          <p:cNvPr id="28" name="Text 25"/>
          <p:cNvSpPr txBox="1"/>
          <p:nvPr/>
        </p:nvSpPr>
        <p:spPr>
          <a:xfrm>
            <a:off x="1088136" y="4892040"/>
            <a:ext cx="3017520" cy="54864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each tournament scores one new individual: 2,500 evaluations</a:t>
            </a:r>
            <a:endParaRPr lang="en-US" sz="1200" dirty="0"/>
          </a:p>
        </p:txBody>
      </p:sp>
      <p:sp>
        <p:nvSpPr>
          <p:cNvPr id="29" name="Text 26"/>
          <p:cNvSpPr txBox="1"/>
          <p:nvPr/>
        </p:nvSpPr>
        <p:spPr>
          <a:xfrm>
            <a:off x="4517136" y="4069080"/>
            <a:ext cx="3108960" cy="502920"/>
          </a:xfrm>
          <a:prstGeom prst="rect">
            <a:avLst/>
          </a:prstGeom>
          <a:noFill/>
          <a:ln/>
        </p:spPr>
        <p:txBody>
          <a:bodyPr wrap="square" lIns="0" tIns="0" rIns="0" bIns="0" rtlCol="0" anchor="ctr"/>
          <a:lstStyle/>
          <a:p>
            <a:pPr indent="0" marL="0">
              <a:buNone/>
            </a:pPr>
            <a:r>
              <a:rPr lang="en-US" sz="2800" b="1" dirty="0">
                <a:solidFill>
                  <a:srgbClr val="1D6F66"/>
                </a:solidFill>
                <a:latin typeface="IBM Plex Sans" pitchFamily="34" charset="0"/>
                <a:ea typeface="IBM Plex Sans" pitchFamily="34" charset="-122"/>
                <a:cs typeface="IBM Plex Sans" pitchFamily="34" charset="-120"/>
              </a:rPr>
              <a:t>× 4</a:t>
            </a:r>
            <a:endParaRPr lang="en-US" sz="2800" dirty="0"/>
          </a:p>
        </p:txBody>
      </p:sp>
      <p:sp>
        <p:nvSpPr>
          <p:cNvPr id="30" name="Text 27"/>
          <p:cNvSpPr txBox="1"/>
          <p:nvPr/>
        </p:nvSpPr>
        <p:spPr>
          <a:xfrm>
            <a:off x="4517136" y="4572000"/>
            <a:ext cx="3108960" cy="274320"/>
          </a:xfrm>
          <a:prstGeom prst="rect">
            <a:avLst/>
          </a:prstGeom>
          <a:noFill/>
          <a:ln/>
        </p:spPr>
        <p:txBody>
          <a:bodyPr wrap="square" lIns="0" tIns="0" rIns="0" bIns="0" rtlCol="0" anchor="ctr"/>
          <a:lstStyle/>
          <a:p>
            <a:pPr indent="0" marL="0">
              <a:buNone/>
            </a:pPr>
            <a:r>
              <a:rPr lang="en-US" sz="1200" b="1" dirty="0">
                <a:solidFill>
                  <a:srgbClr val="16213A"/>
                </a:solidFill>
                <a:latin typeface="JetBrains Mono" pitchFamily="34" charset="0"/>
                <a:ea typeface="JetBrains Mono" pitchFamily="34" charset="-122"/>
                <a:cs typeface="JetBrains Mono" pitchFamily="34" charset="-120"/>
              </a:rPr>
              <a:t>trials per evaluation</a:t>
            </a:r>
            <a:endParaRPr lang="en-US" sz="1200" dirty="0"/>
          </a:p>
        </p:txBody>
      </p:sp>
      <p:sp>
        <p:nvSpPr>
          <p:cNvPr id="31" name="Text 28"/>
          <p:cNvSpPr txBox="1"/>
          <p:nvPr/>
        </p:nvSpPr>
        <p:spPr>
          <a:xfrm>
            <a:off x="4517136" y="4892040"/>
            <a:ext cx="3017520" cy="54864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fresh random start each time</a:t>
            </a:r>
            <a:endParaRPr lang="en-US" sz="1200" dirty="0"/>
          </a:p>
        </p:txBody>
      </p:sp>
      <p:sp>
        <p:nvSpPr>
          <p:cNvPr id="32" name="Text 29"/>
          <p:cNvSpPr txBox="1"/>
          <p:nvPr/>
        </p:nvSpPr>
        <p:spPr>
          <a:xfrm>
            <a:off x="7946136" y="4069080"/>
            <a:ext cx="3108960" cy="502920"/>
          </a:xfrm>
          <a:prstGeom prst="rect">
            <a:avLst/>
          </a:prstGeom>
          <a:noFill/>
          <a:ln/>
        </p:spPr>
        <p:txBody>
          <a:bodyPr wrap="square" lIns="0" tIns="0" rIns="0" bIns="0" rtlCol="0" anchor="ctr"/>
          <a:lstStyle/>
          <a:p>
            <a:pPr indent="0" marL="0">
              <a:buNone/>
            </a:pPr>
            <a:r>
              <a:rPr lang="en-US" sz="2800" b="1" dirty="0">
                <a:solidFill>
                  <a:srgbClr val="1D6F66"/>
                </a:solidFill>
                <a:latin typeface="IBM Plex Sans" pitchFamily="34" charset="0"/>
                <a:ea typeface="IBM Plex Sans" pitchFamily="34" charset="-122"/>
                <a:cs typeface="IBM Plex Sans" pitchFamily="34" charset="-120"/>
              </a:rPr>
              <a:t>× 200</a:t>
            </a:r>
            <a:endParaRPr lang="en-US" sz="2800" dirty="0"/>
          </a:p>
        </p:txBody>
      </p:sp>
      <p:sp>
        <p:nvSpPr>
          <p:cNvPr id="33" name="Text 30"/>
          <p:cNvSpPr txBox="1"/>
          <p:nvPr/>
        </p:nvSpPr>
        <p:spPr>
          <a:xfrm>
            <a:off x="7946136" y="4572000"/>
            <a:ext cx="3108960" cy="274320"/>
          </a:xfrm>
          <a:prstGeom prst="rect">
            <a:avLst/>
          </a:prstGeom>
          <a:noFill/>
          <a:ln/>
        </p:spPr>
        <p:txBody>
          <a:bodyPr wrap="square" lIns="0" tIns="0" rIns="0" bIns="0" rtlCol="0" anchor="ctr"/>
          <a:lstStyle/>
          <a:p>
            <a:pPr indent="0" marL="0">
              <a:buNone/>
            </a:pPr>
            <a:r>
              <a:rPr lang="en-US" sz="1200" b="1" dirty="0">
                <a:solidFill>
                  <a:srgbClr val="16213A"/>
                </a:solidFill>
                <a:latin typeface="JetBrains Mono" pitchFamily="34" charset="0"/>
                <a:ea typeface="JetBrains Mono" pitchFamily="34" charset="-122"/>
                <a:cs typeface="JetBrains Mono" pitchFamily="34" charset="-120"/>
              </a:rPr>
              <a:t>time steps per trial</a:t>
            </a:r>
            <a:endParaRPr lang="en-US" sz="1200" dirty="0"/>
          </a:p>
        </p:txBody>
      </p:sp>
      <p:sp>
        <p:nvSpPr>
          <p:cNvPr id="34" name="Text 31"/>
          <p:cNvSpPr txBox="1"/>
          <p:nvPr/>
        </p:nvSpPr>
        <p:spPr>
          <a:xfrm>
            <a:off x="7946136" y="4892040"/>
            <a:ext cx="3017520" cy="54864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sense, think, move</a:t>
            </a:r>
            <a:endParaRPr lang="en-US" sz="1200" dirty="0"/>
          </a:p>
        </p:txBody>
      </p:sp>
      <p:sp>
        <p:nvSpPr>
          <p:cNvPr id="35" name="Text 32"/>
          <p:cNvSpPr txBox="1"/>
          <p:nvPr/>
        </p:nvSpPr>
        <p:spPr>
          <a:xfrm>
            <a:off x="1088136" y="5577840"/>
            <a:ext cx="10012680" cy="365760"/>
          </a:xfrm>
          <a:prstGeom prst="rect">
            <a:avLst/>
          </a:prstGeom>
          <a:noFill/>
          <a:ln/>
        </p:spPr>
        <p:txBody>
          <a:bodyPr wrap="square" lIns="0" tIns="0" rIns="0" bIns="0" rtlCol="0" anchor="ctr"/>
          <a:lstStyle/>
          <a:p>
            <a:pPr indent="0" marL="0">
              <a:buNone/>
            </a:pPr>
            <a:r>
              <a:rPr lang="en-US" sz="1400" b="1" dirty="0">
                <a:solidFill>
                  <a:srgbClr val="16213A"/>
                </a:solidFill>
                <a:latin typeface="IBM Plex Sans" pitchFamily="34" charset="0"/>
                <a:ea typeface="IBM Plex Sans" pitchFamily="34" charset="-122"/>
                <a:cs typeface="IBM Plex Sans" pitchFamily="34" charset="-120"/>
              </a:rPr>
              <a:t>About 2 million sense-think-move steps, in plain Python, in roughly 13 seconds.</a:t>
            </a:r>
            <a:endParaRPr lang="en-US" sz="1400" dirty="0"/>
          </a:p>
        </p:txBody>
      </p:sp>
      <p:sp>
        <p:nvSpPr>
          <p:cNvPr id="36" name="Text 33"/>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evolve.py · fitnessFunction()  ·  eas.py · Microbial.run()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CONNECTION 5 · THE CONTRACT</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What the pieces share, and how they hand off</a:t>
            </a:r>
            <a:endParaRPr lang="en-US" sz="3200" dirty="0"/>
          </a:p>
        </p:txBody>
      </p:sp>
      <p:sp>
        <p:nvSpPr>
          <p:cNvPr id="5" name="Shape 2"/>
          <p:cNvSpPr/>
          <p:nvPr/>
        </p:nvSpPr>
        <p:spPr>
          <a:xfrm>
            <a:off x="813816" y="1783080"/>
            <a:ext cx="6035040" cy="2788920"/>
          </a:xfrm>
          <a:prstGeom prst="roundRect">
            <a:avLst>
              <a:gd name="adj" fmla="val 2623"/>
            </a:avLst>
          </a:prstGeom>
          <a:solidFill>
            <a:srgbClr val="16213A"/>
          </a:solidFill>
          <a:ln w="12700">
            <a:solidFill>
              <a:srgbClr val="16213A"/>
            </a:solidFill>
            <a:prstDash val="solid"/>
          </a:ln>
        </p:spPr>
      </p:sp>
      <p:sp>
        <p:nvSpPr>
          <p:cNvPr id="6" name="Text 3"/>
          <p:cNvSpPr txBox="1"/>
          <p:nvPr/>
        </p:nvSpPr>
        <p:spPr>
          <a:xfrm>
            <a:off x="1042416" y="1965960"/>
            <a:ext cx="5577840" cy="2423160"/>
          </a:xfrm>
          <a:prstGeom prst="rect">
            <a:avLst/>
          </a:prstGeom>
          <a:noFill/>
          <a:ln/>
        </p:spPr>
        <p:txBody>
          <a:bodyPr wrap="square" lIns="0" tIns="0" rIns="0" bIns="0" rtlCol="0" anchor="t"/>
          <a:lstStyle/>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from config import duration, distance, layers, weightrange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genesize = fnn.FNN.genome_size(layers)</a:t>
            </a:r>
            <a:endParaRPr lang="en-US" sz="1100" dirty="0"/>
          </a:p>
          <a:p>
            <a:pPr indent="0" marL="0">
              <a:spcAft>
                <a:spcPts val="200"/>
              </a:spcAft>
              <a:buNone/>
            </a:pP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ga = ea.Microbial(fitnessFunction, genesize, generations,</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popsize=popsize, recombProb=recombProb,</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mutatStd=mutatStd, demeSize=demeSize,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     eliteprop=eliteprop)</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ga.run()</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avgfit, bestfit, bestind = ga.fitStats()</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np.save("best.npy", bestind)</a:t>
            </a:r>
            <a:endParaRPr lang="en-US" sz="1100" dirty="0"/>
          </a:p>
        </p:txBody>
      </p:sp>
      <p:sp>
        <p:nvSpPr>
          <p:cNvPr id="7" name="Text 4"/>
          <p:cNvSpPr txBox="1"/>
          <p:nvPr/>
        </p:nvSpPr>
        <p:spPr>
          <a:xfrm>
            <a:off x="7178040" y="1783080"/>
            <a:ext cx="411480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SHARED, SO THEY AGREE</a:t>
            </a:r>
            <a:endParaRPr lang="en-US" sz="1200" dirty="0"/>
          </a:p>
        </p:txBody>
      </p:sp>
      <p:sp>
        <p:nvSpPr>
          <p:cNvPr id="8" name="Text 5"/>
          <p:cNvSpPr txBox="1"/>
          <p:nvPr/>
        </p:nvSpPr>
        <p:spPr>
          <a:xfrm>
            <a:off x="7178040" y="2148840"/>
            <a:ext cx="4197096" cy="246888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config.py: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duration, distance, layers, weightrange, imported by evolve.py and sim.py.</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FNN.genome_size(layers):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genesize always matches setParams.</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Only in evolve.py: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reps, finaltrials, seed, and the GA settings.</a:t>
            </a:r>
            <a:endParaRPr lang="en-US" sz="1300" dirty="0"/>
          </a:p>
        </p:txBody>
      </p:sp>
      <p:sp>
        <p:nvSpPr>
          <p:cNvPr id="9" name="Shape 6"/>
          <p:cNvSpPr/>
          <p:nvPr/>
        </p:nvSpPr>
        <p:spPr>
          <a:xfrm>
            <a:off x="813816" y="4937760"/>
            <a:ext cx="1920240" cy="685800"/>
          </a:xfrm>
          <a:prstGeom prst="roundRect">
            <a:avLst>
              <a:gd name="adj" fmla="val 10667"/>
            </a:avLst>
          </a:prstGeom>
          <a:solidFill>
            <a:srgbClr val="1D6F66"/>
          </a:solidFill>
          <a:ln w="12700">
            <a:solidFill>
              <a:srgbClr val="F6F4EE"/>
            </a:solidFill>
            <a:prstDash val="solid"/>
          </a:ln>
        </p:spPr>
      </p:sp>
      <p:sp>
        <p:nvSpPr>
          <p:cNvPr id="10" name="Text 7"/>
          <p:cNvSpPr txBox="1"/>
          <p:nvPr/>
        </p:nvSpPr>
        <p:spPr>
          <a:xfrm>
            <a:off x="813816" y="4937760"/>
            <a:ext cx="1920240" cy="685800"/>
          </a:xfrm>
          <a:prstGeom prst="rect">
            <a:avLst/>
          </a:prstGeom>
          <a:noFill/>
          <a:ln/>
        </p:spPr>
        <p:txBody>
          <a:bodyPr wrap="square" lIns="0" tIns="0" rIns="0" bIns="0" rtlCol="0" anchor="ctr"/>
          <a:lstStyle/>
          <a:p>
            <a:pPr algn="ctr" indent="0" marL="0">
              <a:buNone/>
            </a:pPr>
            <a:r>
              <a:rPr lang="en-US" sz="1400" b="1" dirty="0">
                <a:solidFill>
                  <a:srgbClr val="F6F4EE"/>
                </a:solidFill>
                <a:latin typeface="JetBrains Mono" pitchFamily="34" charset="0"/>
                <a:ea typeface="JetBrains Mono" pitchFamily="34" charset="-122"/>
                <a:cs typeface="JetBrains Mono" pitchFamily="34" charset="-120"/>
              </a:rPr>
              <a:t>evolve.py</a:t>
            </a:r>
            <a:endParaRPr lang="en-US" sz="1400" dirty="0"/>
          </a:p>
        </p:txBody>
      </p:sp>
      <p:sp>
        <p:nvSpPr>
          <p:cNvPr id="11" name="Shape 8"/>
          <p:cNvSpPr/>
          <p:nvPr/>
        </p:nvSpPr>
        <p:spPr>
          <a:xfrm>
            <a:off x="2779776" y="5280660"/>
            <a:ext cx="1005840" cy="0"/>
          </a:xfrm>
          <a:prstGeom prst="line">
            <a:avLst/>
          </a:prstGeom>
          <a:noFill/>
          <a:ln w="25400">
            <a:solidFill>
              <a:srgbClr val="5E6878"/>
            </a:solidFill>
            <a:prstDash val="solid"/>
            <a:tailEnd type="triangle"/>
          </a:ln>
        </p:spPr>
      </p:sp>
      <p:sp>
        <p:nvSpPr>
          <p:cNvPr id="12" name="Text 9"/>
          <p:cNvSpPr txBox="1"/>
          <p:nvPr/>
        </p:nvSpPr>
        <p:spPr>
          <a:xfrm>
            <a:off x="2779776" y="4937760"/>
            <a:ext cx="1005840" cy="301752"/>
          </a:xfrm>
          <a:prstGeom prst="rect">
            <a:avLst/>
          </a:prstGeom>
          <a:noFill/>
          <a:ln/>
        </p:spPr>
        <p:txBody>
          <a:bodyPr wrap="square" lIns="0" tIns="0" rIns="0" bIns="0" rtlCol="0" anchor="ctr"/>
          <a:lstStyle/>
          <a:p>
            <a:pPr algn="ctr" indent="0" marL="0">
              <a:buNone/>
            </a:pPr>
            <a:r>
              <a:rPr lang="en-US" sz="1100" dirty="0">
                <a:solidFill>
                  <a:srgbClr val="5E6878"/>
                </a:solidFill>
                <a:latin typeface="JetBrains Mono" pitchFamily="34" charset="0"/>
                <a:ea typeface="JetBrains Mono" pitchFamily="34" charset="-122"/>
                <a:cs typeface="JetBrains Mono" pitchFamily="34" charset="-120"/>
              </a:rPr>
              <a:t>best.npy</a:t>
            </a:r>
            <a:endParaRPr lang="en-US" sz="1100" dirty="0"/>
          </a:p>
        </p:txBody>
      </p:sp>
      <p:sp>
        <p:nvSpPr>
          <p:cNvPr id="13" name="Shape 10"/>
          <p:cNvSpPr/>
          <p:nvPr/>
        </p:nvSpPr>
        <p:spPr>
          <a:xfrm>
            <a:off x="4425696" y="4937760"/>
            <a:ext cx="1920240" cy="685800"/>
          </a:xfrm>
          <a:prstGeom prst="roundRect">
            <a:avLst>
              <a:gd name="adj" fmla="val 10667"/>
            </a:avLst>
          </a:prstGeom>
          <a:solidFill>
            <a:srgbClr val="16213A"/>
          </a:solidFill>
          <a:ln w="12700">
            <a:solidFill>
              <a:srgbClr val="F6F4EE"/>
            </a:solidFill>
            <a:prstDash val="solid"/>
          </a:ln>
        </p:spPr>
      </p:sp>
      <p:sp>
        <p:nvSpPr>
          <p:cNvPr id="14" name="Text 11"/>
          <p:cNvSpPr txBox="1"/>
          <p:nvPr/>
        </p:nvSpPr>
        <p:spPr>
          <a:xfrm>
            <a:off x="4425696" y="4937760"/>
            <a:ext cx="1920240" cy="685800"/>
          </a:xfrm>
          <a:prstGeom prst="rect">
            <a:avLst/>
          </a:prstGeom>
          <a:noFill/>
          <a:ln/>
        </p:spPr>
        <p:txBody>
          <a:bodyPr wrap="square" lIns="0" tIns="0" rIns="0" bIns="0" rtlCol="0" anchor="ctr"/>
          <a:lstStyle/>
          <a:p>
            <a:pPr algn="ctr" indent="0" marL="0">
              <a:buNone/>
            </a:pPr>
            <a:r>
              <a:rPr lang="en-US" sz="1400" b="1" dirty="0">
                <a:solidFill>
                  <a:srgbClr val="F6F4EE"/>
                </a:solidFill>
                <a:latin typeface="JetBrains Mono" pitchFamily="34" charset="0"/>
                <a:ea typeface="JetBrains Mono" pitchFamily="34" charset="-122"/>
                <a:cs typeface="JetBrains Mono" pitchFamily="34" charset="-120"/>
              </a:rPr>
              <a:t>sim.py</a:t>
            </a:r>
            <a:endParaRPr lang="en-US" sz="1400" dirty="0"/>
          </a:p>
        </p:txBody>
      </p:sp>
      <p:sp>
        <p:nvSpPr>
          <p:cNvPr id="15" name="Shape 12"/>
          <p:cNvSpPr/>
          <p:nvPr/>
        </p:nvSpPr>
        <p:spPr>
          <a:xfrm>
            <a:off x="6391656" y="5280660"/>
            <a:ext cx="1005840" cy="0"/>
          </a:xfrm>
          <a:prstGeom prst="line">
            <a:avLst/>
          </a:prstGeom>
          <a:noFill/>
          <a:ln w="25400">
            <a:solidFill>
              <a:srgbClr val="5E6878"/>
            </a:solidFill>
            <a:prstDash val="solid"/>
            <a:tailEnd type="triangle"/>
          </a:ln>
        </p:spPr>
      </p:sp>
      <p:sp>
        <p:nvSpPr>
          <p:cNvPr id="16" name="Text 13"/>
          <p:cNvSpPr txBox="1"/>
          <p:nvPr/>
        </p:nvSpPr>
        <p:spPr>
          <a:xfrm>
            <a:off x="6391656" y="4937760"/>
            <a:ext cx="1005840" cy="301752"/>
          </a:xfrm>
          <a:prstGeom prst="rect">
            <a:avLst/>
          </a:prstGeom>
          <a:noFill/>
          <a:ln/>
        </p:spPr>
        <p:txBody>
          <a:bodyPr wrap="square" lIns="0" tIns="0" rIns="0" bIns="0" rtlCol="0" anchor="ctr"/>
          <a:lstStyle/>
          <a:p>
            <a:pPr algn="ctr" indent="0" marL="0">
              <a:buNone/>
            </a:pPr>
            <a:r>
              <a:rPr lang="en-US" sz="1100" dirty="0">
                <a:solidFill>
                  <a:srgbClr val="5E6878"/>
                </a:solidFill>
                <a:latin typeface="JetBrains Mono" pitchFamily="34" charset="0"/>
                <a:ea typeface="JetBrains Mono" pitchFamily="34" charset="-122"/>
                <a:cs typeface="JetBrains Mono" pitchFamily="34" charset="-120"/>
              </a:rPr>
              <a:t>sim.npz</a:t>
            </a:r>
            <a:endParaRPr lang="en-US" sz="1100" dirty="0"/>
          </a:p>
        </p:txBody>
      </p:sp>
      <p:sp>
        <p:nvSpPr>
          <p:cNvPr id="17" name="Shape 14"/>
          <p:cNvSpPr/>
          <p:nvPr/>
        </p:nvSpPr>
        <p:spPr>
          <a:xfrm>
            <a:off x="8037576" y="4937760"/>
            <a:ext cx="1920240" cy="685800"/>
          </a:xfrm>
          <a:prstGeom prst="roundRect">
            <a:avLst>
              <a:gd name="adj" fmla="val 10667"/>
            </a:avLst>
          </a:prstGeom>
          <a:solidFill>
            <a:srgbClr val="16213A"/>
          </a:solidFill>
          <a:ln w="12700">
            <a:solidFill>
              <a:srgbClr val="F6F4EE"/>
            </a:solidFill>
            <a:prstDash val="solid"/>
          </a:ln>
        </p:spPr>
      </p:sp>
      <p:sp>
        <p:nvSpPr>
          <p:cNvPr id="18" name="Text 15"/>
          <p:cNvSpPr txBox="1"/>
          <p:nvPr/>
        </p:nvSpPr>
        <p:spPr>
          <a:xfrm>
            <a:off x="8037576" y="4937760"/>
            <a:ext cx="1920240" cy="685800"/>
          </a:xfrm>
          <a:prstGeom prst="rect">
            <a:avLst/>
          </a:prstGeom>
          <a:noFill/>
          <a:ln/>
        </p:spPr>
        <p:txBody>
          <a:bodyPr wrap="square" lIns="0" tIns="0" rIns="0" bIns="0" rtlCol="0" anchor="ctr"/>
          <a:lstStyle/>
          <a:p>
            <a:pPr algn="ctr" indent="0" marL="0">
              <a:buNone/>
            </a:pPr>
            <a:r>
              <a:rPr lang="en-US" sz="1400" b="1" dirty="0">
                <a:solidFill>
                  <a:srgbClr val="F6F4EE"/>
                </a:solidFill>
                <a:latin typeface="JetBrains Mono" pitchFamily="34" charset="0"/>
                <a:ea typeface="JetBrains Mono" pitchFamily="34" charset="-122"/>
                <a:cs typeface="JetBrains Mono" pitchFamily="34" charset="-120"/>
              </a:rPr>
              <a:t>viz.py</a:t>
            </a:r>
            <a:endParaRPr lang="en-US" sz="1400" dirty="0"/>
          </a:p>
        </p:txBody>
      </p:sp>
      <p:sp>
        <p:nvSpPr>
          <p:cNvPr id="19" name="Text 16"/>
          <p:cNvSpPr txBox="1"/>
          <p:nvPr/>
        </p:nvSpPr>
        <p:spPr>
          <a:xfrm>
            <a:off x="813816" y="5806440"/>
            <a:ext cx="10561320" cy="365760"/>
          </a:xfrm>
          <a:prstGeom prst="rect">
            <a:avLst/>
          </a:prstGeom>
          <a:noFill/>
          <a:ln/>
        </p:spPr>
        <p:txBody>
          <a:bodyPr wrap="square" lIns="0" tIns="0" rIns="0" bIns="0" rtlCol="0" anchor="ctr"/>
          <a:lstStyle/>
          <a:p>
            <a:pPr indent="0" marL="0">
              <a:buNone/>
            </a:pPr>
            <a:r>
              <a:rPr lang="en-US" sz="1300" i="1" dirty="0">
                <a:solidFill>
                  <a:srgbClr val="3E4A5C"/>
                </a:solidFill>
                <a:latin typeface="IBM Plex Sans" pitchFamily="34" charset="0"/>
                <a:ea typeface="IBM Plex Sans" pitchFamily="34" charset="-122"/>
                <a:cs typeface="IBM Plex Sans" pitchFamily="34" charset="-120"/>
              </a:rPr>
              <a:t>Three scripts, connected only by the files they save and load.</a:t>
            </a:r>
            <a:endParaRPr lang="en-US" sz="1300" dirty="0"/>
          </a:p>
        </p:txBody>
      </p:sp>
      <p:sp>
        <p:nvSpPr>
          <p:cNvPr id="20" name="Text 17"/>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PythonBasics/Unit4/evolve.py · sim.py · viz.py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CONNECTION 6 · WHAT THE NUMBER MEANS</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Reading the fitness number</a:t>
            </a:r>
            <a:endParaRPr lang="en-US" sz="3200" dirty="0"/>
          </a:p>
        </p:txBody>
      </p:sp>
      <p:graphicFrame>
        <p:nvGraphicFramePr>
          <p:cNvPr id="5" name="Chart 0" descr=""/>
          <p:cNvGraphicFramePr/>
          <p:nvPr/>
        </p:nvGraphicFramePr>
        <p:xfrm>
          <a:off x="813816" y="17373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4242816" cy="1234440"/>
          </a:xfrm>
          <a:prstGeom prst="roundRect">
            <a:avLst>
              <a:gd name="adj" fmla="val 5926"/>
            </a:avLst>
          </a:prstGeom>
          <a:solidFill>
            <a:srgbClr val="16213A"/>
          </a:solidFill>
          <a:ln w="12700">
            <a:solidFill>
              <a:srgbClr val="16213A"/>
            </a:solidFill>
            <a:prstDash val="solid"/>
          </a:ln>
        </p:spPr>
      </p:sp>
      <p:sp>
        <p:nvSpPr>
          <p:cNvPr id="7" name="Text 3"/>
          <p:cNvSpPr txBox="1"/>
          <p:nvPr/>
        </p:nvSpPr>
        <p:spPr>
          <a:xfrm>
            <a:off x="7360920" y="1965960"/>
            <a:ext cx="3785616" cy="868680"/>
          </a:xfrm>
          <a:prstGeom prst="rect">
            <a:avLst/>
          </a:prstGeom>
          <a:noFill/>
          <a:ln/>
        </p:spPr>
        <p:txBody>
          <a:bodyPr wrap="square" lIns="0" tIns="0" rIns="0" bIns="0" rtlCol="0" anchor="t"/>
          <a:lstStyle/>
          <a:p>
            <a:pPr indent="0" marL="0">
              <a:spcAft>
                <a:spcPts val="200"/>
              </a:spcAft>
              <a:buNone/>
            </a:pPr>
            <a:r>
              <a:rPr lang="en-US" sz="1100" dirty="0">
                <a:solidFill>
                  <a:srgbClr val="8FA0B8"/>
                </a:solidFill>
                <a:latin typeface="JetBrains Mono" pitchFamily="34" charset="0"/>
                <a:ea typeface="JetBrains Mono" pitchFamily="34" charset="-122"/>
                <a:cs typeface="JetBrains Mono" pitchFamily="34" charset="-120"/>
              </a:rPr>
              <a:t># the reward, every time step</a:t>
            </a:r>
            <a:endParaRPr lang="en-US" sz="1100" dirty="0"/>
          </a:p>
          <a:p>
            <a:pPr indent="0" marL="0">
              <a:spcAft>
                <a:spcPts val="200"/>
              </a:spcAft>
              <a:buNone/>
            </a:pPr>
            <a:r>
              <a:rPr lang="en-US" sz="1100" dirty="0">
                <a:solidFill>
                  <a:srgbClr val="F2A65A"/>
                </a:solidFill>
                <a:latin typeface="JetBrains Mono" pitchFamily="34" charset="0"/>
                <a:ea typeface="JetBrains Mono" pitchFamily="34" charset="-122"/>
                <a:cs typeface="JetBrains Mono" pitchFamily="34" charset="-120"/>
              </a:rPr>
              <a:t>fitness += 1/(1 + agent.distance(light))</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return fitness/(reps*duration)</a:t>
            </a:r>
            <a:endParaRPr lang="en-US" sz="1100" dirty="0"/>
          </a:p>
        </p:txBody>
      </p:sp>
      <p:sp>
        <p:nvSpPr>
          <p:cNvPr id="8" name="Text 4"/>
          <p:cNvSpPr txBox="1"/>
          <p:nvPr/>
        </p:nvSpPr>
        <p:spPr>
          <a:xfrm>
            <a:off x="7132320" y="3291840"/>
            <a:ext cx="4242816" cy="274320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Bounded in (0, 1].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1.0 would need to start on top of the light.</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Travel time costs points: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the vehicle starts 5 away, so the early steps score low even for a perfect driver.</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Not moving already scores 0.17,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and a random network scores about the same.</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Eight seeds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of evolve.py gave 0.77 to 0.86.</a:t>
            </a:r>
            <a:endParaRPr lang="en-US" sz="1300" dirty="0"/>
          </a:p>
        </p:txBody>
      </p:sp>
      <p:sp>
        <p:nvSpPr>
          <p:cNvPr id="9" name="Text 5"/>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one seeded run of evolve.py · evolved = 200 fresh single trials · random = mean of 150 genomes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CONNECTION 7 · NOISY FITNESS</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Can we trust the recorded fitness?</a:t>
            </a:r>
            <a:endParaRPr lang="en-US" sz="3200" dirty="0"/>
          </a:p>
        </p:txBody>
      </p:sp>
      <p:pic>
        <p:nvPicPr>
          <p:cNvPr id="5" name="Image 0" descr="/private/tmp/claude-501/-Users-edizquie-Documents-GitHub-ECE497-Fall2026-PythonBasics/b1361503-7cb3-4cd7-872d-6a473a880a67/scratchpad/fig4_curve.png">    </p:cNvPr>
          <p:cNvPicPr>
            <a:picLocks noChangeAspect="1"/>
          </p:cNvPicPr>
          <p:nvPr/>
        </p:nvPicPr>
        <p:blipFill>
          <a:blip r:embed="rId1"/>
          <a:stretch>
            <a:fillRect/>
          </a:stretch>
        </p:blipFill>
        <p:spPr>
          <a:xfrm>
            <a:off x="813816" y="1691640"/>
            <a:ext cx="6309360" cy="3561735"/>
          </a:xfrm>
          <a:prstGeom prst="rect">
            <a:avLst/>
          </a:prstGeom>
        </p:spPr>
      </p:pic>
      <p:sp>
        <p:nvSpPr>
          <p:cNvPr id="6" name="Text 2"/>
          <p:cNvSpPr txBox="1"/>
          <p:nvPr/>
        </p:nvSpPr>
        <p:spPr>
          <a:xfrm>
            <a:off x="7406640" y="1783080"/>
            <a:ext cx="3968496" cy="274320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One sample.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Each score is the mean of only 4 random trials.</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Never refreshed.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Microbial re-scores only the loser, so the best curve can only go up.</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So check it: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evolve.py now re-scores the best genotype on 100 fresh trials (dashed line).</a:t>
            </a:r>
            <a:endParaRPr lang="en-US" sz="1300" dirty="0"/>
          </a:p>
        </p:txBody>
      </p:sp>
      <p:sp>
        <p:nvSpPr>
          <p:cNvPr id="7" name="Shape 3"/>
          <p:cNvSpPr/>
          <p:nvPr/>
        </p:nvSpPr>
        <p:spPr>
          <a:xfrm>
            <a:off x="7406640" y="4343400"/>
            <a:ext cx="3968496" cy="1737360"/>
          </a:xfrm>
          <a:prstGeom prst="roundRect">
            <a:avLst>
              <a:gd name="adj" fmla="val 4211"/>
            </a:avLst>
          </a:prstGeom>
          <a:solidFill>
            <a:srgbClr val="F6DCCB"/>
          </a:solidFill>
          <a:ln w="12700">
            <a:solidFill>
              <a:srgbClr val="E2DDD0"/>
            </a:solidFill>
            <a:prstDash val="solid"/>
          </a:ln>
        </p:spPr>
      </p:sp>
      <p:sp>
        <p:nvSpPr>
          <p:cNvPr id="8" name="Text 4"/>
          <p:cNvSpPr txBox="1"/>
          <p:nvPr/>
        </p:nvSpPr>
        <p:spPr>
          <a:xfrm>
            <a:off x="7635240" y="4434840"/>
            <a:ext cx="3520440" cy="1554480"/>
          </a:xfrm>
          <a:prstGeom prst="rect">
            <a:avLst/>
          </a:prstGeom>
          <a:noFill/>
          <a:ln/>
        </p:spPr>
        <p:txBody>
          <a:bodyPr wrap="square" lIns="0" tIns="0" rIns="0" bIns="0" rtlCol="0" anchor="t"/>
          <a:lstStyle/>
          <a:p>
            <a:pPr indent="0" marL="0">
              <a:spcAft>
                <a:spcPts val="400"/>
              </a:spcAft>
              <a:buNone/>
            </a:pPr>
            <a:r>
              <a:rPr lang="en-US" sz="1300" b="1" dirty="0">
                <a:solidFill>
                  <a:srgbClr val="16213A"/>
                </a:solidFill>
                <a:latin typeface="IBM Plex Sans" pitchFamily="34" charset="0"/>
                <a:ea typeface="IBM Plex Sans" pitchFamily="34" charset="-122"/>
                <a:cs typeface="IBM Plex Sans" pitchFamily="34" charset="-120"/>
              </a:rPr>
              <a:t>It held up here.</a:t>
            </a:r>
            <a:endParaRPr lang="en-US" sz="1300" dirty="0"/>
          </a:p>
          <a:p>
            <a:pPr indent="0" marL="0">
              <a:spcAft>
                <a:spcPts val="400"/>
              </a:spcAft>
              <a:buNone/>
            </a:pPr>
            <a:r>
              <a:rPr lang="en-US" sz="1300" dirty="0">
                <a:solidFill>
                  <a:srgbClr val="3E4A5C"/>
                </a:solidFill>
                <a:latin typeface="IBM Plex Sans" pitchFamily="34" charset="0"/>
                <a:ea typeface="IBM Plex Sans" pitchFamily="34" charset="-122"/>
                <a:cs typeface="IBM Plex Sans" pitchFamily="34" charset="-120"/>
              </a:rPr>
              <a:t>Over 8 seeds, recorded and fresh fitness differ by at most 0.02. Trial-to-trial spread is under 0.01. Try reps = 1 or fewer generations: does the gap grow?</a:t>
            </a:r>
            <a:endParaRPr lang="en-US" sz="1300" dirty="0"/>
          </a:p>
        </p:txBody>
      </p:sp>
      <p:sp>
        <p:nvSpPr>
          <p:cNvPr id="9" name="Text 5"/>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seed 3 · dashed line: 200 fresh single trials · 8 seeds compared: recorded 0.77 to 0.84, fresh 0.77 to 0.86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DEMO</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Run it: evolve, test, plot</a:t>
            </a:r>
            <a:endParaRPr lang="en-US" sz="3200" dirty="0"/>
          </a:p>
        </p:txBody>
      </p:sp>
      <p:sp>
        <p:nvSpPr>
          <p:cNvPr id="5" name="Shape 2"/>
          <p:cNvSpPr/>
          <p:nvPr/>
        </p:nvSpPr>
        <p:spPr>
          <a:xfrm>
            <a:off x="813816" y="1783080"/>
            <a:ext cx="6583680" cy="2651760"/>
          </a:xfrm>
          <a:prstGeom prst="roundRect">
            <a:avLst>
              <a:gd name="adj" fmla="val 2759"/>
            </a:avLst>
          </a:prstGeom>
          <a:solidFill>
            <a:srgbClr val="16213A"/>
          </a:solidFill>
          <a:ln w="12700">
            <a:solidFill>
              <a:srgbClr val="16213A"/>
            </a:solidFill>
            <a:prstDash val="solid"/>
          </a:ln>
        </p:spPr>
      </p:sp>
      <p:sp>
        <p:nvSpPr>
          <p:cNvPr id="6" name="Text 3"/>
          <p:cNvSpPr txBox="1"/>
          <p:nvPr/>
        </p:nvSpPr>
        <p:spPr>
          <a:xfrm>
            <a:off x="1042416" y="1965960"/>
            <a:ext cx="6126480" cy="2286000"/>
          </a:xfrm>
          <a:prstGeom prst="rect">
            <a:avLst/>
          </a:prstGeom>
          <a:noFill/>
          <a:ln/>
        </p:spPr>
        <p:txBody>
          <a:bodyPr wrap="square" lIns="0" tIns="0" rIns="0" bIns="0" rtlCol="0" anchor="t"/>
          <a:lstStyle/>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cd PythonBasics/Unit4</a:t>
            </a:r>
            <a:endParaRPr lang="en-US" sz="1100" dirty="0"/>
          </a:p>
          <a:p>
            <a:pPr indent="0" marL="0">
              <a:spcAft>
                <a:spcPts val="200"/>
              </a:spcAft>
              <a:buNone/>
            </a:pPr>
            <a:endParaRPr lang="en-US" sz="1100" dirty="0"/>
          </a:p>
          <a:p>
            <a:pPr indent="0" marL="0">
              <a:spcAft>
                <a:spcPts val="200"/>
              </a:spcAft>
              <a:buNone/>
            </a:pPr>
            <a:r>
              <a:rPr lang="en-US" sz="1100" dirty="0">
                <a:solidFill>
                  <a:srgbClr val="8FA0B8"/>
                </a:solidFill>
                <a:latin typeface="JetBrains Mono" pitchFamily="34" charset="0"/>
                <a:ea typeface="JetBrains Mono" pitchFamily="34" charset="-122"/>
                <a:cs typeface="JetBrains Mono" pitchFamily="34" charset="-120"/>
              </a:rPr>
              <a:t># 1. evolve (about 15 s): prints recorded and fresh fitness</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python3 evolve.py</a:t>
            </a:r>
            <a:endParaRPr lang="en-US" sz="1100" dirty="0"/>
          </a:p>
          <a:p>
            <a:pPr indent="0" marL="0">
              <a:spcAft>
                <a:spcPts val="200"/>
              </a:spcAft>
              <a:buNone/>
            </a:pPr>
            <a:endParaRPr lang="en-US" sz="1100" dirty="0"/>
          </a:p>
          <a:p>
            <a:pPr indent="0" marL="0">
              <a:spcAft>
                <a:spcPts val="200"/>
              </a:spcAft>
              <a:buNone/>
            </a:pPr>
            <a:r>
              <a:rPr lang="en-US" sz="1100" dirty="0">
                <a:solidFill>
                  <a:srgbClr val="8FA0B8"/>
                </a:solidFill>
                <a:latin typeface="JetBrains Mono" pitchFamily="34" charset="0"/>
                <a:ea typeface="JetBrains Mono" pitchFamily="34" charset="-122"/>
                <a:cs typeface="JetBrains Mono" pitchFamily="34" charset="-120"/>
              </a:rPr>
              <a:t># 2. test best.npy on 20 new trials: saves sim.npz</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python3 sim.py</a:t>
            </a:r>
            <a:endParaRPr lang="en-US" sz="1100" dirty="0"/>
          </a:p>
          <a:p>
            <a:pPr indent="0" marL="0">
              <a:spcAft>
                <a:spcPts val="200"/>
              </a:spcAft>
              <a:buNone/>
            </a:pPr>
            <a:endParaRPr lang="en-US" sz="1100" dirty="0"/>
          </a:p>
          <a:p>
            <a:pPr indent="0" marL="0">
              <a:spcAft>
                <a:spcPts val="200"/>
              </a:spcAft>
              <a:buNone/>
            </a:pPr>
            <a:r>
              <a:rPr lang="en-US" sz="1100" dirty="0">
                <a:solidFill>
                  <a:srgbClr val="8FA0B8"/>
                </a:solidFill>
                <a:latin typeface="JetBrains Mono" pitchFamily="34" charset="0"/>
                <a:ea typeface="JetBrains Mono" pitchFamily="34" charset="-122"/>
                <a:cs typeface="JetBrains Mono" pitchFamily="34" charset="-120"/>
              </a:rPr>
              <a:t># 3. trajectories and distance over time</a:t>
            </a:r>
            <a:endParaRPr lang="en-US" sz="1100" dirty="0"/>
          </a:p>
          <a:p>
            <a:pPr indent="0" marL="0">
              <a:spcAft>
                <a:spcPts val="200"/>
              </a:spcAft>
              <a:buNone/>
            </a:pPr>
            <a:r>
              <a:rPr lang="en-US" sz="1100" dirty="0">
                <a:solidFill>
                  <a:srgbClr val="E8E4D8"/>
                </a:solidFill>
                <a:latin typeface="JetBrains Mono" pitchFamily="34" charset="0"/>
                <a:ea typeface="JetBrains Mono" pitchFamily="34" charset="-122"/>
                <a:cs typeface="JetBrains Mono" pitchFamily="34" charset="-120"/>
              </a:rPr>
              <a:t>python3 viz.py</a:t>
            </a:r>
            <a:endParaRPr lang="en-US" sz="1100" dirty="0"/>
          </a:p>
        </p:txBody>
      </p:sp>
      <p:sp>
        <p:nvSpPr>
          <p:cNvPr id="7" name="Text 4"/>
          <p:cNvSpPr txBox="1"/>
          <p:nvPr/>
        </p:nvSpPr>
        <p:spPr>
          <a:xfrm>
            <a:off x="7680960" y="1783080"/>
            <a:ext cx="365760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WHAT TO WATCH</a:t>
            </a:r>
            <a:endParaRPr lang="en-US" sz="1200" dirty="0"/>
          </a:p>
        </p:txBody>
      </p:sp>
      <p:sp>
        <p:nvSpPr>
          <p:cNvPr id="8" name="Text 5"/>
          <p:cNvSpPr txBox="1"/>
          <p:nvPr/>
        </p:nvSpPr>
        <p:spPr>
          <a:xfrm>
            <a:off x="7680960" y="2148840"/>
            <a:ext cx="3694176" cy="31089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3E4A5C"/>
                </a:solidFill>
                <a:latin typeface="IBM Plex Sans" pitchFamily="34" charset="0"/>
                <a:ea typeface="IBM Plex Sans" pitchFamily="34" charset="-122"/>
                <a:cs typeface="IBM Plex Sans" pitchFamily="34" charset="-120"/>
              </a:rPr>
              <a:t>Recorded vs fresh-trial fitness (printed)</a:t>
            </a:r>
            <a:endParaRPr lang="en-US" sz="1300" dirty="0"/>
          </a:p>
          <a:p>
            <a:pPr marL="203200" indent="-203200">
              <a:spcAft>
                <a:spcPts val="800"/>
              </a:spcAft>
              <a:buSzPct val="100000"/>
              <a:buChar char="•"/>
            </a:pPr>
            <a:r>
              <a:rPr lang="en-US" sz="1300" dirty="0">
                <a:solidFill>
                  <a:srgbClr val="3E4A5C"/>
                </a:solidFill>
                <a:latin typeface="IBM Plex Sans" pitchFamily="34" charset="0"/>
                <a:ea typeface="IBM Plex Sans" pitchFamily="34" charset="-122"/>
                <a:cs typeface="IBM Plex Sans" pitchFamily="34" charset="-120"/>
              </a:rPr>
              <a:t>Average fitness starts near 0.17 and climbs</a:t>
            </a:r>
            <a:endParaRPr lang="en-US" sz="1300" dirty="0"/>
          </a:p>
          <a:p>
            <a:pPr marL="203200" indent="-203200">
              <a:spcAft>
                <a:spcPts val="800"/>
              </a:spcAft>
              <a:buSzPct val="100000"/>
              <a:buChar char="•"/>
            </a:pPr>
            <a:r>
              <a:rPr lang="en-US" sz="1300" dirty="0">
                <a:solidFill>
                  <a:srgbClr val="3E4A5C"/>
                </a:solidFill>
                <a:latin typeface="IBM Plex Sans" pitchFamily="34" charset="0"/>
                <a:ea typeface="IBM Plex Sans" pitchFamily="34" charset="-122"/>
                <a:cs typeface="IBM Plex Sans" pitchFamily="34" charset="-120"/>
              </a:rPr>
              <a:t>Best jumps early, then only goes up</a:t>
            </a:r>
            <a:endParaRPr lang="en-US" sz="1300" dirty="0"/>
          </a:p>
          <a:p>
            <a:pPr marL="203200" indent="-203200">
              <a:spcAft>
                <a:spcPts val="800"/>
              </a:spcAft>
              <a:buSzPct val="100000"/>
              <a:buChar char="•"/>
            </a:pPr>
            <a:r>
              <a:rPr lang="en-US" sz="1300" dirty="0">
                <a:solidFill>
                  <a:srgbClr val="3E4A5C"/>
                </a:solidFill>
                <a:latin typeface="IBM Plex Sans" pitchFamily="34" charset="0"/>
                <a:ea typeface="IBM Plex Sans" pitchFamily="34" charset="-122"/>
                <a:cs typeface="IBM Plex Sans" pitchFamily="34" charset="-120"/>
              </a:rPr>
              <a:t>sim.py's fitness vs the one evolve.py printed</a:t>
            </a:r>
            <a:endParaRPr lang="en-US" sz="1300" dirty="0"/>
          </a:p>
          <a:p>
            <a:pPr marL="203200" indent="-203200">
              <a:spcAft>
                <a:spcPts val="800"/>
              </a:spcAft>
              <a:buSzPct val="100000"/>
              <a:buChar char="•"/>
            </a:pPr>
            <a:r>
              <a:rPr lang="en-US" sz="1300" dirty="0">
                <a:solidFill>
                  <a:srgbClr val="3E4A5C"/>
                </a:solidFill>
                <a:latin typeface="IBM Plex Sans" pitchFamily="34" charset="0"/>
                <a:ea typeface="IBM Plex Sans" pitchFamily="34" charset="-122"/>
                <a:cs typeface="IBM Plex Sans" pitchFamily="34" charset="-120"/>
              </a:rPr>
              <a:t>Do all trajectories reach the light?</a:t>
            </a:r>
            <a:endParaRPr lang="en-US" sz="1300" dirty="0"/>
          </a:p>
        </p:txBody>
      </p:sp>
      <p:sp>
        <p:nvSpPr>
          <p:cNvPr id="9" name="Shape 6"/>
          <p:cNvSpPr/>
          <p:nvPr/>
        </p:nvSpPr>
        <p:spPr>
          <a:xfrm>
            <a:off x="813816" y="4709160"/>
            <a:ext cx="10561320" cy="1280160"/>
          </a:xfrm>
          <a:prstGeom prst="roundRect">
            <a:avLst>
              <a:gd name="adj" fmla="val 5714"/>
            </a:avLst>
          </a:prstGeom>
          <a:solidFill>
            <a:srgbClr val="ECE8DE"/>
          </a:solidFill>
          <a:ln w="12700">
            <a:solidFill>
              <a:srgbClr val="E2DDD0"/>
            </a:solidFill>
            <a:prstDash val="solid"/>
          </a:ln>
        </p:spPr>
      </p:sp>
      <p:sp>
        <p:nvSpPr>
          <p:cNvPr id="10" name="Text 7"/>
          <p:cNvSpPr txBox="1"/>
          <p:nvPr/>
        </p:nvSpPr>
        <p:spPr>
          <a:xfrm>
            <a:off x="1088136" y="4846320"/>
            <a:ext cx="5486400" cy="274320"/>
          </a:xfrm>
          <a:prstGeom prst="rect">
            <a:avLst/>
          </a:prstGeom>
          <a:noFill/>
          <a:ln/>
        </p:spPr>
        <p:txBody>
          <a:bodyPr wrap="square" lIns="0" tIns="0" rIns="0" bIns="0" rtlCol="0" anchor="ctr"/>
          <a:lstStyle/>
          <a:p>
            <a:pPr indent="0" marL="0">
              <a:buNone/>
            </a:pPr>
            <a:r>
              <a:rPr lang="en-US" sz="1200" b="1" spc="100" kern="0" dirty="0">
                <a:solidFill>
                  <a:srgbClr val="1D6F66"/>
                </a:solidFill>
                <a:latin typeface="IBM Plex Sans" pitchFamily="34" charset="0"/>
                <a:ea typeface="IBM Plex Sans" pitchFamily="34" charset="-122"/>
                <a:cs typeface="IBM Plex Sans" pitchFamily="34" charset="-120"/>
              </a:rPr>
              <a:t>THEN CHANGE ONE THING</a:t>
            </a:r>
            <a:endParaRPr lang="en-US" sz="1200" dirty="0"/>
          </a:p>
        </p:txBody>
      </p:sp>
      <p:sp>
        <p:nvSpPr>
          <p:cNvPr id="11" name="Text 8"/>
          <p:cNvSpPr txBox="1"/>
          <p:nvPr/>
        </p:nvSpPr>
        <p:spPr>
          <a:xfrm>
            <a:off x="1088136" y="5166360"/>
            <a:ext cx="10012680" cy="731520"/>
          </a:xfrm>
          <a:prstGeom prst="rect">
            <a:avLst/>
          </a:prstGeom>
          <a:noFill/>
          <a:ln/>
        </p:spPr>
        <p:txBody>
          <a:bodyPr wrap="square" lIns="0" tIns="0" rIns="0" bIns="0" rtlCol="0" anchor="t"/>
          <a:lstStyle/>
          <a:p>
            <a:pPr indent="0" marL="0">
              <a:buNone/>
            </a:pPr>
            <a:r>
              <a:rPr lang="en-US" sz="1300" b="1" dirty="0">
                <a:solidFill>
                  <a:srgbClr val="16213A"/>
                </a:solidFill>
                <a:latin typeface="IBM Plex Sans" pitchFamily="34" charset="0"/>
                <a:ea typeface="IBM Plex Sans" pitchFamily="34" charset="-122"/>
                <a:cs typeface="IBM Plex Sans" pitchFamily="34" charset="-120"/>
              </a:rPr>
              <a:t>Task: </a:t>
            </a:r>
            <a:pPr indent="0" marL="0">
              <a:buNone/>
            </a:pPr>
            <a:r>
              <a:rPr lang="en-US" sz="1300" dirty="0">
                <a:solidFill>
                  <a:srgbClr val="3E4A5C"/>
                </a:solidFill>
                <a:latin typeface="IBM Plex Sans" pitchFamily="34" charset="0"/>
                <a:ea typeface="IBM Plex Sans" pitchFamily="34" charset="-122"/>
                <a:cs typeface="IBM Plex Sans" pitchFamily="34" charset="-120"/>
              </a:rPr>
              <a:t>duration, distance (config.py), reps.   </a:t>
            </a:r>
            <a:pPr indent="0" marL="0">
              <a:buNone/>
            </a:pPr>
            <a:r>
              <a:rPr lang="en-US" sz="1300" b="1" dirty="0">
                <a:solidFill>
                  <a:srgbClr val="16213A"/>
                </a:solidFill>
                <a:latin typeface="IBM Plex Sans" pitchFamily="34" charset="0"/>
                <a:ea typeface="IBM Plex Sans" pitchFamily="34" charset="-122"/>
                <a:cs typeface="IBM Plex Sans" pitchFamily="34" charset="-120"/>
              </a:rPr>
              <a:t>Network: </a:t>
            </a:r>
            <a:pPr indent="0" marL="0">
              <a:buNone/>
            </a:pPr>
            <a:r>
              <a:rPr lang="en-US" sz="1300" dirty="0">
                <a:solidFill>
                  <a:srgbClr val="3E4A5C"/>
                </a:solidFill>
                <a:latin typeface="IBM Plex Sans" pitchFamily="34" charset="0"/>
                <a:ea typeface="IBM Plex Sans" pitchFamily="34" charset="-122"/>
                <a:cs typeface="IBM Plex Sans" pitchFamily="34" charset="-120"/>
              </a:rPr>
              <a:t>layers, weightrange (config.py).   </a:t>
            </a:r>
            <a:pPr indent="0" marL="0">
              <a:buNone/>
            </a:pPr>
            <a:r>
              <a:rPr lang="en-US" sz="1300" b="1" dirty="0">
                <a:solidFill>
                  <a:srgbClr val="16213A"/>
                </a:solidFill>
                <a:latin typeface="IBM Plex Sans" pitchFamily="34" charset="0"/>
                <a:ea typeface="IBM Plex Sans" pitchFamily="34" charset="-122"/>
                <a:cs typeface="IBM Plex Sans" pitchFamily="34" charset="-120"/>
              </a:rPr>
              <a:t>Algorithm: </a:t>
            </a:r>
            <a:pPr indent="0" marL="0">
              <a:buNone/>
            </a:pPr>
            <a:r>
              <a:rPr lang="en-US" sz="1300" dirty="0">
                <a:solidFill>
                  <a:srgbClr val="3E4A5C"/>
                </a:solidFill>
                <a:latin typeface="IBM Plex Sans" pitchFamily="34" charset="0"/>
                <a:ea typeface="IBM Plex Sans" pitchFamily="34" charset="-122"/>
                <a:cs typeface="IBM Plex Sans" pitchFamily="34" charset="-120"/>
              </a:rPr>
              <a:t>popsize, generations, mutatStd, or swap ea.Microbial for another class in eas.py.</a:t>
            </a:r>
            <a:endParaRPr lang="en-US" sz="1300" dirty="0"/>
          </a:p>
        </p:txBody>
      </p:sp>
      <p:sp>
        <p:nvSpPr>
          <p:cNvPr id="12" name="Text 9"/>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PythonBasics/Unit4/README.md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WHAT EVOLUTION FOUND</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Every start reaches the light</a:t>
            </a:r>
            <a:endParaRPr lang="en-US" sz="3200" dirty="0"/>
          </a:p>
        </p:txBody>
      </p:sp>
      <p:pic>
        <p:nvPicPr>
          <p:cNvPr id="5" name="Image 0" descr="/private/tmp/claude-501/-Users-edizquie-Documents-GitHub-ECE497-Fall2026-PythonBasics/b1361503-7cb3-4cd7-872d-6a473a880a67/scratchpad/fig4_sim.png">    </p:cNvPr>
          <p:cNvPicPr>
            <a:picLocks noChangeAspect="1"/>
          </p:cNvPicPr>
          <p:nvPr/>
        </p:nvPicPr>
        <p:blipFill>
          <a:blip r:embed="rId1"/>
          <a:stretch>
            <a:fillRect/>
          </a:stretch>
        </p:blipFill>
        <p:spPr>
          <a:xfrm>
            <a:off x="813816" y="1691640"/>
            <a:ext cx="6675120" cy="3003804"/>
          </a:xfrm>
          <a:prstGeom prst="rect">
            <a:avLst/>
          </a:prstGeom>
        </p:spPr>
      </p:pic>
      <p:sp>
        <p:nvSpPr>
          <p:cNvPr id="6" name="Text 2"/>
          <p:cNvSpPr txBox="1"/>
          <p:nvPr/>
        </p:nvSpPr>
        <p:spPr>
          <a:xfrm>
            <a:off x="7818120" y="1783080"/>
            <a:ext cx="3566160" cy="265176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20 of 20 trials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arrive by step 40 and stay at the light.</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Nearly straight paths,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jittered by motion noise.</a:t>
            </a:r>
            <a:endParaRPr lang="en-US" sz="1300" dirty="0"/>
          </a:p>
          <a:p>
            <a:pPr marL="203200" indent="-203200">
              <a:spcAft>
                <a:spcPts val="800"/>
              </a:spcAft>
              <a:buSzPct val="100000"/>
              <a:buChar char="•"/>
            </a:pPr>
            <a:r>
              <a:rPr lang="en-US" sz="1300" b="1" dirty="0">
                <a:solidFill>
                  <a:srgbClr val="16213A"/>
                </a:solidFill>
                <a:latin typeface="IBM Plex Sans" pitchFamily="34" charset="0"/>
                <a:ea typeface="IBM Plex Sans" pitchFamily="34" charset="-122"/>
                <a:cs typeface="IBM Plex Sans" pitchFamily="34" charset="-120"/>
              </a:rPr>
              <a:t>300 more fresh trials: </a:t>
            </a:r>
            <a:pPr indent="0" marL="0">
              <a:spcAft>
                <a:spcPts val="800"/>
              </a:spcAft>
              <a:buNone/>
            </a:pPr>
            <a:r>
              <a:rPr lang="en-US" sz="1300" dirty="0">
                <a:solidFill>
                  <a:srgbClr val="3E4A5C"/>
                </a:solidFill>
                <a:latin typeface="IBM Plex Sans" pitchFamily="34" charset="0"/>
                <a:ea typeface="IBM Plex Sans" pitchFamily="34" charset="-122"/>
                <a:cs typeface="IBM Plex Sans" pitchFamily="34" charset="-120"/>
              </a:rPr>
              <a:t>all arrive.</a:t>
            </a:r>
            <a:endParaRPr lang="en-US" sz="1300" dirty="0"/>
          </a:p>
        </p:txBody>
      </p:sp>
      <p:sp>
        <p:nvSpPr>
          <p:cNvPr id="7" name="Shape 3"/>
          <p:cNvSpPr/>
          <p:nvPr/>
        </p:nvSpPr>
        <p:spPr>
          <a:xfrm>
            <a:off x="7818120" y="4023360"/>
            <a:ext cx="3557016" cy="2011680"/>
          </a:xfrm>
          <a:prstGeom prst="roundRect">
            <a:avLst>
              <a:gd name="adj" fmla="val 3636"/>
            </a:avLst>
          </a:prstGeom>
          <a:solidFill>
            <a:srgbClr val="F6DCCB"/>
          </a:solidFill>
          <a:ln w="12700">
            <a:solidFill>
              <a:srgbClr val="E2DDD0"/>
            </a:solidFill>
            <a:prstDash val="solid"/>
          </a:ln>
        </p:spPr>
      </p:sp>
      <p:sp>
        <p:nvSpPr>
          <p:cNvPr id="8" name="Text 4"/>
          <p:cNvSpPr txBox="1"/>
          <p:nvPr/>
        </p:nvSpPr>
        <p:spPr>
          <a:xfrm>
            <a:off x="8046720" y="4114800"/>
            <a:ext cx="3108960" cy="1828800"/>
          </a:xfrm>
          <a:prstGeom prst="rect">
            <a:avLst/>
          </a:prstGeom>
          <a:noFill/>
          <a:ln/>
        </p:spPr>
        <p:txBody>
          <a:bodyPr wrap="square" lIns="0" tIns="0" rIns="0" bIns="0" rtlCol="0" anchor="t"/>
          <a:lstStyle/>
          <a:p>
            <a:pPr indent="0" marL="0">
              <a:spcAft>
                <a:spcPts val="400"/>
              </a:spcAft>
              <a:buNone/>
            </a:pPr>
            <a:r>
              <a:rPr lang="en-US" sz="1300" b="1" dirty="0">
                <a:solidFill>
                  <a:srgbClr val="16213A"/>
                </a:solidFill>
                <a:latin typeface="IBM Plex Sans" pitchFamily="34" charset="0"/>
                <a:ea typeface="IBM Plex Sans" pitchFamily="34" charset="-122"/>
                <a:cs typeface="IBM Plex Sans" pitchFamily="34" charset="-120"/>
              </a:rPr>
              <a:t>Discuss</a:t>
            </a:r>
            <a:endParaRPr lang="en-US" sz="1300" dirty="0"/>
          </a:p>
          <a:p>
            <a:pPr indent="0" marL="0">
              <a:spcAft>
                <a:spcPts val="400"/>
              </a:spcAft>
              <a:buNone/>
            </a:pPr>
            <a:r>
              <a:rPr lang="en-US" sz="1300" dirty="0">
                <a:solidFill>
                  <a:srgbClr val="3E4A5C"/>
                </a:solidFill>
                <a:latin typeface="IBM Plex Sans" pitchFamily="34" charset="0"/>
                <a:ea typeface="IBM Plex Sans" pitchFamily="34" charset="-122"/>
                <a:cs typeface="IBM Plex Sans" pitchFamily="34" charset="-120"/>
              </a:rPr>
              <a:t>Fitness is 0.81, so what limits it now? Why do the paths all look alike? Would it still work from distance 10, or with duration 100?</a:t>
            </a:r>
            <a:endParaRPr lang="en-US" sz="1300" dirty="0"/>
          </a:p>
        </p:txBody>
      </p:sp>
      <p:sp>
        <p:nvSpPr>
          <p:cNvPr id="9" name="Text 5"/>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PythonBasics/Unit4 · sim.py + viz.py · seed 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PROJECT 4 · THE OFFICIAL VERSION</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Same pipeline in PyTorch and EvoTorch</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3816" y="1737360"/>
          <a:ext cx="10561320" cy="914400"/>
        </p:xfrm>
        <a:graphic>
          <a:graphicData uri="http://schemas.openxmlformats.org/drawingml/2006/table">
            <a:tbl>
              <a:tblPr/>
              <a:tblGrid>
                <a:gridCol w="1737360"/>
                <a:gridCol w="3657600"/>
                <a:gridCol w="5166360"/>
              </a:tblGrid>
              <a:tr h="502920">
                <a:tc>
                  <a:txBody>
                    <a:bodyPr/>
                    <a:lstStyle/>
                    <a:p>
                      <a:pPr indent="0" marL="0">
                        <a:buNone/>
                      </a:pP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16213A"/>
                    </a:solidFill>
                  </a:tcPr>
                </a:tc>
                <a:tc>
                  <a:txBody>
                    <a:bodyPr/>
                    <a:lstStyle/>
                    <a:p>
                      <a:pPr indent="0" marL="0">
                        <a:buNone/>
                      </a:pPr>
                      <a:r>
                        <a:rPr lang="en-US" sz="1300" b="1" dirty="0">
                          <a:solidFill>
                            <a:srgbClr val="F6F4EE"/>
                          </a:solidFill>
                          <a:latin typeface="IBM Plex Sans" pitchFamily="34" charset="0"/>
                          <a:ea typeface="IBM Plex Sans" pitchFamily="34" charset="-122"/>
                          <a:cs typeface="IBM Plex Sans" pitchFamily="34" charset="-120"/>
                        </a:rPr>
                        <a:t>Unit 4 demo (plain Python)</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16213A"/>
                    </a:solidFill>
                  </a:tcPr>
                </a:tc>
                <a:tc>
                  <a:txBody>
                    <a:bodyPr/>
                    <a:lstStyle/>
                    <a:p>
                      <a:pPr indent="0" marL="0">
                        <a:buNone/>
                      </a:pPr>
                      <a:r>
                        <a:rPr lang="en-US" sz="1300" b="1" dirty="0">
                          <a:solidFill>
                            <a:srgbClr val="F6F4EE"/>
                          </a:solidFill>
                          <a:latin typeface="IBM Plex Sans" pitchFamily="34" charset="0"/>
                          <a:ea typeface="IBM Plex Sans" pitchFamily="34" charset="-122"/>
                          <a:cs typeface="IBM Plex Sans" pitchFamily="34" charset="-120"/>
                        </a:rPr>
                        <a:t>Project 4 (PyTorch + EvoTorch)</a:t>
                      </a:r>
                      <a:endParaRPr lang="en-US" sz="13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1D6F66"/>
                    </a:solidFill>
                  </a:tcPr>
                </a:tc>
              </a:tr>
              <a:tr h="502920">
                <a:tc>
                  <a:txBody>
                    <a:bodyPr/>
                    <a:lstStyle/>
                    <a:p>
                      <a:pPr indent="0" marL="0">
                        <a:buNone/>
                      </a:pPr>
                      <a:r>
                        <a:rPr lang="en-US" sz="1200" b="1" dirty="0">
                          <a:solidFill>
                            <a:srgbClr val="16213A"/>
                          </a:solidFill>
                          <a:latin typeface="IBM Plex Sans" pitchFamily="34" charset="0"/>
                          <a:ea typeface="IBM Plex Sans" pitchFamily="34" charset="-122"/>
                          <a:cs typeface="IBM Plex Sans" pitchFamily="34" charset="-120"/>
                        </a:rPr>
                        <a:t>Network</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fnn.FNN, NumPy, [2, 4, 2], genes × 5</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NeuralController (nn.Module), 2 → 8 → 2, Tanh outputs in [−1, 1], 42 weights</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r>
              <a:tr h="502920">
                <a:tc>
                  <a:txBody>
                    <a:bodyPr/>
                    <a:lstStyle/>
                    <a:p>
                      <a:pPr indent="0" marL="0">
                        <a:buNone/>
                      </a:pPr>
                      <a:r>
                        <a:rPr lang="en-US" sz="1200" b="1" dirty="0">
                          <a:solidFill>
                            <a:srgbClr val="16213A"/>
                          </a:solidFill>
                          <a:latin typeface="IBM Plex Sans" pitchFamily="34" charset="0"/>
                          <a:ea typeface="IBM Plex Sans" pitchFamily="34" charset="-122"/>
                          <a:cs typeface="IBM Plex Sans" pitchFamily="34" charset="-120"/>
                        </a:rPr>
                        <a:t>Algorithm</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eas.Microbial, one tournament at a time</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EvoTorch GeneticAlgorithm: SBX crossover, Gaussian mutation, elitism</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r>
              <a:tr h="502920">
                <a:tc>
                  <a:txBody>
                    <a:bodyPr/>
                    <a:lstStyle/>
                    <a:p>
                      <a:pPr indent="0" marL="0">
                        <a:buNone/>
                      </a:pPr>
                      <a:r>
                        <a:rPr lang="en-US" sz="1200" b="1" dirty="0">
                          <a:solidFill>
                            <a:srgbClr val="16213A"/>
                          </a:solidFill>
                          <a:latin typeface="IBM Plex Sans" pitchFamily="34" charset="0"/>
                          <a:ea typeface="IBM Plex Sans" pitchFamily="34" charset="-122"/>
                          <a:cs typeface="IBM Plex Sans" pitchFamily="34" charset="-120"/>
                        </a:rPr>
                        <a:t>Simulation</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one vehicle at a time, Python loops</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simulate_population: all vehicles as tensors, about 30× faster</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r>
              <a:tr h="502920">
                <a:tc>
                  <a:txBody>
                    <a:bodyPr/>
                    <a:lstStyle/>
                    <a:p>
                      <a:pPr indent="0" marL="0">
                        <a:buNone/>
                      </a:pPr>
                      <a:r>
                        <a:rPr lang="en-US" sz="1200" b="1" dirty="0">
                          <a:solidFill>
                            <a:srgbClr val="16213A"/>
                          </a:solidFill>
                          <a:latin typeface="IBM Plex Sans" pitchFamily="34" charset="0"/>
                          <a:ea typeface="IBM Plex Sans" pitchFamily="34" charset="-122"/>
                          <a:cs typeface="IBM Plex Sans" pitchFamily="34" charset="-120"/>
                        </a:rPr>
                        <a:t>Task</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4 trials, 200 steps, start 5 away</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5 episodes, 2000 steps, start 10 away</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r>
              <a:tr h="502920">
                <a:tc>
                  <a:txBody>
                    <a:bodyPr/>
                    <a:lstStyle/>
                    <a:p>
                      <a:pPr indent="0" marL="0">
                        <a:buNone/>
                      </a:pPr>
                      <a:r>
                        <a:rPr lang="en-US" sz="1200" b="1" dirty="0">
                          <a:solidFill>
                            <a:srgbClr val="16213A"/>
                          </a:solidFill>
                          <a:latin typeface="IBM Plex Sans" pitchFamily="34" charset="0"/>
                          <a:ea typeface="IBM Plex Sans" pitchFamily="34" charset="-122"/>
                          <a:cs typeface="IBM Plex Sans" pitchFamily="34" charset="-120"/>
                        </a:rPr>
                        <a:t>Scoring</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recorded once, never refreshed</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parents re-scored every generation; best re-evaluated on 100 new episodes</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tcPr>
                </a:tc>
              </a:tr>
              <a:tr h="502920">
                <a:tc>
                  <a:txBody>
                    <a:bodyPr/>
                    <a:lstStyle/>
                    <a:p>
                      <a:pPr indent="0" marL="0">
                        <a:buNone/>
                      </a:pPr>
                      <a:r>
                        <a:rPr lang="en-US" sz="1200" b="1" dirty="0">
                          <a:solidFill>
                            <a:srgbClr val="16213A"/>
                          </a:solidFill>
                          <a:latin typeface="IBM Plex Sans" pitchFamily="34" charset="0"/>
                          <a:ea typeface="IBM Plex Sans" pitchFamily="34" charset="-122"/>
                          <a:cs typeface="IBM Plex Sans" pitchFamily="34" charset="-120"/>
                        </a:rPr>
                        <a:t>Baseline</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c>
                  <a:txBody>
                    <a:bodyPr/>
                    <a:lstStyle/>
                    <a:p>
                      <a:pPr indent="0" marL="0">
                        <a:buNone/>
                      </a:pPr>
                      <a:r>
                        <a:rPr lang="en-US" sz="1200" dirty="0">
                          <a:solidFill>
                            <a:srgbClr val="3E4A5C"/>
                          </a:solidFill>
                          <a:latin typeface="IBM Plex Sans" pitchFamily="34" charset="0"/>
                          <a:ea typeface="IBM Plex Sans" pitchFamily="34" charset="-122"/>
                          <a:cs typeface="IBM Plex Sans" pitchFamily="34" charset="-120"/>
                        </a:rPr>
                        <a:t>hand-wired crossed vehicle in the same code (about 0.2)</a:t>
                      </a:r>
                      <a:endParaRPr lang="en-US" sz="1200" dirty="0">
                        <a:latin typeface="IBM Plex Sans" charset="0"/>
                        <a:ea typeface="IBM Plex Sans" charset="0"/>
                        <a:cs typeface="IBM Plex Sans" charset="0"/>
                      </a:endParaRPr>
                    </a:p>
                  </a:txBody>
                  <a:tcPr marL="109728" marR="109728" marT="45720" marB="45720" anchor="ctr">
                    <a:lnL w="12700" cap="flat" cmpd="sng" algn="ctr">
                      <a:solidFill>
                        <a:srgbClr val="E2DDD0"/>
                      </a:solidFill>
                      <a:prstDash val="solid"/>
                      <a:round/>
                      <a:headEnd type="none" w="med" len="med"/>
                      <a:tailEnd type="none" w="med" len="med"/>
                    </a:lnL>
                    <a:lnR w="12700" cap="flat" cmpd="sng" algn="ctr">
                      <a:solidFill>
                        <a:srgbClr val="E2DDD0"/>
                      </a:solidFill>
                      <a:prstDash val="solid"/>
                      <a:round/>
                      <a:headEnd type="none" w="med" len="med"/>
                      <a:tailEnd type="none" w="med" len="med"/>
                    </a:lnR>
                    <a:lnT w="12700" cap="flat" cmpd="sng" algn="ctr">
                      <a:solidFill>
                        <a:srgbClr val="E2DDD0"/>
                      </a:solidFill>
                      <a:prstDash val="solid"/>
                      <a:round/>
                      <a:headEnd type="none" w="med" len="med"/>
                      <a:tailEnd type="none" w="med" len="med"/>
                    </a:lnT>
                    <a:lnB w="12700" cap="flat" cmpd="sng" algn="ctr">
                      <a:solidFill>
                        <a:srgbClr val="E2DDD0"/>
                      </a:solidFill>
                      <a:prstDash val="solid"/>
                      <a:round/>
                      <a:headEnd type="none" w="med" len="med"/>
                      <a:tailEnd type="none" w="med" len="med"/>
                    </a:lnB>
                    <a:solidFill>
                      <a:srgbClr val="ECE8DE"/>
                    </a:solidFill>
                  </a:tcPr>
                </a:tc>
              </a:tr>
            </a:tbl>
          </a:graphicData>
        </a:graphic>
      </p:graphicFrame>
      <p:sp>
        <p:nvSpPr>
          <p:cNvPr id="6" name="Shape 2"/>
          <p:cNvSpPr/>
          <p:nvPr/>
        </p:nvSpPr>
        <p:spPr>
          <a:xfrm>
            <a:off x="813816" y="5486400"/>
            <a:ext cx="10561320" cy="640080"/>
          </a:xfrm>
          <a:prstGeom prst="roundRect">
            <a:avLst>
              <a:gd name="adj" fmla="val 11429"/>
            </a:avLst>
          </a:prstGeom>
          <a:solidFill>
            <a:srgbClr val="F6DCCB"/>
          </a:solidFill>
          <a:ln w="12700">
            <a:solidFill>
              <a:srgbClr val="E2DDD0"/>
            </a:solidFill>
            <a:prstDash val="solid"/>
          </a:ln>
        </p:spPr>
      </p:sp>
      <p:sp>
        <p:nvSpPr>
          <p:cNvPr id="7" name="Text 3"/>
          <p:cNvSpPr txBox="1"/>
          <p:nvPr/>
        </p:nvSpPr>
        <p:spPr>
          <a:xfrm>
            <a:off x="1088136" y="5486400"/>
            <a:ext cx="10012680" cy="640080"/>
          </a:xfrm>
          <a:prstGeom prst="rect">
            <a:avLst/>
          </a:prstGeom>
          <a:noFill/>
          <a:ln/>
        </p:spPr>
        <p:txBody>
          <a:bodyPr wrap="square" lIns="0" tIns="0" rIns="0" bIns="0" rtlCol="0" anchor="ctr"/>
          <a:lstStyle/>
          <a:p>
            <a:pPr indent="0" marL="0">
              <a:buNone/>
            </a:pPr>
            <a:r>
              <a:rPr lang="en-US" sz="1400" b="1" dirty="0">
                <a:solidFill>
                  <a:srgbClr val="16213A"/>
                </a:solidFill>
                <a:latin typeface="IBM Plex Sans" pitchFamily="34" charset="0"/>
                <a:ea typeface="IBM Plex Sans" pitchFamily="34" charset="-122"/>
                <a:cs typeface="IBM Plex Sans" pitchFamily="34" charset="-120"/>
              </a:rPr>
              <a:t>Checkpoint </a:t>
            </a:r>
            <a:pPr indent="0" marL="0">
              <a:buNone/>
            </a:pPr>
            <a:r>
              <a:rPr lang="en-US" sz="1400" dirty="0">
                <a:solidFill>
                  <a:srgbClr val="3E4A5C"/>
                </a:solidFill>
                <a:latin typeface="IBM Plex Sans" pitchFamily="34" charset="0"/>
                <a:ea typeface="IBM Plex Sans" pitchFamily="34" charset="-122"/>
                <a:cs typeface="IBM Plex Sans" pitchFamily="34" charset="-120"/>
              </a:rPr>
              <a:t>Fri Oct 2, in class (Parts 1 and 2).   </a:t>
            </a:r>
            <a:pPr indent="0" marL="0">
              <a:buNone/>
            </a:pPr>
            <a:r>
              <a:rPr lang="en-US" sz="1400" b="1" dirty="0">
                <a:solidFill>
                  <a:srgbClr val="16213A"/>
                </a:solidFill>
                <a:latin typeface="IBM Plex Sans" pitchFamily="34" charset="0"/>
                <a:ea typeface="IBM Plex Sans" pitchFamily="34" charset="-122"/>
                <a:cs typeface="IBM Plex Sans" pitchFamily="34" charset="-120"/>
              </a:rPr>
              <a:t>Final </a:t>
            </a:r>
            <a:pPr indent="0" marL="0">
              <a:buNone/>
            </a:pPr>
            <a:r>
              <a:rPr lang="en-US" sz="1400" dirty="0">
                <a:solidFill>
                  <a:srgbClr val="3E4A5C"/>
                </a:solidFill>
                <a:latin typeface="IBM Plex Sans" pitchFamily="34" charset="0"/>
                <a:ea typeface="IBM Plex Sans" pitchFamily="34" charset="-122"/>
                <a:cs typeface="IBM Plex Sans" pitchFamily="34" charset="-120"/>
              </a:rPr>
              <a:t>Tue Oct 6, before class (Part 3 and report).</a:t>
            </a:r>
            <a:endParaRPr lang="en-US" sz="1400" dirty="0"/>
          </a:p>
        </p:txBody>
      </p:sp>
      <p:sp>
        <p:nvSpPr>
          <p:cNvPr id="8" name="Text 4"/>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4_EN_Braitenberg · neural_controller.py · braitenberg.py · evolve.py</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813816" y="548640"/>
            <a:ext cx="1056132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PROJECT 4 · THE OFFICIAL VERSION</a:t>
            </a:r>
            <a:endParaRPr lang="en-US" sz="1200" dirty="0"/>
          </a:p>
        </p:txBody>
      </p:sp>
      <p:sp>
        <p:nvSpPr>
          <p:cNvPr id="3" name="Text 1"/>
          <p:cNvSpPr txBox="1"/>
          <p:nvPr/>
        </p:nvSpPr>
        <p:spPr>
          <a:xfrm>
            <a:off x="813816" y="841248"/>
            <a:ext cx="10561320" cy="548640"/>
          </a:xfrm>
          <a:prstGeom prst="rect">
            <a:avLst/>
          </a:prstGeom>
          <a:noFill/>
          <a:ln/>
        </p:spPr>
        <p:txBody>
          <a:bodyPr wrap="square" lIns="0" tIns="0" rIns="0" bIns="0" rtlCol="0" anchor="ctr"/>
          <a:lstStyle/>
          <a:p>
            <a:pPr indent="0" marL="0">
              <a:buNone/>
            </a:pPr>
            <a:r>
              <a:rPr lang="en-US" sz="3200" b="1" dirty="0">
                <a:solidFill>
                  <a:srgbClr val="16213A"/>
                </a:solidFill>
                <a:latin typeface="IBM Plex Sans" pitchFamily="34" charset="0"/>
                <a:ea typeface="IBM Plex Sans" pitchFamily="34" charset="-122"/>
                <a:cs typeface="IBM Plex Sans" pitchFamily="34" charset="-120"/>
              </a:rPr>
              <a:t>Same pipeline, but a whole population at once</a:t>
            </a:r>
            <a:endParaRPr lang="en-US" sz="3200" dirty="0"/>
          </a:p>
        </p:txBody>
      </p:sp>
      <p:sp>
        <p:nvSpPr>
          <p:cNvPr id="5" name="Shape 2"/>
          <p:cNvSpPr/>
          <p:nvPr/>
        </p:nvSpPr>
        <p:spPr>
          <a:xfrm>
            <a:off x="813816" y="1828800"/>
            <a:ext cx="1783080" cy="1417320"/>
          </a:xfrm>
          <a:prstGeom prst="roundRect">
            <a:avLst>
              <a:gd name="adj" fmla="val 5161"/>
            </a:avLst>
          </a:prstGeom>
          <a:solidFill>
            <a:srgbClr val="16213A"/>
          </a:solidFill>
          <a:ln w="12700">
            <a:solidFill>
              <a:srgbClr val="16213A"/>
            </a:solidFill>
            <a:prstDash val="solid"/>
          </a:ln>
        </p:spPr>
      </p:sp>
      <p:sp>
        <p:nvSpPr>
          <p:cNvPr id="6" name="Text 3"/>
          <p:cNvSpPr txBox="1"/>
          <p:nvPr/>
        </p:nvSpPr>
        <p:spPr>
          <a:xfrm>
            <a:off x="950976" y="193852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genomes</a:t>
            </a:r>
            <a:endParaRPr lang="en-US" sz="1400" dirty="0"/>
          </a:p>
        </p:txBody>
      </p:sp>
      <p:sp>
        <p:nvSpPr>
          <p:cNvPr id="7" name="Text 4"/>
          <p:cNvSpPr txBox="1"/>
          <p:nvPr/>
        </p:nvSpPr>
        <p:spPr>
          <a:xfrm>
            <a:off x="950976" y="2395728"/>
            <a:ext cx="1508760" cy="77724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from EvoTorch</a:t>
            </a:r>
            <a:endParaRPr lang="en-US" sz="1200" dirty="0"/>
          </a:p>
        </p:txBody>
      </p:sp>
      <p:sp>
        <p:nvSpPr>
          <p:cNvPr id="8" name="Text 5"/>
          <p:cNvSpPr txBox="1"/>
          <p:nvPr/>
        </p:nvSpPr>
        <p:spPr>
          <a:xfrm>
            <a:off x="813816" y="3337560"/>
            <a:ext cx="1783080" cy="320040"/>
          </a:xfrm>
          <a:prstGeom prst="rect">
            <a:avLst/>
          </a:prstGeom>
          <a:noFill/>
          <a:ln/>
        </p:spPr>
        <p:txBody>
          <a:bodyPr wrap="square" lIns="0" tIns="0" rIns="0" bIns="0" rtlCol="0" anchor="ctr"/>
          <a:lstStyle/>
          <a:p>
            <a:pPr algn="ctr" indent="0" marL="0">
              <a:buNone/>
            </a:pPr>
            <a:r>
              <a:rPr lang="en-US" sz="1300" b="1" dirty="0">
                <a:solidFill>
                  <a:srgbClr val="16213A"/>
                </a:solidFill>
                <a:latin typeface="JetBrains Mono" pitchFamily="34" charset="0"/>
                <a:ea typeface="JetBrains Mono" pitchFamily="34" charset="-122"/>
                <a:cs typeface="JetBrains Mono" pitchFamily="34" charset="-120"/>
              </a:rPr>
              <a:t>(50, 42)</a:t>
            </a:r>
            <a:endParaRPr lang="en-US" sz="1300" dirty="0"/>
          </a:p>
        </p:txBody>
      </p:sp>
      <p:sp>
        <p:nvSpPr>
          <p:cNvPr id="9" name="Shape 6"/>
          <p:cNvSpPr/>
          <p:nvPr/>
        </p:nvSpPr>
        <p:spPr>
          <a:xfrm>
            <a:off x="2651760" y="2542032"/>
            <a:ext cx="301752" cy="0"/>
          </a:xfrm>
          <a:prstGeom prst="line">
            <a:avLst/>
          </a:prstGeom>
          <a:noFill/>
          <a:ln w="25400">
            <a:solidFill>
              <a:srgbClr val="5E6878"/>
            </a:solidFill>
            <a:prstDash val="solid"/>
            <a:tailEnd type="triangle"/>
          </a:ln>
        </p:spPr>
      </p:sp>
      <p:sp>
        <p:nvSpPr>
          <p:cNvPr id="10" name="Shape 7"/>
          <p:cNvSpPr/>
          <p:nvPr/>
        </p:nvSpPr>
        <p:spPr>
          <a:xfrm>
            <a:off x="3008376" y="1828800"/>
            <a:ext cx="1783080" cy="1417320"/>
          </a:xfrm>
          <a:prstGeom prst="roundRect">
            <a:avLst>
              <a:gd name="adj" fmla="val 5161"/>
            </a:avLst>
          </a:prstGeom>
          <a:solidFill>
            <a:srgbClr val="B4521C"/>
          </a:solidFill>
          <a:ln w="12700">
            <a:solidFill>
              <a:srgbClr val="B4521C"/>
            </a:solidFill>
            <a:prstDash val="solid"/>
          </a:ln>
        </p:spPr>
      </p:sp>
      <p:sp>
        <p:nvSpPr>
          <p:cNvPr id="11" name="Text 8"/>
          <p:cNvSpPr txBox="1"/>
          <p:nvPr/>
        </p:nvSpPr>
        <p:spPr>
          <a:xfrm>
            <a:off x="3145536" y="1938528"/>
            <a:ext cx="1508760" cy="411480"/>
          </a:xfrm>
          <a:prstGeom prst="rect">
            <a:avLst/>
          </a:prstGeom>
          <a:noFill/>
          <a:ln/>
        </p:spPr>
        <p:txBody>
          <a:bodyPr wrap="square" lIns="0" tIns="0" rIns="0" bIns="0" rtlCol="0" anchor="ctr"/>
          <a:lstStyle/>
          <a:p>
            <a:pPr indent="0" marL="0">
              <a:buNone/>
            </a:pPr>
            <a:r>
              <a:rPr lang="en-US" sz="1200" b="1" dirty="0">
                <a:solidFill>
                  <a:srgbClr val="F6F4EE"/>
                </a:solidFill>
                <a:latin typeface="JetBrains Mono" pitchFamily="34" charset="0"/>
                <a:ea typeface="JetBrains Mono" pitchFamily="34" charset="-122"/>
                <a:cs typeface="JetBrains Mono" pitchFamily="34" charset="-120"/>
              </a:rPr>
              <a:t>simulate_population</a:t>
            </a:r>
            <a:endParaRPr lang="en-US" sz="1200" dirty="0"/>
          </a:p>
        </p:txBody>
      </p:sp>
      <p:sp>
        <p:nvSpPr>
          <p:cNvPr id="12" name="Text 9"/>
          <p:cNvSpPr txBox="1"/>
          <p:nvPr/>
        </p:nvSpPr>
        <p:spPr>
          <a:xfrm>
            <a:off x="3145536" y="2395728"/>
            <a:ext cx="1508760" cy="77724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2000 steps, all vehicles at once</a:t>
            </a:r>
            <a:endParaRPr lang="en-US" sz="1200" dirty="0"/>
          </a:p>
        </p:txBody>
      </p:sp>
      <p:sp>
        <p:nvSpPr>
          <p:cNvPr id="13" name="Shape 10"/>
          <p:cNvSpPr/>
          <p:nvPr/>
        </p:nvSpPr>
        <p:spPr>
          <a:xfrm>
            <a:off x="4846320" y="2542032"/>
            <a:ext cx="301752" cy="0"/>
          </a:xfrm>
          <a:prstGeom prst="line">
            <a:avLst/>
          </a:prstGeom>
          <a:noFill/>
          <a:ln w="25400">
            <a:solidFill>
              <a:srgbClr val="5E6878"/>
            </a:solidFill>
            <a:prstDash val="solid"/>
            <a:tailEnd type="triangle"/>
          </a:ln>
        </p:spPr>
      </p:sp>
      <p:sp>
        <p:nvSpPr>
          <p:cNvPr id="14" name="Shape 11"/>
          <p:cNvSpPr/>
          <p:nvPr/>
        </p:nvSpPr>
        <p:spPr>
          <a:xfrm>
            <a:off x="5202936" y="1828800"/>
            <a:ext cx="1783080" cy="1417320"/>
          </a:xfrm>
          <a:prstGeom prst="roundRect">
            <a:avLst>
              <a:gd name="adj" fmla="val 5161"/>
            </a:avLst>
          </a:prstGeom>
          <a:solidFill>
            <a:srgbClr val="16213A"/>
          </a:solidFill>
          <a:ln w="12700">
            <a:solidFill>
              <a:srgbClr val="16213A"/>
            </a:solidFill>
            <a:prstDash val="solid"/>
          </a:ln>
        </p:spPr>
      </p:sp>
      <p:sp>
        <p:nvSpPr>
          <p:cNvPr id="15" name="Text 12"/>
          <p:cNvSpPr txBox="1"/>
          <p:nvPr/>
        </p:nvSpPr>
        <p:spPr>
          <a:xfrm>
            <a:off x="5340096" y="193852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dist</a:t>
            </a:r>
            <a:endParaRPr lang="en-US" sz="1400" dirty="0"/>
          </a:p>
        </p:txBody>
      </p:sp>
      <p:sp>
        <p:nvSpPr>
          <p:cNvPr id="16" name="Text 13"/>
          <p:cNvSpPr txBox="1"/>
          <p:nvPr/>
        </p:nvSpPr>
        <p:spPr>
          <a:xfrm>
            <a:off x="5340096" y="2395728"/>
            <a:ext cx="1508760" cy="77724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distance to light after every step</a:t>
            </a:r>
            <a:endParaRPr lang="en-US" sz="1200" dirty="0"/>
          </a:p>
        </p:txBody>
      </p:sp>
      <p:sp>
        <p:nvSpPr>
          <p:cNvPr id="17" name="Text 14"/>
          <p:cNvSpPr txBox="1"/>
          <p:nvPr/>
        </p:nvSpPr>
        <p:spPr>
          <a:xfrm>
            <a:off x="5202936" y="3337560"/>
            <a:ext cx="1783080" cy="320040"/>
          </a:xfrm>
          <a:prstGeom prst="rect">
            <a:avLst/>
          </a:prstGeom>
          <a:noFill/>
          <a:ln/>
        </p:spPr>
        <p:txBody>
          <a:bodyPr wrap="square" lIns="0" tIns="0" rIns="0" bIns="0" rtlCol="0" anchor="ctr"/>
          <a:lstStyle/>
          <a:p>
            <a:pPr algn="ctr" indent="0" marL="0">
              <a:buNone/>
            </a:pPr>
            <a:r>
              <a:rPr lang="en-US" sz="1300" b="1" dirty="0">
                <a:solidFill>
                  <a:srgbClr val="16213A"/>
                </a:solidFill>
                <a:latin typeface="JetBrains Mono" pitchFamily="34" charset="0"/>
                <a:ea typeface="JetBrains Mono" pitchFamily="34" charset="-122"/>
                <a:cs typeface="JetBrains Mono" pitchFamily="34" charset="-120"/>
              </a:rPr>
              <a:t>(50, 5, 2000)</a:t>
            </a:r>
            <a:endParaRPr lang="en-US" sz="1300" dirty="0"/>
          </a:p>
        </p:txBody>
      </p:sp>
      <p:sp>
        <p:nvSpPr>
          <p:cNvPr id="18" name="Shape 15"/>
          <p:cNvSpPr/>
          <p:nvPr/>
        </p:nvSpPr>
        <p:spPr>
          <a:xfrm>
            <a:off x="7040880" y="2542032"/>
            <a:ext cx="301752" cy="0"/>
          </a:xfrm>
          <a:prstGeom prst="line">
            <a:avLst/>
          </a:prstGeom>
          <a:noFill/>
          <a:ln w="25400">
            <a:solidFill>
              <a:srgbClr val="5E6878"/>
            </a:solidFill>
            <a:prstDash val="solid"/>
            <a:tailEnd type="triangle"/>
          </a:ln>
        </p:spPr>
      </p:sp>
      <p:sp>
        <p:nvSpPr>
          <p:cNvPr id="19" name="Shape 16"/>
          <p:cNvSpPr/>
          <p:nvPr/>
        </p:nvSpPr>
        <p:spPr>
          <a:xfrm>
            <a:off x="7397496" y="1828800"/>
            <a:ext cx="1783080" cy="1417320"/>
          </a:xfrm>
          <a:prstGeom prst="roundRect">
            <a:avLst>
              <a:gd name="adj" fmla="val 5161"/>
            </a:avLst>
          </a:prstGeom>
          <a:solidFill>
            <a:srgbClr val="16213A"/>
          </a:solidFill>
          <a:ln w="12700">
            <a:solidFill>
              <a:srgbClr val="16213A"/>
            </a:solidFill>
            <a:prstDash val="solid"/>
          </a:ln>
        </p:spPr>
      </p:sp>
      <p:sp>
        <p:nvSpPr>
          <p:cNvPr id="20" name="Text 17"/>
          <p:cNvSpPr txBox="1"/>
          <p:nvPr/>
        </p:nvSpPr>
        <p:spPr>
          <a:xfrm>
            <a:off x="7534656" y="193852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reward</a:t>
            </a:r>
            <a:endParaRPr lang="en-US" sz="1400" dirty="0"/>
          </a:p>
        </p:txBody>
      </p:sp>
      <p:sp>
        <p:nvSpPr>
          <p:cNvPr id="21" name="Text 18"/>
          <p:cNvSpPr txBox="1"/>
          <p:nvPr/>
        </p:nvSpPr>
        <p:spPr>
          <a:xfrm>
            <a:off x="7534656" y="2395728"/>
            <a:ext cx="1508760" cy="77724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1 / (1 + dist)</a:t>
            </a:r>
            <a:endParaRPr lang="en-US" sz="1200" dirty="0"/>
          </a:p>
        </p:txBody>
      </p:sp>
      <p:sp>
        <p:nvSpPr>
          <p:cNvPr id="22" name="Text 19"/>
          <p:cNvSpPr txBox="1"/>
          <p:nvPr/>
        </p:nvSpPr>
        <p:spPr>
          <a:xfrm>
            <a:off x="7397496" y="3337560"/>
            <a:ext cx="1783080" cy="320040"/>
          </a:xfrm>
          <a:prstGeom prst="rect">
            <a:avLst/>
          </a:prstGeom>
          <a:noFill/>
          <a:ln/>
        </p:spPr>
        <p:txBody>
          <a:bodyPr wrap="square" lIns="0" tIns="0" rIns="0" bIns="0" rtlCol="0" anchor="ctr"/>
          <a:lstStyle/>
          <a:p>
            <a:pPr algn="ctr" indent="0" marL="0">
              <a:buNone/>
            </a:pPr>
            <a:r>
              <a:rPr lang="en-US" sz="1300" b="1" dirty="0">
                <a:solidFill>
                  <a:srgbClr val="16213A"/>
                </a:solidFill>
                <a:latin typeface="JetBrains Mono" pitchFamily="34" charset="0"/>
                <a:ea typeface="JetBrains Mono" pitchFamily="34" charset="-122"/>
                <a:cs typeface="JetBrains Mono" pitchFamily="34" charset="-120"/>
              </a:rPr>
              <a:t>(50, 5, 2000)</a:t>
            </a:r>
            <a:endParaRPr lang="en-US" sz="1300" dirty="0"/>
          </a:p>
        </p:txBody>
      </p:sp>
      <p:sp>
        <p:nvSpPr>
          <p:cNvPr id="23" name="Shape 20"/>
          <p:cNvSpPr/>
          <p:nvPr/>
        </p:nvSpPr>
        <p:spPr>
          <a:xfrm>
            <a:off x="9235440" y="2542032"/>
            <a:ext cx="301752" cy="0"/>
          </a:xfrm>
          <a:prstGeom prst="line">
            <a:avLst/>
          </a:prstGeom>
          <a:noFill/>
          <a:ln w="25400">
            <a:solidFill>
              <a:srgbClr val="5E6878"/>
            </a:solidFill>
            <a:prstDash val="solid"/>
            <a:tailEnd type="triangle"/>
          </a:ln>
        </p:spPr>
      </p:sp>
      <p:sp>
        <p:nvSpPr>
          <p:cNvPr id="24" name="Shape 21"/>
          <p:cNvSpPr/>
          <p:nvPr/>
        </p:nvSpPr>
        <p:spPr>
          <a:xfrm>
            <a:off x="9592056" y="1828800"/>
            <a:ext cx="1783080" cy="1417320"/>
          </a:xfrm>
          <a:prstGeom prst="roundRect">
            <a:avLst>
              <a:gd name="adj" fmla="val 5161"/>
            </a:avLst>
          </a:prstGeom>
          <a:solidFill>
            <a:srgbClr val="1D6F66"/>
          </a:solidFill>
          <a:ln w="12700">
            <a:solidFill>
              <a:srgbClr val="1D6F66"/>
            </a:solidFill>
            <a:prstDash val="solid"/>
          </a:ln>
        </p:spPr>
      </p:sp>
      <p:sp>
        <p:nvSpPr>
          <p:cNvPr id="25" name="Text 22"/>
          <p:cNvSpPr txBox="1"/>
          <p:nvPr/>
        </p:nvSpPr>
        <p:spPr>
          <a:xfrm>
            <a:off x="9729216" y="1938528"/>
            <a:ext cx="1508760" cy="411480"/>
          </a:xfrm>
          <a:prstGeom prst="rect">
            <a:avLst/>
          </a:prstGeom>
          <a:noFill/>
          <a:ln/>
        </p:spPr>
        <p:txBody>
          <a:bodyPr wrap="square" lIns="0" tIns="0" rIns="0" bIns="0" rtlCol="0" anchor="ctr"/>
          <a:lstStyle/>
          <a:p>
            <a:pPr indent="0" marL="0">
              <a:buNone/>
            </a:pPr>
            <a:r>
              <a:rPr lang="en-US" sz="1400" b="1" dirty="0">
                <a:solidFill>
                  <a:srgbClr val="F6F4EE"/>
                </a:solidFill>
                <a:latin typeface="JetBrains Mono" pitchFamily="34" charset="0"/>
                <a:ea typeface="JetBrains Mono" pitchFamily="34" charset="-122"/>
                <a:cs typeface="JetBrains Mono" pitchFamily="34" charset="-120"/>
              </a:rPr>
              <a:t>fitness</a:t>
            </a:r>
            <a:endParaRPr lang="en-US" sz="1400" dirty="0"/>
          </a:p>
        </p:txBody>
      </p:sp>
      <p:sp>
        <p:nvSpPr>
          <p:cNvPr id="26" name="Text 23"/>
          <p:cNvSpPr txBox="1"/>
          <p:nvPr/>
        </p:nvSpPr>
        <p:spPr>
          <a:xfrm>
            <a:off x="9729216" y="2395728"/>
            <a:ext cx="1508760" cy="777240"/>
          </a:xfrm>
          <a:prstGeom prst="rect">
            <a:avLst/>
          </a:prstGeom>
          <a:noFill/>
          <a:ln/>
        </p:spPr>
        <p:txBody>
          <a:bodyPr wrap="square" lIns="0" tIns="0" rIns="0" bIns="0" rtlCol="0" anchor="t"/>
          <a:lstStyle/>
          <a:p>
            <a:pPr indent="0" marL="0">
              <a:buNone/>
            </a:pPr>
            <a:r>
              <a:rPr lang="en-US" sz="1200" dirty="0">
                <a:solidFill>
                  <a:srgbClr val="F6F4EE"/>
                </a:solidFill>
                <a:latin typeface="IBM Plex Sans" pitchFamily="34" charset="0"/>
                <a:ea typeface="IBM Plex Sans" pitchFamily="34" charset="-122"/>
                <a:cs typeface="IBM Plex Sans" pitchFamily="34" charset="-120"/>
              </a:rPr>
              <a:t>.mean over episodes and steps</a:t>
            </a:r>
            <a:endParaRPr lang="en-US" sz="1200" dirty="0"/>
          </a:p>
        </p:txBody>
      </p:sp>
      <p:sp>
        <p:nvSpPr>
          <p:cNvPr id="27" name="Text 24"/>
          <p:cNvSpPr txBox="1"/>
          <p:nvPr/>
        </p:nvSpPr>
        <p:spPr>
          <a:xfrm>
            <a:off x="9592056" y="3337560"/>
            <a:ext cx="1783080" cy="320040"/>
          </a:xfrm>
          <a:prstGeom prst="rect">
            <a:avLst/>
          </a:prstGeom>
          <a:noFill/>
          <a:ln/>
        </p:spPr>
        <p:txBody>
          <a:bodyPr wrap="square" lIns="0" tIns="0" rIns="0" bIns="0" rtlCol="0" anchor="ctr"/>
          <a:lstStyle/>
          <a:p>
            <a:pPr algn="ctr" indent="0" marL="0">
              <a:buNone/>
            </a:pPr>
            <a:r>
              <a:rPr lang="en-US" sz="1300" b="1" dirty="0">
                <a:solidFill>
                  <a:srgbClr val="16213A"/>
                </a:solidFill>
                <a:latin typeface="JetBrains Mono" pitchFamily="34" charset="0"/>
                <a:ea typeface="JetBrains Mono" pitchFamily="34" charset="-122"/>
                <a:cs typeface="JetBrains Mono" pitchFamily="34" charset="-120"/>
              </a:rPr>
              <a:t>(50,)</a:t>
            </a:r>
            <a:endParaRPr lang="en-US" sz="1300" dirty="0"/>
          </a:p>
        </p:txBody>
      </p:sp>
      <p:sp>
        <p:nvSpPr>
          <p:cNvPr id="28" name="Text 25"/>
          <p:cNvSpPr txBox="1"/>
          <p:nvPr/>
        </p:nvSpPr>
        <p:spPr>
          <a:xfrm>
            <a:off x="813816" y="3703320"/>
            <a:ext cx="10561320" cy="274320"/>
          </a:xfrm>
          <a:prstGeom prst="rect">
            <a:avLst/>
          </a:prstGeom>
          <a:noFill/>
          <a:ln/>
        </p:spPr>
        <p:txBody>
          <a:bodyPr wrap="square" lIns="0" tIns="0" rIns="0" bIns="0" rtlCol="0" anchor="ctr"/>
          <a:lstStyle/>
          <a:p>
            <a:pPr indent="0" marL="0">
              <a:buNone/>
            </a:pPr>
            <a:r>
              <a:rPr lang="en-US" sz="1100" i="1" dirty="0">
                <a:solidFill>
                  <a:srgbClr val="5E6878"/>
                </a:solidFill>
                <a:latin typeface="IBM Plex Sans" pitchFamily="34" charset="0"/>
                <a:ea typeface="IBM Plex Sans" pitchFamily="34" charset="-122"/>
                <a:cs typeface="IBM Plex Sans" pitchFamily="34" charset="-120"/>
              </a:rPr>
              <a:t>shape at each stage: (pop, episodes, steps)</a:t>
            </a:r>
            <a:endParaRPr lang="en-US" sz="1100" dirty="0"/>
          </a:p>
        </p:txBody>
      </p:sp>
      <p:sp>
        <p:nvSpPr>
          <p:cNvPr id="29" name="Shape 26"/>
          <p:cNvSpPr/>
          <p:nvPr/>
        </p:nvSpPr>
        <p:spPr>
          <a:xfrm>
            <a:off x="813816" y="4114800"/>
            <a:ext cx="10561320" cy="1965960"/>
          </a:xfrm>
          <a:prstGeom prst="roundRect">
            <a:avLst>
              <a:gd name="adj" fmla="val 3721"/>
            </a:avLst>
          </a:prstGeom>
          <a:solidFill>
            <a:srgbClr val="ECE8DE"/>
          </a:solidFill>
          <a:ln w="12700">
            <a:solidFill>
              <a:srgbClr val="E2DDD0"/>
            </a:solidFill>
            <a:prstDash val="solid"/>
          </a:ln>
        </p:spPr>
      </p:sp>
      <p:sp>
        <p:nvSpPr>
          <p:cNvPr id="30" name="Text 27"/>
          <p:cNvSpPr txBox="1"/>
          <p:nvPr/>
        </p:nvSpPr>
        <p:spPr>
          <a:xfrm>
            <a:off x="1088136" y="4251960"/>
            <a:ext cx="7315200" cy="274320"/>
          </a:xfrm>
          <a:prstGeom prst="rect">
            <a:avLst/>
          </a:prstGeom>
          <a:noFill/>
          <a:ln/>
        </p:spPr>
        <p:txBody>
          <a:bodyPr wrap="square" lIns="0" tIns="0" rIns="0" bIns="0" rtlCol="0" anchor="ctr"/>
          <a:lstStyle/>
          <a:p>
            <a:pPr indent="0" marL="0">
              <a:buNone/>
            </a:pPr>
            <a:r>
              <a:rPr lang="en-US" sz="1200" b="1" spc="100" kern="0" dirty="0">
                <a:solidFill>
                  <a:srgbClr val="B4521C"/>
                </a:solidFill>
                <a:latin typeface="IBM Plex Sans" pitchFamily="34" charset="0"/>
                <a:ea typeface="IBM Plex Sans" pitchFamily="34" charset="-122"/>
                <a:cs typeface="IBM Plex Sans" pitchFamily="34" charset="-120"/>
              </a:rPr>
              <a:t>INSIDE ONE STEP OF simulate_population</a:t>
            </a:r>
            <a:endParaRPr lang="en-US" sz="1200" dirty="0"/>
          </a:p>
        </p:txBody>
      </p:sp>
      <p:sp>
        <p:nvSpPr>
          <p:cNvPr id="31" name="Text 28"/>
          <p:cNvSpPr txBox="1"/>
          <p:nvPr/>
        </p:nvSpPr>
        <p:spPr>
          <a:xfrm>
            <a:off x="1088136" y="4617720"/>
            <a:ext cx="1280160" cy="320040"/>
          </a:xfrm>
          <a:prstGeom prst="rect">
            <a:avLst/>
          </a:prstGeom>
          <a:noFill/>
          <a:ln/>
        </p:spPr>
        <p:txBody>
          <a:bodyPr wrap="square" lIns="0" tIns="0" rIns="0" bIns="0" rtlCol="0" anchor="ctr"/>
          <a:lstStyle/>
          <a:p>
            <a:pPr indent="0" marL="0">
              <a:buNone/>
            </a:pPr>
            <a:r>
              <a:rPr lang="en-US" sz="1400" b="1" dirty="0">
                <a:solidFill>
                  <a:srgbClr val="16213A"/>
                </a:solidFill>
                <a:latin typeface="JetBrains Mono" pitchFamily="34" charset="0"/>
                <a:ea typeface="JetBrains Mono" pitchFamily="34" charset="-122"/>
                <a:cs typeface="JetBrains Mono" pitchFamily="34" charset="-120"/>
              </a:rPr>
              <a:t>sensors</a:t>
            </a:r>
            <a:endParaRPr lang="en-US" sz="1400" dirty="0"/>
          </a:p>
        </p:txBody>
      </p:sp>
      <p:sp>
        <p:nvSpPr>
          <p:cNvPr id="32" name="Text 29"/>
          <p:cNvSpPr txBox="1"/>
          <p:nvPr/>
        </p:nvSpPr>
        <p:spPr>
          <a:xfrm>
            <a:off x="2139696" y="4617720"/>
            <a:ext cx="2103120" cy="320040"/>
          </a:xfrm>
          <a:prstGeom prst="rect">
            <a:avLst/>
          </a:prstGeom>
          <a:noFill/>
          <a:ln/>
        </p:spPr>
        <p:txBody>
          <a:bodyPr wrap="square" lIns="0" tIns="0" rIns="0" bIns="0" rtlCol="0" anchor="ctr"/>
          <a:lstStyle/>
          <a:p>
            <a:pPr indent="0" marL="0">
              <a:buNone/>
            </a:pPr>
            <a:r>
              <a:rPr lang="en-US" sz="1300" b="1" dirty="0">
                <a:solidFill>
                  <a:srgbClr val="1D6F66"/>
                </a:solidFill>
                <a:latin typeface="JetBrains Mono" pitchFamily="34" charset="0"/>
                <a:ea typeface="JetBrains Mono" pitchFamily="34" charset="-122"/>
                <a:cs typeface="JetBrains Mono" pitchFamily="34" charset="-120"/>
              </a:rPr>
              <a:t>(50, 5, 2)</a:t>
            </a:r>
            <a:endParaRPr lang="en-US" sz="1300" dirty="0"/>
          </a:p>
        </p:txBody>
      </p:sp>
      <p:sp>
        <p:nvSpPr>
          <p:cNvPr id="33" name="Text 30"/>
          <p:cNvSpPr txBox="1"/>
          <p:nvPr/>
        </p:nvSpPr>
        <p:spPr>
          <a:xfrm>
            <a:off x="1088136" y="4983480"/>
            <a:ext cx="3108960" cy="45720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computed from x, y, orientation</a:t>
            </a:r>
            <a:endParaRPr lang="en-US" sz="1200" dirty="0"/>
          </a:p>
        </p:txBody>
      </p:sp>
      <p:sp>
        <p:nvSpPr>
          <p:cNvPr id="34" name="Text 31"/>
          <p:cNvSpPr txBox="1"/>
          <p:nvPr/>
        </p:nvSpPr>
        <p:spPr>
          <a:xfrm>
            <a:off x="4517136" y="4617720"/>
            <a:ext cx="1280160" cy="320040"/>
          </a:xfrm>
          <a:prstGeom prst="rect">
            <a:avLst/>
          </a:prstGeom>
          <a:noFill/>
          <a:ln/>
        </p:spPr>
        <p:txBody>
          <a:bodyPr wrap="square" lIns="0" tIns="0" rIns="0" bIns="0" rtlCol="0" anchor="ctr"/>
          <a:lstStyle/>
          <a:p>
            <a:pPr indent="0" marL="0">
              <a:buNone/>
            </a:pPr>
            <a:r>
              <a:rPr lang="en-US" sz="1400" b="1" dirty="0">
                <a:solidFill>
                  <a:srgbClr val="16213A"/>
                </a:solidFill>
                <a:latin typeface="JetBrains Mono" pitchFamily="34" charset="0"/>
                <a:ea typeface="JetBrains Mono" pitchFamily="34" charset="-122"/>
                <a:cs typeface="JetBrains Mono" pitchFamily="34" charset="-120"/>
              </a:rPr>
              <a:t>motors</a:t>
            </a:r>
            <a:endParaRPr lang="en-US" sz="1400" dirty="0"/>
          </a:p>
        </p:txBody>
      </p:sp>
      <p:sp>
        <p:nvSpPr>
          <p:cNvPr id="35" name="Text 32"/>
          <p:cNvSpPr txBox="1"/>
          <p:nvPr/>
        </p:nvSpPr>
        <p:spPr>
          <a:xfrm>
            <a:off x="5568696" y="4617720"/>
            <a:ext cx="2103120" cy="320040"/>
          </a:xfrm>
          <a:prstGeom prst="rect">
            <a:avLst/>
          </a:prstGeom>
          <a:noFill/>
          <a:ln/>
        </p:spPr>
        <p:txBody>
          <a:bodyPr wrap="square" lIns="0" tIns="0" rIns="0" bIns="0" rtlCol="0" anchor="ctr"/>
          <a:lstStyle/>
          <a:p>
            <a:pPr indent="0" marL="0">
              <a:buNone/>
            </a:pPr>
            <a:r>
              <a:rPr lang="en-US" sz="1300" b="1" dirty="0">
                <a:solidFill>
                  <a:srgbClr val="1D6F66"/>
                </a:solidFill>
                <a:latin typeface="JetBrains Mono" pitchFamily="34" charset="0"/>
                <a:ea typeface="JetBrains Mono" pitchFamily="34" charset="-122"/>
                <a:cs typeface="JetBrains Mono" pitchFamily="34" charset="-120"/>
              </a:rPr>
              <a:t>(50, 5, 2)</a:t>
            </a:r>
            <a:endParaRPr lang="en-US" sz="1300" dirty="0"/>
          </a:p>
        </p:txBody>
      </p:sp>
      <p:sp>
        <p:nvSpPr>
          <p:cNvPr id="36" name="Text 33"/>
          <p:cNvSpPr txBox="1"/>
          <p:nvPr/>
        </p:nvSpPr>
        <p:spPr>
          <a:xfrm>
            <a:off x="4517136" y="4983480"/>
            <a:ext cx="3108960" cy="45720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returned by the think function</a:t>
            </a:r>
            <a:endParaRPr lang="en-US" sz="1200" dirty="0"/>
          </a:p>
        </p:txBody>
      </p:sp>
      <p:sp>
        <p:nvSpPr>
          <p:cNvPr id="37" name="Text 34"/>
          <p:cNvSpPr txBox="1"/>
          <p:nvPr/>
        </p:nvSpPr>
        <p:spPr>
          <a:xfrm>
            <a:off x="7946136" y="4617720"/>
            <a:ext cx="1280160" cy="320040"/>
          </a:xfrm>
          <a:prstGeom prst="rect">
            <a:avLst/>
          </a:prstGeom>
          <a:noFill/>
          <a:ln/>
        </p:spPr>
        <p:txBody>
          <a:bodyPr wrap="square" lIns="0" tIns="0" rIns="0" bIns="0" rtlCol="0" anchor="ctr"/>
          <a:lstStyle/>
          <a:p>
            <a:pPr indent="0" marL="0">
              <a:buNone/>
            </a:pPr>
            <a:r>
              <a:rPr lang="en-US" sz="1400" b="1" dirty="0">
                <a:solidFill>
                  <a:srgbClr val="16213A"/>
                </a:solidFill>
                <a:latin typeface="JetBrains Mono" pitchFamily="34" charset="0"/>
                <a:ea typeface="JetBrains Mono" pitchFamily="34" charset="-122"/>
                <a:cs typeface="JetBrains Mono" pitchFamily="34" charset="-120"/>
              </a:rPr>
              <a:t>state</a:t>
            </a:r>
            <a:endParaRPr lang="en-US" sz="1400" dirty="0"/>
          </a:p>
        </p:txBody>
      </p:sp>
      <p:sp>
        <p:nvSpPr>
          <p:cNvPr id="38" name="Text 35"/>
          <p:cNvSpPr txBox="1"/>
          <p:nvPr/>
        </p:nvSpPr>
        <p:spPr>
          <a:xfrm>
            <a:off x="8997696" y="4617720"/>
            <a:ext cx="2103120" cy="320040"/>
          </a:xfrm>
          <a:prstGeom prst="rect">
            <a:avLst/>
          </a:prstGeom>
          <a:noFill/>
          <a:ln/>
        </p:spPr>
        <p:txBody>
          <a:bodyPr wrap="square" lIns="0" tIns="0" rIns="0" bIns="0" rtlCol="0" anchor="ctr"/>
          <a:lstStyle/>
          <a:p>
            <a:pPr indent="0" marL="0">
              <a:buNone/>
            </a:pPr>
            <a:r>
              <a:rPr lang="en-US" sz="1300" b="1" dirty="0">
                <a:solidFill>
                  <a:srgbClr val="1D6F66"/>
                </a:solidFill>
                <a:latin typeface="JetBrains Mono" pitchFamily="34" charset="0"/>
                <a:ea typeface="JetBrains Mono" pitchFamily="34" charset="-122"/>
                <a:cs typeface="JetBrains Mono" pitchFamily="34" charset="-120"/>
              </a:rPr>
              <a:t>x, y, heading</a:t>
            </a:r>
            <a:endParaRPr lang="en-US" sz="1300" dirty="0"/>
          </a:p>
        </p:txBody>
      </p:sp>
      <p:sp>
        <p:nvSpPr>
          <p:cNvPr id="39" name="Text 36"/>
          <p:cNvSpPr txBox="1"/>
          <p:nvPr/>
        </p:nvSpPr>
        <p:spPr>
          <a:xfrm>
            <a:off x="7946136" y="4983480"/>
            <a:ext cx="3108960" cy="457200"/>
          </a:xfrm>
          <a:prstGeom prst="rect">
            <a:avLst/>
          </a:prstGeom>
          <a:noFill/>
          <a:ln/>
        </p:spPr>
        <p:txBody>
          <a:bodyPr wrap="square" lIns="0" tIns="0" rIns="0" bIns="0" rtlCol="0" anchor="t"/>
          <a:lstStyle/>
          <a:p>
            <a:pPr indent="0" marL="0">
              <a:buNone/>
            </a:pPr>
            <a:r>
              <a:rPr lang="en-US" sz="1200" dirty="0">
                <a:solidFill>
                  <a:srgbClr val="3E4A5C"/>
                </a:solidFill>
                <a:latin typeface="IBM Plex Sans" pitchFamily="34" charset="0"/>
                <a:ea typeface="IBM Plex Sans" pitchFamily="34" charset="-122"/>
                <a:cs typeface="IBM Plex Sans" pitchFamily="34" charset="-120"/>
              </a:rPr>
              <a:t>advanced by move + noise</a:t>
            </a:r>
            <a:endParaRPr lang="en-US" sz="1200" dirty="0"/>
          </a:p>
        </p:txBody>
      </p:sp>
      <p:sp>
        <p:nvSpPr>
          <p:cNvPr id="40" name="Text 37"/>
          <p:cNvSpPr txBox="1"/>
          <p:nvPr/>
        </p:nvSpPr>
        <p:spPr>
          <a:xfrm>
            <a:off x="1088136" y="5532120"/>
            <a:ext cx="10012680" cy="320040"/>
          </a:xfrm>
          <a:prstGeom prst="rect">
            <a:avLst/>
          </a:prstGeom>
          <a:noFill/>
          <a:ln/>
        </p:spPr>
        <p:txBody>
          <a:bodyPr wrap="square" lIns="0" tIns="0" rIns="0" bIns="0" rtlCol="0" anchor="ctr"/>
          <a:lstStyle/>
          <a:p>
            <a:pPr indent="0" marL="0">
              <a:buNone/>
            </a:pPr>
            <a:r>
              <a:rPr lang="en-US" sz="1300" b="1" dirty="0">
                <a:solidFill>
                  <a:srgbClr val="16213A"/>
                </a:solidFill>
                <a:latin typeface="IBM Plex Sans" pitchFamily="34" charset="0"/>
                <a:ea typeface="IBM Plex Sans" pitchFamily="34" charset="-122"/>
                <a:cs typeface="IBM Plex Sans" pitchFamily="34" charset="-120"/>
              </a:rPr>
              <a:t>Each individual drives 5 vehicles, and all 250 advance together.</a:t>
            </a:r>
            <a:endParaRPr lang="en-US" sz="1300" dirty="0"/>
          </a:p>
        </p:txBody>
      </p:sp>
      <p:sp>
        <p:nvSpPr>
          <p:cNvPr id="41" name="Text 38"/>
          <p:cNvSpPr txBox="1"/>
          <p:nvPr/>
        </p:nvSpPr>
        <p:spPr>
          <a:xfrm>
            <a:off x="813816" y="6355080"/>
            <a:ext cx="10561320" cy="256032"/>
          </a:xfrm>
          <a:prstGeom prst="rect">
            <a:avLst/>
          </a:prstGeom>
          <a:noFill/>
          <a:ln/>
        </p:spPr>
        <p:txBody>
          <a:bodyPr wrap="square" lIns="0" tIns="0" rIns="0" bIns="0" rtlCol="0" anchor="ctr"/>
          <a:lstStyle/>
          <a:p>
            <a:pPr indent="0" marL="0">
              <a:buNone/>
            </a:pPr>
            <a:r>
              <a:rPr lang="en-US" sz="1000" dirty="0">
                <a:solidFill>
                  <a:srgbClr val="5E6878"/>
                </a:solidFill>
                <a:latin typeface="JetBrains Mono" pitchFamily="34" charset="0"/>
                <a:ea typeface="JetBrains Mono" pitchFamily="34" charset="-122"/>
                <a:cs typeface="JetBrains Mono" pitchFamily="34" charset="-120"/>
              </a:rPr>
              <a:t>evolve.py · fitness_fn()  ·  braitenberg.py · simulate_population()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Evolving a body's brain</dc:title>
  <dc:subject>PptxGenJS Presentation</dc:subject>
  <dc:creator>PptxGenJS</dc:creator>
  <cp:lastModifiedBy>PptxGenJS</cp:lastModifiedBy>
  <cp:revision>1</cp:revision>
  <dcterms:created xsi:type="dcterms:W3CDTF">2026-09-29T12:40:27Z</dcterms:created>
  <dcterms:modified xsi:type="dcterms:W3CDTF">2026-09-29T12:40:27Z</dcterms:modified>
</cp:coreProperties>
</file>