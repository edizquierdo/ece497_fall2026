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fitness</c:v>
                </c:pt>
              </c:strCache>
            </c:strRef>
          </c:tx>
          <c:spPr>
            <a:solidFill>
              <a:srgbClr val="5E6878"/>
            </a:solidFill>
            <a:effectLst/>
          </c:spPr>
          <c:invertIfNegative val="0"/>
          <c:dLbls>
            <c:numFmt formatCode="0.00" sourceLinked="0"/>
            <c:txPr>
              <a:bodyPr/>
              <a:lstStyle/>
              <a:p>
                <a:pPr>
                  <a:defRPr b="1" i="0" strike="noStrike" sz="1600" u="none">
                    <a:solidFill>
                      <a:srgbClr val="16213A"/>
                    </a:solidFill>
                    <a:latin typeface="Arial"/>
                  </a:defRPr>
                </a:pPr>
              </a:p>
            </c:txPr>
            <c:showLegendKey val="0"/>
            <c:showVal val="1"/>
            <c:showCatName val="0"/>
            <c:showSerName val="0"/>
            <c:showPercent val="0"/>
            <c:showBubbleSize val="0"/>
            <c:showLeaderLines val="0"/>
          </c:dLbls>
          <c:dPt>
            <c:idx val="0"/>
            <c:invertIfNegative val="0"/>
            <c:bubble3D val="0"/>
            <c:spPr>
              <a:solidFill>
                <a:srgbClr val="5E6878"/>
              </a:solidFill>
              <a:effectLst/>
            </c:spPr>
          </c:dPt>
          <c:dPt>
            <c:idx val="1"/>
            <c:invertIfNegative val="0"/>
            <c:bubble3D val="0"/>
            <c:spPr>
              <a:solidFill>
                <a:srgbClr val="5E6878"/>
              </a:solidFill>
              <a:effectLst/>
            </c:spPr>
          </c:dPt>
          <c:dPt>
            <c:idx val="2"/>
            <c:invertIfNegative val="0"/>
            <c:bubble3D val="0"/>
            <c:spPr>
              <a:solidFill>
                <a:srgbClr val="1D6F66"/>
              </a:solidFill>
              <a:effectLst/>
            </c:spPr>
          </c:dPt>
          <c:cat>
            <c:multiLvlStrRef>
              <c:f>Sheet1!$A$2:$A$4</c:f>
              <c:multiLvlStrCache>
                <c:ptCount val="3"/>
                <c:lvl>
                  <c:pt idx="0">
                    <c:v>Never moves</c:v>
                  </c:pt>
                  <c:pt idx="1">
                    <c:v>Random network</c:v>
                  </c:pt>
                  <c:pt idx="2">
                    <c:v>Evolved (seed 3)</c:v>
                  </c:pt>
                </c:lvl>
              </c:multiLvlStrCache>
            </c:multiLvlStrRef>
          </c:cat>
          <c:val>
            <c:numRef>
              <c:f>Sheet1!$B$2:$B$4</c:f>
              <c:numCache>
                <c:formatCode>General</c:formatCode>
                <c:ptCount val="3"/>
                <c:pt idx="0">
                  <c:v>0.17</c:v>
                </c:pt>
                <c:pt idx="1">
                  <c:v>0.16</c:v>
                </c:pt>
                <c:pt idx="2">
                  <c:v>0.63</c:v>
                </c:pt>
              </c:numCache>
            </c:numRef>
          </c:val>
        </c:ser>
        <c:dLbls>
          <c:numFmt formatCode="0.00" sourceLinked="0"/>
          <c:txPr>
            <a:bodyPr/>
            <a:lstStyle/>
            <a:p>
              <a:pPr>
                <a:defRPr b="1" i="0" strike="noStrike" sz="1600" u="none">
                  <a:solidFill>
                    <a:srgbClr val="16213A"/>
                  </a:solidFill>
                  <a:latin typeface="Arial"/>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E4A5C"/>
                </a:solidFill>
                <a:latin typeface="IBM Plex Sans"/>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9525" cap="flat">
              <a:solidFill>
                <a:srgbClr val="E2DDD0"/>
              </a:solidFill>
              <a:prstDash val="solid"/>
              <a:round/>
            </a:ln>
          </c:spPr>
        </c:majorGridlines>
        <c:title>
          <c:tx>
            <c:rich>
              <a:bodyPr/>
              <a:lstStyle/>
              <a:p>
                <a:pPr>
                  <a:defRPr sz="1100" b="0" i="0" u="none" strike="noStrike">
                    <a:solidFill>
                      <a:srgbClr val="5E6878"/>
                    </a:solidFill>
                    <a:latin typeface="Arial"/>
                  </a:defRPr>
                </a:pPr>
                <a:r>
                  <a:rPr sz="1100" b="0" i="0" u="none" strike="noStrike">
                    <a:solidFill>
                      <a:srgbClr val="5E6878"/>
                    </a:solidFill>
                    <a:latin typeface="Arial"/>
                  </a:rPr>
                  <a:t>fitness (higher is better)</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6878"/>
                </a:solidFill>
                <a:latin typeface="Arial"/>
              </a:defRPr>
            </a:pPr>
            <a:endParaRPr lang="en-US"/>
          </a:p>
        </c:txPr>
        <c:crossAx val="2094734554"/>
        <c:crosses val="autoZero"/>
        <c:crossBetween val="between"/>
        <c:majorUnit val="0.25"/>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day: the pieces are old, the wiring between them is new. Recaps are about a minute each. Most time goes on slides 7-14 plus the live demo. The last two slides show how the same pipeline looks in the official PyTorch/EvoTorch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algorithmically new today. fnn.py and eas.py are the same files as Unit 3. env.py is the Project 1 vehicle rewritten in plain Python. evolve.py is the new glue.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Brief. The light sits at the origin and the vehicle starts on a circle of radius 5 around it, random heading. Point out that think() is one call: the whole brain is the controller object, and its outputs are capped to [0, 1], like the sensors. Without the cap, evolution finds motor values of plus or minus 10 that make the vehicle spin and jitter every step. Code is trimmed from env.py.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eas.Microbial, the same file as Unit 3. Each tournament changes one individual. A generation is popsize tournaments, so 100 generations is 5,000 tournaments and 5,000 fitness evaluations. Point out that only the loser is re-scored.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fnn.py setParams slices the genotype: weights, then biases, then activation genes. Genes in [-1,1] are multiplied by weightrange=5. Genome size is 16 weights + 6 biases + 10 activation genes = 32. For each layer, the argmax of its 5 activation genes picks sigmoid, tanh, relu, linear or gaussian, so the network evolves its own activation functions. The motor outputs are then capped to [0, 1] in env.py think().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Everything before this was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env.py does not import fnn or eas. Braitenberg just stores whatever it is given as self.controller and calls .forward(). Live demo idea: show env.py's imports, then jump to the three lines in fitnessFunction.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conceptual difference from XOR: in XOR each input is independent of what the network output last time. Here the motor command moves the body, which changes what the sensors read next. The network is only a part of the behavior; the body and world are the rest. Nobody tells the network how to steer.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rows. The GA and the network code are untouched. What changes is the cost, the noise, and the meaning of the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to keep open while showing evolve.py. Four numbered steps: build the network from the genotype, make a fresh random body, run the closed loop, accumulate the reward. Note that the network never sees the fitness and the fitness never looks inside the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row: what each stage hands to the next. Bottom: the three nested loops explain the runtime. 100 generations of 50 tournaments is 5,000 evaluations, plus 50 for the initial population, each 4 trials of 200 steps, about 4 million sense-think-move steps, about 35 seconds on a laptop.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 only sees a function from vector to number. Settings both scripts need (duration, distance, layers, weightrange) live in config.py, so evolve.py and sim.py cannot drift apart. FNN.genome_size computes genesize from the same layout setParams uses. Files carry results from one script to the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are from one seeded run (np.random.seed(3)); eight seeds gave fresh fitness 0.56 to 0.66. Never moves: 1/(1+5) = 0.167. Random genomes averaged over 150 draws: 0.16. Evolved: 0.63 on 200 fresh single trials. Top speed is velgain = 0.1 per step, so a straight dash at full speed needs 50 steps and would score about 0.84 (my estimate), so 0.63 is about three quarters of that. Your run will differ.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Microbial computes a fitness once, when an individual is created or changed, and never re-scores it. Random starts and noise make that score a sample, and selection can favor lucky samples, so the best curve never goes down and could overstate. Over eight seeds the recorded fitness beat the fresh fitness by 0.02 on average and by up to 0.05 (seed 8: 0.62 vs 0.57), so it is a little optimistic. The check is cheap, so always do it. In the official EvoTorch version parents are re-scored every generation.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evolve.py live (about 15 seconds). While it runs walk through evolve.py. Then sim.py and viz.py. Encourage students to change one parameter and rerun.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comes from sim.py and viz.py on the seeded run (seed 3). 19 of 20 trials end within distance 1 of the light, most by step 60 to 100; one drives away and never returns. Over 300 fresh trials 99 percent arrive. Motors are capped to [0, 1], so the vehicle cannot reverse: ask students whether that explains the failed start, and how they would test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Project 4 lives in 4_EN_Braitenberg. Same idea, industrial tooling. The two differences students should remember: the whole population is simulated as tensors, and parents are re-scored every generation, so the best curve can go down. Checkpoint Friday Oct 2 (Parts 1 and 2), final Tuesday Oct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to come back to while showing evolve.py. Follow the shapes. pop=50, episodes=5, duration=2000. Nothing here is a Python for-loop over individuals: the whole population is one tensor.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13A"/>
        </a:solidFill>
      </p:bgPr>
    </p:bg>
    <p:spTree>
      <p:nvGrpSpPr>
        <p:cNvPr id="1" name=""/>
        <p:cNvGrpSpPr/>
        <p:nvPr/>
      </p:nvGrpSpPr>
      <p:grpSpPr>
        <a:xfrm>
          <a:off x="0" y="0"/>
          <a:ext cx="0" cy="0"/>
          <a:chOff x="0" y="0"/>
          <a:chExt cx="0" cy="0"/>
        </a:xfrm>
      </p:grpSpPr>
      <p:sp>
        <p:nvSpPr>
          <p:cNvPr id="2" name="Text 0"/>
          <p:cNvSpPr txBox="1"/>
          <p:nvPr/>
        </p:nvSpPr>
        <p:spPr>
          <a:xfrm>
            <a:off x="813816" y="813816"/>
            <a:ext cx="10561320" cy="274320"/>
          </a:xfrm>
          <a:prstGeom prst="rect">
            <a:avLst/>
          </a:prstGeom>
          <a:noFill/>
          <a:ln/>
        </p:spPr>
        <p:txBody>
          <a:bodyPr wrap="square" lIns="0" tIns="0" rIns="0" bIns="0" rtlCol="0" anchor="ctr"/>
          <a:lstStyle/>
          <a:p>
            <a:pPr indent="0" marL="0">
              <a:buNone/>
            </a:pPr>
            <a:r>
              <a:rPr lang="en-US" sz="1400" b="1" spc="200" kern="0" dirty="0">
                <a:solidFill>
                  <a:srgbClr val="F2A65A"/>
                </a:solidFill>
                <a:latin typeface="IBM Plex Sans" pitchFamily="34" charset="0"/>
                <a:ea typeface="IBM Plex Sans" pitchFamily="34" charset="-122"/>
                <a:cs typeface="IBM Plex Sans" pitchFamily="34" charset="-120"/>
              </a:rPr>
              <a:t>ECE 497 · UNIT 4</a:t>
            </a:r>
            <a:endParaRPr lang="en-US" sz="1400" dirty="0"/>
          </a:p>
        </p:txBody>
      </p:sp>
      <p:sp>
        <p:nvSpPr>
          <p:cNvPr id="3" name="Text 1"/>
          <p:cNvSpPr txBox="1"/>
          <p:nvPr/>
        </p:nvSpPr>
        <p:spPr>
          <a:xfrm>
            <a:off x="813816" y="1828800"/>
            <a:ext cx="10561320" cy="914400"/>
          </a:xfrm>
          <a:prstGeom prst="rect">
            <a:avLst/>
          </a:prstGeom>
          <a:noFill/>
          <a:ln/>
        </p:spPr>
        <p:txBody>
          <a:bodyPr wrap="square" lIns="0" tIns="0" rIns="0" bIns="0" rtlCol="0" anchor="ctr"/>
          <a:lstStyle/>
          <a:p>
            <a:pPr indent="0" marL="0">
              <a:buNone/>
            </a:pPr>
            <a:r>
              <a:rPr lang="en-US" sz="6000" b="1" dirty="0">
                <a:solidFill>
                  <a:srgbClr val="F6F4EE"/>
                </a:solidFill>
                <a:latin typeface="IBM Plex Sans" pitchFamily="34" charset="0"/>
                <a:ea typeface="IBM Plex Sans" pitchFamily="34" charset="-122"/>
                <a:cs typeface="IBM Plex Sans" pitchFamily="34" charset="-120"/>
              </a:rPr>
              <a:t>Evolving a body's brain</a:t>
            </a:r>
            <a:endParaRPr lang="en-US" sz="6000" dirty="0"/>
          </a:p>
        </p:txBody>
      </p:sp>
      <p:sp>
        <p:nvSpPr>
          <p:cNvPr id="4" name="Text 2"/>
          <p:cNvSpPr txBox="1"/>
          <p:nvPr/>
        </p:nvSpPr>
        <p:spPr>
          <a:xfrm>
            <a:off x="813816" y="2880360"/>
            <a:ext cx="10561320" cy="548640"/>
          </a:xfrm>
          <a:prstGeom prst="rect">
            <a:avLst/>
          </a:prstGeom>
          <a:noFill/>
          <a:ln/>
        </p:spPr>
        <p:txBody>
          <a:bodyPr wrap="square" lIns="0" tIns="0" rIns="0" bIns="0" rtlCol="0" anchor="ctr"/>
          <a:lstStyle/>
          <a:p>
            <a:pPr indent="0" marL="0">
              <a:buNone/>
            </a:pPr>
            <a:r>
              <a:rPr lang="en-US" sz="2600" dirty="0">
                <a:solidFill>
                  <a:srgbClr val="F6F4EE"/>
                </a:solidFill>
                <a:latin typeface="IBM Plex Sans" pitchFamily="34" charset="0"/>
                <a:ea typeface="IBM Plex Sans" pitchFamily="34" charset="-122"/>
                <a:cs typeface="IBM Plex Sans" pitchFamily="34" charset="-120"/>
              </a:rPr>
              <a:t>Neuroevolution of a Braitenberg vehicle, closing the loop</a:t>
            </a:r>
            <a:endParaRPr lang="en-US" sz="2600" dirty="0"/>
          </a:p>
        </p:txBody>
      </p:sp>
      <p:sp>
        <p:nvSpPr>
          <p:cNvPr id="5" name="Text 3"/>
          <p:cNvSpPr txBox="1"/>
          <p:nvPr/>
        </p:nvSpPr>
        <p:spPr>
          <a:xfrm>
            <a:off x="813816" y="4023360"/>
            <a:ext cx="10561320" cy="1280160"/>
          </a:xfrm>
          <a:prstGeom prst="rect">
            <a:avLst/>
          </a:prstGeom>
          <a:noFill/>
          <a:ln/>
        </p:spPr>
        <p:txBody>
          <a:bodyPr wrap="square" lIns="0" tIns="0" rIns="0" bIns="0" rtlCol="0" anchor="t"/>
          <a:lstStyle/>
          <a:p>
            <a:pPr indent="0" marL="0">
              <a:spcAft>
                <a:spcPts val="600"/>
              </a:spcAft>
              <a:buNone/>
            </a:pPr>
            <a:r>
              <a:rPr lang="en-US" sz="2000" b="1" dirty="0">
                <a:solidFill>
                  <a:srgbClr val="F2A65A"/>
                </a:solidFill>
                <a:latin typeface="IBM Plex Sans" pitchFamily="34" charset="0"/>
                <a:ea typeface="IBM Plex Sans" pitchFamily="34" charset="-122"/>
                <a:cs typeface="IBM Plex Sans" pitchFamily="34" charset="-120"/>
              </a:rPr>
              <a:t>Recap  </a:t>
            </a:r>
            <a:pPr indent="0" marL="0">
              <a:spcAft>
                <a:spcPts val="600"/>
              </a:spcAft>
              <a:buNone/>
            </a:pPr>
            <a:r>
              <a:rPr lang="en-US" sz="2000" dirty="0">
                <a:solidFill>
                  <a:srgbClr val="F6F4EE"/>
                </a:solidFill>
                <a:latin typeface="IBM Plex Sans" pitchFamily="34" charset="0"/>
                <a:ea typeface="IBM Plex Sans" pitchFamily="34" charset="-122"/>
                <a:cs typeface="IBM Plex Sans" pitchFamily="34" charset="-120"/>
              </a:rPr>
              <a:t>vehicle, evolutionary algorithm, network</a:t>
            </a:r>
            <a:endParaRPr lang="en-US" sz="2000" dirty="0"/>
          </a:p>
          <a:p>
            <a:pPr indent="0" marL="0">
              <a:spcAft>
                <a:spcPts val="600"/>
              </a:spcAft>
              <a:buNone/>
            </a:pPr>
            <a:r>
              <a:rPr lang="en-US" sz="2000" b="1" dirty="0">
                <a:solidFill>
                  <a:srgbClr val="F2A65A"/>
                </a:solidFill>
                <a:latin typeface="IBM Plex Sans" pitchFamily="34" charset="0"/>
                <a:ea typeface="IBM Plex Sans" pitchFamily="34" charset="-122"/>
                <a:cs typeface="IBM Plex Sans" pitchFamily="34" charset="-120"/>
              </a:rPr>
              <a:t>Focus  </a:t>
            </a:r>
            <a:pPr indent="0" marL="0">
              <a:spcAft>
                <a:spcPts val="600"/>
              </a:spcAft>
              <a:buNone/>
            </a:pPr>
            <a:r>
              <a:rPr lang="en-US" sz="2000" dirty="0">
                <a:solidFill>
                  <a:srgbClr val="F6F4EE"/>
                </a:solidFill>
                <a:latin typeface="IBM Plex Sans" pitchFamily="34" charset="0"/>
                <a:ea typeface="IBM Plex Sans" pitchFamily="34" charset="-122"/>
                <a:cs typeface="IBM Plex Sans" pitchFamily="34" charset="-120"/>
              </a:rPr>
              <a:t>how they connect: genotype → network → body → fitness</a:t>
            </a:r>
            <a:endParaRPr lang="en-US" sz="2000" dirty="0"/>
          </a:p>
          <a:p>
            <a:pPr indent="0" marL="0">
              <a:spcAft>
                <a:spcPts val="600"/>
              </a:spcAft>
              <a:buNone/>
            </a:pPr>
            <a:r>
              <a:rPr lang="en-US" sz="2000" b="1" dirty="0">
                <a:solidFill>
                  <a:srgbClr val="F2A65A"/>
                </a:solidFill>
                <a:latin typeface="IBM Plex Sans" pitchFamily="34" charset="0"/>
                <a:ea typeface="IBM Plex Sans" pitchFamily="34" charset="-122"/>
                <a:cs typeface="IBM Plex Sans" pitchFamily="34" charset="-120"/>
              </a:rPr>
              <a:t>Then  </a:t>
            </a:r>
            <a:pPr indent="0" marL="0">
              <a:spcAft>
                <a:spcPts val="600"/>
              </a:spcAft>
              <a:buNone/>
            </a:pPr>
            <a:r>
              <a:rPr lang="en-US" sz="2000" dirty="0">
                <a:solidFill>
                  <a:srgbClr val="F6F4EE"/>
                </a:solidFill>
                <a:latin typeface="IBM Plex Sans" pitchFamily="34" charset="0"/>
                <a:ea typeface="IBM Plex Sans" pitchFamily="34" charset="-122"/>
                <a:cs typeface="IBM Plex Sans" pitchFamily="34" charset="-120"/>
              </a:rPr>
              <a:t>the official PyTorch + EvoTorch version (Project 4)</a:t>
            </a:r>
            <a:endParaRPr lang="en-US" sz="2000" dirty="0"/>
          </a:p>
        </p:txBody>
      </p:sp>
      <p:sp>
        <p:nvSpPr>
          <p:cNvPr id="6" name="Text 4"/>
          <p:cNvSpPr txBox="1"/>
          <p:nvPr/>
        </p:nvSpPr>
        <p:spPr>
          <a:xfrm>
            <a:off x="813816" y="5943600"/>
            <a:ext cx="10561320" cy="237744"/>
          </a:xfrm>
          <a:prstGeom prst="rect">
            <a:avLst/>
          </a:prstGeom>
          <a:noFill/>
          <a:ln/>
        </p:spPr>
        <p:txBody>
          <a:bodyPr wrap="square" lIns="0" tIns="0" rIns="0" bIns="0" rtlCol="0" anchor="ctr"/>
          <a:lstStyle/>
          <a:p>
            <a:pPr indent="0" marL="0">
              <a:buNone/>
            </a:pPr>
            <a:r>
              <a:rPr lang="en-US" sz="1200" dirty="0">
                <a:solidFill>
                  <a:srgbClr val="9AA5B8"/>
                </a:solidFill>
                <a:latin typeface="JetBrains Mono" pitchFamily="34" charset="0"/>
                <a:ea typeface="JetBrains Mono" pitchFamily="34" charset="-122"/>
                <a:cs typeface="JetBrains Mono" pitchFamily="34" charset="-120"/>
              </a:rPr>
              <a:t>PythonBasics/Unit4 · env.py · fnn.py · eas.py · evolve.py · sim.py · viz.py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4EE"/>
        </a:solidFill>
      </p:bgPr>
    </p:bg>
    <p:spTree>
      <p:nvGrpSpPr>
        <p:cNvPr id="1" name=""/>
        <p:cNvGrpSpPr/>
        <p:nvPr/>
      </p:nvGrpSpPr>
      <p:grpSpPr>
        <a:xfrm>
          <a:off x="0" y="0"/>
          <a:ext cx="0" cy="0"/>
          <a:chOff x="0" y="0"/>
          <a:chExt cx="0" cy="0"/>
        </a:xfrm>
      </p:grpSpPr>
      <p:sp>
        <p:nvSpPr>
          <p:cNvPr id="2" name="Text 0"/>
          <p:cNvSpPr txBox="1"/>
          <p:nvPr/>
        </p:nvSpPr>
        <p:spPr>
          <a:xfrm>
            <a:off x="813816" y="548640"/>
            <a:ext cx="10561320" cy="274320"/>
          </a:xfrm>
          <a:prstGeom prst="rect">
            <a:avLst/>
          </a:prstGeom>
          <a:noFill/>
          <a:ln/>
        </p:spPr>
        <p:txBody>
          <a:bodyPr wrap="square" lIns="0" tIns="0" rIns="0" bIns="0" rtlCol="0" anchor="ctr"/>
          <a:lstStyle/>
          <a:p>
            <a:pPr indent="0" marL="0">
              <a:buNone/>
            </a:pPr>
            <a:r>
              <a:rPr lang="en-US" sz="1200" b="1" spc="100" kern="0" dirty="0">
                <a:solidFill>
                  <a:srgbClr val="B4521C"/>
                </a:solidFill>
                <a:latin typeface="IBM Plex Sans" pitchFamily="34" charset="0"/>
                <a:ea typeface="IBM Plex Sans" pitchFamily="34" charset="-122"/>
                <a:cs typeface="IBM Plex Sans" pitchFamily="34" charset="-120"/>
              </a:rPr>
              <a:t>OVERVIEW</a:t>
            </a:r>
            <a:endParaRPr lang="en-US" sz="1200" dirty="0"/>
          </a:p>
        </p:txBody>
      </p:sp>
      <p:sp>
        <p:nvSpPr>
          <p:cNvPr id="3" name="Text 1"/>
          <p:cNvSpPr txBox="1"/>
          <p:nvPr/>
        </p:nvSpPr>
        <p:spPr>
          <a:xfrm>
            <a:off x="813816" y="841248"/>
            <a:ext cx="10561320" cy="548640"/>
          </a:xfrm>
          <a:prstGeom prst="rect">
            <a:avLst/>
          </a:prstGeom>
          <a:noFill/>
          <a:ln/>
        </p:spPr>
        <p:txBody>
          <a:bodyPr wrap="square" lIns="0" tIns="0" rIns="0" bIns="0" rtlCol="0" anchor="ctr"/>
          <a:lstStyle/>
          <a:p>
            <a:pPr indent="0" marL="0">
              <a:buNone/>
            </a:pPr>
            <a:r>
              <a:rPr lang="en-US" sz="3200" b="1" dirty="0">
                <a:solidFill>
                  <a:srgbClr val="16213A"/>
                </a:solidFill>
                <a:latin typeface="IBM Plex Sans" pitchFamily="34" charset="0"/>
                <a:ea typeface="IBM Plex Sans" pitchFamily="34" charset="-122"/>
                <a:cs typeface="IBM Plex Sans" pitchFamily="34" charset="-120"/>
              </a:rPr>
              <a:t>Three pieces you already have</a:t>
            </a:r>
            <a:endParaRPr lang="en-US" sz="3200" dirty="0"/>
          </a:p>
        </p:txBody>
      </p:sp>
      <p:sp>
        <p:nvSpPr>
          <p:cNvPr id="5" name="Shape 2"/>
          <p:cNvSpPr/>
          <p:nvPr/>
        </p:nvSpPr>
        <p:spPr>
          <a:xfrm>
            <a:off x="813816" y="1783080"/>
            <a:ext cx="2468880" cy="2148840"/>
          </a:xfrm>
          <a:prstGeom prst="roundRect">
            <a:avLst>
              <a:gd name="adj" fmla="val 3404"/>
            </a:avLst>
          </a:prstGeom>
          <a:solidFill>
            <a:srgbClr val="FFFDF8"/>
          </a:solidFill>
          <a:ln w="12700">
            <a:solidFill>
              <a:srgbClr val="E2DDD0"/>
            </a:solidFill>
            <a:prstDash val="solid"/>
          </a:ln>
        </p:spPr>
      </p:sp>
      <p:sp>
        <p:nvSpPr>
          <p:cNvPr id="6" name="Text 3"/>
          <p:cNvSpPr txBox="1"/>
          <p:nvPr/>
        </p:nvSpPr>
        <p:spPr>
          <a:xfrm>
            <a:off x="1042416" y="1965960"/>
            <a:ext cx="2011680" cy="274320"/>
          </a:xfrm>
          <a:prstGeom prst="rect">
            <a:avLst/>
          </a:prstGeom>
          <a:noFill/>
          <a:ln/>
        </p:spPr>
        <p:txBody>
          <a:bodyPr wrap="square" lIns="0" tIns="0" rIns="0" bIns="0" rtlCol="0" anchor="ctr"/>
          <a:lstStyle/>
          <a:p>
            <a:pPr indent="0" marL="0">
              <a:buNone/>
            </a:pPr>
            <a:r>
              <a:rPr lang="en-US" sz="1200" b="1" spc="100" kern="0" dirty="0">
                <a:solidFill>
                  <a:srgbClr val="B4521C"/>
                </a:solidFill>
                <a:latin typeface="IBM Plex Sans" pitchFamily="34" charset="0"/>
                <a:ea typeface="IBM Plex Sans" pitchFamily="34" charset="-122"/>
                <a:cs typeface="IBM Plex Sans" pitchFamily="34" charset="-120"/>
              </a:rPr>
              <a:t>ENV.PY</a:t>
            </a:r>
            <a:endParaRPr lang="en-US" sz="1200" dirty="0"/>
          </a:p>
        </p:txBody>
      </p:sp>
      <p:sp>
        <p:nvSpPr>
          <p:cNvPr id="7" name="Text 4"/>
          <p:cNvSpPr txBox="1"/>
          <p:nvPr/>
        </p:nvSpPr>
        <p:spPr>
          <a:xfrm>
            <a:off x="1042416" y="2286000"/>
            <a:ext cx="2057400" cy="640080"/>
          </a:xfrm>
          <a:prstGeom prst="rect">
            <a:avLst/>
          </a:prstGeom>
          <a:noFill/>
          <a:ln/>
        </p:spPr>
        <p:txBody>
          <a:bodyPr wrap="square" lIns="0" tIns="0" rIns="0" bIns="0" rtlCol="0" anchor="t"/>
          <a:lstStyle/>
          <a:p>
            <a:pPr indent="0" marL="0">
              <a:buNone/>
            </a:pPr>
            <a:r>
              <a:rPr lang="en-US" sz="1800" b="1" dirty="0">
                <a:solidFill>
                  <a:srgbClr val="16213A"/>
                </a:solidFill>
                <a:latin typeface="IBM Plex Sans" pitchFamily="34" charset="0"/>
                <a:ea typeface="IBM Plex Sans" pitchFamily="34" charset="-122"/>
                <a:cs typeface="IBM Plex Sans" pitchFamily="34" charset="-120"/>
              </a:rPr>
              <a:t>Braitenberg vehicle</a:t>
            </a:r>
            <a:endParaRPr lang="en-US" sz="1800" dirty="0"/>
          </a:p>
        </p:txBody>
      </p:sp>
      <p:sp>
        <p:nvSpPr>
          <p:cNvPr id="8" name="Text 5"/>
          <p:cNvSpPr txBox="1"/>
          <p:nvPr/>
        </p:nvSpPr>
        <p:spPr>
          <a:xfrm>
            <a:off x="1042416" y="2926080"/>
            <a:ext cx="2057400" cy="914400"/>
          </a:xfrm>
          <a:prstGeom prst="rect">
            <a:avLst/>
          </a:prstGeom>
          <a:noFill/>
          <a:ln/>
        </p:spPr>
        <p:txBody>
          <a:bodyPr wrap="square" lIns="0" tIns="0" rIns="0" bIns="0" rtlCol="0" anchor="t"/>
          <a:lstStyle/>
          <a:p>
            <a:pPr indent="0" marL="0">
              <a:buNone/>
            </a:pPr>
            <a:r>
              <a:rPr lang="en-US" sz="1200" dirty="0">
                <a:solidFill>
                  <a:srgbClr val="3E4A5C"/>
                </a:solidFill>
                <a:latin typeface="IBM Plex Sans" pitchFamily="34" charset="0"/>
                <a:ea typeface="IBM Plex Sans" pitchFamily="34" charset="-122"/>
                <a:cs typeface="IBM Plex Sans" pitchFamily="34" charset="-120"/>
              </a:rPr>
              <a:t>A body with two light sensors and two motors, plus a light at the origin.</a:t>
            </a:r>
            <a:endParaRPr lang="en-US" sz="1200" dirty="0"/>
          </a:p>
        </p:txBody>
      </p:sp>
      <p:sp>
        <p:nvSpPr>
          <p:cNvPr id="9" name="Shape 6"/>
          <p:cNvSpPr/>
          <p:nvPr/>
        </p:nvSpPr>
        <p:spPr>
          <a:xfrm>
            <a:off x="3557016" y="1783080"/>
            <a:ext cx="2468880" cy="2148840"/>
          </a:xfrm>
          <a:prstGeom prst="roundRect">
            <a:avLst>
              <a:gd name="adj" fmla="val 3404"/>
            </a:avLst>
          </a:prstGeom>
          <a:solidFill>
            <a:srgbClr val="FFFDF8"/>
          </a:solidFill>
          <a:ln w="12700">
            <a:solidFill>
              <a:srgbClr val="E2DDD0"/>
            </a:solidFill>
            <a:prstDash val="solid"/>
          </a:ln>
        </p:spPr>
      </p:sp>
      <p:sp>
        <p:nvSpPr>
          <p:cNvPr id="10" name="Text 7"/>
          <p:cNvSpPr txBox="1"/>
          <p:nvPr/>
        </p:nvSpPr>
        <p:spPr>
          <a:xfrm>
            <a:off x="3785616" y="1965960"/>
            <a:ext cx="2011680" cy="274320"/>
          </a:xfrm>
          <a:prstGeom prst="rect">
            <a:avLst/>
          </a:prstGeom>
          <a:noFill/>
          <a:ln/>
        </p:spPr>
        <p:txBody>
          <a:bodyPr wrap="square" lIns="0" tIns="0" rIns="0" bIns="0" rtlCol="0" anchor="ctr"/>
          <a:lstStyle/>
          <a:p>
            <a:pPr indent="0" marL="0">
              <a:buNone/>
            </a:pPr>
            <a:r>
              <a:rPr lang="en-US" sz="1200" b="1" spc="100" kern="0" dirty="0">
                <a:solidFill>
                  <a:srgbClr val="1D6F66"/>
                </a:solidFill>
                <a:latin typeface="IBM Plex Sans" pitchFamily="34" charset="0"/>
                <a:ea typeface="IBM Plex Sans" pitchFamily="34" charset="-122"/>
                <a:cs typeface="IBM Plex Sans" pitchFamily="34" charset="-120"/>
              </a:rPr>
              <a:t>EAS.PY</a:t>
            </a:r>
            <a:endParaRPr lang="en-US" sz="1200" dirty="0"/>
          </a:p>
        </p:txBody>
      </p:sp>
      <p:sp>
        <p:nvSpPr>
          <p:cNvPr id="11" name="Text 8"/>
          <p:cNvSpPr txBox="1"/>
          <p:nvPr/>
        </p:nvSpPr>
        <p:spPr>
          <a:xfrm>
            <a:off x="3785616" y="2286000"/>
            <a:ext cx="2057400" cy="640080"/>
          </a:xfrm>
          <a:prstGeom prst="rect">
            <a:avLst/>
          </a:prstGeom>
          <a:noFill/>
          <a:ln/>
        </p:spPr>
        <p:txBody>
          <a:bodyPr wrap="square" lIns="0" tIns="0" rIns="0" bIns="0" rtlCol="0" anchor="t"/>
          <a:lstStyle/>
          <a:p>
            <a:pPr indent="0" marL="0">
              <a:buNone/>
            </a:pPr>
            <a:r>
              <a:rPr lang="en-US" sz="1800" b="1" dirty="0">
                <a:solidFill>
                  <a:srgbClr val="16213A"/>
                </a:solidFill>
                <a:latin typeface="IBM Plex Sans" pitchFamily="34" charset="0"/>
                <a:ea typeface="IBM Plex Sans" pitchFamily="34" charset="-122"/>
                <a:cs typeface="IBM Plex Sans" pitchFamily="34" charset="-120"/>
              </a:rPr>
              <a:t>Evolutionary algorithm</a:t>
            </a:r>
            <a:endParaRPr lang="en-US" sz="1800" dirty="0"/>
          </a:p>
        </p:txBody>
      </p:sp>
      <p:sp>
        <p:nvSpPr>
          <p:cNvPr id="12" name="Text 9"/>
          <p:cNvSpPr txBox="1"/>
          <p:nvPr/>
        </p:nvSpPr>
        <p:spPr>
          <a:xfrm>
            <a:off x="3785616" y="2926080"/>
            <a:ext cx="2057400" cy="914400"/>
          </a:xfrm>
          <a:prstGeom prst="rect">
            <a:avLst/>
          </a:prstGeom>
          <a:noFill/>
          <a:ln/>
        </p:spPr>
        <p:txBody>
          <a:bodyPr wrap="square" lIns="0" tIns="0" rIns="0" bIns="0" rtlCol="0" anchor="t"/>
          <a:lstStyle/>
          <a:p>
            <a:pPr indent="0" marL="0">
              <a:buNone/>
            </a:pPr>
            <a:r>
              <a:rPr lang="en-US" sz="1200" dirty="0">
                <a:solidFill>
                  <a:srgbClr val="3E4A5C"/>
                </a:solidFill>
                <a:latin typeface="IBM Plex Sans" pitchFamily="34" charset="0"/>
                <a:ea typeface="IBM Plex Sans" pitchFamily="34" charset="-122"/>
                <a:cs typeface="IBM Plex Sans" pitchFamily="34" charset="-120"/>
              </a:rPr>
              <a:t>Same as Unit 3. Needs only a fitness number per genotype.</a:t>
            </a:r>
            <a:endParaRPr lang="en-US" sz="1200" dirty="0"/>
          </a:p>
        </p:txBody>
      </p:sp>
      <p:sp>
        <p:nvSpPr>
          <p:cNvPr id="13" name="Shape 10"/>
          <p:cNvSpPr/>
          <p:nvPr/>
        </p:nvSpPr>
        <p:spPr>
          <a:xfrm>
            <a:off x="6300216" y="1783080"/>
            <a:ext cx="2468880" cy="2148840"/>
          </a:xfrm>
          <a:prstGeom prst="roundRect">
            <a:avLst>
              <a:gd name="adj" fmla="val 3404"/>
            </a:avLst>
          </a:prstGeom>
          <a:solidFill>
            <a:srgbClr val="FFFDF8"/>
          </a:solidFill>
          <a:ln w="12700">
            <a:solidFill>
              <a:srgbClr val="E2DDD0"/>
            </a:solidFill>
            <a:prstDash val="solid"/>
          </a:ln>
        </p:spPr>
      </p:sp>
      <p:sp>
        <p:nvSpPr>
          <p:cNvPr id="14" name="Text 11"/>
          <p:cNvSpPr txBox="1"/>
          <p:nvPr/>
        </p:nvSpPr>
        <p:spPr>
          <a:xfrm>
            <a:off x="6528816" y="1965960"/>
            <a:ext cx="2011680" cy="274320"/>
          </a:xfrm>
          <a:prstGeom prst="rect">
            <a:avLst/>
          </a:prstGeom>
          <a:noFill/>
          <a:ln/>
        </p:spPr>
        <p:txBody>
          <a:bodyPr wrap="square" lIns="0" tIns="0" rIns="0" bIns="0" rtlCol="0" anchor="ctr"/>
          <a:lstStyle/>
          <a:p>
            <a:pPr indent="0" marL="0">
              <a:buNone/>
            </a:pPr>
            <a:r>
              <a:rPr lang="en-US" sz="1200" b="1" spc="100" kern="0" dirty="0">
                <a:solidFill>
                  <a:srgbClr val="16213A"/>
                </a:solidFill>
                <a:latin typeface="IBM Plex Sans" pitchFamily="34" charset="0"/>
                <a:ea typeface="IBM Plex Sans" pitchFamily="34" charset="-122"/>
                <a:cs typeface="IBM Plex Sans" pitchFamily="34" charset="-120"/>
              </a:rPr>
              <a:t>FNN.PY</a:t>
            </a:r>
            <a:endParaRPr lang="en-US" sz="1200" dirty="0"/>
          </a:p>
        </p:txBody>
      </p:sp>
      <p:sp>
        <p:nvSpPr>
          <p:cNvPr id="15" name="Text 12"/>
          <p:cNvSpPr txBox="1"/>
          <p:nvPr/>
        </p:nvSpPr>
        <p:spPr>
          <a:xfrm>
            <a:off x="6528816" y="2286000"/>
            <a:ext cx="2057400" cy="640080"/>
          </a:xfrm>
          <a:prstGeom prst="rect">
            <a:avLst/>
          </a:prstGeom>
          <a:noFill/>
          <a:ln/>
        </p:spPr>
        <p:txBody>
          <a:bodyPr wrap="square" lIns="0" tIns="0" rIns="0" bIns="0" rtlCol="0" anchor="t"/>
          <a:lstStyle/>
          <a:p>
            <a:pPr indent="0" marL="0">
              <a:buNone/>
            </a:pPr>
            <a:r>
              <a:rPr lang="en-US" sz="1800" b="1" dirty="0">
                <a:solidFill>
                  <a:srgbClr val="16213A"/>
                </a:solidFill>
                <a:latin typeface="IBM Plex Sans" pitchFamily="34" charset="0"/>
                <a:ea typeface="IBM Plex Sans" pitchFamily="34" charset="-122"/>
                <a:cs typeface="IBM Plex Sans" pitchFamily="34" charset="-120"/>
              </a:rPr>
              <a:t>Feedforward network</a:t>
            </a:r>
            <a:endParaRPr lang="en-US" sz="1800" dirty="0"/>
          </a:p>
        </p:txBody>
      </p:sp>
      <p:sp>
        <p:nvSpPr>
          <p:cNvPr id="16" name="Text 13"/>
          <p:cNvSpPr txBox="1"/>
          <p:nvPr/>
        </p:nvSpPr>
        <p:spPr>
          <a:xfrm>
            <a:off x="6528816" y="2926080"/>
            <a:ext cx="2057400" cy="914400"/>
          </a:xfrm>
          <a:prstGeom prst="rect">
            <a:avLst/>
          </a:prstGeom>
          <a:noFill/>
          <a:ln/>
        </p:spPr>
        <p:txBody>
          <a:bodyPr wrap="square" lIns="0" tIns="0" rIns="0" bIns="0" rtlCol="0" anchor="t"/>
          <a:lstStyle/>
          <a:p>
            <a:pPr indent="0" marL="0">
              <a:buNone/>
            </a:pPr>
            <a:r>
              <a:rPr lang="en-US" sz="1200" dirty="0">
                <a:solidFill>
                  <a:srgbClr val="3E4A5C"/>
                </a:solidFill>
                <a:latin typeface="IBM Plex Sans" pitchFamily="34" charset="0"/>
                <a:ea typeface="IBM Plex Sans" pitchFamily="34" charset="-122"/>
                <a:cs typeface="IBM Plex Sans" pitchFamily="34" charset="-120"/>
              </a:rPr>
              <a:t>Same as Unit 3. Genotype vector in, weights and biases out.</a:t>
            </a:r>
            <a:endParaRPr lang="en-US" sz="1200" dirty="0"/>
          </a:p>
        </p:txBody>
      </p:sp>
      <p:sp>
        <p:nvSpPr>
          <p:cNvPr id="17" name="Text 14"/>
          <p:cNvSpPr txBox="1"/>
          <p:nvPr/>
        </p:nvSpPr>
        <p:spPr>
          <a:xfrm>
            <a:off x="3264408" y="2514600"/>
            <a:ext cx="310896" cy="457200"/>
          </a:xfrm>
          <a:prstGeom prst="rect">
            <a:avLst/>
          </a:prstGeom>
          <a:noFill/>
          <a:ln/>
        </p:spPr>
        <p:txBody>
          <a:bodyPr wrap="square" lIns="0" tIns="0" rIns="0" bIns="0" rtlCol="0" anchor="ctr"/>
          <a:lstStyle/>
          <a:p>
            <a:pPr algn="ctr" indent="0" marL="0">
              <a:buNone/>
            </a:pPr>
            <a:r>
              <a:rPr lang="en-US" sz="2800" b="1" dirty="0">
                <a:solidFill>
                  <a:srgbClr val="5E6878"/>
                </a:solidFill>
                <a:latin typeface="IBM Plex Sans" pitchFamily="34" charset="0"/>
                <a:ea typeface="IBM Plex Sans" pitchFamily="34" charset="-122"/>
                <a:cs typeface="IBM Plex Sans" pitchFamily="34" charset="-120"/>
              </a:rPr>
              <a:t>+</a:t>
            </a:r>
            <a:endParaRPr lang="en-US" sz="2800" dirty="0"/>
          </a:p>
        </p:txBody>
      </p:sp>
      <p:sp>
        <p:nvSpPr>
          <p:cNvPr id="18" name="Text 15"/>
          <p:cNvSpPr txBox="1"/>
          <p:nvPr/>
        </p:nvSpPr>
        <p:spPr>
          <a:xfrm>
            <a:off x="6007608" y="2514600"/>
            <a:ext cx="310896" cy="457200"/>
          </a:xfrm>
          <a:prstGeom prst="rect">
            <a:avLst/>
          </a:prstGeom>
          <a:noFill/>
          <a:ln/>
        </p:spPr>
        <p:txBody>
          <a:bodyPr wrap="square" lIns="0" tIns="0" rIns="0" bIns="0" rtlCol="0" anchor="ctr"/>
          <a:lstStyle/>
          <a:p>
            <a:pPr algn="ctr" indent="0" marL="0">
              <a:buNone/>
            </a:pPr>
            <a:r>
              <a:rPr lang="en-US" sz="2800" b="1" dirty="0">
                <a:solidFill>
                  <a:srgbClr val="5E6878"/>
                </a:solidFill>
                <a:latin typeface="IBM Plex Sans" pitchFamily="34" charset="0"/>
                <a:ea typeface="IBM Plex Sans" pitchFamily="34" charset="-122"/>
                <a:cs typeface="IBM Plex Sans" pitchFamily="34" charset="-120"/>
              </a:rPr>
              <a:t>+</a:t>
            </a:r>
            <a:endParaRPr lang="en-US" sz="2800" dirty="0"/>
          </a:p>
        </p:txBody>
      </p:sp>
      <p:sp>
        <p:nvSpPr>
          <p:cNvPr id="19" name="Shape 16"/>
          <p:cNvSpPr/>
          <p:nvPr/>
        </p:nvSpPr>
        <p:spPr>
          <a:xfrm>
            <a:off x="9052560" y="1783080"/>
            <a:ext cx="2322576" cy="2148840"/>
          </a:xfrm>
          <a:prstGeom prst="roundRect">
            <a:avLst>
              <a:gd name="adj" fmla="val 3404"/>
            </a:avLst>
          </a:prstGeom>
          <a:solidFill>
            <a:srgbClr val="1D6F66"/>
          </a:solidFill>
          <a:ln w="12700">
            <a:solidFill>
              <a:srgbClr val="1D6F66"/>
            </a:solidFill>
            <a:prstDash val="solid"/>
          </a:ln>
        </p:spPr>
      </p:sp>
      <p:sp>
        <p:nvSpPr>
          <p:cNvPr id="20" name="Text 17"/>
          <p:cNvSpPr txBox="1"/>
          <p:nvPr/>
        </p:nvSpPr>
        <p:spPr>
          <a:xfrm>
            <a:off x="9281160" y="1965960"/>
            <a:ext cx="1920240" cy="274320"/>
          </a:xfrm>
          <a:prstGeom prst="rect">
            <a:avLst/>
          </a:prstGeom>
          <a:noFill/>
          <a:ln/>
        </p:spPr>
        <p:txBody>
          <a:bodyPr wrap="square" lIns="0" tIns="0" rIns="0" bIns="0" rtlCol="0" anchor="ctr"/>
          <a:lstStyle/>
          <a:p>
            <a:pPr indent="0" marL="0">
              <a:buNone/>
            </a:pPr>
            <a:r>
              <a:rPr lang="en-US" sz="1200" b="1" spc="100" kern="0" dirty="0">
                <a:solidFill>
                  <a:srgbClr val="F2A65A"/>
                </a:solidFill>
                <a:latin typeface="IBM Plex Sans" pitchFamily="34" charset="0"/>
                <a:ea typeface="IBM Plex Sans" pitchFamily="34" charset="-122"/>
                <a:cs typeface="IBM Plex Sans" pitchFamily="34" charset="-120"/>
              </a:rPr>
              <a:t>EVOLVE.PY</a:t>
            </a:r>
            <a:endParaRPr lang="en-US" sz="1200" dirty="0"/>
          </a:p>
        </p:txBody>
      </p:sp>
      <p:sp>
        <p:nvSpPr>
          <p:cNvPr id="21" name="Text 18"/>
          <p:cNvSpPr txBox="1"/>
          <p:nvPr/>
        </p:nvSpPr>
        <p:spPr>
          <a:xfrm>
            <a:off x="9281160" y="2286000"/>
            <a:ext cx="1920240" cy="731520"/>
          </a:xfrm>
          <a:prstGeom prst="rect">
            <a:avLst/>
          </a:prstGeom>
          <a:noFill/>
          <a:ln/>
        </p:spPr>
        <p:txBody>
          <a:bodyPr wrap="square" lIns="0" tIns="0" rIns="0" bIns="0" rtlCol="0" anchor="t"/>
          <a:lstStyle/>
          <a:p>
            <a:pPr indent="0" marL="0">
              <a:buNone/>
            </a:pPr>
            <a:r>
              <a:rPr lang="en-US" sz="1800" b="1" dirty="0">
                <a:solidFill>
                  <a:srgbClr val="F6F4EE"/>
                </a:solidFill>
                <a:latin typeface="IBM Plex Sans" pitchFamily="34" charset="0"/>
                <a:ea typeface="IBM Plex Sans" pitchFamily="34" charset="-122"/>
                <a:cs typeface="IBM Plex Sans" pitchFamily="34" charset="-120"/>
              </a:rPr>
              <a:t>An evolved steering brain</a:t>
            </a:r>
            <a:endParaRPr lang="en-US" sz="1800" dirty="0"/>
          </a:p>
        </p:txBody>
      </p:sp>
      <p:sp>
        <p:nvSpPr>
          <p:cNvPr id="22" name="Text 19"/>
          <p:cNvSpPr txBox="1"/>
          <p:nvPr/>
        </p:nvSpPr>
        <p:spPr>
          <a:xfrm>
            <a:off x="9281160" y="3017520"/>
            <a:ext cx="1920240" cy="822960"/>
          </a:xfrm>
          <a:prstGeom prst="rect">
            <a:avLst/>
          </a:prstGeom>
          <a:noFill/>
          <a:ln/>
        </p:spPr>
        <p:txBody>
          <a:bodyPr wrap="square" lIns="0" tIns="0" rIns="0" bIns="0" rtlCol="0" anchor="t"/>
          <a:lstStyle/>
          <a:p>
            <a:pPr indent="0" marL="0">
              <a:buNone/>
            </a:pPr>
            <a:r>
              <a:rPr lang="en-US" sz="1200" dirty="0">
                <a:solidFill>
                  <a:srgbClr val="F6F4EE"/>
                </a:solidFill>
                <a:latin typeface="IBM Plex Sans" pitchFamily="34" charset="0"/>
                <a:ea typeface="IBM Plex Sans" pitchFamily="34" charset="-122"/>
                <a:cs typeface="IBM Plex Sans" pitchFamily="34" charset="-120"/>
              </a:rPr>
              <a:t>Fitness comes from behavior in the world, not a fixed dataset.</a:t>
            </a:r>
            <a:endParaRPr lang="en-US" sz="1200" dirty="0"/>
          </a:p>
        </p:txBody>
      </p:sp>
      <p:sp>
        <p:nvSpPr>
          <p:cNvPr id="23" name="Shape 20"/>
          <p:cNvSpPr/>
          <p:nvPr/>
        </p:nvSpPr>
        <p:spPr>
          <a:xfrm>
            <a:off x="813816" y="4343400"/>
            <a:ext cx="10561320" cy="868680"/>
          </a:xfrm>
          <a:prstGeom prst="roundRect">
            <a:avLst>
              <a:gd name="adj" fmla="val 8421"/>
            </a:avLst>
          </a:prstGeom>
          <a:solidFill>
            <a:srgbClr val="F6DCCB"/>
          </a:solidFill>
          <a:ln w="12700">
            <a:solidFill>
              <a:srgbClr val="F6DCCB"/>
            </a:solidFill>
            <a:prstDash val="solid"/>
          </a:ln>
        </p:spPr>
      </p:sp>
      <p:sp>
        <p:nvSpPr>
          <p:cNvPr id="24" name="Text 21"/>
          <p:cNvSpPr txBox="1"/>
          <p:nvPr/>
        </p:nvSpPr>
        <p:spPr>
          <a:xfrm>
            <a:off x="1088136" y="4343400"/>
            <a:ext cx="10012680" cy="868680"/>
          </a:xfrm>
          <a:prstGeom prst="rect">
            <a:avLst/>
          </a:prstGeom>
          <a:noFill/>
          <a:ln/>
        </p:spPr>
        <p:txBody>
          <a:bodyPr wrap="square" lIns="0" tIns="0" rIns="0" bIns="0" rtlCol="0" anchor="ctr"/>
          <a:lstStyle/>
          <a:p>
            <a:pPr indent="0" marL="0">
              <a:buNone/>
            </a:pPr>
            <a:r>
              <a:rPr lang="en-US" sz="1600" b="1" dirty="0">
                <a:solidFill>
                  <a:srgbClr val="16213A"/>
                </a:solidFill>
                <a:latin typeface="IBM Plex Sans" pitchFamily="34" charset="0"/>
                <a:ea typeface="IBM Plex Sans" pitchFamily="34" charset="-122"/>
                <a:cs typeface="IBM Plex Sans" pitchFamily="34" charset="-120"/>
              </a:rPr>
              <a:t>Today's question: </a:t>
            </a:r>
            <a:pPr indent="0" marL="0">
              <a:buNone/>
            </a:pPr>
            <a:r>
              <a:rPr lang="en-US" sz="1600" dirty="0">
                <a:solidFill>
                  <a:srgbClr val="3E4A5C"/>
                </a:solidFill>
                <a:latin typeface="IBM Plex Sans" pitchFamily="34" charset="0"/>
                <a:ea typeface="IBM Plex Sans" pitchFamily="34" charset="-122"/>
                <a:cs typeface="IBM Plex Sans" pitchFamily="34" charset="-120"/>
              </a:rPr>
              <a:t>what has to connect so that a genotype from the GA can drive a body, and the body's behavior can score the genotype?</a:t>
            </a:r>
            <a:endParaRPr lang="en-US" sz="1600" dirty="0"/>
          </a:p>
        </p:txBody>
      </p:sp>
      <p:sp>
        <p:nvSpPr>
          <p:cNvPr id="25" name="Text 22"/>
          <p:cNvSpPr txBox="1"/>
          <p:nvPr/>
        </p:nvSpPr>
        <p:spPr>
          <a:xfrm>
            <a:off x="813816" y="6355080"/>
            <a:ext cx="10561320" cy="256032"/>
          </a:xfrm>
          <a:prstGeom prst="rect">
            <a:avLst/>
          </a:prstGeom>
          <a:noFill/>
          <a:ln/>
        </p:spPr>
        <p:txBody>
          <a:bodyPr wrap="square" lIns="0" tIns="0" rIns="0" bIns="0" rtlCol="0" anchor="ctr"/>
          <a:lstStyle/>
          <a:p>
            <a:pPr indent="0" marL="0">
              <a:buNone/>
            </a:pPr>
            <a:r>
              <a:rPr lang="en-US" sz="1000" dirty="0">
                <a:solidFill>
                  <a:srgbClr val="5E6878"/>
                </a:solidFill>
                <a:latin typeface="JetBrains Mono" pitchFamily="34" charset="0"/>
                <a:ea typeface="JetBrains Mono" pitchFamily="34" charset="-122"/>
                <a:cs typeface="JetBrains Mono" pitchFamily="34" charset="-120"/>
              </a:rPr>
              <a:t>PythonBasics/Unit4/README.md</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4EE"/>
        </a:solidFill>
      </p:bgPr>
    </p:bg>
    <p:spTree>
      <p:nvGrpSpPr>
        <p:cNvPr id="1" name=""/>
        <p:cNvGrpSpPr/>
        <p:nvPr/>
      </p:nvGrpSpPr>
      <p:grpSpPr>
        <a:xfrm>
          <a:off x="0" y="0"/>
          <a:ext cx="0" cy="0"/>
          <a:chOff x="0" y="0"/>
          <a:chExt cx="0" cy="0"/>
        </a:xfrm>
      </p:grpSpPr>
      <p:sp>
        <p:nvSpPr>
          <p:cNvPr id="2" name="Text 0"/>
          <p:cNvSpPr txBox="1"/>
          <p:nvPr/>
        </p:nvSpPr>
        <p:spPr>
          <a:xfrm>
            <a:off x="813816" y="548640"/>
            <a:ext cx="10561320" cy="274320"/>
          </a:xfrm>
          <a:prstGeom prst="rect">
            <a:avLst/>
          </a:prstGeom>
          <a:noFill/>
          <a:ln/>
        </p:spPr>
        <p:txBody>
          <a:bodyPr wrap="square" lIns="0" tIns="0" rIns="0" bIns="0" rtlCol="0" anchor="ctr"/>
          <a:lstStyle/>
          <a:p>
            <a:pPr indent="0" marL="0">
              <a:buNone/>
            </a:pPr>
            <a:r>
              <a:rPr lang="en-US" sz="1200" b="1" spc="100" kern="0" dirty="0">
                <a:solidFill>
                  <a:srgbClr val="B4521C"/>
                </a:solidFill>
                <a:latin typeface="IBM Plex Sans" pitchFamily="34" charset="0"/>
                <a:ea typeface="IBM Plex Sans" pitchFamily="34" charset="-122"/>
                <a:cs typeface="IBM Plex Sans" pitchFamily="34" charset="-120"/>
              </a:rPr>
              <a:t>RECAP · THE BODY</a:t>
            </a:r>
            <a:endParaRPr lang="en-US" sz="1200" dirty="0"/>
          </a:p>
        </p:txBody>
      </p:sp>
      <p:sp>
        <p:nvSpPr>
          <p:cNvPr id="3" name="Text 1"/>
          <p:cNvSpPr txBox="1"/>
          <p:nvPr/>
        </p:nvSpPr>
        <p:spPr>
          <a:xfrm>
            <a:off x="813816" y="841248"/>
            <a:ext cx="10561320" cy="548640"/>
          </a:xfrm>
          <a:prstGeom prst="rect">
            <a:avLst/>
          </a:prstGeom>
          <a:noFill/>
          <a:ln/>
        </p:spPr>
        <p:txBody>
          <a:bodyPr wrap="square" lIns="0" tIns="0" rIns="0" bIns="0" rtlCol="0" anchor="ctr"/>
          <a:lstStyle/>
          <a:p>
            <a:pPr indent="0" marL="0">
              <a:buNone/>
            </a:pPr>
            <a:r>
              <a:rPr lang="en-US" sz="3200" b="1" dirty="0">
                <a:solidFill>
                  <a:srgbClr val="16213A"/>
                </a:solidFill>
                <a:latin typeface="IBM Plex Sans" pitchFamily="34" charset="0"/>
                <a:ea typeface="IBM Plex Sans" pitchFamily="34" charset="-122"/>
                <a:cs typeface="IBM Plex Sans" pitchFamily="34" charset="-120"/>
              </a:rPr>
              <a:t>The vehicle: sense, think, move</a:t>
            </a:r>
            <a:endParaRPr lang="en-US" sz="3200" dirty="0"/>
          </a:p>
        </p:txBody>
      </p:sp>
      <p:sp>
        <p:nvSpPr>
          <p:cNvPr id="5" name="Shape 2"/>
          <p:cNvSpPr/>
          <p:nvPr/>
        </p:nvSpPr>
        <p:spPr>
          <a:xfrm>
            <a:off x="813816" y="1783080"/>
            <a:ext cx="1554480" cy="2011680"/>
          </a:xfrm>
          <a:prstGeom prst="roundRect">
            <a:avLst>
              <a:gd name="adj" fmla="val 4706"/>
            </a:avLst>
          </a:prstGeom>
          <a:solidFill>
            <a:srgbClr val="1D6F66"/>
          </a:solidFill>
          <a:ln w="12700">
            <a:solidFill>
              <a:srgbClr val="1D6F66"/>
            </a:solidFill>
            <a:prstDash val="solid"/>
          </a:ln>
        </p:spPr>
      </p:sp>
      <p:sp>
        <p:nvSpPr>
          <p:cNvPr id="6" name="Text 3"/>
          <p:cNvSpPr txBox="1"/>
          <p:nvPr/>
        </p:nvSpPr>
        <p:spPr>
          <a:xfrm>
            <a:off x="950976" y="1920240"/>
            <a:ext cx="1280160" cy="365760"/>
          </a:xfrm>
          <a:prstGeom prst="rect">
            <a:avLst/>
          </a:prstGeom>
          <a:noFill/>
          <a:ln/>
        </p:spPr>
        <p:txBody>
          <a:bodyPr wrap="square" lIns="0" tIns="0" rIns="0" bIns="0" rtlCol="0" anchor="ctr"/>
          <a:lstStyle/>
          <a:p>
            <a:pPr indent="0" marL="0">
              <a:buNone/>
            </a:pPr>
            <a:r>
              <a:rPr lang="en-US" sz="1500" b="1" dirty="0">
                <a:solidFill>
                  <a:srgbClr val="F6F4EE"/>
                </a:solidFill>
                <a:latin typeface="JetBrains Mono" pitchFamily="34" charset="0"/>
                <a:ea typeface="JetBrains Mono" pitchFamily="34" charset="-122"/>
                <a:cs typeface="JetBrains Mono" pitchFamily="34" charset="-120"/>
              </a:rPr>
              <a:t>sense()</a:t>
            </a:r>
            <a:endParaRPr lang="en-US" sz="1500" dirty="0"/>
          </a:p>
        </p:txBody>
      </p:sp>
      <p:sp>
        <p:nvSpPr>
          <p:cNvPr id="7" name="Text 4"/>
          <p:cNvSpPr txBox="1"/>
          <p:nvPr/>
        </p:nvSpPr>
        <p:spPr>
          <a:xfrm>
            <a:off x="950976" y="2377440"/>
            <a:ext cx="1280160" cy="1280160"/>
          </a:xfrm>
          <a:prstGeom prst="rect">
            <a:avLst/>
          </a:prstGeom>
          <a:noFill/>
          <a:ln/>
        </p:spPr>
        <p:txBody>
          <a:bodyPr wrap="square" lIns="0" tIns="0" rIns="0" bIns="0" rtlCol="0" anchor="t"/>
          <a:lstStyle/>
          <a:p>
            <a:pPr indent="0" marL="0">
              <a:buNone/>
            </a:pPr>
            <a:r>
              <a:rPr lang="en-US" sz="1200" dirty="0">
                <a:solidFill>
                  <a:srgbClr val="F6F4EE"/>
                </a:solidFill>
                <a:latin typeface="IBM Plex Sans" pitchFamily="34" charset="0"/>
                <a:ea typeface="IBM Plex Sans" pitchFamily="34" charset="-122"/>
                <a:cs typeface="IBM Plex Sans" pitchFamily="34" charset="-120"/>
              </a:rPr>
              <a:t>each sensor reads 1 / (1 + gain × distance to light)</a:t>
            </a:r>
            <a:endParaRPr lang="en-US" sz="1200" dirty="0"/>
          </a:p>
        </p:txBody>
      </p:sp>
      <p:sp>
        <p:nvSpPr>
          <p:cNvPr id="8" name="Text 5"/>
          <p:cNvSpPr txBox="1"/>
          <p:nvPr/>
        </p:nvSpPr>
        <p:spPr>
          <a:xfrm>
            <a:off x="2368296" y="2468880"/>
            <a:ext cx="228600" cy="457200"/>
          </a:xfrm>
          <a:prstGeom prst="rect">
            <a:avLst/>
          </a:prstGeom>
          <a:noFill/>
          <a:ln/>
        </p:spPr>
        <p:txBody>
          <a:bodyPr wrap="square" lIns="0" tIns="0" rIns="0" bIns="0" rtlCol="0" anchor="ctr"/>
          <a:lstStyle/>
          <a:p>
            <a:pPr algn="ctr" indent="0" marL="0">
              <a:buNone/>
            </a:pPr>
            <a:r>
              <a:rPr lang="en-US" sz="1800" b="1" dirty="0">
                <a:solidFill>
                  <a:srgbClr val="5E6878"/>
                </a:solidFill>
                <a:latin typeface="IBM Plex Sans" pitchFamily="34" charset="0"/>
                <a:ea typeface="IBM Plex Sans" pitchFamily="34" charset="-122"/>
                <a:cs typeface="IBM Plex Sans" pitchFamily="34" charset="-120"/>
              </a:rPr>
              <a:t>→</a:t>
            </a:r>
            <a:endParaRPr lang="en-US" sz="1800" dirty="0"/>
          </a:p>
        </p:txBody>
      </p:sp>
      <p:sp>
        <p:nvSpPr>
          <p:cNvPr id="9" name="Shape 6"/>
          <p:cNvSpPr/>
          <p:nvPr/>
        </p:nvSpPr>
        <p:spPr>
          <a:xfrm>
            <a:off x="2596896" y="1783080"/>
            <a:ext cx="1554480" cy="2011680"/>
          </a:xfrm>
          <a:prstGeom prst="roundRect">
            <a:avLst>
              <a:gd name="adj" fmla="val 4706"/>
            </a:avLst>
          </a:prstGeom>
          <a:solidFill>
            <a:srgbClr val="B4521C"/>
          </a:solidFill>
          <a:ln w="12700">
            <a:solidFill>
              <a:srgbClr val="B4521C"/>
            </a:solidFill>
            <a:prstDash val="solid"/>
          </a:ln>
        </p:spPr>
      </p:sp>
      <p:sp>
        <p:nvSpPr>
          <p:cNvPr id="10" name="Text 7"/>
          <p:cNvSpPr txBox="1"/>
          <p:nvPr/>
        </p:nvSpPr>
        <p:spPr>
          <a:xfrm>
            <a:off x="2734056" y="1920240"/>
            <a:ext cx="1280160" cy="365760"/>
          </a:xfrm>
          <a:prstGeom prst="rect">
            <a:avLst/>
          </a:prstGeom>
          <a:noFill/>
          <a:ln/>
        </p:spPr>
        <p:txBody>
          <a:bodyPr wrap="square" lIns="0" tIns="0" rIns="0" bIns="0" rtlCol="0" anchor="ctr"/>
          <a:lstStyle/>
          <a:p>
            <a:pPr indent="0" marL="0">
              <a:buNone/>
            </a:pPr>
            <a:r>
              <a:rPr lang="en-US" sz="1500" b="1" dirty="0">
                <a:solidFill>
                  <a:srgbClr val="F6F4EE"/>
                </a:solidFill>
                <a:latin typeface="JetBrains Mono" pitchFamily="34" charset="0"/>
                <a:ea typeface="JetBrains Mono" pitchFamily="34" charset="-122"/>
                <a:cs typeface="JetBrains Mono" pitchFamily="34" charset="-120"/>
              </a:rPr>
              <a:t>think()</a:t>
            </a:r>
            <a:endParaRPr lang="en-US" sz="1500" dirty="0"/>
          </a:p>
        </p:txBody>
      </p:sp>
      <p:sp>
        <p:nvSpPr>
          <p:cNvPr id="11" name="Text 8"/>
          <p:cNvSpPr txBox="1"/>
          <p:nvPr/>
        </p:nvSpPr>
        <p:spPr>
          <a:xfrm>
            <a:off x="2734056" y="2377440"/>
            <a:ext cx="1280160" cy="1280160"/>
          </a:xfrm>
          <a:prstGeom prst="rect">
            <a:avLst/>
          </a:prstGeom>
          <a:noFill/>
          <a:ln/>
        </p:spPr>
        <p:txBody>
          <a:bodyPr wrap="square" lIns="0" tIns="0" rIns="0" bIns="0" rtlCol="0" anchor="t"/>
          <a:lstStyle/>
          <a:p>
            <a:pPr indent="0" marL="0">
              <a:buNone/>
            </a:pPr>
            <a:r>
              <a:rPr lang="en-US" sz="1200" dirty="0">
                <a:solidFill>
                  <a:srgbClr val="F6F4EE"/>
                </a:solidFill>
                <a:latin typeface="IBM Plex Sans" pitchFamily="34" charset="0"/>
                <a:ea typeface="IBM Plex Sans" pitchFamily="34" charset="-122"/>
                <a:cs typeface="IBM Plex Sans" pitchFamily="34" charset="-120"/>
              </a:rPr>
              <a:t>two sensor values become two motor values</a:t>
            </a:r>
            <a:endParaRPr lang="en-US" sz="1200" dirty="0"/>
          </a:p>
        </p:txBody>
      </p:sp>
      <p:sp>
        <p:nvSpPr>
          <p:cNvPr id="12" name="Text 9"/>
          <p:cNvSpPr txBox="1"/>
          <p:nvPr/>
        </p:nvSpPr>
        <p:spPr>
          <a:xfrm>
            <a:off x="4151376" y="2468880"/>
            <a:ext cx="228600" cy="457200"/>
          </a:xfrm>
          <a:prstGeom prst="rect">
            <a:avLst/>
          </a:prstGeom>
          <a:noFill/>
          <a:ln/>
        </p:spPr>
        <p:txBody>
          <a:bodyPr wrap="square" lIns="0" tIns="0" rIns="0" bIns="0" rtlCol="0" anchor="ctr"/>
          <a:lstStyle/>
          <a:p>
            <a:pPr algn="ctr" indent="0" marL="0">
              <a:buNone/>
            </a:pPr>
            <a:r>
              <a:rPr lang="en-US" sz="1800" b="1" dirty="0">
                <a:solidFill>
                  <a:srgbClr val="5E6878"/>
                </a:solidFill>
                <a:latin typeface="IBM Plex Sans" pitchFamily="34" charset="0"/>
                <a:ea typeface="IBM Plex Sans" pitchFamily="34" charset="-122"/>
                <a:cs typeface="IBM Plex Sans" pitchFamily="34" charset="-120"/>
              </a:rPr>
              <a:t>→</a:t>
            </a:r>
            <a:endParaRPr lang="en-US" sz="1800" dirty="0"/>
          </a:p>
        </p:txBody>
      </p:sp>
      <p:sp>
        <p:nvSpPr>
          <p:cNvPr id="13" name="Shape 10"/>
          <p:cNvSpPr/>
          <p:nvPr/>
        </p:nvSpPr>
        <p:spPr>
          <a:xfrm>
            <a:off x="4379976" y="1783080"/>
            <a:ext cx="1554480" cy="2011680"/>
          </a:xfrm>
          <a:prstGeom prst="roundRect">
            <a:avLst>
              <a:gd name="adj" fmla="val 4706"/>
            </a:avLst>
          </a:prstGeom>
          <a:solidFill>
            <a:srgbClr val="16213A"/>
          </a:solidFill>
          <a:ln w="12700">
            <a:solidFill>
              <a:srgbClr val="16213A"/>
            </a:solidFill>
            <a:prstDash val="solid"/>
          </a:ln>
        </p:spPr>
      </p:sp>
      <p:sp>
        <p:nvSpPr>
          <p:cNvPr id="14" name="Text 11"/>
          <p:cNvSpPr txBox="1"/>
          <p:nvPr/>
        </p:nvSpPr>
        <p:spPr>
          <a:xfrm>
            <a:off x="4517136" y="1920240"/>
            <a:ext cx="1280160" cy="365760"/>
          </a:xfrm>
          <a:prstGeom prst="rect">
            <a:avLst/>
          </a:prstGeom>
          <a:noFill/>
          <a:ln/>
        </p:spPr>
        <p:txBody>
          <a:bodyPr wrap="square" lIns="0" tIns="0" rIns="0" bIns="0" rtlCol="0" anchor="ctr"/>
          <a:lstStyle/>
          <a:p>
            <a:pPr indent="0" marL="0">
              <a:buNone/>
            </a:pPr>
            <a:r>
              <a:rPr lang="en-US" sz="1500" b="1" dirty="0">
                <a:solidFill>
                  <a:srgbClr val="F6F4EE"/>
                </a:solidFill>
                <a:latin typeface="JetBrains Mono" pitchFamily="34" charset="0"/>
                <a:ea typeface="JetBrains Mono" pitchFamily="34" charset="-122"/>
                <a:cs typeface="JetBrains Mono" pitchFamily="34" charset="-120"/>
              </a:rPr>
              <a:t>move()</a:t>
            </a:r>
            <a:endParaRPr lang="en-US" sz="1500" dirty="0"/>
          </a:p>
        </p:txBody>
      </p:sp>
      <p:sp>
        <p:nvSpPr>
          <p:cNvPr id="15" name="Text 12"/>
          <p:cNvSpPr txBox="1"/>
          <p:nvPr/>
        </p:nvSpPr>
        <p:spPr>
          <a:xfrm>
            <a:off x="4517136" y="2377440"/>
            <a:ext cx="1280160" cy="1280160"/>
          </a:xfrm>
          <a:prstGeom prst="rect">
            <a:avLst/>
          </a:prstGeom>
          <a:noFill/>
          <a:ln/>
        </p:spPr>
        <p:txBody>
          <a:bodyPr wrap="square" lIns="0" tIns="0" rIns="0" bIns="0" rtlCol="0" anchor="t"/>
          <a:lstStyle/>
          <a:p>
            <a:pPr indent="0" marL="0">
              <a:buNone/>
            </a:pPr>
            <a:r>
              <a:rPr lang="en-US" sz="1200" dirty="0">
                <a:solidFill>
                  <a:srgbClr val="F6F4EE"/>
                </a:solidFill>
                <a:latin typeface="IBM Plex Sans" pitchFamily="34" charset="0"/>
                <a:ea typeface="IBM Plex Sans" pitchFamily="34" charset="-122"/>
                <a:cs typeface="IBM Plex Sans" pitchFamily="34" charset="-120"/>
              </a:rPr>
              <a:t>motor difference turns, motor average drives</a:t>
            </a:r>
            <a:endParaRPr lang="en-US" sz="1200" dirty="0"/>
          </a:p>
        </p:txBody>
      </p:sp>
      <p:sp>
        <p:nvSpPr>
          <p:cNvPr id="16" name="Text 13"/>
          <p:cNvSpPr txBox="1"/>
          <p:nvPr/>
        </p:nvSpPr>
        <p:spPr>
          <a:xfrm>
            <a:off x="813816" y="4114800"/>
            <a:ext cx="5120640" cy="1737360"/>
          </a:xfrm>
          <a:prstGeom prst="rect">
            <a:avLst/>
          </a:prstGeom>
          <a:noFill/>
          <a:ln/>
        </p:spPr>
        <p:txBody>
          <a:bodyPr wrap="square" lIns="0" tIns="0" rIns="0" bIns="0" rtlCol="0" anchor="t"/>
          <a:lstStyle/>
          <a:p>
            <a:pPr marL="203200" indent="-203200">
              <a:spcAft>
                <a:spcPts val="800"/>
              </a:spcAft>
              <a:buSzPct val="100000"/>
              <a:buChar char="•"/>
            </a:pPr>
            <a:r>
              <a:rPr lang="en-US" sz="1300" dirty="0">
                <a:solidFill>
                  <a:srgbClr val="3E4A5C"/>
                </a:solidFill>
                <a:latin typeface="IBM Plex Sans" pitchFamily="34" charset="0"/>
                <a:ea typeface="IBM Plex Sans" pitchFamily="34" charset="-122"/>
                <a:cs typeface="IBM Plex Sans" pitchFamily="34" charset="-120"/>
              </a:rPr>
              <a:t>Light at the origin. Start on a </a:t>
            </a:r>
            <a:pPr indent="0" marL="0">
              <a:spcAft>
                <a:spcPts val="800"/>
              </a:spcAft>
              <a:buNone/>
            </a:pPr>
            <a:r>
              <a:rPr lang="en-US" sz="1300" b="1" dirty="0">
                <a:solidFill>
                  <a:srgbClr val="16213A"/>
                </a:solidFill>
                <a:latin typeface="IBM Plex Sans" pitchFamily="34" charset="0"/>
                <a:ea typeface="IBM Plex Sans" pitchFamily="34" charset="-122"/>
                <a:cs typeface="IBM Plex Sans" pitchFamily="34" charset="-120"/>
              </a:rPr>
              <a:t>random point 5 units away</a:t>
            </a:r>
            <a:pPr indent="0" marL="0">
              <a:spcAft>
                <a:spcPts val="800"/>
              </a:spcAft>
              <a:buNone/>
            </a:pPr>
            <a:r>
              <a:rPr lang="en-US" sz="1300" dirty="0">
                <a:solidFill>
                  <a:srgbClr val="3E4A5C"/>
                </a:solidFill>
                <a:latin typeface="IBM Plex Sans" pitchFamily="34" charset="0"/>
                <a:ea typeface="IBM Plex Sans" pitchFamily="34" charset="-122"/>
                <a:cs typeface="IBM Plex Sans" pitchFamily="34" charset="-120"/>
              </a:rPr>
              <a:t>, random heading.</a:t>
            </a:r>
            <a:endParaRPr lang="en-US" sz="1300" dirty="0"/>
          </a:p>
          <a:p>
            <a:pPr marL="203200" indent="-203200">
              <a:spcAft>
                <a:spcPts val="800"/>
              </a:spcAft>
              <a:buSzPct val="100000"/>
              <a:buChar char="•"/>
            </a:pPr>
            <a:r>
              <a:rPr lang="en-US" sz="1300" dirty="0">
                <a:solidFill>
                  <a:srgbClr val="3E4A5C"/>
                </a:solidFill>
                <a:latin typeface="IBM Plex Sans" pitchFamily="34" charset="0"/>
                <a:ea typeface="IBM Plex Sans" pitchFamily="34" charset="-122"/>
                <a:cs typeface="IBM Plex Sans" pitchFamily="34" charset="-120"/>
              </a:rPr>
              <a:t>Turn = </a:t>
            </a:r>
            <a:pPr indent="0" marL="0">
              <a:spcAft>
                <a:spcPts val="800"/>
              </a:spcAft>
              <a:buNone/>
            </a:pPr>
            <a:r>
              <a:rPr lang="en-US" sz="1300" b="1" dirty="0">
                <a:solidFill>
                  <a:srgbClr val="16213A"/>
                </a:solidFill>
                <a:latin typeface="IBM Plex Sans" pitchFamily="34" charset="0"/>
                <a:ea typeface="IBM Plex Sans" pitchFamily="34" charset="-122"/>
                <a:cs typeface="IBM Plex Sans" pitchFamily="34" charset="-120"/>
              </a:rPr>
              <a:t>turngain × (right − left)</a:t>
            </a:r>
            <a:pPr indent="0" marL="0">
              <a:spcAft>
                <a:spcPts val="800"/>
              </a:spcAft>
              <a:buNone/>
            </a:pPr>
            <a:r>
              <a:rPr lang="en-US" sz="1300" dirty="0">
                <a:solidFill>
                  <a:srgbClr val="3E4A5C"/>
                </a:solidFill>
                <a:latin typeface="IBM Plex Sans" pitchFamily="34" charset="0"/>
                <a:ea typeface="IBM Plex Sans" pitchFamily="34" charset="-122"/>
                <a:cs typeface="IBM Plex Sans" pitchFamily="34" charset="-120"/>
              </a:rPr>
              <a:t> + noise.</a:t>
            </a:r>
            <a:endParaRPr lang="en-US" sz="1300" dirty="0"/>
          </a:p>
          <a:p>
            <a:pPr marL="203200" indent="-203200">
              <a:spcAft>
                <a:spcPts val="800"/>
              </a:spcAft>
              <a:buSzPct val="100000"/>
              <a:buChar char="•"/>
            </a:pPr>
            <a:r>
              <a:rPr lang="en-US" sz="1300" dirty="0">
                <a:solidFill>
                  <a:srgbClr val="3E4A5C"/>
                </a:solidFill>
                <a:latin typeface="IBM Plex Sans" pitchFamily="34" charset="0"/>
                <a:ea typeface="IBM Plex Sans" pitchFamily="34" charset="-122"/>
                <a:cs typeface="IBM Plex Sans" pitchFamily="34" charset="-120"/>
              </a:rPr>
              <a:t>Speed = </a:t>
            </a:r>
            <a:pPr indent="0" marL="0">
              <a:spcAft>
                <a:spcPts val="800"/>
              </a:spcAft>
              <a:buNone/>
            </a:pPr>
            <a:r>
              <a:rPr lang="en-US" sz="1300" b="1" dirty="0">
                <a:solidFill>
                  <a:srgbClr val="16213A"/>
                </a:solidFill>
                <a:latin typeface="IBM Plex Sans" pitchFamily="34" charset="0"/>
                <a:ea typeface="IBM Plex Sans" pitchFamily="34" charset="-122"/>
                <a:cs typeface="IBM Plex Sans" pitchFamily="34" charset="-120"/>
              </a:rPr>
              <a:t>velgain × mean(left, right)</a:t>
            </a:r>
            <a:pPr indent="0" marL="0">
              <a:spcAft>
                <a:spcPts val="800"/>
              </a:spcAft>
              <a:buNone/>
            </a:pPr>
            <a:r>
              <a:rPr lang="en-US" sz="1300" dirty="0">
                <a:solidFill>
                  <a:srgbClr val="3E4A5C"/>
                </a:solidFill>
                <a:latin typeface="IBM Plex Sans" pitchFamily="34" charset="0"/>
                <a:ea typeface="IBM Plex Sans" pitchFamily="34" charset="-122"/>
                <a:cs typeface="IBM Plex Sans" pitchFamily="34" charset="-120"/>
              </a:rPr>
              <a:t>, and motors are capped to </a:t>
            </a:r>
            <a:pPr indent="0" marL="0">
              <a:spcAft>
                <a:spcPts val="800"/>
              </a:spcAft>
              <a:buNone/>
            </a:pPr>
            <a:r>
              <a:rPr lang="en-US" sz="1300" b="1" dirty="0">
                <a:solidFill>
                  <a:srgbClr val="16213A"/>
                </a:solidFill>
                <a:latin typeface="IBM Plex Sans" pitchFamily="34" charset="0"/>
                <a:ea typeface="IBM Plex Sans" pitchFamily="34" charset="-122"/>
                <a:cs typeface="IBM Plex Sans" pitchFamily="34" charset="-120"/>
              </a:rPr>
              <a:t>[0, 1]</a:t>
            </a:r>
            <a:pPr indent="0" marL="0">
              <a:spcAft>
                <a:spcPts val="800"/>
              </a:spcAft>
              <a:buNone/>
            </a:pPr>
            <a:r>
              <a:rPr lang="en-US" sz="1300" dirty="0">
                <a:solidFill>
                  <a:srgbClr val="3E4A5C"/>
                </a:solidFill>
                <a:latin typeface="IBM Plex Sans" pitchFamily="34" charset="0"/>
                <a:ea typeface="IBM Plex Sans" pitchFamily="34" charset="-122"/>
                <a:cs typeface="IBM Plex Sans" pitchFamily="34" charset="-120"/>
              </a:rPr>
              <a:t>.</a:t>
            </a:r>
            <a:endParaRPr lang="en-US" sz="1300" dirty="0"/>
          </a:p>
        </p:txBody>
      </p:sp>
      <p:sp>
        <p:nvSpPr>
          <p:cNvPr id="17" name="Shape 14"/>
          <p:cNvSpPr/>
          <p:nvPr/>
        </p:nvSpPr>
        <p:spPr>
          <a:xfrm>
            <a:off x="6309360" y="1783080"/>
            <a:ext cx="5065776" cy="2926080"/>
          </a:xfrm>
          <a:prstGeom prst="roundRect">
            <a:avLst>
              <a:gd name="adj" fmla="val 2500"/>
            </a:avLst>
          </a:prstGeom>
          <a:solidFill>
            <a:srgbClr val="16213A"/>
          </a:solidFill>
          <a:ln w="12700">
            <a:solidFill>
              <a:srgbClr val="16213A"/>
            </a:solidFill>
            <a:prstDash val="solid"/>
          </a:ln>
        </p:spPr>
      </p:sp>
      <p:sp>
        <p:nvSpPr>
          <p:cNvPr id="18" name="Text 15"/>
          <p:cNvSpPr txBox="1"/>
          <p:nvPr/>
        </p:nvSpPr>
        <p:spPr>
          <a:xfrm>
            <a:off x="6537960" y="1965960"/>
            <a:ext cx="4608576" cy="2560320"/>
          </a:xfrm>
          <a:prstGeom prst="rect">
            <a:avLst/>
          </a:prstGeom>
          <a:noFill/>
          <a:ln/>
        </p:spPr>
        <p:txBody>
          <a:bodyPr wrap="square" lIns="0" tIns="0" rIns="0" bIns="0" rtlCol="0" anchor="t"/>
          <a:lstStyle/>
          <a:p>
            <a:pPr indent="0" marL="0">
              <a:spcAft>
                <a:spcPts val="200"/>
              </a:spcAft>
              <a:buNone/>
            </a:pPr>
            <a:r>
              <a:rPr lang="en-US" sz="1100" dirty="0">
                <a:solidFill>
                  <a:srgbClr val="8FA0B8"/>
                </a:solidFill>
                <a:latin typeface="JetBrains Mono" pitchFamily="34" charset="0"/>
                <a:ea typeface="JetBrains Mono" pitchFamily="34" charset="-122"/>
                <a:cs typeface="JetBrains Mono" pitchFamily="34" charset="-120"/>
              </a:rPr>
              <a:t># env.py: Braitenberg (trimmed)</a:t>
            </a:r>
            <a:endParaRPr lang="en-US" sz="1100" dirty="0"/>
          </a:p>
          <a:p>
            <a:pPr indent="0" marL="0">
              <a:spcAft>
                <a:spcPts val="200"/>
              </a:spcAft>
              <a:buNone/>
            </a:pPr>
            <a:r>
              <a:rPr lang="en-US" sz="1100" dirty="0">
                <a:solidFill>
                  <a:srgbClr val="E8E4D8"/>
                </a:solidFill>
                <a:latin typeface="JetBrains Mono" pitchFamily="34" charset="0"/>
                <a:ea typeface="JetBrains Mono" pitchFamily="34" charset="-122"/>
                <a:cs typeface="JetBrains Mono" pitchFamily="34" charset="-120"/>
              </a:rPr>
              <a:t>def sense(self, light):</a:t>
            </a:r>
            <a:endParaRPr lang="en-US" sz="1100" dirty="0"/>
          </a:p>
          <a:p>
            <a:pPr indent="0" marL="0">
              <a:spcAft>
                <a:spcPts val="200"/>
              </a:spcAft>
              <a:buNone/>
            </a:pPr>
            <a:r>
              <a:rPr lang="en-US" sz="1100" dirty="0">
                <a:solidFill>
                  <a:srgbClr val="E8E4D8"/>
                </a:solidFill>
                <a:latin typeface="JetBrains Mono" pitchFamily="34" charset="0"/>
                <a:ea typeface="JetBrains Mono" pitchFamily="34" charset="-122"/>
                <a:cs typeface="JetBrains Mono" pitchFamily="34" charset="-120"/>
              </a:rPr>
              <a:t>    self.sensors[0] = 1/(1 + gain * left_dist)</a:t>
            </a:r>
            <a:endParaRPr lang="en-US" sz="1100" dirty="0"/>
          </a:p>
          <a:p>
            <a:pPr indent="0" marL="0">
              <a:spcAft>
                <a:spcPts val="200"/>
              </a:spcAft>
              <a:buNone/>
            </a:pPr>
            <a:r>
              <a:rPr lang="en-US" sz="1100" dirty="0">
                <a:solidFill>
                  <a:srgbClr val="E8E4D8"/>
                </a:solidFill>
                <a:latin typeface="JetBrains Mono" pitchFamily="34" charset="0"/>
                <a:ea typeface="JetBrains Mono" pitchFamily="34" charset="-122"/>
                <a:cs typeface="JetBrains Mono" pitchFamily="34" charset="-120"/>
              </a:rPr>
              <a:t>    self.sensors[1] = 1/(1 + gain * right_dist)</a:t>
            </a:r>
            <a:endParaRPr lang="en-US" sz="1100" dirty="0"/>
          </a:p>
          <a:p>
            <a:pPr indent="0" marL="0">
              <a:spcAft>
                <a:spcPts val="200"/>
              </a:spcAft>
              <a:buNone/>
            </a:pPr>
            <a:r>
              <a:rPr lang="en-US" sz="1100" dirty="0">
                <a:solidFill>
                  <a:srgbClr val="E8E4D8"/>
                </a:solidFill>
                <a:latin typeface="JetBrains Mono" pitchFamily="34" charset="0"/>
                <a:ea typeface="JetBrains Mono" pitchFamily="34" charset="-122"/>
                <a:cs typeface="JetBrains Mono" pitchFamily="34" charset="-120"/>
              </a:rPr>
              <a:t>def think(self):</a:t>
            </a:r>
            <a:endParaRPr lang="en-US" sz="1100" dirty="0"/>
          </a:p>
          <a:p>
            <a:pPr indent="0" marL="0">
              <a:spcAft>
                <a:spcPts val="200"/>
              </a:spcAft>
              <a:buNone/>
            </a:pPr>
            <a:r>
              <a:rPr lang="en-US" sz="1100" dirty="0">
                <a:solidFill>
                  <a:srgbClr val="F2A65A"/>
                </a:solidFill>
                <a:latin typeface="JetBrains Mono" pitchFamily="34" charset="0"/>
                <a:ea typeface="JetBrains Mono" pitchFamily="34" charset="-122"/>
                <a:cs typeface="JetBrains Mono" pitchFamily="34" charset="-120"/>
              </a:rPr>
              <a:t>    self.motors = np.clip(</a:t>
            </a:r>
            <a:endParaRPr lang="en-US" sz="1100" dirty="0"/>
          </a:p>
          <a:p>
            <a:pPr indent="0" marL="0">
              <a:spcAft>
                <a:spcPts val="200"/>
              </a:spcAft>
              <a:buNone/>
            </a:pPr>
            <a:r>
              <a:rPr lang="en-US" sz="1100" dirty="0">
                <a:solidFill>
                  <a:srgbClr val="F2A65A"/>
                </a:solidFill>
                <a:latin typeface="JetBrains Mono" pitchFamily="34" charset="0"/>
                <a:ea typeface="JetBrains Mono" pitchFamily="34" charset="-122"/>
                <a:cs typeface="JetBrains Mono" pitchFamily="34" charset="-120"/>
              </a:rPr>
              <a:t>        self.controller.forward(self.sensors)[0], 0, 1)</a:t>
            </a:r>
            <a:endParaRPr lang="en-US" sz="1100" dirty="0"/>
          </a:p>
          <a:p>
            <a:pPr indent="0" marL="0">
              <a:spcAft>
                <a:spcPts val="200"/>
              </a:spcAft>
              <a:buNone/>
            </a:pPr>
            <a:r>
              <a:rPr lang="en-US" sz="1100" dirty="0">
                <a:solidFill>
                  <a:srgbClr val="E8E4D8"/>
                </a:solidFill>
                <a:latin typeface="JetBrains Mono" pitchFamily="34" charset="0"/>
                <a:ea typeface="JetBrains Mono" pitchFamily="34" charset="-122"/>
                <a:cs typeface="JetBrains Mono" pitchFamily="34" charset="-120"/>
              </a:rPr>
              <a:t>def move(self):</a:t>
            </a:r>
            <a:endParaRPr lang="en-US" sz="1100" dirty="0"/>
          </a:p>
          <a:p>
            <a:pPr indent="0" marL="0">
              <a:spcAft>
                <a:spcPts val="200"/>
              </a:spcAft>
              <a:buNone/>
            </a:pPr>
            <a:r>
              <a:rPr lang="en-US" sz="1100" dirty="0">
                <a:solidFill>
                  <a:srgbClr val="E8E4D8"/>
                </a:solidFill>
                <a:latin typeface="JetBrains Mono" pitchFamily="34" charset="0"/>
                <a:ea typeface="JetBrains Mono" pitchFamily="34" charset="-122"/>
                <a:cs typeface="JetBrains Mono" pitchFamily="34" charset="-120"/>
              </a:rPr>
              <a:t>    self.orientation += turngain*(m[1]-m[0]) + noise</a:t>
            </a:r>
            <a:endParaRPr lang="en-US" sz="1100" dirty="0"/>
          </a:p>
          <a:p>
            <a:pPr indent="0" marL="0">
              <a:spcAft>
                <a:spcPts val="200"/>
              </a:spcAft>
              <a:buNone/>
            </a:pPr>
            <a:r>
              <a:rPr lang="en-US" sz="1100" dirty="0">
                <a:solidFill>
                  <a:srgbClr val="E8E4D8"/>
                </a:solidFill>
                <a:latin typeface="JetBrains Mono" pitchFamily="34" charset="0"/>
                <a:ea typeface="JetBrains Mono" pitchFamily="34" charset="-122"/>
                <a:cs typeface="JetBrains Mono" pitchFamily="34" charset="-120"/>
              </a:rPr>
              <a:t>    self.velocity = velgain*(m[0]+m[1])/2</a:t>
            </a:r>
            <a:endParaRPr lang="en-US" sz="1100" dirty="0"/>
          </a:p>
        </p:txBody>
      </p:sp>
      <p:sp>
        <p:nvSpPr>
          <p:cNvPr id="19" name="Text 16"/>
          <p:cNvSpPr txBox="1"/>
          <p:nvPr/>
        </p:nvSpPr>
        <p:spPr>
          <a:xfrm>
            <a:off x="6309360" y="4892040"/>
            <a:ext cx="5065776" cy="365760"/>
          </a:xfrm>
          <a:prstGeom prst="rect">
            <a:avLst/>
          </a:prstGeom>
          <a:noFill/>
          <a:ln/>
        </p:spPr>
        <p:txBody>
          <a:bodyPr wrap="square" lIns="0" tIns="0" rIns="0" bIns="0" rtlCol="0" anchor="ctr"/>
          <a:lstStyle/>
          <a:p>
            <a:pPr indent="0" marL="0">
              <a:buNone/>
            </a:pPr>
            <a:r>
              <a:rPr lang="en-US" sz="1300" i="1" dirty="0">
                <a:solidFill>
                  <a:srgbClr val="3E4A5C"/>
                </a:solidFill>
                <a:latin typeface="IBM Plex Sans" pitchFamily="34" charset="0"/>
                <a:ea typeface="IBM Plex Sans" pitchFamily="34" charset="-122"/>
                <a:cs typeface="IBM Plex Sans" pitchFamily="34" charset="-120"/>
              </a:rPr>
              <a:t>The brain is whatever object sits in self.controller.</a:t>
            </a:r>
            <a:endParaRPr lang="en-US" sz="1300" dirty="0"/>
          </a:p>
        </p:txBody>
      </p:sp>
      <p:sp>
        <p:nvSpPr>
          <p:cNvPr id="20" name="Text 17"/>
          <p:cNvSpPr txBox="1"/>
          <p:nvPr/>
        </p:nvSpPr>
        <p:spPr>
          <a:xfrm>
            <a:off x="813816" y="6355080"/>
            <a:ext cx="10561320" cy="256032"/>
          </a:xfrm>
          <a:prstGeom prst="rect">
            <a:avLst/>
          </a:prstGeom>
          <a:noFill/>
          <a:ln/>
        </p:spPr>
        <p:txBody>
          <a:bodyPr wrap="square" lIns="0" tIns="0" rIns="0" bIns="0" rtlCol="0" anchor="ctr"/>
          <a:lstStyle/>
          <a:p>
            <a:pPr indent="0" marL="0">
              <a:buNone/>
            </a:pPr>
            <a:r>
              <a:rPr lang="en-US" sz="1000" dirty="0">
                <a:solidFill>
                  <a:srgbClr val="5E6878"/>
                </a:solidFill>
                <a:latin typeface="JetBrains Mono" pitchFamily="34" charset="0"/>
                <a:ea typeface="JetBrains Mono" pitchFamily="34" charset="-122"/>
                <a:cs typeface="JetBrains Mono" pitchFamily="34" charset="-120"/>
              </a:rPr>
              <a:t>PythonBasics/Unit4/env.py</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4EE"/>
        </a:solidFill>
      </p:bgPr>
    </p:bg>
    <p:spTree>
      <p:nvGrpSpPr>
        <p:cNvPr id="1" name=""/>
        <p:cNvGrpSpPr/>
        <p:nvPr/>
      </p:nvGrpSpPr>
      <p:grpSpPr>
        <a:xfrm>
          <a:off x="0" y="0"/>
          <a:ext cx="0" cy="0"/>
          <a:chOff x="0" y="0"/>
          <a:chExt cx="0" cy="0"/>
        </a:xfrm>
      </p:grpSpPr>
      <p:sp>
        <p:nvSpPr>
          <p:cNvPr id="2" name="Text 0"/>
          <p:cNvSpPr txBox="1"/>
          <p:nvPr/>
        </p:nvSpPr>
        <p:spPr>
          <a:xfrm>
            <a:off x="813816" y="548640"/>
            <a:ext cx="10561320" cy="274320"/>
          </a:xfrm>
          <a:prstGeom prst="rect">
            <a:avLst/>
          </a:prstGeom>
          <a:noFill/>
          <a:ln/>
        </p:spPr>
        <p:txBody>
          <a:bodyPr wrap="square" lIns="0" tIns="0" rIns="0" bIns="0" rtlCol="0" anchor="ctr"/>
          <a:lstStyle/>
          <a:p>
            <a:pPr indent="0" marL="0">
              <a:buNone/>
            </a:pPr>
            <a:r>
              <a:rPr lang="en-US" sz="1200" b="1" spc="100" kern="0" dirty="0">
                <a:solidFill>
                  <a:srgbClr val="B4521C"/>
                </a:solidFill>
                <a:latin typeface="IBM Plex Sans" pitchFamily="34" charset="0"/>
                <a:ea typeface="IBM Plex Sans" pitchFamily="34" charset="-122"/>
                <a:cs typeface="IBM Plex Sans" pitchFamily="34" charset="-120"/>
              </a:rPr>
              <a:t>RECAP · THE ALGORITHM</a:t>
            </a:r>
            <a:endParaRPr lang="en-US" sz="1200" dirty="0"/>
          </a:p>
        </p:txBody>
      </p:sp>
      <p:sp>
        <p:nvSpPr>
          <p:cNvPr id="3" name="Text 1"/>
          <p:cNvSpPr txBox="1"/>
          <p:nvPr/>
        </p:nvSpPr>
        <p:spPr>
          <a:xfrm>
            <a:off x="813816" y="841248"/>
            <a:ext cx="10561320" cy="548640"/>
          </a:xfrm>
          <a:prstGeom prst="rect">
            <a:avLst/>
          </a:prstGeom>
          <a:noFill/>
          <a:ln/>
        </p:spPr>
        <p:txBody>
          <a:bodyPr wrap="square" lIns="0" tIns="0" rIns="0" bIns="0" rtlCol="0" anchor="ctr"/>
          <a:lstStyle/>
          <a:p>
            <a:pPr indent="0" marL="0">
              <a:buNone/>
            </a:pPr>
            <a:r>
              <a:rPr lang="en-US" sz="3200" b="1" dirty="0">
                <a:solidFill>
                  <a:srgbClr val="16213A"/>
                </a:solidFill>
                <a:latin typeface="IBM Plex Sans" pitchFamily="34" charset="0"/>
                <a:ea typeface="IBM Plex Sans" pitchFamily="34" charset="-122"/>
                <a:cs typeface="IBM Plex Sans" pitchFamily="34" charset="-120"/>
              </a:rPr>
              <a:t>The evolutionary algorithm: one tournament</a:t>
            </a:r>
            <a:endParaRPr lang="en-US" sz="3200" dirty="0"/>
          </a:p>
        </p:txBody>
      </p:sp>
      <p:sp>
        <p:nvSpPr>
          <p:cNvPr id="5" name="Shape 2"/>
          <p:cNvSpPr/>
          <p:nvPr/>
        </p:nvSpPr>
        <p:spPr>
          <a:xfrm>
            <a:off x="813816" y="1783080"/>
            <a:ext cx="1920240" cy="1783080"/>
          </a:xfrm>
          <a:prstGeom prst="roundRect">
            <a:avLst>
              <a:gd name="adj" fmla="val 4103"/>
            </a:avLst>
          </a:prstGeom>
          <a:solidFill>
            <a:srgbClr val="FFFDF8"/>
          </a:solidFill>
          <a:ln w="12700">
            <a:solidFill>
              <a:srgbClr val="E2DDD0"/>
            </a:solidFill>
            <a:prstDash val="solid"/>
          </a:ln>
        </p:spPr>
      </p:sp>
      <p:sp>
        <p:nvSpPr>
          <p:cNvPr id="6" name="Shape 3"/>
          <p:cNvSpPr/>
          <p:nvPr/>
        </p:nvSpPr>
        <p:spPr>
          <a:xfrm>
            <a:off x="996696" y="1947672"/>
            <a:ext cx="384048" cy="384048"/>
          </a:xfrm>
          <a:prstGeom prst="ellipse">
            <a:avLst/>
          </a:prstGeom>
          <a:solidFill>
            <a:srgbClr val="1D6F66"/>
          </a:solidFill>
          <a:ln w="12700">
            <a:solidFill>
              <a:srgbClr val="1D6F66"/>
            </a:solidFill>
            <a:prstDash val="solid"/>
          </a:ln>
        </p:spPr>
      </p:sp>
      <p:sp>
        <p:nvSpPr>
          <p:cNvPr id="7" name="Text 4"/>
          <p:cNvSpPr txBox="1"/>
          <p:nvPr/>
        </p:nvSpPr>
        <p:spPr>
          <a:xfrm>
            <a:off x="996696" y="1947672"/>
            <a:ext cx="384048" cy="384048"/>
          </a:xfrm>
          <a:prstGeom prst="rect">
            <a:avLst/>
          </a:prstGeom>
          <a:noFill/>
          <a:ln/>
        </p:spPr>
        <p:txBody>
          <a:bodyPr wrap="square" lIns="0" tIns="0" rIns="0" bIns="0" rtlCol="0" anchor="ctr"/>
          <a:lstStyle/>
          <a:p>
            <a:pPr algn="ctr" indent="0" marL="0">
              <a:buNone/>
            </a:pPr>
            <a:r>
              <a:rPr lang="en-US" sz="1400" b="1" dirty="0">
                <a:solidFill>
                  <a:srgbClr val="F6F4EE"/>
                </a:solidFill>
                <a:latin typeface="IBM Plex Sans" pitchFamily="34" charset="0"/>
                <a:ea typeface="IBM Plex Sans" pitchFamily="34" charset="-122"/>
                <a:cs typeface="IBM Plex Sans" pitchFamily="34" charset="-120"/>
              </a:rPr>
              <a:t>1</a:t>
            </a:r>
            <a:endParaRPr lang="en-US" sz="1400" dirty="0"/>
          </a:p>
        </p:txBody>
      </p:sp>
      <p:sp>
        <p:nvSpPr>
          <p:cNvPr id="8" name="Text 5"/>
          <p:cNvSpPr txBox="1"/>
          <p:nvPr/>
        </p:nvSpPr>
        <p:spPr>
          <a:xfrm>
            <a:off x="996696" y="2468880"/>
            <a:ext cx="1600200" cy="320040"/>
          </a:xfrm>
          <a:prstGeom prst="rect">
            <a:avLst/>
          </a:prstGeom>
          <a:noFill/>
          <a:ln/>
        </p:spPr>
        <p:txBody>
          <a:bodyPr wrap="square" lIns="0" tIns="0" rIns="0" bIns="0" rtlCol="0" anchor="ctr"/>
          <a:lstStyle/>
          <a:p>
            <a:pPr indent="0" marL="0">
              <a:buNone/>
            </a:pPr>
            <a:r>
              <a:rPr lang="en-US" sz="1600" b="1" dirty="0">
                <a:solidFill>
                  <a:srgbClr val="16213A"/>
                </a:solidFill>
                <a:latin typeface="IBM Plex Sans" pitchFamily="34" charset="0"/>
                <a:ea typeface="IBM Plex Sans" pitchFamily="34" charset="-122"/>
                <a:cs typeface="IBM Plex Sans" pitchFamily="34" charset="-120"/>
              </a:rPr>
              <a:t>Pick two</a:t>
            </a:r>
            <a:endParaRPr lang="en-US" sz="1600" dirty="0"/>
          </a:p>
        </p:txBody>
      </p:sp>
      <p:sp>
        <p:nvSpPr>
          <p:cNvPr id="9" name="Text 6"/>
          <p:cNvSpPr txBox="1"/>
          <p:nvPr/>
        </p:nvSpPr>
        <p:spPr>
          <a:xfrm>
            <a:off x="996696" y="2788920"/>
            <a:ext cx="1600200" cy="731520"/>
          </a:xfrm>
          <a:prstGeom prst="rect">
            <a:avLst/>
          </a:prstGeom>
          <a:noFill/>
          <a:ln/>
        </p:spPr>
        <p:txBody>
          <a:bodyPr wrap="square" lIns="0" tIns="0" rIns="0" bIns="0" rtlCol="0" anchor="t"/>
          <a:lstStyle/>
          <a:p>
            <a:pPr indent="0" marL="0">
              <a:buNone/>
            </a:pPr>
            <a:r>
              <a:rPr lang="en-US" sz="1200" dirty="0">
                <a:solidFill>
                  <a:srgbClr val="3E4A5C"/>
                </a:solidFill>
                <a:latin typeface="IBM Plex Sans" pitchFamily="34" charset="0"/>
                <a:ea typeface="IBM Plex Sans" pitchFamily="34" charset="-122"/>
                <a:cs typeface="IBM Plex Sans" pitchFamily="34" charset="-120"/>
              </a:rPr>
              <a:t>Random a, and a neighbor b within a deme of 5</a:t>
            </a:r>
            <a:endParaRPr lang="en-US" sz="1200" dirty="0"/>
          </a:p>
        </p:txBody>
      </p:sp>
      <p:sp>
        <p:nvSpPr>
          <p:cNvPr id="10" name="Text 7"/>
          <p:cNvSpPr txBox="1"/>
          <p:nvPr/>
        </p:nvSpPr>
        <p:spPr>
          <a:xfrm>
            <a:off x="2715768" y="2377440"/>
            <a:ext cx="274320" cy="365760"/>
          </a:xfrm>
          <a:prstGeom prst="rect">
            <a:avLst/>
          </a:prstGeom>
          <a:noFill/>
          <a:ln/>
        </p:spPr>
        <p:txBody>
          <a:bodyPr wrap="square" lIns="0" tIns="0" rIns="0" bIns="0" rtlCol="0" anchor="ctr"/>
          <a:lstStyle/>
          <a:p>
            <a:pPr algn="ctr" indent="0" marL="0">
              <a:buNone/>
            </a:pPr>
            <a:r>
              <a:rPr lang="en-US" sz="1600" b="1" dirty="0">
                <a:solidFill>
                  <a:srgbClr val="5E6878"/>
                </a:solidFill>
                <a:latin typeface="IBM Plex Sans" pitchFamily="34" charset="0"/>
                <a:ea typeface="IBM Plex Sans" pitchFamily="34" charset="-122"/>
                <a:cs typeface="IBM Plex Sans" pitchFamily="34" charset="-120"/>
              </a:rPr>
              <a:t>→</a:t>
            </a:r>
            <a:endParaRPr lang="en-US" sz="1600" dirty="0"/>
          </a:p>
        </p:txBody>
      </p:sp>
      <p:sp>
        <p:nvSpPr>
          <p:cNvPr id="11" name="Shape 8"/>
          <p:cNvSpPr/>
          <p:nvPr/>
        </p:nvSpPr>
        <p:spPr>
          <a:xfrm>
            <a:off x="2980944" y="1783080"/>
            <a:ext cx="1920240" cy="1783080"/>
          </a:xfrm>
          <a:prstGeom prst="roundRect">
            <a:avLst>
              <a:gd name="adj" fmla="val 4103"/>
            </a:avLst>
          </a:prstGeom>
          <a:solidFill>
            <a:srgbClr val="FFFDF8"/>
          </a:solidFill>
          <a:ln w="12700">
            <a:solidFill>
              <a:srgbClr val="E2DDD0"/>
            </a:solidFill>
            <a:prstDash val="solid"/>
          </a:ln>
        </p:spPr>
      </p:sp>
      <p:sp>
        <p:nvSpPr>
          <p:cNvPr id="12" name="Shape 9"/>
          <p:cNvSpPr/>
          <p:nvPr/>
        </p:nvSpPr>
        <p:spPr>
          <a:xfrm>
            <a:off x="3163824" y="1947672"/>
            <a:ext cx="384048" cy="384048"/>
          </a:xfrm>
          <a:prstGeom prst="ellipse">
            <a:avLst/>
          </a:prstGeom>
          <a:solidFill>
            <a:srgbClr val="1D6F66"/>
          </a:solidFill>
          <a:ln w="12700">
            <a:solidFill>
              <a:srgbClr val="1D6F66"/>
            </a:solidFill>
            <a:prstDash val="solid"/>
          </a:ln>
        </p:spPr>
      </p:sp>
      <p:sp>
        <p:nvSpPr>
          <p:cNvPr id="13" name="Text 10"/>
          <p:cNvSpPr txBox="1"/>
          <p:nvPr/>
        </p:nvSpPr>
        <p:spPr>
          <a:xfrm>
            <a:off x="3163824" y="1947672"/>
            <a:ext cx="384048" cy="384048"/>
          </a:xfrm>
          <a:prstGeom prst="rect">
            <a:avLst/>
          </a:prstGeom>
          <a:noFill/>
          <a:ln/>
        </p:spPr>
        <p:txBody>
          <a:bodyPr wrap="square" lIns="0" tIns="0" rIns="0" bIns="0" rtlCol="0" anchor="ctr"/>
          <a:lstStyle/>
          <a:p>
            <a:pPr algn="ctr" indent="0" marL="0">
              <a:buNone/>
            </a:pPr>
            <a:r>
              <a:rPr lang="en-US" sz="1400" b="1" dirty="0">
                <a:solidFill>
                  <a:srgbClr val="F6F4EE"/>
                </a:solidFill>
                <a:latin typeface="IBM Plex Sans" pitchFamily="34" charset="0"/>
                <a:ea typeface="IBM Plex Sans" pitchFamily="34" charset="-122"/>
                <a:cs typeface="IBM Plex Sans" pitchFamily="34" charset="-120"/>
              </a:rPr>
              <a:t>2</a:t>
            </a:r>
            <a:endParaRPr lang="en-US" sz="1400" dirty="0"/>
          </a:p>
        </p:txBody>
      </p:sp>
      <p:sp>
        <p:nvSpPr>
          <p:cNvPr id="14" name="Text 11"/>
          <p:cNvSpPr txBox="1"/>
          <p:nvPr/>
        </p:nvSpPr>
        <p:spPr>
          <a:xfrm>
            <a:off x="3163824" y="2468880"/>
            <a:ext cx="1600200" cy="320040"/>
          </a:xfrm>
          <a:prstGeom prst="rect">
            <a:avLst/>
          </a:prstGeom>
          <a:noFill/>
          <a:ln/>
        </p:spPr>
        <p:txBody>
          <a:bodyPr wrap="square" lIns="0" tIns="0" rIns="0" bIns="0" rtlCol="0" anchor="ctr"/>
          <a:lstStyle/>
          <a:p>
            <a:pPr indent="0" marL="0">
              <a:buNone/>
            </a:pPr>
            <a:r>
              <a:rPr lang="en-US" sz="1600" b="1" dirty="0">
                <a:solidFill>
                  <a:srgbClr val="16213A"/>
                </a:solidFill>
                <a:latin typeface="IBM Plex Sans" pitchFamily="34" charset="0"/>
                <a:ea typeface="IBM Plex Sans" pitchFamily="34" charset="-122"/>
                <a:cs typeface="IBM Plex Sans" pitchFamily="34" charset="-120"/>
              </a:rPr>
              <a:t>Compare</a:t>
            </a:r>
            <a:endParaRPr lang="en-US" sz="1600" dirty="0"/>
          </a:p>
        </p:txBody>
      </p:sp>
      <p:sp>
        <p:nvSpPr>
          <p:cNvPr id="15" name="Text 12"/>
          <p:cNvSpPr txBox="1"/>
          <p:nvPr/>
        </p:nvSpPr>
        <p:spPr>
          <a:xfrm>
            <a:off x="3163824" y="2788920"/>
            <a:ext cx="1600200" cy="731520"/>
          </a:xfrm>
          <a:prstGeom prst="rect">
            <a:avLst/>
          </a:prstGeom>
          <a:noFill/>
          <a:ln/>
        </p:spPr>
        <p:txBody>
          <a:bodyPr wrap="square" lIns="0" tIns="0" rIns="0" bIns="0" rtlCol="0" anchor="t"/>
          <a:lstStyle/>
          <a:p>
            <a:pPr indent="0" marL="0">
              <a:buNone/>
            </a:pPr>
            <a:r>
              <a:rPr lang="en-US" sz="1200" dirty="0">
                <a:solidFill>
                  <a:srgbClr val="3E4A5C"/>
                </a:solidFill>
                <a:latin typeface="IBM Plex Sans" pitchFamily="34" charset="0"/>
                <a:ea typeface="IBM Plex Sans" pitchFamily="34" charset="-122"/>
                <a:cs typeface="IBM Plex Sans" pitchFamily="34" charset="-120"/>
              </a:rPr>
              <a:t>The higher fitness is the winner</a:t>
            </a:r>
            <a:endParaRPr lang="en-US" sz="1200" dirty="0"/>
          </a:p>
        </p:txBody>
      </p:sp>
      <p:sp>
        <p:nvSpPr>
          <p:cNvPr id="16" name="Text 13"/>
          <p:cNvSpPr txBox="1"/>
          <p:nvPr/>
        </p:nvSpPr>
        <p:spPr>
          <a:xfrm>
            <a:off x="4882896" y="2377440"/>
            <a:ext cx="274320" cy="365760"/>
          </a:xfrm>
          <a:prstGeom prst="rect">
            <a:avLst/>
          </a:prstGeom>
          <a:noFill/>
          <a:ln/>
        </p:spPr>
        <p:txBody>
          <a:bodyPr wrap="square" lIns="0" tIns="0" rIns="0" bIns="0" rtlCol="0" anchor="ctr"/>
          <a:lstStyle/>
          <a:p>
            <a:pPr algn="ctr" indent="0" marL="0">
              <a:buNone/>
            </a:pPr>
            <a:r>
              <a:rPr lang="en-US" sz="1600" b="1" dirty="0">
                <a:solidFill>
                  <a:srgbClr val="5E6878"/>
                </a:solidFill>
                <a:latin typeface="IBM Plex Sans" pitchFamily="34" charset="0"/>
                <a:ea typeface="IBM Plex Sans" pitchFamily="34" charset="-122"/>
                <a:cs typeface="IBM Plex Sans" pitchFamily="34" charset="-120"/>
              </a:rPr>
              <a:t>→</a:t>
            </a:r>
            <a:endParaRPr lang="en-US" sz="1600" dirty="0"/>
          </a:p>
        </p:txBody>
      </p:sp>
      <p:sp>
        <p:nvSpPr>
          <p:cNvPr id="17" name="Shape 14"/>
          <p:cNvSpPr/>
          <p:nvPr/>
        </p:nvSpPr>
        <p:spPr>
          <a:xfrm>
            <a:off x="5148072" y="1783080"/>
            <a:ext cx="1920240" cy="1783080"/>
          </a:xfrm>
          <a:prstGeom prst="roundRect">
            <a:avLst>
              <a:gd name="adj" fmla="val 4103"/>
            </a:avLst>
          </a:prstGeom>
          <a:solidFill>
            <a:srgbClr val="FFFDF8"/>
          </a:solidFill>
          <a:ln w="12700">
            <a:solidFill>
              <a:srgbClr val="E2DDD0"/>
            </a:solidFill>
            <a:prstDash val="solid"/>
          </a:ln>
        </p:spPr>
      </p:sp>
      <p:sp>
        <p:nvSpPr>
          <p:cNvPr id="18" name="Shape 15"/>
          <p:cNvSpPr/>
          <p:nvPr/>
        </p:nvSpPr>
        <p:spPr>
          <a:xfrm>
            <a:off x="5330952" y="1947672"/>
            <a:ext cx="384048" cy="384048"/>
          </a:xfrm>
          <a:prstGeom prst="ellipse">
            <a:avLst/>
          </a:prstGeom>
          <a:solidFill>
            <a:srgbClr val="1D6F66"/>
          </a:solidFill>
          <a:ln w="12700">
            <a:solidFill>
              <a:srgbClr val="1D6F66"/>
            </a:solidFill>
            <a:prstDash val="solid"/>
          </a:ln>
        </p:spPr>
      </p:sp>
      <p:sp>
        <p:nvSpPr>
          <p:cNvPr id="19" name="Text 16"/>
          <p:cNvSpPr txBox="1"/>
          <p:nvPr/>
        </p:nvSpPr>
        <p:spPr>
          <a:xfrm>
            <a:off x="5330952" y="1947672"/>
            <a:ext cx="384048" cy="384048"/>
          </a:xfrm>
          <a:prstGeom prst="rect">
            <a:avLst/>
          </a:prstGeom>
          <a:noFill/>
          <a:ln/>
        </p:spPr>
        <p:txBody>
          <a:bodyPr wrap="square" lIns="0" tIns="0" rIns="0" bIns="0" rtlCol="0" anchor="ctr"/>
          <a:lstStyle/>
          <a:p>
            <a:pPr algn="ctr" indent="0" marL="0">
              <a:buNone/>
            </a:pPr>
            <a:r>
              <a:rPr lang="en-US" sz="1400" b="1" dirty="0">
                <a:solidFill>
                  <a:srgbClr val="F6F4EE"/>
                </a:solidFill>
                <a:latin typeface="IBM Plex Sans" pitchFamily="34" charset="0"/>
                <a:ea typeface="IBM Plex Sans" pitchFamily="34" charset="-122"/>
                <a:cs typeface="IBM Plex Sans" pitchFamily="34" charset="-120"/>
              </a:rPr>
              <a:t>3</a:t>
            </a:r>
            <a:endParaRPr lang="en-US" sz="1400" dirty="0"/>
          </a:p>
        </p:txBody>
      </p:sp>
      <p:sp>
        <p:nvSpPr>
          <p:cNvPr id="20" name="Text 17"/>
          <p:cNvSpPr txBox="1"/>
          <p:nvPr/>
        </p:nvSpPr>
        <p:spPr>
          <a:xfrm>
            <a:off x="5330952" y="2468880"/>
            <a:ext cx="1600200" cy="320040"/>
          </a:xfrm>
          <a:prstGeom prst="rect">
            <a:avLst/>
          </a:prstGeom>
          <a:noFill/>
          <a:ln/>
        </p:spPr>
        <p:txBody>
          <a:bodyPr wrap="square" lIns="0" tIns="0" rIns="0" bIns="0" rtlCol="0" anchor="ctr"/>
          <a:lstStyle/>
          <a:p>
            <a:pPr indent="0" marL="0">
              <a:buNone/>
            </a:pPr>
            <a:r>
              <a:rPr lang="en-US" sz="1600" b="1" dirty="0">
                <a:solidFill>
                  <a:srgbClr val="16213A"/>
                </a:solidFill>
                <a:latin typeface="IBM Plex Sans" pitchFamily="34" charset="0"/>
                <a:ea typeface="IBM Plex Sans" pitchFamily="34" charset="-122"/>
                <a:cs typeface="IBM Plex Sans" pitchFamily="34" charset="-120"/>
              </a:rPr>
              <a:t>Transfect</a:t>
            </a:r>
            <a:endParaRPr lang="en-US" sz="1600" dirty="0"/>
          </a:p>
        </p:txBody>
      </p:sp>
      <p:sp>
        <p:nvSpPr>
          <p:cNvPr id="21" name="Text 18"/>
          <p:cNvSpPr txBox="1"/>
          <p:nvPr/>
        </p:nvSpPr>
        <p:spPr>
          <a:xfrm>
            <a:off x="5330952" y="2788920"/>
            <a:ext cx="1600200" cy="731520"/>
          </a:xfrm>
          <a:prstGeom prst="rect">
            <a:avLst/>
          </a:prstGeom>
          <a:noFill/>
          <a:ln/>
        </p:spPr>
        <p:txBody>
          <a:bodyPr wrap="square" lIns="0" tIns="0" rIns="0" bIns="0" rtlCol="0" anchor="t"/>
          <a:lstStyle/>
          <a:p>
            <a:pPr indent="0" marL="0">
              <a:buNone/>
            </a:pPr>
            <a:r>
              <a:rPr lang="en-US" sz="1200" dirty="0">
                <a:solidFill>
                  <a:srgbClr val="3E4A5C"/>
                </a:solidFill>
                <a:latin typeface="IBM Plex Sans" pitchFamily="34" charset="0"/>
                <a:ea typeface="IBM Plex Sans" pitchFamily="34" charset="-122"/>
                <a:cs typeface="IBM Plex Sans" pitchFamily="34" charset="-120"/>
              </a:rPr>
              <a:t>Loser takes each gene from the winner with prob. 0.5</a:t>
            </a:r>
            <a:endParaRPr lang="en-US" sz="1200" dirty="0"/>
          </a:p>
        </p:txBody>
      </p:sp>
      <p:sp>
        <p:nvSpPr>
          <p:cNvPr id="22" name="Text 19"/>
          <p:cNvSpPr txBox="1"/>
          <p:nvPr/>
        </p:nvSpPr>
        <p:spPr>
          <a:xfrm>
            <a:off x="7050024" y="2377440"/>
            <a:ext cx="274320" cy="365760"/>
          </a:xfrm>
          <a:prstGeom prst="rect">
            <a:avLst/>
          </a:prstGeom>
          <a:noFill/>
          <a:ln/>
        </p:spPr>
        <p:txBody>
          <a:bodyPr wrap="square" lIns="0" tIns="0" rIns="0" bIns="0" rtlCol="0" anchor="ctr"/>
          <a:lstStyle/>
          <a:p>
            <a:pPr algn="ctr" indent="0" marL="0">
              <a:buNone/>
            </a:pPr>
            <a:r>
              <a:rPr lang="en-US" sz="1600" b="1" dirty="0">
                <a:solidFill>
                  <a:srgbClr val="5E6878"/>
                </a:solidFill>
                <a:latin typeface="IBM Plex Sans" pitchFamily="34" charset="0"/>
                <a:ea typeface="IBM Plex Sans" pitchFamily="34" charset="-122"/>
                <a:cs typeface="IBM Plex Sans" pitchFamily="34" charset="-120"/>
              </a:rPr>
              <a:t>→</a:t>
            </a:r>
            <a:endParaRPr lang="en-US" sz="1600" dirty="0"/>
          </a:p>
        </p:txBody>
      </p:sp>
      <p:sp>
        <p:nvSpPr>
          <p:cNvPr id="23" name="Shape 20"/>
          <p:cNvSpPr/>
          <p:nvPr/>
        </p:nvSpPr>
        <p:spPr>
          <a:xfrm>
            <a:off x="7315200" y="1783080"/>
            <a:ext cx="1920240" cy="1783080"/>
          </a:xfrm>
          <a:prstGeom prst="roundRect">
            <a:avLst>
              <a:gd name="adj" fmla="val 4103"/>
            </a:avLst>
          </a:prstGeom>
          <a:solidFill>
            <a:srgbClr val="FFFDF8"/>
          </a:solidFill>
          <a:ln w="12700">
            <a:solidFill>
              <a:srgbClr val="E2DDD0"/>
            </a:solidFill>
            <a:prstDash val="solid"/>
          </a:ln>
        </p:spPr>
      </p:sp>
      <p:sp>
        <p:nvSpPr>
          <p:cNvPr id="24" name="Shape 21"/>
          <p:cNvSpPr/>
          <p:nvPr/>
        </p:nvSpPr>
        <p:spPr>
          <a:xfrm>
            <a:off x="7498080" y="1947672"/>
            <a:ext cx="384048" cy="384048"/>
          </a:xfrm>
          <a:prstGeom prst="ellipse">
            <a:avLst/>
          </a:prstGeom>
          <a:solidFill>
            <a:srgbClr val="1D6F66"/>
          </a:solidFill>
          <a:ln w="12700">
            <a:solidFill>
              <a:srgbClr val="1D6F66"/>
            </a:solidFill>
            <a:prstDash val="solid"/>
          </a:ln>
        </p:spPr>
      </p:sp>
      <p:sp>
        <p:nvSpPr>
          <p:cNvPr id="25" name="Text 22"/>
          <p:cNvSpPr txBox="1"/>
          <p:nvPr/>
        </p:nvSpPr>
        <p:spPr>
          <a:xfrm>
            <a:off x="7498080" y="1947672"/>
            <a:ext cx="384048" cy="384048"/>
          </a:xfrm>
          <a:prstGeom prst="rect">
            <a:avLst/>
          </a:prstGeom>
          <a:noFill/>
          <a:ln/>
        </p:spPr>
        <p:txBody>
          <a:bodyPr wrap="square" lIns="0" tIns="0" rIns="0" bIns="0" rtlCol="0" anchor="ctr"/>
          <a:lstStyle/>
          <a:p>
            <a:pPr algn="ctr" indent="0" marL="0">
              <a:buNone/>
            </a:pPr>
            <a:r>
              <a:rPr lang="en-US" sz="1400" b="1" dirty="0">
                <a:solidFill>
                  <a:srgbClr val="F6F4EE"/>
                </a:solidFill>
                <a:latin typeface="IBM Plex Sans" pitchFamily="34" charset="0"/>
                <a:ea typeface="IBM Plex Sans" pitchFamily="34" charset="-122"/>
                <a:cs typeface="IBM Plex Sans" pitchFamily="34" charset="-120"/>
              </a:rPr>
              <a:t>4</a:t>
            </a:r>
            <a:endParaRPr lang="en-US" sz="1400" dirty="0"/>
          </a:p>
        </p:txBody>
      </p:sp>
      <p:sp>
        <p:nvSpPr>
          <p:cNvPr id="26" name="Text 23"/>
          <p:cNvSpPr txBox="1"/>
          <p:nvPr/>
        </p:nvSpPr>
        <p:spPr>
          <a:xfrm>
            <a:off x="7498080" y="2468880"/>
            <a:ext cx="1600200" cy="320040"/>
          </a:xfrm>
          <a:prstGeom prst="rect">
            <a:avLst/>
          </a:prstGeom>
          <a:noFill/>
          <a:ln/>
        </p:spPr>
        <p:txBody>
          <a:bodyPr wrap="square" lIns="0" tIns="0" rIns="0" bIns="0" rtlCol="0" anchor="ctr"/>
          <a:lstStyle/>
          <a:p>
            <a:pPr indent="0" marL="0">
              <a:buNone/>
            </a:pPr>
            <a:r>
              <a:rPr lang="en-US" sz="1600" b="1" dirty="0">
                <a:solidFill>
                  <a:srgbClr val="16213A"/>
                </a:solidFill>
                <a:latin typeface="IBM Plex Sans" pitchFamily="34" charset="0"/>
                <a:ea typeface="IBM Plex Sans" pitchFamily="34" charset="-122"/>
                <a:cs typeface="IBM Plex Sans" pitchFamily="34" charset="-120"/>
              </a:rPr>
              <a:t>Mutate</a:t>
            </a:r>
            <a:endParaRPr lang="en-US" sz="1600" dirty="0"/>
          </a:p>
        </p:txBody>
      </p:sp>
      <p:sp>
        <p:nvSpPr>
          <p:cNvPr id="27" name="Text 24"/>
          <p:cNvSpPr txBox="1"/>
          <p:nvPr/>
        </p:nvSpPr>
        <p:spPr>
          <a:xfrm>
            <a:off x="7498080" y="2788920"/>
            <a:ext cx="1600200" cy="731520"/>
          </a:xfrm>
          <a:prstGeom prst="rect">
            <a:avLst/>
          </a:prstGeom>
          <a:noFill/>
          <a:ln/>
        </p:spPr>
        <p:txBody>
          <a:bodyPr wrap="square" lIns="0" tIns="0" rIns="0" bIns="0" rtlCol="0" anchor="t"/>
          <a:lstStyle/>
          <a:p>
            <a:pPr indent="0" marL="0">
              <a:buNone/>
            </a:pPr>
            <a:r>
              <a:rPr lang="en-US" sz="1200" dirty="0">
                <a:solidFill>
                  <a:srgbClr val="3E4A5C"/>
                </a:solidFill>
                <a:latin typeface="IBM Plex Sans" pitchFamily="34" charset="0"/>
                <a:ea typeface="IBM Plex Sans" pitchFamily="34" charset="-122"/>
                <a:cs typeface="IBM Plex Sans" pitchFamily="34" charset="-120"/>
              </a:rPr>
              <a:t>Add Gaussian noise (std 0.05), clip to [−1, 1]</a:t>
            </a:r>
            <a:endParaRPr lang="en-US" sz="1200" dirty="0"/>
          </a:p>
        </p:txBody>
      </p:sp>
      <p:sp>
        <p:nvSpPr>
          <p:cNvPr id="28" name="Text 25"/>
          <p:cNvSpPr txBox="1"/>
          <p:nvPr/>
        </p:nvSpPr>
        <p:spPr>
          <a:xfrm>
            <a:off x="9217152" y="2377440"/>
            <a:ext cx="274320" cy="365760"/>
          </a:xfrm>
          <a:prstGeom prst="rect">
            <a:avLst/>
          </a:prstGeom>
          <a:noFill/>
          <a:ln/>
        </p:spPr>
        <p:txBody>
          <a:bodyPr wrap="square" lIns="0" tIns="0" rIns="0" bIns="0" rtlCol="0" anchor="ctr"/>
          <a:lstStyle/>
          <a:p>
            <a:pPr algn="ctr" indent="0" marL="0">
              <a:buNone/>
            </a:pPr>
            <a:r>
              <a:rPr lang="en-US" sz="1600" b="1" dirty="0">
                <a:solidFill>
                  <a:srgbClr val="5E6878"/>
                </a:solidFill>
                <a:latin typeface="IBM Plex Sans" pitchFamily="34" charset="0"/>
                <a:ea typeface="IBM Plex Sans" pitchFamily="34" charset="-122"/>
                <a:cs typeface="IBM Plex Sans" pitchFamily="34" charset="-120"/>
              </a:rPr>
              <a:t>→</a:t>
            </a:r>
            <a:endParaRPr lang="en-US" sz="1600" dirty="0"/>
          </a:p>
        </p:txBody>
      </p:sp>
      <p:sp>
        <p:nvSpPr>
          <p:cNvPr id="29" name="Shape 26"/>
          <p:cNvSpPr/>
          <p:nvPr/>
        </p:nvSpPr>
        <p:spPr>
          <a:xfrm>
            <a:off x="9482328" y="1783080"/>
            <a:ext cx="1920240" cy="1783080"/>
          </a:xfrm>
          <a:prstGeom prst="roundRect">
            <a:avLst>
              <a:gd name="adj" fmla="val 4103"/>
            </a:avLst>
          </a:prstGeom>
          <a:solidFill>
            <a:srgbClr val="FFFDF8"/>
          </a:solidFill>
          <a:ln w="12700">
            <a:solidFill>
              <a:srgbClr val="E2DDD0"/>
            </a:solidFill>
            <a:prstDash val="solid"/>
          </a:ln>
        </p:spPr>
      </p:sp>
      <p:sp>
        <p:nvSpPr>
          <p:cNvPr id="30" name="Shape 27"/>
          <p:cNvSpPr/>
          <p:nvPr/>
        </p:nvSpPr>
        <p:spPr>
          <a:xfrm>
            <a:off x="9665208" y="1947672"/>
            <a:ext cx="384048" cy="384048"/>
          </a:xfrm>
          <a:prstGeom prst="ellipse">
            <a:avLst/>
          </a:prstGeom>
          <a:solidFill>
            <a:srgbClr val="B4521C"/>
          </a:solidFill>
          <a:ln w="12700">
            <a:solidFill>
              <a:srgbClr val="B4521C"/>
            </a:solidFill>
            <a:prstDash val="solid"/>
          </a:ln>
        </p:spPr>
      </p:sp>
      <p:sp>
        <p:nvSpPr>
          <p:cNvPr id="31" name="Text 28"/>
          <p:cNvSpPr txBox="1"/>
          <p:nvPr/>
        </p:nvSpPr>
        <p:spPr>
          <a:xfrm>
            <a:off x="9665208" y="1947672"/>
            <a:ext cx="384048" cy="384048"/>
          </a:xfrm>
          <a:prstGeom prst="rect">
            <a:avLst/>
          </a:prstGeom>
          <a:noFill/>
          <a:ln/>
        </p:spPr>
        <p:txBody>
          <a:bodyPr wrap="square" lIns="0" tIns="0" rIns="0" bIns="0" rtlCol="0" anchor="ctr"/>
          <a:lstStyle/>
          <a:p>
            <a:pPr algn="ctr" indent="0" marL="0">
              <a:buNone/>
            </a:pPr>
            <a:r>
              <a:rPr lang="en-US" sz="1400" b="1" dirty="0">
                <a:solidFill>
                  <a:srgbClr val="F6F4EE"/>
                </a:solidFill>
                <a:latin typeface="IBM Plex Sans" pitchFamily="34" charset="0"/>
                <a:ea typeface="IBM Plex Sans" pitchFamily="34" charset="-122"/>
                <a:cs typeface="IBM Plex Sans" pitchFamily="34" charset="-120"/>
              </a:rPr>
              <a:t>5</a:t>
            </a:r>
            <a:endParaRPr lang="en-US" sz="1400" dirty="0"/>
          </a:p>
        </p:txBody>
      </p:sp>
      <p:sp>
        <p:nvSpPr>
          <p:cNvPr id="32" name="Text 29"/>
          <p:cNvSpPr txBox="1"/>
          <p:nvPr/>
        </p:nvSpPr>
        <p:spPr>
          <a:xfrm>
            <a:off x="9665208" y="2468880"/>
            <a:ext cx="1600200" cy="320040"/>
          </a:xfrm>
          <a:prstGeom prst="rect">
            <a:avLst/>
          </a:prstGeom>
          <a:noFill/>
          <a:ln/>
        </p:spPr>
        <p:txBody>
          <a:bodyPr wrap="square" lIns="0" tIns="0" rIns="0" bIns="0" rtlCol="0" anchor="ctr"/>
          <a:lstStyle/>
          <a:p>
            <a:pPr indent="0" marL="0">
              <a:buNone/>
            </a:pPr>
            <a:r>
              <a:rPr lang="en-US" sz="1600" b="1" dirty="0">
                <a:solidFill>
                  <a:srgbClr val="16213A"/>
                </a:solidFill>
                <a:latin typeface="IBM Plex Sans" pitchFamily="34" charset="0"/>
                <a:ea typeface="IBM Plex Sans" pitchFamily="34" charset="-122"/>
                <a:cs typeface="IBM Plex Sans" pitchFamily="34" charset="-120"/>
              </a:rPr>
              <a:t>Re-score</a:t>
            </a:r>
            <a:endParaRPr lang="en-US" sz="1600" dirty="0"/>
          </a:p>
        </p:txBody>
      </p:sp>
      <p:sp>
        <p:nvSpPr>
          <p:cNvPr id="33" name="Text 30"/>
          <p:cNvSpPr txBox="1"/>
          <p:nvPr/>
        </p:nvSpPr>
        <p:spPr>
          <a:xfrm>
            <a:off x="9665208" y="2788920"/>
            <a:ext cx="1600200" cy="731520"/>
          </a:xfrm>
          <a:prstGeom prst="rect">
            <a:avLst/>
          </a:prstGeom>
          <a:noFill/>
          <a:ln/>
        </p:spPr>
        <p:txBody>
          <a:bodyPr wrap="square" lIns="0" tIns="0" rIns="0" bIns="0" rtlCol="0" anchor="t"/>
          <a:lstStyle/>
          <a:p>
            <a:pPr indent="0" marL="0">
              <a:buNone/>
            </a:pPr>
            <a:r>
              <a:rPr lang="en-US" sz="1200" dirty="0">
                <a:solidFill>
                  <a:srgbClr val="3E4A5C"/>
                </a:solidFill>
                <a:latin typeface="IBM Plex Sans" pitchFamily="34" charset="0"/>
                <a:ea typeface="IBM Plex Sans" pitchFamily="34" charset="-122"/>
                <a:cs typeface="IBM Plex Sans" pitchFamily="34" charset="-120"/>
              </a:rPr>
              <a:t>Only the loser gets a new fitness evaluation</a:t>
            </a:r>
            <a:endParaRPr lang="en-US" sz="1200" dirty="0"/>
          </a:p>
        </p:txBody>
      </p:sp>
      <p:sp>
        <p:nvSpPr>
          <p:cNvPr id="34" name="Shape 31"/>
          <p:cNvSpPr/>
          <p:nvPr/>
        </p:nvSpPr>
        <p:spPr>
          <a:xfrm>
            <a:off x="813816" y="3931920"/>
            <a:ext cx="10561320" cy="822960"/>
          </a:xfrm>
          <a:prstGeom prst="roundRect">
            <a:avLst>
              <a:gd name="adj" fmla="val 8889"/>
            </a:avLst>
          </a:prstGeom>
          <a:solidFill>
            <a:srgbClr val="ECE8DE"/>
          </a:solidFill>
          <a:ln w="12700">
            <a:solidFill>
              <a:srgbClr val="ECE8DE"/>
            </a:solidFill>
            <a:prstDash val="solid"/>
          </a:ln>
        </p:spPr>
      </p:sp>
      <p:sp>
        <p:nvSpPr>
          <p:cNvPr id="35" name="Text 32"/>
          <p:cNvSpPr txBox="1"/>
          <p:nvPr/>
        </p:nvSpPr>
        <p:spPr>
          <a:xfrm>
            <a:off x="1088136" y="4005072"/>
            <a:ext cx="1828800" cy="365760"/>
          </a:xfrm>
          <a:prstGeom prst="rect">
            <a:avLst/>
          </a:prstGeom>
          <a:noFill/>
          <a:ln/>
        </p:spPr>
        <p:txBody>
          <a:bodyPr wrap="square" lIns="0" tIns="0" rIns="0" bIns="0" rtlCol="0" anchor="ctr"/>
          <a:lstStyle/>
          <a:p>
            <a:pPr indent="0" marL="0">
              <a:buNone/>
            </a:pPr>
            <a:r>
              <a:rPr lang="en-US" sz="2000" b="1" dirty="0">
                <a:solidFill>
                  <a:srgbClr val="1D6F66"/>
                </a:solidFill>
                <a:latin typeface="IBM Plex Sans" pitchFamily="34" charset="0"/>
                <a:ea typeface="IBM Plex Sans" pitchFamily="34" charset="-122"/>
                <a:cs typeface="IBM Plex Sans" pitchFamily="34" charset="-120"/>
              </a:rPr>
              <a:t>50</a:t>
            </a:r>
            <a:endParaRPr lang="en-US" sz="2000" dirty="0"/>
          </a:p>
        </p:txBody>
      </p:sp>
      <p:sp>
        <p:nvSpPr>
          <p:cNvPr id="36" name="Text 33"/>
          <p:cNvSpPr txBox="1"/>
          <p:nvPr/>
        </p:nvSpPr>
        <p:spPr>
          <a:xfrm>
            <a:off x="1088136" y="4370832"/>
            <a:ext cx="1828800" cy="274320"/>
          </a:xfrm>
          <a:prstGeom prst="rect">
            <a:avLst/>
          </a:prstGeom>
          <a:noFill/>
          <a:ln/>
        </p:spPr>
        <p:txBody>
          <a:bodyPr wrap="square" lIns="0" tIns="0" rIns="0" bIns="0" rtlCol="0" anchor="ctr"/>
          <a:lstStyle/>
          <a:p>
            <a:pPr indent="0" marL="0">
              <a:buNone/>
            </a:pPr>
            <a:r>
              <a:rPr lang="en-US" sz="1100" dirty="0">
                <a:solidFill>
                  <a:srgbClr val="5E6878"/>
                </a:solidFill>
                <a:latin typeface="JetBrains Mono" pitchFamily="34" charset="0"/>
                <a:ea typeface="JetBrains Mono" pitchFamily="34" charset="-122"/>
                <a:cs typeface="JetBrains Mono" pitchFamily="34" charset="-120"/>
              </a:rPr>
              <a:t>popsize</a:t>
            </a:r>
            <a:endParaRPr lang="en-US" sz="1100" dirty="0"/>
          </a:p>
        </p:txBody>
      </p:sp>
      <p:sp>
        <p:nvSpPr>
          <p:cNvPr id="37" name="Text 34"/>
          <p:cNvSpPr txBox="1"/>
          <p:nvPr/>
        </p:nvSpPr>
        <p:spPr>
          <a:xfrm>
            <a:off x="3145536" y="4005072"/>
            <a:ext cx="1828800" cy="365760"/>
          </a:xfrm>
          <a:prstGeom prst="rect">
            <a:avLst/>
          </a:prstGeom>
          <a:noFill/>
          <a:ln/>
        </p:spPr>
        <p:txBody>
          <a:bodyPr wrap="square" lIns="0" tIns="0" rIns="0" bIns="0" rtlCol="0" anchor="ctr"/>
          <a:lstStyle/>
          <a:p>
            <a:pPr indent="0" marL="0">
              <a:buNone/>
            </a:pPr>
            <a:r>
              <a:rPr lang="en-US" sz="2000" b="1" dirty="0">
                <a:solidFill>
                  <a:srgbClr val="1D6F66"/>
                </a:solidFill>
                <a:latin typeface="IBM Plex Sans" pitchFamily="34" charset="0"/>
                <a:ea typeface="IBM Plex Sans" pitchFamily="34" charset="-122"/>
                <a:cs typeface="IBM Plex Sans" pitchFamily="34" charset="-120"/>
              </a:rPr>
              <a:t>100</a:t>
            </a:r>
            <a:endParaRPr lang="en-US" sz="2000" dirty="0"/>
          </a:p>
        </p:txBody>
      </p:sp>
      <p:sp>
        <p:nvSpPr>
          <p:cNvPr id="38" name="Text 35"/>
          <p:cNvSpPr txBox="1"/>
          <p:nvPr/>
        </p:nvSpPr>
        <p:spPr>
          <a:xfrm>
            <a:off x="3145536" y="4370832"/>
            <a:ext cx="1828800" cy="274320"/>
          </a:xfrm>
          <a:prstGeom prst="rect">
            <a:avLst/>
          </a:prstGeom>
          <a:noFill/>
          <a:ln/>
        </p:spPr>
        <p:txBody>
          <a:bodyPr wrap="square" lIns="0" tIns="0" rIns="0" bIns="0" rtlCol="0" anchor="ctr"/>
          <a:lstStyle/>
          <a:p>
            <a:pPr indent="0" marL="0">
              <a:buNone/>
            </a:pPr>
            <a:r>
              <a:rPr lang="en-US" sz="1100" dirty="0">
                <a:solidFill>
                  <a:srgbClr val="5E6878"/>
                </a:solidFill>
                <a:latin typeface="JetBrains Mono" pitchFamily="34" charset="0"/>
                <a:ea typeface="JetBrains Mono" pitchFamily="34" charset="-122"/>
                <a:cs typeface="JetBrains Mono" pitchFamily="34" charset="-120"/>
              </a:rPr>
              <a:t>generations</a:t>
            </a:r>
            <a:endParaRPr lang="en-US" sz="1100" dirty="0"/>
          </a:p>
        </p:txBody>
      </p:sp>
      <p:sp>
        <p:nvSpPr>
          <p:cNvPr id="39" name="Text 36"/>
          <p:cNvSpPr txBox="1"/>
          <p:nvPr/>
        </p:nvSpPr>
        <p:spPr>
          <a:xfrm>
            <a:off x="5202936" y="4005072"/>
            <a:ext cx="1828800" cy="365760"/>
          </a:xfrm>
          <a:prstGeom prst="rect">
            <a:avLst/>
          </a:prstGeom>
          <a:noFill/>
          <a:ln/>
        </p:spPr>
        <p:txBody>
          <a:bodyPr wrap="square" lIns="0" tIns="0" rIns="0" bIns="0" rtlCol="0" anchor="ctr"/>
          <a:lstStyle/>
          <a:p>
            <a:pPr indent="0" marL="0">
              <a:buNone/>
            </a:pPr>
            <a:r>
              <a:rPr lang="en-US" sz="2000" b="1" dirty="0">
                <a:solidFill>
                  <a:srgbClr val="1D6F66"/>
                </a:solidFill>
                <a:latin typeface="IBM Plex Sans" pitchFamily="34" charset="0"/>
                <a:ea typeface="IBM Plex Sans" pitchFamily="34" charset="-122"/>
                <a:cs typeface="IBM Plex Sans" pitchFamily="34" charset="-120"/>
              </a:rPr>
              <a:t>0.5</a:t>
            </a:r>
            <a:endParaRPr lang="en-US" sz="2000" dirty="0"/>
          </a:p>
        </p:txBody>
      </p:sp>
      <p:sp>
        <p:nvSpPr>
          <p:cNvPr id="40" name="Text 37"/>
          <p:cNvSpPr txBox="1"/>
          <p:nvPr/>
        </p:nvSpPr>
        <p:spPr>
          <a:xfrm>
            <a:off x="5202936" y="4370832"/>
            <a:ext cx="1828800" cy="274320"/>
          </a:xfrm>
          <a:prstGeom prst="rect">
            <a:avLst/>
          </a:prstGeom>
          <a:noFill/>
          <a:ln/>
        </p:spPr>
        <p:txBody>
          <a:bodyPr wrap="square" lIns="0" tIns="0" rIns="0" bIns="0" rtlCol="0" anchor="ctr"/>
          <a:lstStyle/>
          <a:p>
            <a:pPr indent="0" marL="0">
              <a:buNone/>
            </a:pPr>
            <a:r>
              <a:rPr lang="en-US" sz="1100" dirty="0">
                <a:solidFill>
                  <a:srgbClr val="5E6878"/>
                </a:solidFill>
                <a:latin typeface="JetBrains Mono" pitchFamily="34" charset="0"/>
                <a:ea typeface="JetBrains Mono" pitchFamily="34" charset="-122"/>
                <a:cs typeface="JetBrains Mono" pitchFamily="34" charset="-120"/>
              </a:rPr>
              <a:t>recombProb</a:t>
            </a:r>
            <a:endParaRPr lang="en-US" sz="1100" dirty="0"/>
          </a:p>
        </p:txBody>
      </p:sp>
      <p:sp>
        <p:nvSpPr>
          <p:cNvPr id="41" name="Text 38"/>
          <p:cNvSpPr txBox="1"/>
          <p:nvPr/>
        </p:nvSpPr>
        <p:spPr>
          <a:xfrm>
            <a:off x="7260336" y="4005072"/>
            <a:ext cx="1828800" cy="365760"/>
          </a:xfrm>
          <a:prstGeom prst="rect">
            <a:avLst/>
          </a:prstGeom>
          <a:noFill/>
          <a:ln/>
        </p:spPr>
        <p:txBody>
          <a:bodyPr wrap="square" lIns="0" tIns="0" rIns="0" bIns="0" rtlCol="0" anchor="ctr"/>
          <a:lstStyle/>
          <a:p>
            <a:pPr indent="0" marL="0">
              <a:buNone/>
            </a:pPr>
            <a:r>
              <a:rPr lang="en-US" sz="2000" b="1" dirty="0">
                <a:solidFill>
                  <a:srgbClr val="1D6F66"/>
                </a:solidFill>
                <a:latin typeface="IBM Plex Sans" pitchFamily="34" charset="0"/>
                <a:ea typeface="IBM Plex Sans" pitchFamily="34" charset="-122"/>
                <a:cs typeface="IBM Plex Sans" pitchFamily="34" charset="-120"/>
              </a:rPr>
              <a:t>0.05</a:t>
            </a:r>
            <a:endParaRPr lang="en-US" sz="2000" dirty="0"/>
          </a:p>
        </p:txBody>
      </p:sp>
      <p:sp>
        <p:nvSpPr>
          <p:cNvPr id="42" name="Text 39"/>
          <p:cNvSpPr txBox="1"/>
          <p:nvPr/>
        </p:nvSpPr>
        <p:spPr>
          <a:xfrm>
            <a:off x="7260336" y="4370832"/>
            <a:ext cx="1828800" cy="274320"/>
          </a:xfrm>
          <a:prstGeom prst="rect">
            <a:avLst/>
          </a:prstGeom>
          <a:noFill/>
          <a:ln/>
        </p:spPr>
        <p:txBody>
          <a:bodyPr wrap="square" lIns="0" tIns="0" rIns="0" bIns="0" rtlCol="0" anchor="ctr"/>
          <a:lstStyle/>
          <a:p>
            <a:pPr indent="0" marL="0">
              <a:buNone/>
            </a:pPr>
            <a:r>
              <a:rPr lang="en-US" sz="1100" dirty="0">
                <a:solidFill>
                  <a:srgbClr val="5E6878"/>
                </a:solidFill>
                <a:latin typeface="JetBrains Mono" pitchFamily="34" charset="0"/>
                <a:ea typeface="JetBrains Mono" pitchFamily="34" charset="-122"/>
                <a:cs typeface="JetBrains Mono" pitchFamily="34" charset="-120"/>
              </a:rPr>
              <a:t>mutatStd</a:t>
            </a:r>
            <a:endParaRPr lang="en-US" sz="1100" dirty="0"/>
          </a:p>
        </p:txBody>
      </p:sp>
      <p:sp>
        <p:nvSpPr>
          <p:cNvPr id="43" name="Text 40"/>
          <p:cNvSpPr txBox="1"/>
          <p:nvPr/>
        </p:nvSpPr>
        <p:spPr>
          <a:xfrm>
            <a:off x="9317736" y="4005072"/>
            <a:ext cx="1828800" cy="365760"/>
          </a:xfrm>
          <a:prstGeom prst="rect">
            <a:avLst/>
          </a:prstGeom>
          <a:noFill/>
          <a:ln/>
        </p:spPr>
        <p:txBody>
          <a:bodyPr wrap="square" lIns="0" tIns="0" rIns="0" bIns="0" rtlCol="0" anchor="ctr"/>
          <a:lstStyle/>
          <a:p>
            <a:pPr indent="0" marL="0">
              <a:buNone/>
            </a:pPr>
            <a:r>
              <a:rPr lang="en-US" sz="2000" b="1" dirty="0">
                <a:solidFill>
                  <a:srgbClr val="1D6F66"/>
                </a:solidFill>
                <a:latin typeface="IBM Plex Sans" pitchFamily="34" charset="0"/>
                <a:ea typeface="IBM Plex Sans" pitchFamily="34" charset="-122"/>
                <a:cs typeface="IBM Plex Sans" pitchFamily="34" charset="-120"/>
              </a:rPr>
              <a:t>5</a:t>
            </a:r>
            <a:endParaRPr lang="en-US" sz="2000" dirty="0"/>
          </a:p>
        </p:txBody>
      </p:sp>
      <p:sp>
        <p:nvSpPr>
          <p:cNvPr id="44" name="Text 41"/>
          <p:cNvSpPr txBox="1"/>
          <p:nvPr/>
        </p:nvSpPr>
        <p:spPr>
          <a:xfrm>
            <a:off x="9317736" y="4370832"/>
            <a:ext cx="1828800" cy="274320"/>
          </a:xfrm>
          <a:prstGeom prst="rect">
            <a:avLst/>
          </a:prstGeom>
          <a:noFill/>
          <a:ln/>
        </p:spPr>
        <p:txBody>
          <a:bodyPr wrap="square" lIns="0" tIns="0" rIns="0" bIns="0" rtlCol="0" anchor="ctr"/>
          <a:lstStyle/>
          <a:p>
            <a:pPr indent="0" marL="0">
              <a:buNone/>
            </a:pPr>
            <a:r>
              <a:rPr lang="en-US" sz="1100" dirty="0">
                <a:solidFill>
                  <a:srgbClr val="5E6878"/>
                </a:solidFill>
                <a:latin typeface="JetBrains Mono" pitchFamily="34" charset="0"/>
                <a:ea typeface="JetBrains Mono" pitchFamily="34" charset="-122"/>
                <a:cs typeface="JetBrains Mono" pitchFamily="34" charset="-120"/>
              </a:rPr>
              <a:t>demeSize</a:t>
            </a:r>
            <a:endParaRPr lang="en-US" sz="1100" dirty="0"/>
          </a:p>
        </p:txBody>
      </p:sp>
      <p:sp>
        <p:nvSpPr>
          <p:cNvPr id="45" name="Text 42"/>
          <p:cNvSpPr txBox="1"/>
          <p:nvPr/>
        </p:nvSpPr>
        <p:spPr>
          <a:xfrm>
            <a:off x="813816" y="5120640"/>
            <a:ext cx="10561320" cy="457200"/>
          </a:xfrm>
          <a:prstGeom prst="rect">
            <a:avLst/>
          </a:prstGeom>
          <a:noFill/>
          <a:ln/>
        </p:spPr>
        <p:txBody>
          <a:bodyPr wrap="square" lIns="0" tIns="0" rIns="0" bIns="0" rtlCol="0" anchor="ctr"/>
          <a:lstStyle/>
          <a:p>
            <a:pPr indent="0" marL="0">
              <a:buNone/>
            </a:pPr>
            <a:r>
              <a:rPr lang="en-US" sz="1600" b="1" dirty="0">
                <a:solidFill>
                  <a:srgbClr val="16213A"/>
                </a:solidFill>
                <a:latin typeface="IBM Plex Sans" pitchFamily="34" charset="0"/>
                <a:ea typeface="IBM Plex Sans" pitchFamily="34" charset="-122"/>
                <a:cs typeface="IBM Plex Sans" pitchFamily="34" charset="-120"/>
              </a:rPr>
              <a:t>The GA's whole view of the problem: </a:t>
            </a:r>
            <a:pPr indent="0" marL="0">
              <a:buNone/>
            </a:pPr>
            <a:r>
              <a:rPr lang="en-US" sz="1600" dirty="0">
                <a:solidFill>
                  <a:srgbClr val="3E4A5C"/>
                </a:solidFill>
                <a:latin typeface="IBM Plex Sans" pitchFamily="34" charset="0"/>
                <a:ea typeface="IBM Plex Sans" pitchFamily="34" charset="-122"/>
                <a:cs typeface="IBM Plex Sans" pitchFamily="34" charset="-120"/>
              </a:rPr>
              <a:t>a vector of 32 numbers in [−1, 1] goes in, one fitness number comes out.</a:t>
            </a:r>
            <a:endParaRPr lang="en-US" sz="1600" dirty="0"/>
          </a:p>
        </p:txBody>
      </p:sp>
      <p:sp>
        <p:nvSpPr>
          <p:cNvPr id="46" name="Text 43"/>
          <p:cNvSpPr txBox="1"/>
          <p:nvPr/>
        </p:nvSpPr>
        <p:spPr>
          <a:xfrm>
            <a:off x="813816" y="6355080"/>
            <a:ext cx="10561320" cy="256032"/>
          </a:xfrm>
          <a:prstGeom prst="rect">
            <a:avLst/>
          </a:prstGeom>
          <a:noFill/>
          <a:ln/>
        </p:spPr>
        <p:txBody>
          <a:bodyPr wrap="square" lIns="0" tIns="0" rIns="0" bIns="0" rtlCol="0" anchor="ctr"/>
          <a:lstStyle/>
          <a:p>
            <a:pPr indent="0" marL="0">
              <a:buNone/>
            </a:pPr>
            <a:r>
              <a:rPr lang="en-US" sz="1000" dirty="0">
                <a:solidFill>
                  <a:srgbClr val="5E6878"/>
                </a:solidFill>
                <a:latin typeface="JetBrains Mono" pitchFamily="34" charset="0"/>
                <a:ea typeface="JetBrains Mono" pitchFamily="34" charset="-122"/>
                <a:cs typeface="JetBrains Mono" pitchFamily="34" charset="-120"/>
              </a:rPr>
              <a:t>PythonBasics/Unit4/eas.py · Microbial  ·  settings from evolve.py</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4EE"/>
        </a:solidFill>
      </p:bgPr>
    </p:bg>
    <p:spTree>
      <p:nvGrpSpPr>
        <p:cNvPr id="1" name=""/>
        <p:cNvGrpSpPr/>
        <p:nvPr/>
      </p:nvGrpSpPr>
      <p:grpSpPr>
        <a:xfrm>
          <a:off x="0" y="0"/>
          <a:ext cx="0" cy="0"/>
          <a:chOff x="0" y="0"/>
          <a:chExt cx="0" cy="0"/>
        </a:xfrm>
      </p:grpSpPr>
      <p:sp>
        <p:nvSpPr>
          <p:cNvPr id="2" name="Text 0"/>
          <p:cNvSpPr txBox="1"/>
          <p:nvPr/>
        </p:nvSpPr>
        <p:spPr>
          <a:xfrm>
            <a:off x="813816" y="548640"/>
            <a:ext cx="10561320" cy="274320"/>
          </a:xfrm>
          <a:prstGeom prst="rect">
            <a:avLst/>
          </a:prstGeom>
          <a:noFill/>
          <a:ln/>
        </p:spPr>
        <p:txBody>
          <a:bodyPr wrap="square" lIns="0" tIns="0" rIns="0" bIns="0" rtlCol="0" anchor="ctr"/>
          <a:lstStyle/>
          <a:p>
            <a:pPr indent="0" marL="0">
              <a:buNone/>
            </a:pPr>
            <a:r>
              <a:rPr lang="en-US" sz="1200" b="1" spc="100" kern="0" dirty="0">
                <a:solidFill>
                  <a:srgbClr val="B4521C"/>
                </a:solidFill>
                <a:latin typeface="IBM Plex Sans" pitchFamily="34" charset="0"/>
                <a:ea typeface="IBM Plex Sans" pitchFamily="34" charset="-122"/>
                <a:cs typeface="IBM Plex Sans" pitchFamily="34" charset="-120"/>
              </a:rPr>
              <a:t>RECAP · THE BRAIN</a:t>
            </a:r>
            <a:endParaRPr lang="en-US" sz="1200" dirty="0"/>
          </a:p>
        </p:txBody>
      </p:sp>
      <p:sp>
        <p:nvSpPr>
          <p:cNvPr id="3" name="Text 1"/>
          <p:cNvSpPr txBox="1"/>
          <p:nvPr/>
        </p:nvSpPr>
        <p:spPr>
          <a:xfrm>
            <a:off x="813816" y="841248"/>
            <a:ext cx="10561320" cy="548640"/>
          </a:xfrm>
          <a:prstGeom prst="rect">
            <a:avLst/>
          </a:prstGeom>
          <a:noFill/>
          <a:ln/>
        </p:spPr>
        <p:txBody>
          <a:bodyPr wrap="square" lIns="0" tIns="0" rIns="0" bIns="0" rtlCol="0" anchor="ctr"/>
          <a:lstStyle/>
          <a:p>
            <a:pPr indent="0" marL="0">
              <a:buNone/>
            </a:pPr>
            <a:r>
              <a:rPr lang="en-US" sz="3200" b="1" dirty="0">
                <a:solidFill>
                  <a:srgbClr val="16213A"/>
                </a:solidFill>
                <a:latin typeface="IBM Plex Sans" pitchFamily="34" charset="0"/>
                <a:ea typeface="IBM Plex Sans" pitchFamily="34" charset="-122"/>
                <a:cs typeface="IBM Plex Sans" pitchFamily="34" charset="-120"/>
              </a:rPr>
              <a:t>The network: 2 sensors in, 2 motors out</a:t>
            </a:r>
            <a:endParaRPr lang="en-US" sz="3200" dirty="0"/>
          </a:p>
        </p:txBody>
      </p:sp>
      <p:sp>
        <p:nvSpPr>
          <p:cNvPr id="5" name="Shape 2"/>
          <p:cNvSpPr/>
          <p:nvPr/>
        </p:nvSpPr>
        <p:spPr>
          <a:xfrm flipV="1">
            <a:off x="1371600" y="2125980"/>
            <a:ext cx="1874520" cy="388620"/>
          </a:xfrm>
          <a:prstGeom prst="line">
            <a:avLst/>
          </a:prstGeom>
          <a:noFill/>
          <a:ln w="9525">
            <a:solidFill>
              <a:srgbClr val="C4C3BE"/>
            </a:solidFill>
            <a:prstDash val="solid"/>
          </a:ln>
        </p:spPr>
      </p:sp>
      <p:sp>
        <p:nvSpPr>
          <p:cNvPr id="6" name="Shape 3"/>
          <p:cNvSpPr/>
          <p:nvPr/>
        </p:nvSpPr>
        <p:spPr>
          <a:xfrm>
            <a:off x="1371600" y="2514600"/>
            <a:ext cx="1874520" cy="297180"/>
          </a:xfrm>
          <a:prstGeom prst="line">
            <a:avLst/>
          </a:prstGeom>
          <a:noFill/>
          <a:ln w="9525">
            <a:solidFill>
              <a:srgbClr val="C4C3BE"/>
            </a:solidFill>
            <a:prstDash val="solid"/>
          </a:ln>
        </p:spPr>
      </p:sp>
      <p:sp>
        <p:nvSpPr>
          <p:cNvPr id="7" name="Shape 4"/>
          <p:cNvSpPr/>
          <p:nvPr/>
        </p:nvSpPr>
        <p:spPr>
          <a:xfrm>
            <a:off x="1371600" y="2514600"/>
            <a:ext cx="1874520" cy="982980"/>
          </a:xfrm>
          <a:prstGeom prst="line">
            <a:avLst/>
          </a:prstGeom>
          <a:noFill/>
          <a:ln w="9525">
            <a:solidFill>
              <a:srgbClr val="C4C3BE"/>
            </a:solidFill>
            <a:prstDash val="solid"/>
          </a:ln>
        </p:spPr>
      </p:sp>
      <p:sp>
        <p:nvSpPr>
          <p:cNvPr id="8" name="Shape 5"/>
          <p:cNvSpPr/>
          <p:nvPr/>
        </p:nvSpPr>
        <p:spPr>
          <a:xfrm>
            <a:off x="1371600" y="2514600"/>
            <a:ext cx="1874520" cy="1668780"/>
          </a:xfrm>
          <a:prstGeom prst="line">
            <a:avLst/>
          </a:prstGeom>
          <a:noFill/>
          <a:ln w="9525">
            <a:solidFill>
              <a:srgbClr val="C4C3BE"/>
            </a:solidFill>
            <a:prstDash val="solid"/>
          </a:ln>
        </p:spPr>
      </p:sp>
      <p:sp>
        <p:nvSpPr>
          <p:cNvPr id="9" name="Shape 6"/>
          <p:cNvSpPr/>
          <p:nvPr/>
        </p:nvSpPr>
        <p:spPr>
          <a:xfrm flipV="1">
            <a:off x="1371600" y="2125980"/>
            <a:ext cx="1874520" cy="1668780"/>
          </a:xfrm>
          <a:prstGeom prst="line">
            <a:avLst/>
          </a:prstGeom>
          <a:noFill/>
          <a:ln w="9525">
            <a:solidFill>
              <a:srgbClr val="C4C3BE"/>
            </a:solidFill>
            <a:prstDash val="solid"/>
          </a:ln>
        </p:spPr>
      </p:sp>
      <p:sp>
        <p:nvSpPr>
          <p:cNvPr id="10" name="Shape 7"/>
          <p:cNvSpPr/>
          <p:nvPr/>
        </p:nvSpPr>
        <p:spPr>
          <a:xfrm flipV="1">
            <a:off x="1371600" y="2811780"/>
            <a:ext cx="1874520" cy="982980"/>
          </a:xfrm>
          <a:prstGeom prst="line">
            <a:avLst/>
          </a:prstGeom>
          <a:noFill/>
          <a:ln w="9525">
            <a:solidFill>
              <a:srgbClr val="C4C3BE"/>
            </a:solidFill>
            <a:prstDash val="solid"/>
          </a:ln>
        </p:spPr>
      </p:sp>
      <p:sp>
        <p:nvSpPr>
          <p:cNvPr id="11" name="Shape 8"/>
          <p:cNvSpPr/>
          <p:nvPr/>
        </p:nvSpPr>
        <p:spPr>
          <a:xfrm flipV="1">
            <a:off x="1371600" y="3497580"/>
            <a:ext cx="1874520" cy="297180"/>
          </a:xfrm>
          <a:prstGeom prst="line">
            <a:avLst/>
          </a:prstGeom>
          <a:noFill/>
          <a:ln w="9525">
            <a:solidFill>
              <a:srgbClr val="C4C3BE"/>
            </a:solidFill>
            <a:prstDash val="solid"/>
          </a:ln>
        </p:spPr>
      </p:sp>
      <p:sp>
        <p:nvSpPr>
          <p:cNvPr id="12" name="Shape 9"/>
          <p:cNvSpPr/>
          <p:nvPr/>
        </p:nvSpPr>
        <p:spPr>
          <a:xfrm>
            <a:off x="1371600" y="3794760"/>
            <a:ext cx="1874520" cy="388620"/>
          </a:xfrm>
          <a:prstGeom prst="line">
            <a:avLst/>
          </a:prstGeom>
          <a:noFill/>
          <a:ln w="9525">
            <a:solidFill>
              <a:srgbClr val="C4C3BE"/>
            </a:solidFill>
            <a:prstDash val="solid"/>
          </a:ln>
        </p:spPr>
      </p:sp>
      <p:sp>
        <p:nvSpPr>
          <p:cNvPr id="13" name="Shape 10"/>
          <p:cNvSpPr/>
          <p:nvPr/>
        </p:nvSpPr>
        <p:spPr>
          <a:xfrm>
            <a:off x="3246120" y="2125980"/>
            <a:ext cx="1874520" cy="388620"/>
          </a:xfrm>
          <a:prstGeom prst="line">
            <a:avLst/>
          </a:prstGeom>
          <a:noFill/>
          <a:ln w="9525">
            <a:solidFill>
              <a:srgbClr val="C4C3BE"/>
            </a:solidFill>
            <a:prstDash val="solid"/>
          </a:ln>
        </p:spPr>
      </p:sp>
      <p:sp>
        <p:nvSpPr>
          <p:cNvPr id="14" name="Shape 11"/>
          <p:cNvSpPr/>
          <p:nvPr/>
        </p:nvSpPr>
        <p:spPr>
          <a:xfrm>
            <a:off x="3246120" y="2125980"/>
            <a:ext cx="1874520" cy="1668780"/>
          </a:xfrm>
          <a:prstGeom prst="line">
            <a:avLst/>
          </a:prstGeom>
          <a:noFill/>
          <a:ln w="9525">
            <a:solidFill>
              <a:srgbClr val="C4C3BE"/>
            </a:solidFill>
            <a:prstDash val="solid"/>
          </a:ln>
        </p:spPr>
      </p:sp>
      <p:sp>
        <p:nvSpPr>
          <p:cNvPr id="15" name="Shape 12"/>
          <p:cNvSpPr/>
          <p:nvPr/>
        </p:nvSpPr>
        <p:spPr>
          <a:xfrm flipV="1">
            <a:off x="3246120" y="2514600"/>
            <a:ext cx="1874520" cy="297180"/>
          </a:xfrm>
          <a:prstGeom prst="line">
            <a:avLst/>
          </a:prstGeom>
          <a:noFill/>
          <a:ln w="9525">
            <a:solidFill>
              <a:srgbClr val="C4C3BE"/>
            </a:solidFill>
            <a:prstDash val="solid"/>
          </a:ln>
        </p:spPr>
      </p:sp>
      <p:sp>
        <p:nvSpPr>
          <p:cNvPr id="16" name="Shape 13"/>
          <p:cNvSpPr/>
          <p:nvPr/>
        </p:nvSpPr>
        <p:spPr>
          <a:xfrm>
            <a:off x="3246120" y="2811780"/>
            <a:ext cx="1874520" cy="982980"/>
          </a:xfrm>
          <a:prstGeom prst="line">
            <a:avLst/>
          </a:prstGeom>
          <a:noFill/>
          <a:ln w="9525">
            <a:solidFill>
              <a:srgbClr val="C4C3BE"/>
            </a:solidFill>
            <a:prstDash val="solid"/>
          </a:ln>
        </p:spPr>
      </p:sp>
      <p:sp>
        <p:nvSpPr>
          <p:cNvPr id="17" name="Shape 14"/>
          <p:cNvSpPr/>
          <p:nvPr/>
        </p:nvSpPr>
        <p:spPr>
          <a:xfrm flipV="1">
            <a:off x="3246120" y="2514600"/>
            <a:ext cx="1874520" cy="982980"/>
          </a:xfrm>
          <a:prstGeom prst="line">
            <a:avLst/>
          </a:prstGeom>
          <a:noFill/>
          <a:ln w="9525">
            <a:solidFill>
              <a:srgbClr val="C4C3BE"/>
            </a:solidFill>
            <a:prstDash val="solid"/>
          </a:ln>
        </p:spPr>
      </p:sp>
      <p:sp>
        <p:nvSpPr>
          <p:cNvPr id="18" name="Shape 15"/>
          <p:cNvSpPr/>
          <p:nvPr/>
        </p:nvSpPr>
        <p:spPr>
          <a:xfrm>
            <a:off x="3246120" y="3497580"/>
            <a:ext cx="1874520" cy="297180"/>
          </a:xfrm>
          <a:prstGeom prst="line">
            <a:avLst/>
          </a:prstGeom>
          <a:noFill/>
          <a:ln w="9525">
            <a:solidFill>
              <a:srgbClr val="C4C3BE"/>
            </a:solidFill>
            <a:prstDash val="solid"/>
          </a:ln>
        </p:spPr>
      </p:sp>
      <p:sp>
        <p:nvSpPr>
          <p:cNvPr id="19" name="Shape 16"/>
          <p:cNvSpPr/>
          <p:nvPr/>
        </p:nvSpPr>
        <p:spPr>
          <a:xfrm flipV="1">
            <a:off x="3246120" y="2514600"/>
            <a:ext cx="1874520" cy="1668780"/>
          </a:xfrm>
          <a:prstGeom prst="line">
            <a:avLst/>
          </a:prstGeom>
          <a:noFill/>
          <a:ln w="9525">
            <a:solidFill>
              <a:srgbClr val="C4C3BE"/>
            </a:solidFill>
            <a:prstDash val="solid"/>
          </a:ln>
        </p:spPr>
      </p:sp>
      <p:sp>
        <p:nvSpPr>
          <p:cNvPr id="20" name="Shape 17"/>
          <p:cNvSpPr/>
          <p:nvPr/>
        </p:nvSpPr>
        <p:spPr>
          <a:xfrm flipV="1">
            <a:off x="3246120" y="3794760"/>
            <a:ext cx="1874520" cy="388620"/>
          </a:xfrm>
          <a:prstGeom prst="line">
            <a:avLst/>
          </a:prstGeom>
          <a:noFill/>
          <a:ln w="9525">
            <a:solidFill>
              <a:srgbClr val="C4C3BE"/>
            </a:solidFill>
            <a:prstDash val="solid"/>
          </a:ln>
        </p:spPr>
      </p:sp>
      <p:sp>
        <p:nvSpPr>
          <p:cNvPr id="21" name="Shape 18"/>
          <p:cNvSpPr/>
          <p:nvPr/>
        </p:nvSpPr>
        <p:spPr>
          <a:xfrm>
            <a:off x="1216152" y="2359152"/>
            <a:ext cx="310896" cy="310896"/>
          </a:xfrm>
          <a:prstGeom prst="ellipse">
            <a:avLst/>
          </a:prstGeom>
          <a:solidFill>
            <a:srgbClr val="16213A"/>
          </a:solidFill>
          <a:ln w="12700">
            <a:solidFill>
              <a:srgbClr val="16213A"/>
            </a:solidFill>
            <a:prstDash val="solid"/>
          </a:ln>
        </p:spPr>
      </p:sp>
      <p:sp>
        <p:nvSpPr>
          <p:cNvPr id="22" name="Shape 19"/>
          <p:cNvSpPr/>
          <p:nvPr/>
        </p:nvSpPr>
        <p:spPr>
          <a:xfrm>
            <a:off x="1216152" y="3639312"/>
            <a:ext cx="310896" cy="310896"/>
          </a:xfrm>
          <a:prstGeom prst="ellipse">
            <a:avLst/>
          </a:prstGeom>
          <a:solidFill>
            <a:srgbClr val="16213A"/>
          </a:solidFill>
          <a:ln w="12700">
            <a:solidFill>
              <a:srgbClr val="16213A"/>
            </a:solidFill>
            <a:prstDash val="solid"/>
          </a:ln>
        </p:spPr>
      </p:sp>
      <p:sp>
        <p:nvSpPr>
          <p:cNvPr id="23" name="Shape 20"/>
          <p:cNvSpPr/>
          <p:nvPr/>
        </p:nvSpPr>
        <p:spPr>
          <a:xfrm>
            <a:off x="3090672" y="1970532"/>
            <a:ext cx="310896" cy="310896"/>
          </a:xfrm>
          <a:prstGeom prst="ellipse">
            <a:avLst/>
          </a:prstGeom>
          <a:solidFill>
            <a:srgbClr val="F4C9A8"/>
          </a:solidFill>
          <a:ln w="12700">
            <a:solidFill>
              <a:srgbClr val="16213A"/>
            </a:solidFill>
            <a:prstDash val="solid"/>
          </a:ln>
        </p:spPr>
      </p:sp>
      <p:sp>
        <p:nvSpPr>
          <p:cNvPr id="24" name="Shape 21"/>
          <p:cNvSpPr/>
          <p:nvPr/>
        </p:nvSpPr>
        <p:spPr>
          <a:xfrm>
            <a:off x="3090672" y="2656332"/>
            <a:ext cx="310896" cy="310896"/>
          </a:xfrm>
          <a:prstGeom prst="ellipse">
            <a:avLst/>
          </a:prstGeom>
          <a:solidFill>
            <a:srgbClr val="F4C9A8"/>
          </a:solidFill>
          <a:ln w="12700">
            <a:solidFill>
              <a:srgbClr val="16213A"/>
            </a:solidFill>
            <a:prstDash val="solid"/>
          </a:ln>
        </p:spPr>
      </p:sp>
      <p:sp>
        <p:nvSpPr>
          <p:cNvPr id="25" name="Shape 22"/>
          <p:cNvSpPr/>
          <p:nvPr/>
        </p:nvSpPr>
        <p:spPr>
          <a:xfrm>
            <a:off x="3090672" y="3342132"/>
            <a:ext cx="310896" cy="310896"/>
          </a:xfrm>
          <a:prstGeom prst="ellipse">
            <a:avLst/>
          </a:prstGeom>
          <a:solidFill>
            <a:srgbClr val="F4C9A8"/>
          </a:solidFill>
          <a:ln w="12700">
            <a:solidFill>
              <a:srgbClr val="16213A"/>
            </a:solidFill>
            <a:prstDash val="solid"/>
          </a:ln>
        </p:spPr>
      </p:sp>
      <p:sp>
        <p:nvSpPr>
          <p:cNvPr id="26" name="Shape 23"/>
          <p:cNvSpPr/>
          <p:nvPr/>
        </p:nvSpPr>
        <p:spPr>
          <a:xfrm>
            <a:off x="3090672" y="4027932"/>
            <a:ext cx="310896" cy="310896"/>
          </a:xfrm>
          <a:prstGeom prst="ellipse">
            <a:avLst/>
          </a:prstGeom>
          <a:solidFill>
            <a:srgbClr val="F4C9A8"/>
          </a:solidFill>
          <a:ln w="12700">
            <a:solidFill>
              <a:srgbClr val="16213A"/>
            </a:solidFill>
            <a:prstDash val="solid"/>
          </a:ln>
        </p:spPr>
      </p:sp>
      <p:sp>
        <p:nvSpPr>
          <p:cNvPr id="27" name="Shape 24"/>
          <p:cNvSpPr/>
          <p:nvPr/>
        </p:nvSpPr>
        <p:spPr>
          <a:xfrm>
            <a:off x="4965192" y="2359152"/>
            <a:ext cx="310896" cy="310896"/>
          </a:xfrm>
          <a:prstGeom prst="ellipse">
            <a:avLst/>
          </a:prstGeom>
          <a:solidFill>
            <a:srgbClr val="B4521C"/>
          </a:solidFill>
          <a:ln w="12700">
            <a:solidFill>
              <a:srgbClr val="16213A"/>
            </a:solidFill>
            <a:prstDash val="solid"/>
          </a:ln>
        </p:spPr>
      </p:sp>
      <p:sp>
        <p:nvSpPr>
          <p:cNvPr id="28" name="Shape 25"/>
          <p:cNvSpPr/>
          <p:nvPr/>
        </p:nvSpPr>
        <p:spPr>
          <a:xfrm>
            <a:off x="4965192" y="3639312"/>
            <a:ext cx="310896" cy="310896"/>
          </a:xfrm>
          <a:prstGeom prst="ellipse">
            <a:avLst/>
          </a:prstGeom>
          <a:solidFill>
            <a:srgbClr val="B4521C"/>
          </a:solidFill>
          <a:ln w="12700">
            <a:solidFill>
              <a:srgbClr val="16213A"/>
            </a:solidFill>
            <a:prstDash val="solid"/>
          </a:ln>
        </p:spPr>
      </p:sp>
      <p:sp>
        <p:nvSpPr>
          <p:cNvPr id="29" name="Text 26"/>
          <p:cNvSpPr txBox="1"/>
          <p:nvPr/>
        </p:nvSpPr>
        <p:spPr>
          <a:xfrm>
            <a:off x="594360" y="4846320"/>
            <a:ext cx="1554480" cy="548640"/>
          </a:xfrm>
          <a:prstGeom prst="rect">
            <a:avLst/>
          </a:prstGeom>
          <a:noFill/>
          <a:ln/>
        </p:spPr>
        <p:txBody>
          <a:bodyPr wrap="square" lIns="0" tIns="0" rIns="0" bIns="0" rtlCol="0" anchor="t"/>
          <a:lstStyle/>
          <a:p>
            <a:pPr algn="ctr" indent="0" marL="0">
              <a:buNone/>
            </a:pPr>
            <a:r>
              <a:rPr lang="en-US" sz="1100" b="1" dirty="0">
                <a:solidFill>
                  <a:srgbClr val="16213A"/>
                </a:solidFill>
                <a:latin typeface="IBM Plex Sans" pitchFamily="34" charset="0"/>
                <a:ea typeface="IBM Plex Sans" pitchFamily="34" charset="-122"/>
                <a:cs typeface="IBM Plex Sans" pitchFamily="34" charset="-120"/>
              </a:rPr>
              <a:t>Input</a:t>
            </a:r>
            <a:endParaRPr lang="en-US" sz="1100" dirty="0"/>
          </a:p>
          <a:p>
            <a:pPr algn="ctr" indent="0" marL="0">
              <a:buNone/>
            </a:pPr>
            <a:r>
              <a:rPr lang="en-US" sz="1100" dirty="0">
                <a:solidFill>
                  <a:srgbClr val="5E6878"/>
                </a:solidFill>
                <a:latin typeface="IBM Plex Sans" pitchFamily="34" charset="0"/>
                <a:ea typeface="IBM Plex Sans" pitchFamily="34" charset="-122"/>
                <a:cs typeface="IBM Plex Sans" pitchFamily="34" charset="-120"/>
              </a:rPr>
              <a:t>left, right sensor</a:t>
            </a:r>
            <a:endParaRPr lang="en-US" sz="1100" dirty="0"/>
          </a:p>
        </p:txBody>
      </p:sp>
      <p:sp>
        <p:nvSpPr>
          <p:cNvPr id="30" name="Text 27"/>
          <p:cNvSpPr txBox="1"/>
          <p:nvPr/>
        </p:nvSpPr>
        <p:spPr>
          <a:xfrm>
            <a:off x="2468880" y="4846320"/>
            <a:ext cx="1554480" cy="548640"/>
          </a:xfrm>
          <a:prstGeom prst="rect">
            <a:avLst/>
          </a:prstGeom>
          <a:noFill/>
          <a:ln/>
        </p:spPr>
        <p:txBody>
          <a:bodyPr wrap="square" lIns="0" tIns="0" rIns="0" bIns="0" rtlCol="0" anchor="t"/>
          <a:lstStyle/>
          <a:p>
            <a:pPr algn="ctr" indent="0" marL="0">
              <a:buNone/>
            </a:pPr>
            <a:r>
              <a:rPr lang="en-US" sz="1100" b="1" dirty="0">
                <a:solidFill>
                  <a:srgbClr val="16213A"/>
                </a:solidFill>
                <a:latin typeface="IBM Plex Sans" pitchFamily="34" charset="0"/>
                <a:ea typeface="IBM Plex Sans" pitchFamily="34" charset="-122"/>
                <a:cs typeface="IBM Plex Sans" pitchFamily="34" charset="-120"/>
              </a:rPr>
              <a:t>Hidden</a:t>
            </a:r>
            <a:endParaRPr lang="en-US" sz="1100" dirty="0"/>
          </a:p>
          <a:p>
            <a:pPr algn="ctr" indent="0" marL="0">
              <a:buNone/>
            </a:pPr>
            <a:r>
              <a:rPr lang="en-US" sz="1100" dirty="0">
                <a:solidFill>
                  <a:srgbClr val="5E6878"/>
                </a:solidFill>
                <a:latin typeface="IBM Plex Sans" pitchFamily="34" charset="0"/>
                <a:ea typeface="IBM Plex Sans" pitchFamily="34" charset="-122"/>
                <a:cs typeface="IBM Plex Sans" pitchFamily="34" charset="-120"/>
              </a:rPr>
              <a:t>4 units</a:t>
            </a:r>
            <a:endParaRPr lang="en-US" sz="1100" dirty="0"/>
          </a:p>
        </p:txBody>
      </p:sp>
      <p:sp>
        <p:nvSpPr>
          <p:cNvPr id="31" name="Text 28"/>
          <p:cNvSpPr txBox="1"/>
          <p:nvPr/>
        </p:nvSpPr>
        <p:spPr>
          <a:xfrm>
            <a:off x="4343400" y="4846320"/>
            <a:ext cx="1554480" cy="548640"/>
          </a:xfrm>
          <a:prstGeom prst="rect">
            <a:avLst/>
          </a:prstGeom>
          <a:noFill/>
          <a:ln/>
        </p:spPr>
        <p:txBody>
          <a:bodyPr wrap="square" lIns="0" tIns="0" rIns="0" bIns="0" rtlCol="0" anchor="t"/>
          <a:lstStyle/>
          <a:p>
            <a:pPr algn="ctr" indent="0" marL="0">
              <a:buNone/>
            </a:pPr>
            <a:r>
              <a:rPr lang="en-US" sz="1100" b="1" dirty="0">
                <a:solidFill>
                  <a:srgbClr val="16213A"/>
                </a:solidFill>
                <a:latin typeface="IBM Plex Sans" pitchFamily="34" charset="0"/>
                <a:ea typeface="IBM Plex Sans" pitchFamily="34" charset="-122"/>
                <a:cs typeface="IBM Plex Sans" pitchFamily="34" charset="-120"/>
              </a:rPr>
              <a:t>Output</a:t>
            </a:r>
            <a:endParaRPr lang="en-US" sz="1100" dirty="0"/>
          </a:p>
          <a:p>
            <a:pPr algn="ctr" indent="0" marL="0">
              <a:buNone/>
            </a:pPr>
            <a:r>
              <a:rPr lang="en-US" sz="1100" dirty="0">
                <a:solidFill>
                  <a:srgbClr val="5E6878"/>
                </a:solidFill>
                <a:latin typeface="IBM Plex Sans" pitchFamily="34" charset="0"/>
                <a:ea typeface="IBM Plex Sans" pitchFamily="34" charset="-122"/>
                <a:cs typeface="IBM Plex Sans" pitchFamily="34" charset="-120"/>
              </a:rPr>
              <a:t>left, right motor</a:t>
            </a:r>
            <a:endParaRPr lang="en-US" sz="1100" dirty="0"/>
          </a:p>
        </p:txBody>
      </p:sp>
      <p:sp>
        <p:nvSpPr>
          <p:cNvPr id="32" name="Text 29"/>
          <p:cNvSpPr txBox="1"/>
          <p:nvPr/>
        </p:nvSpPr>
        <p:spPr>
          <a:xfrm>
            <a:off x="6583680" y="1783080"/>
            <a:ext cx="4754880" cy="274320"/>
          </a:xfrm>
          <a:prstGeom prst="rect">
            <a:avLst/>
          </a:prstGeom>
          <a:noFill/>
          <a:ln/>
        </p:spPr>
        <p:txBody>
          <a:bodyPr wrap="square" lIns="0" tIns="0" rIns="0" bIns="0" rtlCol="0" anchor="ctr"/>
          <a:lstStyle/>
          <a:p>
            <a:pPr indent="0" marL="0">
              <a:buNone/>
            </a:pPr>
            <a:r>
              <a:rPr lang="en-US" sz="1200" b="1" spc="100" kern="0" dirty="0">
                <a:solidFill>
                  <a:srgbClr val="B4521C"/>
                </a:solidFill>
                <a:latin typeface="IBM Plex Sans" pitchFamily="34" charset="0"/>
                <a:ea typeface="IBM Plex Sans" pitchFamily="34" charset="-122"/>
                <a:cs typeface="IBM Plex Sans" pitchFamily="34" charset="-120"/>
              </a:rPr>
              <a:t>THE GENOTYPE: ONE FLAT VECTOR</a:t>
            </a:r>
            <a:endParaRPr lang="en-US" sz="1200" dirty="0"/>
          </a:p>
        </p:txBody>
      </p:sp>
      <p:sp>
        <p:nvSpPr>
          <p:cNvPr id="33" name="Shape 30"/>
          <p:cNvSpPr/>
          <p:nvPr/>
        </p:nvSpPr>
        <p:spPr>
          <a:xfrm>
            <a:off x="6583680" y="2148840"/>
            <a:ext cx="2395728" cy="502920"/>
          </a:xfrm>
          <a:prstGeom prst="rect">
            <a:avLst/>
          </a:prstGeom>
          <a:solidFill>
            <a:srgbClr val="1D6F66"/>
          </a:solidFill>
          <a:ln w="12700">
            <a:solidFill>
              <a:srgbClr val="F6F4EE"/>
            </a:solidFill>
            <a:prstDash val="solid"/>
          </a:ln>
        </p:spPr>
      </p:sp>
      <p:sp>
        <p:nvSpPr>
          <p:cNvPr id="34" name="Text 31"/>
          <p:cNvSpPr txBox="1"/>
          <p:nvPr/>
        </p:nvSpPr>
        <p:spPr>
          <a:xfrm>
            <a:off x="6583680" y="2148840"/>
            <a:ext cx="2395728" cy="502920"/>
          </a:xfrm>
          <a:prstGeom prst="rect">
            <a:avLst/>
          </a:prstGeom>
          <a:noFill/>
          <a:ln/>
        </p:spPr>
        <p:txBody>
          <a:bodyPr wrap="square" lIns="0" tIns="0" rIns="0" bIns="0" rtlCol="0" anchor="ctr"/>
          <a:lstStyle/>
          <a:p>
            <a:pPr algn="ctr" indent="0" marL="0">
              <a:buNone/>
            </a:pPr>
            <a:r>
              <a:rPr lang="en-US" sz="1400" b="1" dirty="0">
                <a:solidFill>
                  <a:srgbClr val="F6F4EE"/>
                </a:solidFill>
                <a:latin typeface="IBM Plex Sans" pitchFamily="34" charset="0"/>
                <a:ea typeface="IBM Plex Sans" pitchFamily="34" charset="-122"/>
                <a:cs typeface="IBM Plex Sans" pitchFamily="34" charset="-120"/>
              </a:rPr>
              <a:t>16</a:t>
            </a:r>
            <a:endParaRPr lang="en-US" sz="1400" dirty="0"/>
          </a:p>
        </p:txBody>
      </p:sp>
      <p:sp>
        <p:nvSpPr>
          <p:cNvPr id="35" name="Text 32"/>
          <p:cNvSpPr txBox="1"/>
          <p:nvPr/>
        </p:nvSpPr>
        <p:spPr>
          <a:xfrm>
            <a:off x="6492240" y="2697480"/>
            <a:ext cx="2578608" cy="274320"/>
          </a:xfrm>
          <a:prstGeom prst="rect">
            <a:avLst/>
          </a:prstGeom>
          <a:noFill/>
          <a:ln/>
        </p:spPr>
        <p:txBody>
          <a:bodyPr wrap="square" lIns="0" tIns="0" rIns="0" bIns="0" rtlCol="0" anchor="ctr"/>
          <a:lstStyle/>
          <a:p>
            <a:pPr algn="ctr" indent="0" marL="0">
              <a:buNone/>
            </a:pPr>
            <a:r>
              <a:rPr lang="en-US" sz="1000" dirty="0">
                <a:solidFill>
                  <a:srgbClr val="5E6878"/>
                </a:solidFill>
                <a:latin typeface="JetBrains Mono" pitchFamily="34" charset="0"/>
                <a:ea typeface="JetBrains Mono" pitchFamily="34" charset="-122"/>
                <a:cs typeface="JetBrains Mono" pitchFamily="34" charset="-120"/>
              </a:rPr>
              <a:t>weights</a:t>
            </a:r>
            <a:endParaRPr lang="en-US" sz="1000" dirty="0"/>
          </a:p>
        </p:txBody>
      </p:sp>
      <p:sp>
        <p:nvSpPr>
          <p:cNvPr id="36" name="Shape 33"/>
          <p:cNvSpPr/>
          <p:nvPr/>
        </p:nvSpPr>
        <p:spPr>
          <a:xfrm>
            <a:off x="8979408" y="2148840"/>
            <a:ext cx="898398" cy="502920"/>
          </a:xfrm>
          <a:prstGeom prst="rect">
            <a:avLst/>
          </a:prstGeom>
          <a:solidFill>
            <a:srgbClr val="16213A"/>
          </a:solidFill>
          <a:ln w="12700">
            <a:solidFill>
              <a:srgbClr val="F6F4EE"/>
            </a:solidFill>
            <a:prstDash val="solid"/>
          </a:ln>
        </p:spPr>
      </p:sp>
      <p:sp>
        <p:nvSpPr>
          <p:cNvPr id="37" name="Text 34"/>
          <p:cNvSpPr txBox="1"/>
          <p:nvPr/>
        </p:nvSpPr>
        <p:spPr>
          <a:xfrm>
            <a:off x="8979408" y="2148840"/>
            <a:ext cx="898398" cy="502920"/>
          </a:xfrm>
          <a:prstGeom prst="rect">
            <a:avLst/>
          </a:prstGeom>
          <a:noFill/>
          <a:ln/>
        </p:spPr>
        <p:txBody>
          <a:bodyPr wrap="square" lIns="0" tIns="0" rIns="0" bIns="0" rtlCol="0" anchor="ctr"/>
          <a:lstStyle/>
          <a:p>
            <a:pPr algn="ctr" indent="0" marL="0">
              <a:buNone/>
            </a:pPr>
            <a:r>
              <a:rPr lang="en-US" sz="1400" b="1" dirty="0">
                <a:solidFill>
                  <a:srgbClr val="F6F4EE"/>
                </a:solidFill>
                <a:latin typeface="IBM Plex Sans" pitchFamily="34" charset="0"/>
                <a:ea typeface="IBM Plex Sans" pitchFamily="34" charset="-122"/>
                <a:cs typeface="IBM Plex Sans" pitchFamily="34" charset="-120"/>
              </a:rPr>
              <a:t>6</a:t>
            </a:r>
            <a:endParaRPr lang="en-US" sz="1400" dirty="0"/>
          </a:p>
        </p:txBody>
      </p:sp>
      <p:sp>
        <p:nvSpPr>
          <p:cNvPr id="38" name="Text 35"/>
          <p:cNvSpPr txBox="1"/>
          <p:nvPr/>
        </p:nvSpPr>
        <p:spPr>
          <a:xfrm>
            <a:off x="8887968" y="2697480"/>
            <a:ext cx="1081278" cy="274320"/>
          </a:xfrm>
          <a:prstGeom prst="rect">
            <a:avLst/>
          </a:prstGeom>
          <a:noFill/>
          <a:ln/>
        </p:spPr>
        <p:txBody>
          <a:bodyPr wrap="square" lIns="0" tIns="0" rIns="0" bIns="0" rtlCol="0" anchor="ctr"/>
          <a:lstStyle/>
          <a:p>
            <a:pPr algn="ctr" indent="0" marL="0">
              <a:buNone/>
            </a:pPr>
            <a:r>
              <a:rPr lang="en-US" sz="1000" dirty="0">
                <a:solidFill>
                  <a:srgbClr val="5E6878"/>
                </a:solidFill>
                <a:latin typeface="JetBrains Mono" pitchFamily="34" charset="0"/>
                <a:ea typeface="JetBrains Mono" pitchFamily="34" charset="-122"/>
                <a:cs typeface="JetBrains Mono" pitchFamily="34" charset="-120"/>
              </a:rPr>
              <a:t>biases</a:t>
            </a:r>
            <a:endParaRPr lang="en-US" sz="1000" dirty="0"/>
          </a:p>
        </p:txBody>
      </p:sp>
      <p:sp>
        <p:nvSpPr>
          <p:cNvPr id="39" name="Shape 36"/>
          <p:cNvSpPr/>
          <p:nvPr/>
        </p:nvSpPr>
        <p:spPr>
          <a:xfrm>
            <a:off x="9877806" y="2148840"/>
            <a:ext cx="1497330" cy="502920"/>
          </a:xfrm>
          <a:prstGeom prst="rect">
            <a:avLst/>
          </a:prstGeom>
          <a:solidFill>
            <a:srgbClr val="9AA5B8"/>
          </a:solidFill>
          <a:ln w="12700">
            <a:solidFill>
              <a:srgbClr val="F6F4EE"/>
            </a:solidFill>
            <a:prstDash val="solid"/>
          </a:ln>
        </p:spPr>
      </p:sp>
      <p:sp>
        <p:nvSpPr>
          <p:cNvPr id="40" name="Text 37"/>
          <p:cNvSpPr txBox="1"/>
          <p:nvPr/>
        </p:nvSpPr>
        <p:spPr>
          <a:xfrm>
            <a:off x="9877806" y="2148840"/>
            <a:ext cx="1497330" cy="502920"/>
          </a:xfrm>
          <a:prstGeom prst="rect">
            <a:avLst/>
          </a:prstGeom>
          <a:noFill/>
          <a:ln/>
        </p:spPr>
        <p:txBody>
          <a:bodyPr wrap="square" lIns="0" tIns="0" rIns="0" bIns="0" rtlCol="0" anchor="ctr"/>
          <a:lstStyle/>
          <a:p>
            <a:pPr algn="ctr" indent="0" marL="0">
              <a:buNone/>
            </a:pPr>
            <a:r>
              <a:rPr lang="en-US" sz="1400" b="1" dirty="0">
                <a:solidFill>
                  <a:srgbClr val="F6F4EE"/>
                </a:solidFill>
                <a:latin typeface="IBM Plex Sans" pitchFamily="34" charset="0"/>
                <a:ea typeface="IBM Plex Sans" pitchFamily="34" charset="-122"/>
                <a:cs typeface="IBM Plex Sans" pitchFamily="34" charset="-120"/>
              </a:rPr>
              <a:t>10</a:t>
            </a:r>
            <a:endParaRPr lang="en-US" sz="1400" dirty="0"/>
          </a:p>
        </p:txBody>
      </p:sp>
      <p:sp>
        <p:nvSpPr>
          <p:cNvPr id="41" name="Text 38"/>
          <p:cNvSpPr txBox="1"/>
          <p:nvPr/>
        </p:nvSpPr>
        <p:spPr>
          <a:xfrm>
            <a:off x="9786366" y="2697480"/>
            <a:ext cx="1680210" cy="274320"/>
          </a:xfrm>
          <a:prstGeom prst="rect">
            <a:avLst/>
          </a:prstGeom>
          <a:noFill/>
          <a:ln/>
        </p:spPr>
        <p:txBody>
          <a:bodyPr wrap="square" lIns="0" tIns="0" rIns="0" bIns="0" rtlCol="0" anchor="ctr"/>
          <a:lstStyle/>
          <a:p>
            <a:pPr algn="ctr" indent="0" marL="0">
              <a:buNone/>
            </a:pPr>
            <a:r>
              <a:rPr lang="en-US" sz="1000" dirty="0">
                <a:solidFill>
                  <a:srgbClr val="5E6878"/>
                </a:solidFill>
                <a:latin typeface="JetBrains Mono" pitchFamily="34" charset="0"/>
                <a:ea typeface="JetBrains Mono" pitchFamily="34" charset="-122"/>
                <a:cs typeface="JetBrains Mono" pitchFamily="34" charset="-120"/>
              </a:rPr>
              <a:t>activation genes</a:t>
            </a:r>
            <a:endParaRPr lang="en-US" sz="1000" dirty="0"/>
          </a:p>
        </p:txBody>
      </p:sp>
      <p:sp>
        <p:nvSpPr>
          <p:cNvPr id="42" name="Text 39"/>
          <p:cNvSpPr txBox="1"/>
          <p:nvPr/>
        </p:nvSpPr>
        <p:spPr>
          <a:xfrm>
            <a:off x="6583680" y="3063240"/>
            <a:ext cx="4754880" cy="365760"/>
          </a:xfrm>
          <a:prstGeom prst="rect">
            <a:avLst/>
          </a:prstGeom>
          <a:noFill/>
          <a:ln/>
        </p:spPr>
        <p:txBody>
          <a:bodyPr wrap="square" lIns="0" tIns="0" rIns="0" bIns="0" rtlCol="0" anchor="ctr"/>
          <a:lstStyle/>
          <a:p>
            <a:pPr indent="0" marL="0">
              <a:buNone/>
            </a:pPr>
            <a:r>
              <a:rPr lang="en-US" sz="2000" b="1" dirty="0">
                <a:solidFill>
                  <a:srgbClr val="16213A"/>
                </a:solidFill>
                <a:latin typeface="IBM Plex Sans" pitchFamily="34" charset="0"/>
                <a:ea typeface="IBM Plex Sans" pitchFamily="34" charset="-122"/>
                <a:cs typeface="IBM Plex Sans" pitchFamily="34" charset="-120"/>
              </a:rPr>
              <a:t>= 32 numbers</a:t>
            </a:r>
            <a:endParaRPr lang="en-US" sz="2000" dirty="0"/>
          </a:p>
        </p:txBody>
      </p:sp>
      <p:sp>
        <p:nvSpPr>
          <p:cNvPr id="43" name="Text 40"/>
          <p:cNvSpPr txBox="1"/>
          <p:nvPr/>
        </p:nvSpPr>
        <p:spPr>
          <a:xfrm>
            <a:off x="6583680" y="3657600"/>
            <a:ext cx="4791456" cy="2377440"/>
          </a:xfrm>
          <a:prstGeom prst="rect">
            <a:avLst/>
          </a:prstGeom>
          <a:noFill/>
          <a:ln/>
        </p:spPr>
        <p:txBody>
          <a:bodyPr wrap="square" lIns="0" tIns="0" rIns="0" bIns="0" rtlCol="0" anchor="t"/>
          <a:lstStyle/>
          <a:p>
            <a:pPr marL="203200" indent="-203200">
              <a:spcAft>
                <a:spcPts val="800"/>
              </a:spcAft>
              <a:buSzPct val="100000"/>
              <a:buChar char="•"/>
            </a:pPr>
            <a:r>
              <a:rPr lang="en-US" sz="1300" b="1" dirty="0">
                <a:solidFill>
                  <a:srgbClr val="16213A"/>
                </a:solidFill>
                <a:latin typeface="IBM Plex Sans" pitchFamily="34" charset="0"/>
                <a:ea typeface="IBM Plex Sans" pitchFamily="34" charset="-122"/>
                <a:cs typeface="IBM Plex Sans" pitchFamily="34" charset="-120"/>
              </a:rPr>
              <a:t>weightrange = 5. </a:t>
            </a:r>
            <a:pPr indent="0" marL="0">
              <a:spcAft>
                <a:spcPts val="800"/>
              </a:spcAft>
              <a:buNone/>
            </a:pPr>
            <a:r>
              <a:rPr lang="en-US" sz="1300" dirty="0">
                <a:solidFill>
                  <a:srgbClr val="3E4A5C"/>
                </a:solidFill>
                <a:latin typeface="IBM Plex Sans" pitchFamily="34" charset="0"/>
                <a:ea typeface="IBM Plex Sans" pitchFamily="34" charset="-122"/>
                <a:cs typeface="IBM Plex Sans" pitchFamily="34" charset="-120"/>
              </a:rPr>
              <a:t>Genes stay in [−1, 1]; setParams scales them so weights and biases are in [−5, 5].</a:t>
            </a:r>
            <a:endParaRPr lang="en-US" sz="1300" dirty="0"/>
          </a:p>
          <a:p>
            <a:pPr marL="203200" indent="-203200">
              <a:spcAft>
                <a:spcPts val="800"/>
              </a:spcAft>
              <a:buSzPct val="100000"/>
              <a:buChar char="•"/>
            </a:pPr>
            <a:r>
              <a:rPr lang="en-US" sz="1300" b="1" dirty="0">
                <a:solidFill>
                  <a:srgbClr val="16213A"/>
                </a:solidFill>
                <a:latin typeface="IBM Plex Sans" pitchFamily="34" charset="0"/>
                <a:ea typeface="IBM Plex Sans" pitchFamily="34" charset="-122"/>
                <a:cs typeface="IBM Plex Sans" pitchFamily="34" charset="-120"/>
              </a:rPr>
              <a:t>Two outputs, </a:t>
            </a:r>
            <a:pPr indent="0" marL="0">
              <a:spcAft>
                <a:spcPts val="800"/>
              </a:spcAft>
              <a:buNone/>
            </a:pPr>
            <a:r>
              <a:rPr lang="en-US" sz="1300" dirty="0">
                <a:solidFill>
                  <a:srgbClr val="3E4A5C"/>
                </a:solidFill>
                <a:latin typeface="IBM Plex Sans" pitchFamily="34" charset="0"/>
                <a:ea typeface="IBM Plex Sans" pitchFamily="34" charset="-122"/>
                <a:cs typeface="IBM Plex Sans" pitchFamily="34" charset="-120"/>
              </a:rPr>
              <a:t>one per motor, capped to [0, 1] in think().</a:t>
            </a:r>
            <a:endParaRPr lang="en-US" sz="1300" dirty="0"/>
          </a:p>
          <a:p>
            <a:pPr marL="203200" indent="-203200">
              <a:spcAft>
                <a:spcPts val="800"/>
              </a:spcAft>
              <a:buSzPct val="100000"/>
              <a:buChar char="•"/>
            </a:pPr>
            <a:r>
              <a:rPr lang="en-US" sz="1300" b="1" dirty="0">
                <a:solidFill>
                  <a:srgbClr val="16213A"/>
                </a:solidFill>
                <a:latin typeface="IBM Plex Sans" pitchFamily="34" charset="0"/>
                <a:ea typeface="IBM Plex Sans" pitchFamily="34" charset="-122"/>
                <a:cs typeface="IBM Plex Sans" pitchFamily="34" charset="-120"/>
              </a:rPr>
              <a:t>Activation genes: </a:t>
            </a:r>
            <a:pPr indent="0" marL="0">
              <a:spcAft>
                <a:spcPts val="800"/>
              </a:spcAft>
              <a:buNone/>
            </a:pPr>
            <a:r>
              <a:rPr lang="en-US" sz="1300" dirty="0">
                <a:solidFill>
                  <a:srgbClr val="3E4A5C"/>
                </a:solidFill>
                <a:latin typeface="IBM Plex Sans" pitchFamily="34" charset="0"/>
                <a:ea typeface="IBM Plex Sans" pitchFamily="34" charset="-122"/>
                <a:cs typeface="IBM Plex Sans" pitchFamily="34" charset="-120"/>
              </a:rPr>
              <a:t>5 per layer. The largest picks that layer's function: sigmoid, tanh, relu, linear or gaussian.</a:t>
            </a:r>
            <a:endParaRPr lang="en-US" sz="1300" dirty="0"/>
          </a:p>
        </p:txBody>
      </p:sp>
      <p:sp>
        <p:nvSpPr>
          <p:cNvPr id="44" name="Text 41"/>
          <p:cNvSpPr txBox="1"/>
          <p:nvPr/>
        </p:nvSpPr>
        <p:spPr>
          <a:xfrm>
            <a:off x="813816" y="6355080"/>
            <a:ext cx="10561320" cy="256032"/>
          </a:xfrm>
          <a:prstGeom prst="rect">
            <a:avLst/>
          </a:prstGeom>
          <a:noFill/>
          <a:ln/>
        </p:spPr>
        <p:txBody>
          <a:bodyPr wrap="square" lIns="0" tIns="0" rIns="0" bIns="0" rtlCol="0" anchor="ctr"/>
          <a:lstStyle/>
          <a:p>
            <a:pPr indent="0" marL="0">
              <a:buNone/>
            </a:pPr>
            <a:r>
              <a:rPr lang="en-US" sz="1000" dirty="0">
                <a:solidFill>
                  <a:srgbClr val="5E6878"/>
                </a:solidFill>
                <a:latin typeface="JetBrains Mono" pitchFamily="34" charset="0"/>
                <a:ea typeface="JetBrains Mono" pitchFamily="34" charset="-122"/>
                <a:cs typeface="JetBrains Mono" pitchFamily="34" charset="-120"/>
              </a:rPr>
              <a:t>PythonBasics/Unit4/fnn.py · setParams()  ·  layers = [2, 4, 2]</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D6F66"/>
        </a:solidFill>
      </p:bgPr>
    </p:bg>
    <p:spTree>
      <p:nvGrpSpPr>
        <p:cNvPr id="1" name=""/>
        <p:cNvGrpSpPr/>
        <p:nvPr/>
      </p:nvGrpSpPr>
      <p:grpSpPr>
        <a:xfrm>
          <a:off x="0" y="0"/>
          <a:ext cx="0" cy="0"/>
          <a:chOff x="0" y="0"/>
          <a:chExt cx="0" cy="0"/>
        </a:xfrm>
      </p:grpSpPr>
      <p:sp>
        <p:nvSpPr>
          <p:cNvPr id="2" name="Text 0"/>
          <p:cNvSpPr txBox="1"/>
          <p:nvPr/>
        </p:nvSpPr>
        <p:spPr>
          <a:xfrm>
            <a:off x="813816" y="2011680"/>
            <a:ext cx="10561320" cy="274320"/>
          </a:xfrm>
          <a:prstGeom prst="rect">
            <a:avLst/>
          </a:prstGeom>
          <a:noFill/>
          <a:ln/>
        </p:spPr>
        <p:txBody>
          <a:bodyPr wrap="square" lIns="0" tIns="0" rIns="0" bIns="0" rtlCol="0" anchor="ctr"/>
          <a:lstStyle/>
          <a:p>
            <a:pPr indent="0" marL="0">
              <a:buNone/>
            </a:pPr>
            <a:r>
              <a:rPr lang="en-US" sz="1200" b="1" spc="200" kern="0" dirty="0">
                <a:solidFill>
                  <a:srgbClr val="F2A65A"/>
                </a:solidFill>
                <a:latin typeface="IBM Plex Sans" pitchFamily="34" charset="0"/>
                <a:ea typeface="IBM Plex Sans" pitchFamily="34" charset="-122"/>
                <a:cs typeface="IBM Plex Sans" pitchFamily="34" charset="-120"/>
              </a:rPr>
              <a:t>HOW THEY CONNECT</a:t>
            </a:r>
            <a:endParaRPr lang="en-US" sz="1200" dirty="0"/>
          </a:p>
        </p:txBody>
      </p:sp>
      <p:sp>
        <p:nvSpPr>
          <p:cNvPr id="3" name="Text 1"/>
          <p:cNvSpPr txBox="1"/>
          <p:nvPr/>
        </p:nvSpPr>
        <p:spPr>
          <a:xfrm>
            <a:off x="813816" y="2377440"/>
            <a:ext cx="9601200" cy="1097280"/>
          </a:xfrm>
          <a:prstGeom prst="rect">
            <a:avLst/>
          </a:prstGeom>
          <a:noFill/>
          <a:ln/>
        </p:spPr>
        <p:txBody>
          <a:bodyPr wrap="square" lIns="0" tIns="0" rIns="0" bIns="0" rtlCol="0" anchor="t"/>
          <a:lstStyle/>
          <a:p>
            <a:pPr indent="0" marL="0">
              <a:buNone/>
            </a:pPr>
            <a:r>
              <a:rPr lang="en-US" sz="4000" b="1" dirty="0">
                <a:solidFill>
                  <a:srgbClr val="F6F4EE"/>
                </a:solidFill>
                <a:latin typeface="IBM Plex Sans" pitchFamily="34" charset="0"/>
                <a:ea typeface="IBM Plex Sans" pitchFamily="34" charset="-122"/>
                <a:cs typeface="IBM Plex Sans" pitchFamily="34" charset="-120"/>
              </a:rPr>
              <a:t>What if fitness is not a lookup, but a life?</a:t>
            </a:r>
            <a:endParaRPr lang="en-US" sz="4000" dirty="0"/>
          </a:p>
        </p:txBody>
      </p:sp>
      <p:sp>
        <p:nvSpPr>
          <p:cNvPr id="4" name="Text 2"/>
          <p:cNvSpPr txBox="1"/>
          <p:nvPr/>
        </p:nvSpPr>
        <p:spPr>
          <a:xfrm>
            <a:off x="813816" y="3840480"/>
            <a:ext cx="8686800" cy="731520"/>
          </a:xfrm>
          <a:prstGeom prst="rect">
            <a:avLst/>
          </a:prstGeom>
          <a:noFill/>
          <a:ln/>
        </p:spPr>
        <p:txBody>
          <a:bodyPr wrap="square" lIns="0" tIns="0" rIns="0" bIns="0" rtlCol="0" anchor="t"/>
          <a:lstStyle/>
          <a:p>
            <a:pPr indent="0" marL="0">
              <a:buNone/>
            </a:pPr>
            <a:r>
              <a:rPr lang="en-US" sz="1800" dirty="0">
                <a:solidFill>
                  <a:srgbClr val="F6F4EE"/>
                </a:solidFill>
                <a:latin typeface="IBM Plex Sans" pitchFamily="34" charset="0"/>
                <a:ea typeface="IBM Plex Sans" pitchFamily="34" charset="-122"/>
                <a:cs typeface="IBM Plex Sans" pitchFamily="34" charset="-120"/>
              </a:rPr>
              <a:t>Every genotype gets a body, a random start, and 200 steps to show what it can do.</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4EE"/>
        </a:solidFill>
      </p:bgPr>
    </p:bg>
    <p:spTree>
      <p:nvGrpSpPr>
        <p:cNvPr id="1" name=""/>
        <p:cNvGrpSpPr/>
        <p:nvPr/>
      </p:nvGrpSpPr>
      <p:grpSpPr>
        <a:xfrm>
          <a:off x="0" y="0"/>
          <a:ext cx="0" cy="0"/>
          <a:chOff x="0" y="0"/>
          <a:chExt cx="0" cy="0"/>
        </a:xfrm>
      </p:grpSpPr>
      <p:sp>
        <p:nvSpPr>
          <p:cNvPr id="2" name="Text 0"/>
          <p:cNvSpPr txBox="1"/>
          <p:nvPr/>
        </p:nvSpPr>
        <p:spPr>
          <a:xfrm>
            <a:off x="813816" y="548640"/>
            <a:ext cx="10561320" cy="274320"/>
          </a:xfrm>
          <a:prstGeom prst="rect">
            <a:avLst/>
          </a:prstGeom>
          <a:noFill/>
          <a:ln/>
        </p:spPr>
        <p:txBody>
          <a:bodyPr wrap="square" lIns="0" tIns="0" rIns="0" bIns="0" rtlCol="0" anchor="ctr"/>
          <a:lstStyle/>
          <a:p>
            <a:pPr indent="0" marL="0">
              <a:buNone/>
            </a:pPr>
            <a:r>
              <a:rPr lang="en-US" sz="1200" b="1" spc="100" kern="0" dirty="0">
                <a:solidFill>
                  <a:srgbClr val="B4521C"/>
                </a:solidFill>
                <a:latin typeface="IBM Plex Sans" pitchFamily="34" charset="0"/>
                <a:ea typeface="IBM Plex Sans" pitchFamily="34" charset="-122"/>
                <a:cs typeface="IBM Plex Sans" pitchFamily="34" charset="-120"/>
              </a:rPr>
              <a:t>CONNECTION 1 · BRAIN ↔ BODY</a:t>
            </a:r>
            <a:endParaRPr lang="en-US" sz="1200" dirty="0"/>
          </a:p>
        </p:txBody>
      </p:sp>
      <p:sp>
        <p:nvSpPr>
          <p:cNvPr id="3" name="Text 1"/>
          <p:cNvSpPr txBox="1"/>
          <p:nvPr/>
        </p:nvSpPr>
        <p:spPr>
          <a:xfrm>
            <a:off x="813816" y="841248"/>
            <a:ext cx="10561320" cy="548640"/>
          </a:xfrm>
          <a:prstGeom prst="rect">
            <a:avLst/>
          </a:prstGeom>
          <a:noFill/>
          <a:ln/>
        </p:spPr>
        <p:txBody>
          <a:bodyPr wrap="square" lIns="0" tIns="0" rIns="0" bIns="0" rtlCol="0" anchor="ctr"/>
          <a:lstStyle/>
          <a:p>
            <a:pPr indent="0" marL="0">
              <a:buNone/>
            </a:pPr>
            <a:r>
              <a:rPr lang="en-US" sz="3200" b="1" dirty="0">
                <a:solidFill>
                  <a:srgbClr val="16213A"/>
                </a:solidFill>
                <a:latin typeface="IBM Plex Sans" pitchFamily="34" charset="0"/>
                <a:ea typeface="IBM Plex Sans" pitchFamily="34" charset="-122"/>
                <a:cs typeface="IBM Plex Sans" pitchFamily="34" charset="-120"/>
              </a:rPr>
              <a:t>The body is handed its brain</a:t>
            </a:r>
            <a:endParaRPr lang="en-US" sz="3200" dirty="0"/>
          </a:p>
        </p:txBody>
      </p:sp>
      <p:sp>
        <p:nvSpPr>
          <p:cNvPr id="5" name="Shape 2"/>
          <p:cNvSpPr/>
          <p:nvPr/>
        </p:nvSpPr>
        <p:spPr>
          <a:xfrm>
            <a:off x="813816" y="1783080"/>
            <a:ext cx="5120640" cy="2377440"/>
          </a:xfrm>
          <a:prstGeom prst="roundRect">
            <a:avLst>
              <a:gd name="adj" fmla="val 3077"/>
            </a:avLst>
          </a:prstGeom>
          <a:solidFill>
            <a:srgbClr val="FFFDF8"/>
          </a:solidFill>
          <a:ln w="12700">
            <a:solidFill>
              <a:srgbClr val="E2DDD0"/>
            </a:solidFill>
            <a:prstDash val="solid"/>
          </a:ln>
        </p:spPr>
      </p:sp>
      <p:sp>
        <p:nvSpPr>
          <p:cNvPr id="6" name="Text 3"/>
          <p:cNvSpPr txBox="1"/>
          <p:nvPr/>
        </p:nvSpPr>
        <p:spPr>
          <a:xfrm>
            <a:off x="1042416" y="1920240"/>
            <a:ext cx="3657600" cy="274320"/>
          </a:xfrm>
          <a:prstGeom prst="rect">
            <a:avLst/>
          </a:prstGeom>
          <a:noFill/>
          <a:ln/>
        </p:spPr>
        <p:txBody>
          <a:bodyPr wrap="square" lIns="0" tIns="0" rIns="0" bIns="0" rtlCol="0" anchor="ctr"/>
          <a:lstStyle/>
          <a:p>
            <a:pPr indent="0" marL="0">
              <a:buNone/>
            </a:pPr>
            <a:r>
              <a:rPr lang="en-US" sz="1200" b="1" spc="100" kern="0" dirty="0">
                <a:solidFill>
                  <a:srgbClr val="B4521C"/>
                </a:solidFill>
                <a:latin typeface="IBM Plex Sans" pitchFamily="34" charset="0"/>
                <a:ea typeface="IBM Plex Sans" pitchFamily="34" charset="-122"/>
                <a:cs typeface="IBM Plex Sans" pitchFamily="34" charset="-120"/>
              </a:rPr>
              <a:t>INSIDE THE BODY · env.py</a:t>
            </a:r>
            <a:endParaRPr lang="en-US" sz="1200" dirty="0"/>
          </a:p>
        </p:txBody>
      </p:sp>
      <p:sp>
        <p:nvSpPr>
          <p:cNvPr id="7" name="Shape 4"/>
          <p:cNvSpPr/>
          <p:nvPr/>
        </p:nvSpPr>
        <p:spPr>
          <a:xfrm>
            <a:off x="1042416" y="2286000"/>
            <a:ext cx="4663440" cy="1691640"/>
          </a:xfrm>
          <a:prstGeom prst="roundRect">
            <a:avLst>
              <a:gd name="adj" fmla="val 4324"/>
            </a:avLst>
          </a:prstGeom>
          <a:solidFill>
            <a:srgbClr val="16213A"/>
          </a:solidFill>
          <a:ln w="12700">
            <a:solidFill>
              <a:srgbClr val="16213A"/>
            </a:solidFill>
            <a:prstDash val="solid"/>
          </a:ln>
        </p:spPr>
      </p:sp>
      <p:sp>
        <p:nvSpPr>
          <p:cNvPr id="8" name="Text 5"/>
          <p:cNvSpPr txBox="1"/>
          <p:nvPr/>
        </p:nvSpPr>
        <p:spPr>
          <a:xfrm>
            <a:off x="1271016" y="2468880"/>
            <a:ext cx="4206240" cy="1325880"/>
          </a:xfrm>
          <a:prstGeom prst="rect">
            <a:avLst/>
          </a:prstGeom>
          <a:noFill/>
          <a:ln/>
        </p:spPr>
        <p:txBody>
          <a:bodyPr wrap="square" lIns="0" tIns="0" rIns="0" bIns="0" rtlCol="0" anchor="t"/>
          <a:lstStyle/>
          <a:p>
            <a:pPr indent="0" marL="0">
              <a:spcAft>
                <a:spcPts val="200"/>
              </a:spcAft>
              <a:buNone/>
            </a:pPr>
            <a:r>
              <a:rPr lang="en-US" sz="1100" dirty="0">
                <a:solidFill>
                  <a:srgbClr val="E8E4D8"/>
                </a:solidFill>
                <a:latin typeface="JetBrains Mono" pitchFamily="34" charset="0"/>
                <a:ea typeface="JetBrains Mono" pitchFamily="34" charset="-122"/>
                <a:cs typeface="JetBrains Mono" pitchFamily="34" charset="-120"/>
              </a:rPr>
              <a:t>class Braitenberg:</a:t>
            </a:r>
            <a:endParaRPr lang="en-US" sz="1100" dirty="0"/>
          </a:p>
          <a:p>
            <a:pPr indent="0" marL="0">
              <a:spcAft>
                <a:spcPts val="200"/>
              </a:spcAft>
              <a:buNone/>
            </a:pPr>
            <a:r>
              <a:rPr lang="en-US" sz="1100" dirty="0">
                <a:solidFill>
                  <a:srgbClr val="E8E4D8"/>
                </a:solidFill>
                <a:latin typeface="JetBrains Mono" pitchFamily="34" charset="0"/>
                <a:ea typeface="JetBrains Mono" pitchFamily="34" charset="-122"/>
                <a:cs typeface="JetBrains Mono" pitchFamily="34" charset="-120"/>
              </a:rPr>
              <a:t>  def __init__(self, neuralnetwork, distance):</a:t>
            </a:r>
            <a:endParaRPr lang="en-US" sz="1100" dirty="0"/>
          </a:p>
          <a:p>
            <a:pPr indent="0" marL="0">
              <a:spcAft>
                <a:spcPts val="200"/>
              </a:spcAft>
              <a:buNone/>
            </a:pPr>
            <a:r>
              <a:rPr lang="en-US" sz="1100" dirty="0">
                <a:solidFill>
                  <a:srgbClr val="F2A65A"/>
                </a:solidFill>
                <a:latin typeface="JetBrains Mono" pitchFamily="34" charset="0"/>
                <a:ea typeface="JetBrains Mono" pitchFamily="34" charset="-122"/>
                <a:cs typeface="JetBrains Mono" pitchFamily="34" charset="-120"/>
              </a:rPr>
              <a:t>    self.controller = neuralnetwork</a:t>
            </a:r>
            <a:endParaRPr lang="en-US" sz="1100" dirty="0"/>
          </a:p>
          <a:p>
            <a:pPr indent="0" marL="0">
              <a:spcAft>
                <a:spcPts val="200"/>
              </a:spcAft>
              <a:buNone/>
            </a:pPr>
            <a:r>
              <a:rPr lang="en-US" sz="1100" dirty="0">
                <a:solidFill>
                  <a:srgbClr val="E8E4D8"/>
                </a:solidFill>
                <a:latin typeface="JetBrains Mono" pitchFamily="34" charset="0"/>
                <a:ea typeface="JetBrains Mono" pitchFamily="34" charset="-122"/>
                <a:cs typeface="JetBrains Mono" pitchFamily="34" charset="-120"/>
              </a:rPr>
              <a:t>  def think(self):</a:t>
            </a:r>
            <a:endParaRPr lang="en-US" sz="1100" dirty="0"/>
          </a:p>
          <a:p>
            <a:pPr indent="0" marL="0">
              <a:spcAft>
                <a:spcPts val="200"/>
              </a:spcAft>
              <a:buNone/>
            </a:pPr>
            <a:r>
              <a:rPr lang="en-US" sz="1100" dirty="0">
                <a:solidFill>
                  <a:srgbClr val="F2A65A"/>
                </a:solidFill>
                <a:latin typeface="JetBrains Mono" pitchFamily="34" charset="0"/>
                <a:ea typeface="JetBrains Mono" pitchFamily="34" charset="-122"/>
                <a:cs typeface="JetBrains Mono" pitchFamily="34" charset="-120"/>
              </a:rPr>
              <a:t>    self.motors = np.clip(self.controller.forward(</a:t>
            </a:r>
            <a:endParaRPr lang="en-US" sz="1100" dirty="0"/>
          </a:p>
          <a:p>
            <a:pPr indent="0" marL="0">
              <a:spcAft>
                <a:spcPts val="200"/>
              </a:spcAft>
              <a:buNone/>
            </a:pPr>
            <a:r>
              <a:rPr lang="en-US" sz="1100" dirty="0">
                <a:solidFill>
                  <a:srgbClr val="F2A65A"/>
                </a:solidFill>
                <a:latin typeface="JetBrains Mono" pitchFamily="34" charset="0"/>
                <a:ea typeface="JetBrains Mono" pitchFamily="34" charset="-122"/>
                <a:cs typeface="JetBrains Mono" pitchFamily="34" charset="-120"/>
              </a:rPr>
              <a:t>                      self.sensors)[0], 0, 1)</a:t>
            </a:r>
            <a:endParaRPr lang="en-US" sz="1100" dirty="0"/>
          </a:p>
        </p:txBody>
      </p:sp>
      <p:sp>
        <p:nvSpPr>
          <p:cNvPr id="9" name="Shape 6"/>
          <p:cNvSpPr/>
          <p:nvPr/>
        </p:nvSpPr>
        <p:spPr>
          <a:xfrm>
            <a:off x="6254496" y="1783080"/>
            <a:ext cx="5120640" cy="2377440"/>
          </a:xfrm>
          <a:prstGeom prst="roundRect">
            <a:avLst>
              <a:gd name="adj" fmla="val 3077"/>
            </a:avLst>
          </a:prstGeom>
          <a:solidFill>
            <a:srgbClr val="FFFDF8"/>
          </a:solidFill>
          <a:ln w="12700">
            <a:solidFill>
              <a:srgbClr val="E2DDD0"/>
            </a:solidFill>
            <a:prstDash val="solid"/>
          </a:ln>
        </p:spPr>
      </p:sp>
      <p:sp>
        <p:nvSpPr>
          <p:cNvPr id="10" name="Text 7"/>
          <p:cNvSpPr txBox="1"/>
          <p:nvPr/>
        </p:nvSpPr>
        <p:spPr>
          <a:xfrm>
            <a:off x="6483096" y="1920240"/>
            <a:ext cx="4206240" cy="274320"/>
          </a:xfrm>
          <a:prstGeom prst="rect">
            <a:avLst/>
          </a:prstGeom>
          <a:noFill/>
          <a:ln/>
        </p:spPr>
        <p:txBody>
          <a:bodyPr wrap="square" lIns="0" tIns="0" rIns="0" bIns="0" rtlCol="0" anchor="ctr"/>
          <a:lstStyle/>
          <a:p>
            <a:pPr indent="0" marL="0">
              <a:buNone/>
            </a:pPr>
            <a:r>
              <a:rPr lang="en-US" sz="1200" b="1" spc="100" kern="0" dirty="0">
                <a:solidFill>
                  <a:srgbClr val="1D6F66"/>
                </a:solidFill>
                <a:latin typeface="IBM Plex Sans" pitchFamily="34" charset="0"/>
                <a:ea typeface="IBM Plex Sans" pitchFamily="34" charset="-122"/>
                <a:cs typeface="IBM Plex Sans" pitchFamily="34" charset="-120"/>
              </a:rPr>
              <a:t>WHERE IT'S ASSEMBLED · evolve.py</a:t>
            </a:r>
            <a:endParaRPr lang="en-US" sz="1200" dirty="0"/>
          </a:p>
        </p:txBody>
      </p:sp>
      <p:sp>
        <p:nvSpPr>
          <p:cNvPr id="11" name="Shape 8"/>
          <p:cNvSpPr/>
          <p:nvPr/>
        </p:nvSpPr>
        <p:spPr>
          <a:xfrm>
            <a:off x="6483096" y="2286000"/>
            <a:ext cx="4663440" cy="1691640"/>
          </a:xfrm>
          <a:prstGeom prst="roundRect">
            <a:avLst>
              <a:gd name="adj" fmla="val 4324"/>
            </a:avLst>
          </a:prstGeom>
          <a:solidFill>
            <a:srgbClr val="16213A"/>
          </a:solidFill>
          <a:ln w="12700">
            <a:solidFill>
              <a:srgbClr val="16213A"/>
            </a:solidFill>
            <a:prstDash val="solid"/>
          </a:ln>
        </p:spPr>
      </p:sp>
      <p:sp>
        <p:nvSpPr>
          <p:cNvPr id="12" name="Text 9"/>
          <p:cNvSpPr txBox="1"/>
          <p:nvPr/>
        </p:nvSpPr>
        <p:spPr>
          <a:xfrm>
            <a:off x="6711696" y="2468880"/>
            <a:ext cx="4206240" cy="1325880"/>
          </a:xfrm>
          <a:prstGeom prst="rect">
            <a:avLst/>
          </a:prstGeom>
          <a:noFill/>
          <a:ln/>
        </p:spPr>
        <p:txBody>
          <a:bodyPr wrap="square" lIns="0" tIns="0" rIns="0" bIns="0" rtlCol="0" anchor="t"/>
          <a:lstStyle/>
          <a:p>
            <a:pPr indent="0" marL="0">
              <a:spcAft>
                <a:spcPts val="200"/>
              </a:spcAft>
              <a:buNone/>
            </a:pPr>
            <a:r>
              <a:rPr lang="en-US" sz="1100" dirty="0">
                <a:solidFill>
                  <a:srgbClr val="E8E4D8"/>
                </a:solidFill>
                <a:latin typeface="JetBrains Mono" pitchFamily="34" charset="0"/>
                <a:ea typeface="JetBrains Mono" pitchFamily="34" charset="-122"/>
                <a:cs typeface="JetBrains Mono" pitchFamily="34" charset="-120"/>
              </a:rPr>
              <a:t>controller = fnn.FNN(layers)</a:t>
            </a:r>
            <a:endParaRPr lang="en-US" sz="1100" dirty="0"/>
          </a:p>
          <a:p>
            <a:pPr indent="0" marL="0">
              <a:spcAft>
                <a:spcPts val="200"/>
              </a:spcAft>
              <a:buNone/>
            </a:pPr>
            <a:r>
              <a:rPr lang="en-US" sz="1100" dirty="0">
                <a:solidFill>
                  <a:srgbClr val="F2A65A"/>
                </a:solidFill>
                <a:latin typeface="JetBrains Mono" pitchFamily="34" charset="0"/>
                <a:ea typeface="JetBrains Mono" pitchFamily="34" charset="-122"/>
                <a:cs typeface="JetBrains Mono" pitchFamily="34" charset="-120"/>
              </a:rPr>
              <a:t>controller.setParams(genotype)</a:t>
            </a:r>
            <a:endParaRPr lang="en-US" sz="1100" dirty="0"/>
          </a:p>
          <a:p>
            <a:pPr indent="0" marL="0">
              <a:spcAft>
                <a:spcPts val="200"/>
              </a:spcAft>
              <a:buNone/>
            </a:pPr>
            <a:r>
              <a:rPr lang="en-US" sz="1100" dirty="0">
                <a:solidFill>
                  <a:srgbClr val="E8E4D8"/>
                </a:solidFill>
                <a:latin typeface="JetBrains Mono" pitchFamily="34" charset="0"/>
                <a:ea typeface="JetBrains Mono" pitchFamily="34" charset="-122"/>
                <a:cs typeface="JetBrains Mono" pitchFamily="34" charset="-120"/>
              </a:rPr>
              <a:t>agent = env.Braitenberg(controller, distance)</a:t>
            </a:r>
            <a:endParaRPr lang="en-US" sz="1100" dirty="0"/>
          </a:p>
          <a:p>
            <a:pPr indent="0" marL="0">
              <a:spcAft>
                <a:spcPts val="200"/>
              </a:spcAft>
              <a:buNone/>
            </a:pPr>
            <a:r>
              <a:rPr lang="en-US" sz="1100" dirty="0">
                <a:solidFill>
                  <a:srgbClr val="E8E4D8"/>
                </a:solidFill>
                <a:latin typeface="JetBrains Mono" pitchFamily="34" charset="0"/>
                <a:ea typeface="JetBrains Mono" pitchFamily="34" charset="-122"/>
                <a:cs typeface="JetBrains Mono" pitchFamily="34" charset="-120"/>
              </a:rPr>
              <a:t>light = env.Light()</a:t>
            </a:r>
            <a:endParaRPr lang="en-US" sz="1100" dirty="0"/>
          </a:p>
        </p:txBody>
      </p:sp>
      <p:sp>
        <p:nvSpPr>
          <p:cNvPr id="13" name="Text 10"/>
          <p:cNvSpPr txBox="1"/>
          <p:nvPr/>
        </p:nvSpPr>
        <p:spPr>
          <a:xfrm>
            <a:off x="813816" y="4480560"/>
            <a:ext cx="10561320" cy="1645920"/>
          </a:xfrm>
          <a:prstGeom prst="rect">
            <a:avLst/>
          </a:prstGeom>
          <a:noFill/>
          <a:ln/>
        </p:spPr>
        <p:txBody>
          <a:bodyPr wrap="square" lIns="0" tIns="0" rIns="0" bIns="0" rtlCol="0" anchor="t"/>
          <a:lstStyle/>
          <a:p>
            <a:pPr marL="203200" indent="-203200">
              <a:spcAft>
                <a:spcPts val="800"/>
              </a:spcAft>
              <a:buSzPct val="100000"/>
              <a:buChar char="•"/>
            </a:pPr>
            <a:r>
              <a:rPr lang="en-US" sz="1400" b="1" dirty="0">
                <a:solidFill>
                  <a:srgbClr val="16213A"/>
                </a:solidFill>
                <a:latin typeface="IBM Plex Sans" pitchFamily="34" charset="0"/>
                <a:ea typeface="IBM Plex Sans" pitchFamily="34" charset="-122"/>
                <a:cs typeface="IBM Plex Sans" pitchFamily="34" charset="-120"/>
              </a:rPr>
              <a:t>Same interface: </a:t>
            </a:r>
            <a:pPr indent="0" marL="0">
              <a:spcAft>
                <a:spcPts val="800"/>
              </a:spcAft>
              <a:buNone/>
            </a:pPr>
            <a:r>
              <a:rPr lang="en-US" sz="1400" dirty="0">
                <a:solidFill>
                  <a:srgbClr val="3E4A5C"/>
                </a:solidFill>
                <a:latin typeface="IBM Plex Sans" pitchFamily="34" charset="0"/>
                <a:ea typeface="IBM Plex Sans" pitchFamily="34" charset="-122"/>
                <a:cs typeface="IBM Plex Sans" pitchFamily="34" charset="-120"/>
              </a:rPr>
              <a:t>any object with forward([left, right]) that returns two motor values can drive the body.</a:t>
            </a:r>
            <a:endParaRPr lang="en-US" sz="1400" dirty="0"/>
          </a:p>
          <a:p>
            <a:pPr marL="203200" indent="-203200">
              <a:spcAft>
                <a:spcPts val="800"/>
              </a:spcAft>
              <a:buSzPct val="100000"/>
              <a:buChar char="•"/>
            </a:pPr>
            <a:r>
              <a:rPr lang="en-US" sz="1400" b="1" dirty="0">
                <a:solidFill>
                  <a:srgbClr val="16213A"/>
                </a:solidFill>
                <a:latin typeface="IBM Plex Sans" pitchFamily="34" charset="0"/>
                <a:ea typeface="IBM Plex Sans" pitchFamily="34" charset="-122"/>
                <a:cs typeface="IBM Plex Sans" pitchFamily="34" charset="-120"/>
              </a:rPr>
              <a:t>Loose coupling: </a:t>
            </a:r>
            <a:pPr indent="0" marL="0">
              <a:spcAft>
                <a:spcPts val="800"/>
              </a:spcAft>
              <a:buNone/>
            </a:pPr>
            <a:r>
              <a:rPr lang="en-US" sz="1400" dirty="0">
                <a:solidFill>
                  <a:srgbClr val="3E4A5C"/>
                </a:solidFill>
                <a:latin typeface="IBM Plex Sans" pitchFamily="34" charset="0"/>
                <a:ea typeface="IBM Plex Sans" pitchFamily="34" charset="-122"/>
                <a:cs typeface="IBM Plex Sans" pitchFamily="34" charset="-120"/>
              </a:rPr>
              <a:t>env.py knows nothing about evolution, and eas.py knows nothing about vehicles.</a:t>
            </a:r>
            <a:endParaRPr lang="en-US" sz="1400" dirty="0"/>
          </a:p>
          <a:p>
            <a:pPr marL="203200" indent="-203200">
              <a:spcAft>
                <a:spcPts val="800"/>
              </a:spcAft>
              <a:buSzPct val="100000"/>
              <a:buChar char="•"/>
            </a:pPr>
            <a:r>
              <a:rPr lang="en-US" sz="1400" b="1" dirty="0">
                <a:solidFill>
                  <a:srgbClr val="16213A"/>
                </a:solidFill>
                <a:latin typeface="IBM Plex Sans" pitchFamily="34" charset="0"/>
                <a:ea typeface="IBM Plex Sans" pitchFamily="34" charset="-122"/>
                <a:cs typeface="IBM Plex Sans" pitchFamily="34" charset="-120"/>
              </a:rPr>
              <a:t>Only setParams connects a genotype to behavior: </a:t>
            </a:r>
            <a:pPr indent="0" marL="0">
              <a:spcAft>
                <a:spcPts val="800"/>
              </a:spcAft>
              <a:buNone/>
            </a:pPr>
            <a:r>
              <a:rPr lang="en-US" sz="1400" dirty="0">
                <a:solidFill>
                  <a:srgbClr val="3E4A5C"/>
                </a:solidFill>
                <a:latin typeface="IBM Plex Sans" pitchFamily="34" charset="0"/>
                <a:ea typeface="IBM Plex Sans" pitchFamily="34" charset="-122"/>
                <a:cs typeface="IBM Plex Sans" pitchFamily="34" charset="-120"/>
              </a:rPr>
              <a:t>the same vector becomes different weights, so a different vehicle.</a:t>
            </a:r>
            <a:endParaRPr lang="en-US" sz="1400" dirty="0"/>
          </a:p>
        </p:txBody>
      </p:sp>
      <p:sp>
        <p:nvSpPr>
          <p:cNvPr id="14" name="Text 11"/>
          <p:cNvSpPr txBox="1"/>
          <p:nvPr/>
        </p:nvSpPr>
        <p:spPr>
          <a:xfrm>
            <a:off x="813816" y="6355080"/>
            <a:ext cx="10561320" cy="256032"/>
          </a:xfrm>
          <a:prstGeom prst="rect">
            <a:avLst/>
          </a:prstGeom>
          <a:noFill/>
          <a:ln/>
        </p:spPr>
        <p:txBody>
          <a:bodyPr wrap="square" lIns="0" tIns="0" rIns="0" bIns="0" rtlCol="0" anchor="ctr"/>
          <a:lstStyle/>
          <a:p>
            <a:pPr indent="0" marL="0">
              <a:buNone/>
            </a:pPr>
            <a:r>
              <a:rPr lang="en-US" sz="1000" dirty="0">
                <a:solidFill>
                  <a:srgbClr val="5E6878"/>
                </a:solidFill>
                <a:latin typeface="JetBrains Mono" pitchFamily="34" charset="0"/>
                <a:ea typeface="JetBrains Mono" pitchFamily="34" charset="-122"/>
                <a:cs typeface="JetBrains Mono" pitchFamily="34" charset="-120"/>
              </a:rPr>
              <a:t>PythonBasics/Unit4/env.py · evolve.py · fitnessFunction()</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4EE"/>
        </a:solidFill>
      </p:bgPr>
    </p:bg>
    <p:spTree>
      <p:nvGrpSpPr>
        <p:cNvPr id="1" name=""/>
        <p:cNvGrpSpPr/>
        <p:nvPr/>
      </p:nvGrpSpPr>
      <p:grpSpPr>
        <a:xfrm>
          <a:off x="0" y="0"/>
          <a:ext cx="0" cy="0"/>
          <a:chOff x="0" y="0"/>
          <a:chExt cx="0" cy="0"/>
        </a:xfrm>
      </p:grpSpPr>
      <p:sp>
        <p:nvSpPr>
          <p:cNvPr id="2" name="Text 0"/>
          <p:cNvSpPr txBox="1"/>
          <p:nvPr/>
        </p:nvSpPr>
        <p:spPr>
          <a:xfrm>
            <a:off x="813816" y="548640"/>
            <a:ext cx="10561320" cy="274320"/>
          </a:xfrm>
          <a:prstGeom prst="rect">
            <a:avLst/>
          </a:prstGeom>
          <a:noFill/>
          <a:ln/>
        </p:spPr>
        <p:txBody>
          <a:bodyPr wrap="square" lIns="0" tIns="0" rIns="0" bIns="0" rtlCol="0" anchor="ctr"/>
          <a:lstStyle/>
          <a:p>
            <a:pPr indent="0" marL="0">
              <a:buNone/>
            </a:pPr>
            <a:r>
              <a:rPr lang="en-US" sz="1200" b="1" spc="100" kern="0" dirty="0">
                <a:solidFill>
                  <a:srgbClr val="B4521C"/>
                </a:solidFill>
                <a:latin typeface="IBM Plex Sans" pitchFamily="34" charset="0"/>
                <a:ea typeface="IBM Plex Sans" pitchFamily="34" charset="-122"/>
                <a:cs typeface="IBM Plex Sans" pitchFamily="34" charset="-120"/>
              </a:rPr>
              <a:t>CONNECTION 2 · CLOSED LOOP</a:t>
            </a:r>
            <a:endParaRPr lang="en-US" sz="1200" dirty="0"/>
          </a:p>
        </p:txBody>
      </p:sp>
      <p:sp>
        <p:nvSpPr>
          <p:cNvPr id="3" name="Text 1"/>
          <p:cNvSpPr txBox="1"/>
          <p:nvPr/>
        </p:nvSpPr>
        <p:spPr>
          <a:xfrm>
            <a:off x="813816" y="841248"/>
            <a:ext cx="10561320" cy="548640"/>
          </a:xfrm>
          <a:prstGeom prst="rect">
            <a:avLst/>
          </a:prstGeom>
          <a:noFill/>
          <a:ln/>
        </p:spPr>
        <p:txBody>
          <a:bodyPr wrap="square" lIns="0" tIns="0" rIns="0" bIns="0" rtlCol="0" anchor="ctr"/>
          <a:lstStyle/>
          <a:p>
            <a:pPr indent="0" marL="0">
              <a:buNone/>
            </a:pPr>
            <a:r>
              <a:rPr lang="en-US" sz="3200" b="1" dirty="0">
                <a:solidFill>
                  <a:srgbClr val="16213A"/>
                </a:solidFill>
                <a:latin typeface="IBM Plex Sans" pitchFamily="34" charset="0"/>
                <a:ea typeface="IBM Plex Sans" pitchFamily="34" charset="-122"/>
                <a:cs typeface="IBM Plex Sans" pitchFamily="34" charset="-120"/>
              </a:rPr>
              <a:t>The network's output changes its own input</a:t>
            </a:r>
            <a:endParaRPr lang="en-US" sz="3200" dirty="0"/>
          </a:p>
        </p:txBody>
      </p:sp>
      <p:sp>
        <p:nvSpPr>
          <p:cNvPr id="5" name="Shape 2"/>
          <p:cNvSpPr/>
          <p:nvPr/>
        </p:nvSpPr>
        <p:spPr>
          <a:xfrm>
            <a:off x="813816" y="1828800"/>
            <a:ext cx="2148840" cy="1463040"/>
          </a:xfrm>
          <a:prstGeom prst="roundRect">
            <a:avLst>
              <a:gd name="adj" fmla="val 5000"/>
            </a:avLst>
          </a:prstGeom>
          <a:solidFill>
            <a:srgbClr val="16213A"/>
          </a:solidFill>
          <a:ln w="12700">
            <a:solidFill>
              <a:srgbClr val="16213A"/>
            </a:solidFill>
            <a:prstDash val="solid"/>
          </a:ln>
        </p:spPr>
      </p:sp>
      <p:sp>
        <p:nvSpPr>
          <p:cNvPr id="6" name="Text 3"/>
          <p:cNvSpPr txBox="1"/>
          <p:nvPr/>
        </p:nvSpPr>
        <p:spPr>
          <a:xfrm>
            <a:off x="996696" y="1965960"/>
            <a:ext cx="1783080" cy="365760"/>
          </a:xfrm>
          <a:prstGeom prst="rect">
            <a:avLst/>
          </a:prstGeom>
          <a:noFill/>
          <a:ln/>
        </p:spPr>
        <p:txBody>
          <a:bodyPr wrap="square" lIns="0" tIns="0" rIns="0" bIns="0" rtlCol="0" anchor="ctr"/>
          <a:lstStyle/>
          <a:p>
            <a:pPr indent="0" marL="0">
              <a:buNone/>
            </a:pPr>
            <a:r>
              <a:rPr lang="en-US" sz="1800" b="1" dirty="0">
                <a:solidFill>
                  <a:srgbClr val="F6F4EE"/>
                </a:solidFill>
                <a:latin typeface="IBM Plex Sans" pitchFamily="34" charset="0"/>
                <a:ea typeface="IBM Plex Sans" pitchFamily="34" charset="-122"/>
                <a:cs typeface="IBM Plex Sans" pitchFamily="34" charset="-120"/>
              </a:rPr>
              <a:t>Sense</a:t>
            </a:r>
            <a:endParaRPr lang="en-US" sz="1800" dirty="0"/>
          </a:p>
        </p:txBody>
      </p:sp>
      <p:sp>
        <p:nvSpPr>
          <p:cNvPr id="7" name="Text 4"/>
          <p:cNvSpPr txBox="1"/>
          <p:nvPr/>
        </p:nvSpPr>
        <p:spPr>
          <a:xfrm>
            <a:off x="996696" y="2423160"/>
            <a:ext cx="1783080" cy="777240"/>
          </a:xfrm>
          <a:prstGeom prst="rect">
            <a:avLst/>
          </a:prstGeom>
          <a:noFill/>
          <a:ln/>
        </p:spPr>
        <p:txBody>
          <a:bodyPr wrap="square" lIns="0" tIns="0" rIns="0" bIns="0" rtlCol="0" anchor="t"/>
          <a:lstStyle/>
          <a:p>
            <a:pPr indent="0" marL="0">
              <a:buNone/>
            </a:pPr>
            <a:r>
              <a:rPr lang="en-US" sz="1200" dirty="0">
                <a:solidFill>
                  <a:srgbClr val="E8E4D8"/>
                </a:solidFill>
                <a:latin typeface="JetBrains Mono" pitchFamily="34" charset="0"/>
                <a:ea typeface="JetBrains Mono" pitchFamily="34" charset="-122"/>
                <a:cs typeface="JetBrains Mono" pitchFamily="34" charset="-120"/>
              </a:rPr>
              <a:t>left_sensor</a:t>
            </a:r>
            <a:endParaRPr lang="en-US" sz="1200" dirty="0"/>
          </a:p>
          <a:p>
            <a:pPr indent="0" marL="0">
              <a:buNone/>
            </a:pPr>
            <a:r>
              <a:rPr lang="en-US" sz="1200" dirty="0">
                <a:solidFill>
                  <a:srgbClr val="E8E4D8"/>
                </a:solidFill>
                <a:latin typeface="JetBrains Mono" pitchFamily="34" charset="0"/>
                <a:ea typeface="JetBrains Mono" pitchFamily="34" charset="-122"/>
                <a:cs typeface="JetBrains Mono" pitchFamily="34" charset="-120"/>
              </a:rPr>
              <a:t>right_sensor</a:t>
            </a:r>
            <a:endParaRPr lang="en-US" sz="1200" dirty="0"/>
          </a:p>
        </p:txBody>
      </p:sp>
      <p:sp>
        <p:nvSpPr>
          <p:cNvPr id="8" name="Shape 5"/>
          <p:cNvSpPr/>
          <p:nvPr/>
        </p:nvSpPr>
        <p:spPr>
          <a:xfrm>
            <a:off x="3035808" y="2560320"/>
            <a:ext cx="512064" cy="0"/>
          </a:xfrm>
          <a:prstGeom prst="line">
            <a:avLst/>
          </a:prstGeom>
          <a:noFill/>
          <a:ln w="25400">
            <a:solidFill>
              <a:srgbClr val="5E6878"/>
            </a:solidFill>
            <a:prstDash val="solid"/>
            <a:tailEnd type="triangle"/>
          </a:ln>
        </p:spPr>
      </p:sp>
      <p:sp>
        <p:nvSpPr>
          <p:cNvPr id="9" name="Shape 6"/>
          <p:cNvSpPr/>
          <p:nvPr/>
        </p:nvSpPr>
        <p:spPr>
          <a:xfrm>
            <a:off x="3621024" y="1828800"/>
            <a:ext cx="2148840" cy="1463040"/>
          </a:xfrm>
          <a:prstGeom prst="roundRect">
            <a:avLst>
              <a:gd name="adj" fmla="val 5000"/>
            </a:avLst>
          </a:prstGeom>
          <a:solidFill>
            <a:srgbClr val="B4521C"/>
          </a:solidFill>
          <a:ln w="12700">
            <a:solidFill>
              <a:srgbClr val="B4521C"/>
            </a:solidFill>
            <a:prstDash val="solid"/>
          </a:ln>
        </p:spPr>
      </p:sp>
      <p:sp>
        <p:nvSpPr>
          <p:cNvPr id="10" name="Text 7"/>
          <p:cNvSpPr txBox="1"/>
          <p:nvPr/>
        </p:nvSpPr>
        <p:spPr>
          <a:xfrm>
            <a:off x="3803904" y="1965960"/>
            <a:ext cx="1783080" cy="365760"/>
          </a:xfrm>
          <a:prstGeom prst="rect">
            <a:avLst/>
          </a:prstGeom>
          <a:noFill/>
          <a:ln/>
        </p:spPr>
        <p:txBody>
          <a:bodyPr wrap="square" lIns="0" tIns="0" rIns="0" bIns="0" rtlCol="0" anchor="ctr"/>
          <a:lstStyle/>
          <a:p>
            <a:pPr indent="0" marL="0">
              <a:buNone/>
            </a:pPr>
            <a:r>
              <a:rPr lang="en-US" sz="1800" b="1" dirty="0">
                <a:solidFill>
                  <a:srgbClr val="F6F4EE"/>
                </a:solidFill>
                <a:latin typeface="IBM Plex Sans" pitchFamily="34" charset="0"/>
                <a:ea typeface="IBM Plex Sans" pitchFamily="34" charset="-122"/>
                <a:cs typeface="IBM Plex Sans" pitchFamily="34" charset="-120"/>
              </a:rPr>
              <a:t>Think</a:t>
            </a:r>
            <a:endParaRPr lang="en-US" sz="1800" dirty="0"/>
          </a:p>
        </p:txBody>
      </p:sp>
      <p:sp>
        <p:nvSpPr>
          <p:cNvPr id="11" name="Text 8"/>
          <p:cNvSpPr txBox="1"/>
          <p:nvPr/>
        </p:nvSpPr>
        <p:spPr>
          <a:xfrm>
            <a:off x="3803904" y="2423160"/>
            <a:ext cx="1783080" cy="777240"/>
          </a:xfrm>
          <a:prstGeom prst="rect">
            <a:avLst/>
          </a:prstGeom>
          <a:noFill/>
          <a:ln/>
        </p:spPr>
        <p:txBody>
          <a:bodyPr wrap="square" lIns="0" tIns="0" rIns="0" bIns="0" rtlCol="0" anchor="t"/>
          <a:lstStyle/>
          <a:p>
            <a:pPr indent="0" marL="0">
              <a:buNone/>
            </a:pPr>
            <a:r>
              <a:rPr lang="en-US" sz="1200" dirty="0">
                <a:solidFill>
                  <a:srgbClr val="F6F4EE"/>
                </a:solidFill>
                <a:latin typeface="JetBrains Mono" pitchFamily="34" charset="0"/>
                <a:ea typeface="JetBrains Mono" pitchFamily="34" charset="-122"/>
                <a:cs typeface="JetBrains Mono" pitchFamily="34" charset="-120"/>
              </a:rPr>
              <a:t>FNN [2, 4, 2]</a:t>
            </a:r>
            <a:endParaRPr lang="en-US" sz="1200" dirty="0"/>
          </a:p>
          <a:p>
            <a:pPr indent="0" marL="0">
              <a:buNone/>
            </a:pPr>
            <a:r>
              <a:rPr lang="en-US" sz="1200" dirty="0">
                <a:solidFill>
                  <a:srgbClr val="F6F4EE"/>
                </a:solidFill>
                <a:latin typeface="JetBrains Mono" pitchFamily="34" charset="0"/>
                <a:ea typeface="JetBrains Mono" pitchFamily="34" charset="-122"/>
                <a:cs typeface="JetBrains Mono" pitchFamily="34" charset="-120"/>
              </a:rPr>
              <a:t>controller.forward</a:t>
            </a:r>
            <a:endParaRPr lang="en-US" sz="1200" dirty="0"/>
          </a:p>
        </p:txBody>
      </p:sp>
      <p:sp>
        <p:nvSpPr>
          <p:cNvPr id="12" name="Shape 9"/>
          <p:cNvSpPr/>
          <p:nvPr/>
        </p:nvSpPr>
        <p:spPr>
          <a:xfrm>
            <a:off x="5843016" y="2560320"/>
            <a:ext cx="512064" cy="0"/>
          </a:xfrm>
          <a:prstGeom prst="line">
            <a:avLst/>
          </a:prstGeom>
          <a:noFill/>
          <a:ln w="25400">
            <a:solidFill>
              <a:srgbClr val="5E6878"/>
            </a:solidFill>
            <a:prstDash val="solid"/>
            <a:tailEnd type="triangle"/>
          </a:ln>
        </p:spPr>
      </p:sp>
      <p:sp>
        <p:nvSpPr>
          <p:cNvPr id="13" name="Shape 10"/>
          <p:cNvSpPr/>
          <p:nvPr/>
        </p:nvSpPr>
        <p:spPr>
          <a:xfrm>
            <a:off x="6428232" y="1828800"/>
            <a:ext cx="2148840" cy="1463040"/>
          </a:xfrm>
          <a:prstGeom prst="roundRect">
            <a:avLst>
              <a:gd name="adj" fmla="val 5000"/>
            </a:avLst>
          </a:prstGeom>
          <a:solidFill>
            <a:srgbClr val="16213A"/>
          </a:solidFill>
          <a:ln w="12700">
            <a:solidFill>
              <a:srgbClr val="16213A"/>
            </a:solidFill>
            <a:prstDash val="solid"/>
          </a:ln>
        </p:spPr>
      </p:sp>
      <p:sp>
        <p:nvSpPr>
          <p:cNvPr id="14" name="Text 11"/>
          <p:cNvSpPr txBox="1"/>
          <p:nvPr/>
        </p:nvSpPr>
        <p:spPr>
          <a:xfrm>
            <a:off x="6611112" y="1965960"/>
            <a:ext cx="1783080" cy="365760"/>
          </a:xfrm>
          <a:prstGeom prst="rect">
            <a:avLst/>
          </a:prstGeom>
          <a:noFill/>
          <a:ln/>
        </p:spPr>
        <p:txBody>
          <a:bodyPr wrap="square" lIns="0" tIns="0" rIns="0" bIns="0" rtlCol="0" anchor="ctr"/>
          <a:lstStyle/>
          <a:p>
            <a:pPr indent="0" marL="0">
              <a:buNone/>
            </a:pPr>
            <a:r>
              <a:rPr lang="en-US" sz="1800" b="1" dirty="0">
                <a:solidFill>
                  <a:srgbClr val="F6F4EE"/>
                </a:solidFill>
                <a:latin typeface="IBM Plex Sans" pitchFamily="34" charset="0"/>
                <a:ea typeface="IBM Plex Sans" pitchFamily="34" charset="-122"/>
                <a:cs typeface="IBM Plex Sans" pitchFamily="34" charset="-120"/>
              </a:rPr>
              <a:t>Move</a:t>
            </a:r>
            <a:endParaRPr lang="en-US" sz="1800" dirty="0"/>
          </a:p>
        </p:txBody>
      </p:sp>
      <p:sp>
        <p:nvSpPr>
          <p:cNvPr id="15" name="Text 12"/>
          <p:cNvSpPr txBox="1"/>
          <p:nvPr/>
        </p:nvSpPr>
        <p:spPr>
          <a:xfrm>
            <a:off x="6611112" y="2423160"/>
            <a:ext cx="1783080" cy="777240"/>
          </a:xfrm>
          <a:prstGeom prst="rect">
            <a:avLst/>
          </a:prstGeom>
          <a:noFill/>
          <a:ln/>
        </p:spPr>
        <p:txBody>
          <a:bodyPr wrap="square" lIns="0" tIns="0" rIns="0" bIns="0" rtlCol="0" anchor="t"/>
          <a:lstStyle/>
          <a:p>
            <a:pPr indent="0" marL="0">
              <a:buNone/>
            </a:pPr>
            <a:r>
              <a:rPr lang="en-US" sz="1200" dirty="0">
                <a:solidFill>
                  <a:srgbClr val="E8E4D8"/>
                </a:solidFill>
                <a:latin typeface="JetBrains Mono" pitchFamily="34" charset="0"/>
                <a:ea typeface="JetBrains Mono" pitchFamily="34" charset="-122"/>
                <a:cs typeface="JetBrains Mono" pitchFamily="34" charset="-120"/>
              </a:rPr>
              <a:t>left_motor</a:t>
            </a:r>
            <a:endParaRPr lang="en-US" sz="1200" dirty="0"/>
          </a:p>
          <a:p>
            <a:pPr indent="0" marL="0">
              <a:buNone/>
            </a:pPr>
            <a:r>
              <a:rPr lang="en-US" sz="1200" dirty="0">
                <a:solidFill>
                  <a:srgbClr val="E8E4D8"/>
                </a:solidFill>
                <a:latin typeface="JetBrains Mono" pitchFamily="34" charset="0"/>
                <a:ea typeface="JetBrains Mono" pitchFamily="34" charset="-122"/>
                <a:cs typeface="JetBrains Mono" pitchFamily="34" charset="-120"/>
              </a:rPr>
              <a:t>right_motor</a:t>
            </a:r>
            <a:endParaRPr lang="en-US" sz="1200" dirty="0"/>
          </a:p>
        </p:txBody>
      </p:sp>
      <p:sp>
        <p:nvSpPr>
          <p:cNvPr id="16" name="Shape 13"/>
          <p:cNvSpPr/>
          <p:nvPr/>
        </p:nvSpPr>
        <p:spPr>
          <a:xfrm>
            <a:off x="8650224" y="2560320"/>
            <a:ext cx="512064" cy="0"/>
          </a:xfrm>
          <a:prstGeom prst="line">
            <a:avLst/>
          </a:prstGeom>
          <a:noFill/>
          <a:ln w="25400">
            <a:solidFill>
              <a:srgbClr val="5E6878"/>
            </a:solidFill>
            <a:prstDash val="solid"/>
            <a:tailEnd type="triangle"/>
          </a:ln>
        </p:spPr>
      </p:sp>
      <p:sp>
        <p:nvSpPr>
          <p:cNvPr id="17" name="Shape 14"/>
          <p:cNvSpPr/>
          <p:nvPr/>
        </p:nvSpPr>
        <p:spPr>
          <a:xfrm>
            <a:off x="9235440" y="1828800"/>
            <a:ext cx="2148840" cy="1463040"/>
          </a:xfrm>
          <a:prstGeom prst="roundRect">
            <a:avLst>
              <a:gd name="adj" fmla="val 5000"/>
            </a:avLst>
          </a:prstGeom>
          <a:solidFill>
            <a:srgbClr val="16213A"/>
          </a:solidFill>
          <a:ln w="12700">
            <a:solidFill>
              <a:srgbClr val="16213A"/>
            </a:solidFill>
            <a:prstDash val="solid"/>
          </a:ln>
        </p:spPr>
      </p:sp>
      <p:sp>
        <p:nvSpPr>
          <p:cNvPr id="18" name="Text 15"/>
          <p:cNvSpPr txBox="1"/>
          <p:nvPr/>
        </p:nvSpPr>
        <p:spPr>
          <a:xfrm>
            <a:off x="9418320" y="1965960"/>
            <a:ext cx="1783080" cy="365760"/>
          </a:xfrm>
          <a:prstGeom prst="rect">
            <a:avLst/>
          </a:prstGeom>
          <a:noFill/>
          <a:ln/>
        </p:spPr>
        <p:txBody>
          <a:bodyPr wrap="square" lIns="0" tIns="0" rIns="0" bIns="0" rtlCol="0" anchor="ctr"/>
          <a:lstStyle/>
          <a:p>
            <a:pPr indent="0" marL="0">
              <a:buNone/>
            </a:pPr>
            <a:r>
              <a:rPr lang="en-US" sz="1800" b="1" dirty="0">
                <a:solidFill>
                  <a:srgbClr val="F6F4EE"/>
                </a:solidFill>
                <a:latin typeface="IBM Plex Sans" pitchFamily="34" charset="0"/>
                <a:ea typeface="IBM Plex Sans" pitchFamily="34" charset="-122"/>
                <a:cs typeface="IBM Plex Sans" pitchFamily="34" charset="-120"/>
              </a:rPr>
              <a:t>New pose</a:t>
            </a:r>
            <a:endParaRPr lang="en-US" sz="1800" dirty="0"/>
          </a:p>
        </p:txBody>
      </p:sp>
      <p:sp>
        <p:nvSpPr>
          <p:cNvPr id="19" name="Text 16"/>
          <p:cNvSpPr txBox="1"/>
          <p:nvPr/>
        </p:nvSpPr>
        <p:spPr>
          <a:xfrm>
            <a:off x="9418320" y="2423160"/>
            <a:ext cx="1783080" cy="777240"/>
          </a:xfrm>
          <a:prstGeom prst="rect">
            <a:avLst/>
          </a:prstGeom>
          <a:noFill/>
          <a:ln/>
        </p:spPr>
        <p:txBody>
          <a:bodyPr wrap="square" lIns="0" tIns="0" rIns="0" bIns="0" rtlCol="0" anchor="t"/>
          <a:lstStyle/>
          <a:p>
            <a:pPr indent="0" marL="0">
              <a:buNone/>
            </a:pPr>
            <a:r>
              <a:rPr lang="en-US" sz="1200" dirty="0">
                <a:solidFill>
                  <a:srgbClr val="E8E4D8"/>
                </a:solidFill>
                <a:latin typeface="JetBrains Mono" pitchFamily="34" charset="0"/>
                <a:ea typeface="JetBrains Mono" pitchFamily="34" charset="-122"/>
                <a:cs typeface="JetBrains Mono" pitchFamily="34" charset="-120"/>
              </a:rPr>
              <a:t>x, y,</a:t>
            </a:r>
            <a:endParaRPr lang="en-US" sz="1200" dirty="0"/>
          </a:p>
          <a:p>
            <a:pPr indent="0" marL="0">
              <a:buNone/>
            </a:pPr>
            <a:r>
              <a:rPr lang="en-US" sz="1200" dirty="0">
                <a:solidFill>
                  <a:srgbClr val="E8E4D8"/>
                </a:solidFill>
                <a:latin typeface="JetBrains Mono" pitchFamily="34" charset="0"/>
                <a:ea typeface="JetBrains Mono" pitchFamily="34" charset="-122"/>
                <a:cs typeface="JetBrains Mono" pitchFamily="34" charset="-120"/>
              </a:rPr>
              <a:t>orientation</a:t>
            </a:r>
            <a:endParaRPr lang="en-US" sz="1200" dirty="0"/>
          </a:p>
        </p:txBody>
      </p:sp>
      <p:sp>
        <p:nvSpPr>
          <p:cNvPr id="20" name="Shape 17"/>
          <p:cNvSpPr/>
          <p:nvPr/>
        </p:nvSpPr>
        <p:spPr>
          <a:xfrm>
            <a:off x="10309860" y="3291840"/>
            <a:ext cx="0" cy="502920"/>
          </a:xfrm>
          <a:prstGeom prst="line">
            <a:avLst/>
          </a:prstGeom>
          <a:noFill/>
          <a:ln w="25400">
            <a:solidFill>
              <a:srgbClr val="5E6878"/>
            </a:solidFill>
            <a:prstDash val="solid"/>
          </a:ln>
        </p:spPr>
      </p:sp>
      <p:sp>
        <p:nvSpPr>
          <p:cNvPr id="21" name="Shape 18"/>
          <p:cNvSpPr/>
          <p:nvPr/>
        </p:nvSpPr>
        <p:spPr>
          <a:xfrm>
            <a:off x="1888236" y="3794760"/>
            <a:ext cx="8421624" cy="0"/>
          </a:xfrm>
          <a:prstGeom prst="line">
            <a:avLst/>
          </a:prstGeom>
          <a:noFill/>
          <a:ln w="25400">
            <a:solidFill>
              <a:srgbClr val="5E6878"/>
            </a:solidFill>
            <a:prstDash val="solid"/>
          </a:ln>
        </p:spPr>
      </p:sp>
      <p:sp>
        <p:nvSpPr>
          <p:cNvPr id="22" name="Shape 19"/>
          <p:cNvSpPr/>
          <p:nvPr/>
        </p:nvSpPr>
        <p:spPr>
          <a:xfrm flipV="1">
            <a:off x="1888236" y="3291840"/>
            <a:ext cx="0" cy="502920"/>
          </a:xfrm>
          <a:prstGeom prst="line">
            <a:avLst/>
          </a:prstGeom>
          <a:noFill/>
          <a:ln w="25400">
            <a:solidFill>
              <a:srgbClr val="5E6878"/>
            </a:solidFill>
            <a:prstDash val="solid"/>
            <a:tailEnd type="triangle"/>
          </a:ln>
        </p:spPr>
      </p:sp>
      <p:sp>
        <p:nvSpPr>
          <p:cNvPr id="23" name="Text 20"/>
          <p:cNvSpPr txBox="1"/>
          <p:nvPr/>
        </p:nvSpPr>
        <p:spPr>
          <a:xfrm>
            <a:off x="2162556" y="3886200"/>
            <a:ext cx="7872984" cy="320040"/>
          </a:xfrm>
          <a:prstGeom prst="rect">
            <a:avLst/>
          </a:prstGeom>
          <a:noFill/>
          <a:ln/>
        </p:spPr>
        <p:txBody>
          <a:bodyPr wrap="square" lIns="0" tIns="0" rIns="0" bIns="0" rtlCol="0" anchor="ctr"/>
          <a:lstStyle/>
          <a:p>
            <a:pPr algn="ctr" indent="0" marL="0">
              <a:buNone/>
            </a:pPr>
            <a:r>
              <a:rPr lang="en-US" sz="1200" i="1" dirty="0">
                <a:solidFill>
                  <a:srgbClr val="5E6878"/>
                </a:solidFill>
                <a:latin typeface="IBM Plex Sans" pitchFamily="34" charset="0"/>
                <a:ea typeface="IBM Plex Sans" pitchFamily="34" charset="-122"/>
                <a:cs typeface="IBM Plex Sans" pitchFamily="34" charset="-120"/>
              </a:rPr>
              <a:t>repeated 200 times per trial: the new pose gives new sensor readings</a:t>
            </a:r>
            <a:endParaRPr lang="en-US" sz="1200" dirty="0"/>
          </a:p>
        </p:txBody>
      </p:sp>
      <p:sp>
        <p:nvSpPr>
          <p:cNvPr id="24" name="Shape 21"/>
          <p:cNvSpPr/>
          <p:nvPr/>
        </p:nvSpPr>
        <p:spPr>
          <a:xfrm>
            <a:off x="813816" y="4480560"/>
            <a:ext cx="3337560" cy="1600200"/>
          </a:xfrm>
          <a:prstGeom prst="roundRect">
            <a:avLst>
              <a:gd name="adj" fmla="val 4571"/>
            </a:avLst>
          </a:prstGeom>
          <a:solidFill>
            <a:srgbClr val="FFFDF8"/>
          </a:solidFill>
          <a:ln w="12700">
            <a:solidFill>
              <a:srgbClr val="E2DDD0"/>
            </a:solidFill>
            <a:prstDash val="solid"/>
          </a:ln>
        </p:spPr>
      </p:sp>
      <p:sp>
        <p:nvSpPr>
          <p:cNvPr id="25" name="Text 22"/>
          <p:cNvSpPr txBox="1"/>
          <p:nvPr/>
        </p:nvSpPr>
        <p:spPr>
          <a:xfrm>
            <a:off x="1042416" y="4617720"/>
            <a:ext cx="2926080" cy="320040"/>
          </a:xfrm>
          <a:prstGeom prst="rect">
            <a:avLst/>
          </a:prstGeom>
          <a:noFill/>
          <a:ln/>
        </p:spPr>
        <p:txBody>
          <a:bodyPr wrap="square" lIns="0" tIns="0" rIns="0" bIns="0" rtlCol="0" anchor="ctr"/>
          <a:lstStyle/>
          <a:p>
            <a:pPr indent="0" marL="0">
              <a:buNone/>
            </a:pPr>
            <a:r>
              <a:rPr lang="en-US" sz="1500" b="1" dirty="0">
                <a:solidFill>
                  <a:srgbClr val="16213A"/>
                </a:solidFill>
                <a:latin typeface="IBM Plex Sans" pitchFamily="34" charset="0"/>
                <a:ea typeface="IBM Plex Sans" pitchFamily="34" charset="-122"/>
                <a:cs typeface="IBM Plex Sans" pitchFamily="34" charset="-120"/>
              </a:rPr>
              <a:t>Not like XOR</a:t>
            </a:r>
            <a:endParaRPr lang="en-US" sz="1500" dirty="0"/>
          </a:p>
        </p:txBody>
      </p:sp>
      <p:sp>
        <p:nvSpPr>
          <p:cNvPr id="26" name="Text 23"/>
          <p:cNvSpPr txBox="1"/>
          <p:nvPr/>
        </p:nvSpPr>
        <p:spPr>
          <a:xfrm>
            <a:off x="1042416" y="4983480"/>
            <a:ext cx="2926080" cy="1005840"/>
          </a:xfrm>
          <a:prstGeom prst="rect">
            <a:avLst/>
          </a:prstGeom>
          <a:noFill/>
          <a:ln/>
        </p:spPr>
        <p:txBody>
          <a:bodyPr wrap="square" lIns="0" tIns="0" rIns="0" bIns="0" rtlCol="0" anchor="t"/>
          <a:lstStyle/>
          <a:p>
            <a:pPr indent="0" marL="0">
              <a:buNone/>
            </a:pPr>
            <a:r>
              <a:rPr lang="en-US" sz="1200" dirty="0">
                <a:solidFill>
                  <a:srgbClr val="3E4A5C"/>
                </a:solidFill>
                <a:latin typeface="IBM Plex Sans" pitchFamily="34" charset="0"/>
                <a:ea typeface="IBM Plex Sans" pitchFamily="34" charset="-122"/>
                <a:cs typeface="IBM Plex Sans" pitchFamily="34" charset="-120"/>
              </a:rPr>
              <a:t>There, inputs were fixed and independent. Here, every output changes the next input.</a:t>
            </a:r>
            <a:endParaRPr lang="en-US" sz="1200" dirty="0"/>
          </a:p>
        </p:txBody>
      </p:sp>
      <p:sp>
        <p:nvSpPr>
          <p:cNvPr id="27" name="Shape 24"/>
          <p:cNvSpPr/>
          <p:nvPr/>
        </p:nvSpPr>
        <p:spPr>
          <a:xfrm>
            <a:off x="4379976" y="4480560"/>
            <a:ext cx="3337560" cy="1600200"/>
          </a:xfrm>
          <a:prstGeom prst="roundRect">
            <a:avLst>
              <a:gd name="adj" fmla="val 4571"/>
            </a:avLst>
          </a:prstGeom>
          <a:solidFill>
            <a:srgbClr val="FFFDF8"/>
          </a:solidFill>
          <a:ln w="12700">
            <a:solidFill>
              <a:srgbClr val="E2DDD0"/>
            </a:solidFill>
            <a:prstDash val="solid"/>
          </a:ln>
        </p:spPr>
      </p:sp>
      <p:sp>
        <p:nvSpPr>
          <p:cNvPr id="28" name="Text 25"/>
          <p:cNvSpPr txBox="1"/>
          <p:nvPr/>
        </p:nvSpPr>
        <p:spPr>
          <a:xfrm>
            <a:off x="4608576" y="4617720"/>
            <a:ext cx="2926080" cy="320040"/>
          </a:xfrm>
          <a:prstGeom prst="rect">
            <a:avLst/>
          </a:prstGeom>
          <a:noFill/>
          <a:ln/>
        </p:spPr>
        <p:txBody>
          <a:bodyPr wrap="square" lIns="0" tIns="0" rIns="0" bIns="0" rtlCol="0" anchor="ctr"/>
          <a:lstStyle/>
          <a:p>
            <a:pPr indent="0" marL="0">
              <a:buNone/>
            </a:pPr>
            <a:r>
              <a:rPr lang="en-US" sz="1500" b="1" dirty="0">
                <a:solidFill>
                  <a:srgbClr val="16213A"/>
                </a:solidFill>
                <a:latin typeface="IBM Plex Sans" pitchFamily="34" charset="0"/>
                <a:ea typeface="IBM Plex Sans" pitchFamily="34" charset="-122"/>
                <a:cs typeface="IBM Plex Sans" pitchFamily="34" charset="-120"/>
              </a:rPr>
              <a:t>Behavior is a loop</a:t>
            </a:r>
            <a:endParaRPr lang="en-US" sz="1500" dirty="0"/>
          </a:p>
        </p:txBody>
      </p:sp>
      <p:sp>
        <p:nvSpPr>
          <p:cNvPr id="29" name="Text 26"/>
          <p:cNvSpPr txBox="1"/>
          <p:nvPr/>
        </p:nvSpPr>
        <p:spPr>
          <a:xfrm>
            <a:off x="4608576" y="4983480"/>
            <a:ext cx="2926080" cy="1005840"/>
          </a:xfrm>
          <a:prstGeom prst="rect">
            <a:avLst/>
          </a:prstGeom>
          <a:noFill/>
          <a:ln/>
        </p:spPr>
        <p:txBody>
          <a:bodyPr wrap="square" lIns="0" tIns="0" rIns="0" bIns="0" rtlCol="0" anchor="t"/>
          <a:lstStyle/>
          <a:p>
            <a:pPr indent="0" marL="0">
              <a:buNone/>
            </a:pPr>
            <a:r>
              <a:rPr lang="en-US" sz="1200" dirty="0">
                <a:solidFill>
                  <a:srgbClr val="3E4A5C"/>
                </a:solidFill>
                <a:latin typeface="IBM Plex Sans" pitchFamily="34" charset="0"/>
                <a:ea typeface="IBM Plex Sans" pitchFamily="34" charset="-122"/>
                <a:cs typeface="IBM Plex Sans" pitchFamily="34" charset="-120"/>
              </a:rPr>
              <a:t>Steering emerges from network, body and world together. No layer alone "knows" the strategy.</a:t>
            </a:r>
            <a:endParaRPr lang="en-US" sz="1200" dirty="0"/>
          </a:p>
        </p:txBody>
      </p:sp>
      <p:sp>
        <p:nvSpPr>
          <p:cNvPr id="30" name="Shape 27"/>
          <p:cNvSpPr/>
          <p:nvPr/>
        </p:nvSpPr>
        <p:spPr>
          <a:xfrm>
            <a:off x="7946136" y="4480560"/>
            <a:ext cx="3337560" cy="1600200"/>
          </a:xfrm>
          <a:prstGeom prst="roundRect">
            <a:avLst>
              <a:gd name="adj" fmla="val 4571"/>
            </a:avLst>
          </a:prstGeom>
          <a:solidFill>
            <a:srgbClr val="FFFDF8"/>
          </a:solidFill>
          <a:ln w="12700">
            <a:solidFill>
              <a:srgbClr val="E2DDD0"/>
            </a:solidFill>
            <a:prstDash val="solid"/>
          </a:ln>
        </p:spPr>
      </p:sp>
      <p:sp>
        <p:nvSpPr>
          <p:cNvPr id="31" name="Text 28"/>
          <p:cNvSpPr txBox="1"/>
          <p:nvPr/>
        </p:nvSpPr>
        <p:spPr>
          <a:xfrm>
            <a:off x="8174736" y="4617720"/>
            <a:ext cx="2926080" cy="320040"/>
          </a:xfrm>
          <a:prstGeom prst="rect">
            <a:avLst/>
          </a:prstGeom>
          <a:noFill/>
          <a:ln/>
        </p:spPr>
        <p:txBody>
          <a:bodyPr wrap="square" lIns="0" tIns="0" rIns="0" bIns="0" rtlCol="0" anchor="ctr"/>
          <a:lstStyle/>
          <a:p>
            <a:pPr indent="0" marL="0">
              <a:buNone/>
            </a:pPr>
            <a:r>
              <a:rPr lang="en-US" sz="1500" b="1" dirty="0">
                <a:solidFill>
                  <a:srgbClr val="16213A"/>
                </a:solidFill>
                <a:latin typeface="IBM Plex Sans" pitchFamily="34" charset="0"/>
                <a:ea typeface="IBM Plex Sans" pitchFamily="34" charset="-122"/>
                <a:cs typeface="IBM Plex Sans" pitchFamily="34" charset="-120"/>
              </a:rPr>
              <a:t>Evolution's view</a:t>
            </a:r>
            <a:endParaRPr lang="en-US" sz="1500" dirty="0"/>
          </a:p>
        </p:txBody>
      </p:sp>
      <p:sp>
        <p:nvSpPr>
          <p:cNvPr id="32" name="Text 29"/>
          <p:cNvSpPr txBox="1"/>
          <p:nvPr/>
        </p:nvSpPr>
        <p:spPr>
          <a:xfrm>
            <a:off x="8174736" y="4983480"/>
            <a:ext cx="2926080" cy="1005840"/>
          </a:xfrm>
          <a:prstGeom prst="rect">
            <a:avLst/>
          </a:prstGeom>
          <a:noFill/>
          <a:ln/>
        </p:spPr>
        <p:txBody>
          <a:bodyPr wrap="square" lIns="0" tIns="0" rIns="0" bIns="0" rtlCol="0" anchor="t"/>
          <a:lstStyle/>
          <a:p>
            <a:pPr indent="0" marL="0">
              <a:buNone/>
            </a:pPr>
            <a:r>
              <a:rPr lang="en-US" sz="1200" dirty="0">
                <a:solidFill>
                  <a:srgbClr val="3E4A5C"/>
                </a:solidFill>
                <a:latin typeface="IBM Plex Sans" pitchFamily="34" charset="0"/>
                <a:ea typeface="IBM Plex Sans" pitchFamily="34" charset="-122"/>
                <a:cs typeface="IBM Plex Sans" pitchFamily="34" charset="-120"/>
              </a:rPr>
              <a:t>It sees none of this. It only receives one fitness number per genome.</a:t>
            </a:r>
            <a:endParaRPr lang="en-US" sz="1200" dirty="0"/>
          </a:p>
        </p:txBody>
      </p:sp>
      <p:sp>
        <p:nvSpPr>
          <p:cNvPr id="33" name="Text 30"/>
          <p:cNvSpPr txBox="1"/>
          <p:nvPr/>
        </p:nvSpPr>
        <p:spPr>
          <a:xfrm>
            <a:off x="813816" y="6355080"/>
            <a:ext cx="10561320" cy="256032"/>
          </a:xfrm>
          <a:prstGeom prst="rect">
            <a:avLst/>
          </a:prstGeom>
          <a:noFill/>
          <a:ln/>
        </p:spPr>
        <p:txBody>
          <a:bodyPr wrap="square" lIns="0" tIns="0" rIns="0" bIns="0" rtlCol="0" anchor="ctr"/>
          <a:lstStyle/>
          <a:p>
            <a:pPr indent="0" marL="0">
              <a:buNone/>
            </a:pPr>
            <a:r>
              <a:rPr lang="en-US" sz="1000" dirty="0">
                <a:solidFill>
                  <a:srgbClr val="5E6878"/>
                </a:solidFill>
                <a:latin typeface="JetBrains Mono" pitchFamily="34" charset="0"/>
                <a:ea typeface="JetBrains Mono" pitchFamily="34" charset="-122"/>
                <a:cs typeface="JetBrains Mono" pitchFamily="34" charset="-120"/>
              </a:rPr>
              <a:t>PythonBasics/Unit4/env.py · sense → think → move</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4EE"/>
        </a:solidFill>
      </p:bgPr>
    </p:bg>
    <p:spTree>
      <p:nvGrpSpPr>
        <p:cNvPr id="1" name=""/>
        <p:cNvGrpSpPr/>
        <p:nvPr/>
      </p:nvGrpSpPr>
      <p:grpSpPr>
        <a:xfrm>
          <a:off x="0" y="0"/>
          <a:ext cx="0" cy="0"/>
          <a:chOff x="0" y="0"/>
          <a:chExt cx="0" cy="0"/>
        </a:xfrm>
      </p:grpSpPr>
      <p:sp>
        <p:nvSpPr>
          <p:cNvPr id="2" name="Text 0"/>
          <p:cNvSpPr txBox="1"/>
          <p:nvPr/>
        </p:nvSpPr>
        <p:spPr>
          <a:xfrm>
            <a:off x="813816" y="548640"/>
            <a:ext cx="10561320" cy="274320"/>
          </a:xfrm>
          <a:prstGeom prst="rect">
            <a:avLst/>
          </a:prstGeom>
          <a:noFill/>
          <a:ln/>
        </p:spPr>
        <p:txBody>
          <a:bodyPr wrap="square" lIns="0" tIns="0" rIns="0" bIns="0" rtlCol="0" anchor="ctr"/>
          <a:lstStyle/>
          <a:p>
            <a:pPr indent="0" marL="0">
              <a:buNone/>
            </a:pPr>
            <a:r>
              <a:rPr lang="en-US" sz="1200" b="1" spc="100" kern="0" dirty="0">
                <a:solidFill>
                  <a:srgbClr val="B4521C"/>
                </a:solidFill>
                <a:latin typeface="IBM Plex Sans" pitchFamily="34" charset="0"/>
                <a:ea typeface="IBM Plex Sans" pitchFamily="34" charset="-122"/>
                <a:cs typeface="IBM Plex Sans" pitchFamily="34" charset="-120"/>
              </a:rPr>
              <a:t>CONNECTION 2 · FITNESS</a:t>
            </a:r>
            <a:endParaRPr lang="en-US" sz="1200" dirty="0"/>
          </a:p>
        </p:txBody>
      </p:sp>
      <p:sp>
        <p:nvSpPr>
          <p:cNvPr id="3" name="Text 1"/>
          <p:cNvSpPr txBox="1"/>
          <p:nvPr/>
        </p:nvSpPr>
        <p:spPr>
          <a:xfrm>
            <a:off x="813816" y="841248"/>
            <a:ext cx="10561320" cy="548640"/>
          </a:xfrm>
          <a:prstGeom prst="rect">
            <a:avLst/>
          </a:prstGeom>
          <a:noFill/>
          <a:ln/>
        </p:spPr>
        <p:txBody>
          <a:bodyPr wrap="square" lIns="0" tIns="0" rIns="0" bIns="0" rtlCol="0" anchor="ctr"/>
          <a:lstStyle/>
          <a:p>
            <a:pPr indent="0" marL="0">
              <a:buNone/>
            </a:pPr>
            <a:r>
              <a:rPr lang="en-US" sz="3200" b="1" dirty="0">
                <a:solidFill>
                  <a:srgbClr val="16213A"/>
                </a:solidFill>
                <a:latin typeface="IBM Plex Sans" pitchFamily="34" charset="0"/>
                <a:ea typeface="IBM Plex Sans" pitchFamily="34" charset="-122"/>
                <a:cs typeface="IBM Plex Sans" pitchFamily="34" charset="-120"/>
              </a:rPr>
              <a:t>What changes when fitness comes from a body</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813816" y="1737360"/>
          <a:ext cx="10561320" cy="914400"/>
        </p:xfrm>
        <a:graphic>
          <a:graphicData uri="http://schemas.openxmlformats.org/drawingml/2006/table">
            <a:tbl>
              <a:tblPr/>
              <a:tblGrid>
                <a:gridCol w="2514600"/>
                <a:gridCol w="3291840"/>
                <a:gridCol w="4754880"/>
              </a:tblGrid>
              <a:tr h="502920">
                <a:tc>
                  <a:txBody>
                    <a:bodyPr/>
                    <a:lstStyle/>
                    <a:p>
                      <a:pPr indent="0" marL="0">
                        <a:buNone/>
                      </a:pPr>
                      <a:endParaRPr lang="en-US" sz="1300" dirty="0">
                        <a:latin typeface="IBM Plex Sans" charset="0"/>
                        <a:ea typeface="IBM Plex Sans" charset="0"/>
                        <a:cs typeface="IBM Plex Sans" charset="0"/>
                      </a:endParaRPr>
                    </a:p>
                  </a:txBody>
                  <a:tcPr marL="109728" marR="109728" marT="45720" marB="45720" anchor="ctr">
                    <a:lnL w="12700" cap="flat" cmpd="sng" algn="ctr">
                      <a:solidFill>
                        <a:srgbClr val="E2DDD0"/>
                      </a:solidFill>
                      <a:prstDash val="solid"/>
                      <a:round/>
                      <a:headEnd type="none" w="med" len="med"/>
                      <a:tailEnd type="none" w="med" len="med"/>
                    </a:lnL>
                    <a:lnR w="12700" cap="flat" cmpd="sng" algn="ctr">
                      <a:solidFill>
                        <a:srgbClr val="E2DDD0"/>
                      </a:solidFill>
                      <a:prstDash val="solid"/>
                      <a:round/>
                      <a:headEnd type="none" w="med" len="med"/>
                      <a:tailEnd type="none" w="med" len="med"/>
                    </a:lnR>
                    <a:lnT w="12700" cap="flat" cmpd="sng" algn="ctr">
                      <a:solidFill>
                        <a:srgbClr val="E2DDD0"/>
                      </a:solidFill>
                      <a:prstDash val="solid"/>
                      <a:round/>
                      <a:headEnd type="none" w="med" len="med"/>
                      <a:tailEnd type="none" w="med" len="med"/>
                    </a:lnT>
                    <a:lnB w="12700" cap="flat" cmpd="sng" algn="ctr">
                      <a:solidFill>
                        <a:srgbClr val="E2DDD0"/>
                      </a:solidFill>
                      <a:prstDash val="solid"/>
                      <a:round/>
                      <a:headEnd type="none" w="med" len="med"/>
                      <a:tailEnd type="none" w="med" len="med"/>
                    </a:lnB>
                    <a:solidFill>
                      <a:srgbClr val="16213A"/>
                    </a:solidFill>
                  </a:tcPr>
                </a:tc>
                <a:tc>
                  <a:txBody>
                    <a:bodyPr/>
                    <a:lstStyle/>
                    <a:p>
                      <a:pPr indent="0" marL="0">
                        <a:buNone/>
                      </a:pPr>
                      <a:r>
                        <a:rPr lang="en-US" sz="1300" b="1" dirty="0">
                          <a:solidFill>
                            <a:srgbClr val="F6F4EE"/>
                          </a:solidFill>
                          <a:latin typeface="IBM Plex Sans" pitchFamily="34" charset="0"/>
                          <a:ea typeface="IBM Plex Sans" pitchFamily="34" charset="-122"/>
                          <a:cs typeface="IBM Plex Sans" pitchFamily="34" charset="-120"/>
                        </a:rPr>
                        <a:t>Unit 3: classification</a:t>
                      </a:r>
                      <a:endParaRPr lang="en-US" sz="1300" dirty="0">
                        <a:latin typeface="IBM Plex Sans" charset="0"/>
                        <a:ea typeface="IBM Plex Sans" charset="0"/>
                        <a:cs typeface="IBM Plex Sans" charset="0"/>
                      </a:endParaRPr>
                    </a:p>
                  </a:txBody>
                  <a:tcPr marL="109728" marR="109728" marT="45720" marB="45720" anchor="ctr">
                    <a:lnL w="12700" cap="flat" cmpd="sng" algn="ctr">
                      <a:solidFill>
                        <a:srgbClr val="E2DDD0"/>
                      </a:solidFill>
                      <a:prstDash val="solid"/>
                      <a:round/>
                      <a:headEnd type="none" w="med" len="med"/>
                      <a:tailEnd type="none" w="med" len="med"/>
                    </a:lnL>
                    <a:lnR w="12700" cap="flat" cmpd="sng" algn="ctr">
                      <a:solidFill>
                        <a:srgbClr val="E2DDD0"/>
                      </a:solidFill>
                      <a:prstDash val="solid"/>
                      <a:round/>
                      <a:headEnd type="none" w="med" len="med"/>
                      <a:tailEnd type="none" w="med" len="med"/>
                    </a:lnR>
                    <a:lnT w="12700" cap="flat" cmpd="sng" algn="ctr">
                      <a:solidFill>
                        <a:srgbClr val="E2DDD0"/>
                      </a:solidFill>
                      <a:prstDash val="solid"/>
                      <a:round/>
                      <a:headEnd type="none" w="med" len="med"/>
                      <a:tailEnd type="none" w="med" len="med"/>
                    </a:lnT>
                    <a:lnB w="12700" cap="flat" cmpd="sng" algn="ctr">
                      <a:solidFill>
                        <a:srgbClr val="E2DDD0"/>
                      </a:solidFill>
                      <a:prstDash val="solid"/>
                      <a:round/>
                      <a:headEnd type="none" w="med" len="med"/>
                      <a:tailEnd type="none" w="med" len="med"/>
                    </a:lnB>
                    <a:solidFill>
                      <a:srgbClr val="16213A"/>
                    </a:solidFill>
                  </a:tcPr>
                </a:tc>
                <a:tc>
                  <a:txBody>
                    <a:bodyPr/>
                    <a:lstStyle/>
                    <a:p>
                      <a:pPr indent="0" marL="0">
                        <a:buNone/>
                      </a:pPr>
                      <a:r>
                        <a:rPr lang="en-US" sz="1300" b="1" dirty="0">
                          <a:solidFill>
                            <a:srgbClr val="F6F4EE"/>
                          </a:solidFill>
                          <a:latin typeface="IBM Plex Sans" pitchFamily="34" charset="0"/>
                          <a:ea typeface="IBM Plex Sans" pitchFamily="34" charset="-122"/>
                          <a:cs typeface="IBM Plex Sans" pitchFamily="34" charset="-120"/>
                        </a:rPr>
                        <a:t>Unit 4: Braitenberg</a:t>
                      </a:r>
                      <a:endParaRPr lang="en-US" sz="1300" dirty="0">
                        <a:latin typeface="IBM Plex Sans" charset="0"/>
                        <a:ea typeface="IBM Plex Sans" charset="0"/>
                        <a:cs typeface="IBM Plex Sans" charset="0"/>
                      </a:endParaRPr>
                    </a:p>
                  </a:txBody>
                  <a:tcPr marL="109728" marR="109728" marT="45720" marB="45720" anchor="ctr">
                    <a:lnL w="12700" cap="flat" cmpd="sng" algn="ctr">
                      <a:solidFill>
                        <a:srgbClr val="E2DDD0"/>
                      </a:solidFill>
                      <a:prstDash val="solid"/>
                      <a:round/>
                      <a:headEnd type="none" w="med" len="med"/>
                      <a:tailEnd type="none" w="med" len="med"/>
                    </a:lnL>
                    <a:lnR w="12700" cap="flat" cmpd="sng" algn="ctr">
                      <a:solidFill>
                        <a:srgbClr val="E2DDD0"/>
                      </a:solidFill>
                      <a:prstDash val="solid"/>
                      <a:round/>
                      <a:headEnd type="none" w="med" len="med"/>
                      <a:tailEnd type="none" w="med" len="med"/>
                    </a:lnR>
                    <a:lnT w="12700" cap="flat" cmpd="sng" algn="ctr">
                      <a:solidFill>
                        <a:srgbClr val="E2DDD0"/>
                      </a:solidFill>
                      <a:prstDash val="solid"/>
                      <a:round/>
                      <a:headEnd type="none" w="med" len="med"/>
                      <a:tailEnd type="none" w="med" len="med"/>
                    </a:lnT>
                    <a:lnB w="12700" cap="flat" cmpd="sng" algn="ctr">
                      <a:solidFill>
                        <a:srgbClr val="E2DDD0"/>
                      </a:solidFill>
                      <a:prstDash val="solid"/>
                      <a:round/>
                      <a:headEnd type="none" w="med" len="med"/>
                      <a:tailEnd type="none" w="med" len="med"/>
                    </a:lnB>
                    <a:solidFill>
                      <a:srgbClr val="1D6F66"/>
                    </a:solidFill>
                  </a:tcPr>
                </a:tc>
              </a:tr>
              <a:tr h="502920">
                <a:tc>
                  <a:txBody>
                    <a:bodyPr/>
                    <a:lstStyle/>
                    <a:p>
                      <a:pPr indent="0" marL="0">
                        <a:buNone/>
                      </a:pPr>
                      <a:r>
                        <a:rPr lang="en-US" sz="1300" b="1" dirty="0">
                          <a:solidFill>
                            <a:srgbClr val="16213A"/>
                          </a:solidFill>
                          <a:latin typeface="IBM Plex Sans" pitchFamily="34" charset="0"/>
                          <a:ea typeface="IBM Plex Sans" pitchFamily="34" charset="-122"/>
                          <a:cs typeface="IBM Plex Sans" pitchFamily="34" charset="-120"/>
                        </a:rPr>
                        <a:t>Fitness is</a:t>
                      </a:r>
                      <a:endParaRPr lang="en-US" sz="1300" dirty="0">
                        <a:latin typeface="IBM Plex Sans" charset="0"/>
                        <a:ea typeface="IBM Plex Sans" charset="0"/>
                        <a:cs typeface="IBM Plex Sans" charset="0"/>
                      </a:endParaRPr>
                    </a:p>
                  </a:txBody>
                  <a:tcPr marL="109728" marR="109728" marT="45720" marB="45720" anchor="ctr">
                    <a:lnL w="12700" cap="flat" cmpd="sng" algn="ctr">
                      <a:solidFill>
                        <a:srgbClr val="E2DDD0"/>
                      </a:solidFill>
                      <a:prstDash val="solid"/>
                      <a:round/>
                      <a:headEnd type="none" w="med" len="med"/>
                      <a:tailEnd type="none" w="med" len="med"/>
                    </a:lnL>
                    <a:lnR w="12700" cap="flat" cmpd="sng" algn="ctr">
                      <a:solidFill>
                        <a:srgbClr val="E2DDD0"/>
                      </a:solidFill>
                      <a:prstDash val="solid"/>
                      <a:round/>
                      <a:headEnd type="none" w="med" len="med"/>
                      <a:tailEnd type="none" w="med" len="med"/>
                    </a:lnR>
                    <a:lnT w="12700" cap="flat" cmpd="sng" algn="ctr">
                      <a:solidFill>
                        <a:srgbClr val="E2DDD0"/>
                      </a:solidFill>
                      <a:prstDash val="solid"/>
                      <a:round/>
                      <a:headEnd type="none" w="med" len="med"/>
                      <a:tailEnd type="none" w="med" len="med"/>
                    </a:lnT>
                    <a:lnB w="12700" cap="flat" cmpd="sng" algn="ctr">
                      <a:solidFill>
                        <a:srgbClr val="E2DDD0"/>
                      </a:solidFill>
                      <a:prstDash val="solid"/>
                      <a:round/>
                      <a:headEnd type="none" w="med" len="med"/>
                      <a:tailEnd type="none" w="med" len="med"/>
                    </a:lnB>
                  </a:tcPr>
                </a:tc>
                <a:tc>
                  <a:txBody>
                    <a:bodyPr/>
                    <a:lstStyle/>
                    <a:p>
                      <a:pPr indent="0" marL="0">
                        <a:buNone/>
                      </a:pPr>
                      <a:r>
                        <a:rPr lang="en-US" sz="1300" dirty="0">
                          <a:solidFill>
                            <a:srgbClr val="3E4A5C"/>
                          </a:solidFill>
                          <a:latin typeface="IBM Plex Sans" pitchFamily="34" charset="0"/>
                          <a:ea typeface="IBM Plex Sans" pitchFamily="34" charset="-122"/>
                          <a:cs typeface="IBM Plex Sans" pitchFamily="34" charset="-120"/>
                        </a:rPr>
                        <a:t>score of the network on a fixed dataset</a:t>
                      </a:r>
                      <a:endParaRPr lang="en-US" sz="1300" dirty="0">
                        <a:latin typeface="IBM Plex Sans" charset="0"/>
                        <a:ea typeface="IBM Plex Sans" charset="0"/>
                        <a:cs typeface="IBM Plex Sans" charset="0"/>
                      </a:endParaRPr>
                    </a:p>
                  </a:txBody>
                  <a:tcPr marL="109728" marR="109728" marT="45720" marB="45720" anchor="ctr">
                    <a:lnL w="12700" cap="flat" cmpd="sng" algn="ctr">
                      <a:solidFill>
                        <a:srgbClr val="E2DDD0"/>
                      </a:solidFill>
                      <a:prstDash val="solid"/>
                      <a:round/>
                      <a:headEnd type="none" w="med" len="med"/>
                      <a:tailEnd type="none" w="med" len="med"/>
                    </a:lnL>
                    <a:lnR w="12700" cap="flat" cmpd="sng" algn="ctr">
                      <a:solidFill>
                        <a:srgbClr val="E2DDD0"/>
                      </a:solidFill>
                      <a:prstDash val="solid"/>
                      <a:round/>
                      <a:headEnd type="none" w="med" len="med"/>
                      <a:tailEnd type="none" w="med" len="med"/>
                    </a:lnR>
                    <a:lnT w="12700" cap="flat" cmpd="sng" algn="ctr">
                      <a:solidFill>
                        <a:srgbClr val="E2DDD0"/>
                      </a:solidFill>
                      <a:prstDash val="solid"/>
                      <a:round/>
                      <a:headEnd type="none" w="med" len="med"/>
                      <a:tailEnd type="none" w="med" len="med"/>
                    </a:lnT>
                    <a:lnB w="12700" cap="flat" cmpd="sng" algn="ctr">
                      <a:solidFill>
                        <a:srgbClr val="E2DDD0"/>
                      </a:solidFill>
                      <a:prstDash val="solid"/>
                      <a:round/>
                      <a:headEnd type="none" w="med" len="med"/>
                      <a:tailEnd type="none" w="med" len="med"/>
                    </a:lnB>
                  </a:tcPr>
                </a:tc>
                <a:tc>
                  <a:txBody>
                    <a:bodyPr/>
                    <a:lstStyle/>
                    <a:p>
                      <a:pPr indent="0" marL="0">
                        <a:buNone/>
                      </a:pPr>
                      <a:r>
                        <a:rPr lang="en-US" sz="1300" dirty="0">
                          <a:solidFill>
                            <a:srgbClr val="3E4A5C"/>
                          </a:solidFill>
                          <a:latin typeface="IBM Plex Sans" pitchFamily="34" charset="0"/>
                          <a:ea typeface="IBM Plex Sans" pitchFamily="34" charset="-122"/>
                          <a:cs typeface="IBM Plex Sans" pitchFamily="34" charset="-120"/>
                        </a:rPr>
                        <a:t>how close the body stays to the light, over 200 steps</a:t>
                      </a:r>
                      <a:endParaRPr lang="en-US" sz="1300" dirty="0">
                        <a:latin typeface="IBM Plex Sans" charset="0"/>
                        <a:ea typeface="IBM Plex Sans" charset="0"/>
                        <a:cs typeface="IBM Plex Sans" charset="0"/>
                      </a:endParaRPr>
                    </a:p>
                  </a:txBody>
                  <a:tcPr marL="109728" marR="109728" marT="45720" marB="45720" anchor="ctr">
                    <a:lnL w="12700" cap="flat" cmpd="sng" algn="ctr">
                      <a:solidFill>
                        <a:srgbClr val="E2DDD0"/>
                      </a:solidFill>
                      <a:prstDash val="solid"/>
                      <a:round/>
                      <a:headEnd type="none" w="med" len="med"/>
                      <a:tailEnd type="none" w="med" len="med"/>
                    </a:lnL>
                    <a:lnR w="12700" cap="flat" cmpd="sng" algn="ctr">
                      <a:solidFill>
                        <a:srgbClr val="E2DDD0"/>
                      </a:solidFill>
                      <a:prstDash val="solid"/>
                      <a:round/>
                      <a:headEnd type="none" w="med" len="med"/>
                      <a:tailEnd type="none" w="med" len="med"/>
                    </a:lnR>
                    <a:lnT w="12700" cap="flat" cmpd="sng" algn="ctr">
                      <a:solidFill>
                        <a:srgbClr val="E2DDD0"/>
                      </a:solidFill>
                      <a:prstDash val="solid"/>
                      <a:round/>
                      <a:headEnd type="none" w="med" len="med"/>
                      <a:tailEnd type="none" w="med" len="med"/>
                    </a:lnT>
                    <a:lnB w="12700" cap="flat" cmpd="sng" algn="ctr">
                      <a:solidFill>
                        <a:srgbClr val="E2DDD0"/>
                      </a:solidFill>
                      <a:prstDash val="solid"/>
                      <a:round/>
                      <a:headEnd type="none" w="med" len="med"/>
                      <a:tailEnd type="none" w="med" len="med"/>
                    </a:lnB>
                  </a:tcPr>
                </a:tc>
              </a:tr>
              <a:tr h="502920">
                <a:tc>
                  <a:txBody>
                    <a:bodyPr/>
                    <a:lstStyle/>
                    <a:p>
                      <a:pPr indent="0" marL="0">
                        <a:buNone/>
                      </a:pPr>
                      <a:r>
                        <a:rPr lang="en-US" sz="1300" b="1" dirty="0">
                          <a:solidFill>
                            <a:srgbClr val="16213A"/>
                          </a:solidFill>
                          <a:latin typeface="IBM Plex Sans" pitchFamily="34" charset="0"/>
                          <a:ea typeface="IBM Plex Sans" pitchFamily="34" charset="-122"/>
                          <a:cs typeface="IBM Plex Sans" pitchFamily="34" charset="-120"/>
                        </a:rPr>
                        <a:t>One evaluation</a:t>
                      </a:r>
                      <a:endParaRPr lang="en-US" sz="1300" dirty="0">
                        <a:latin typeface="IBM Plex Sans" charset="0"/>
                        <a:ea typeface="IBM Plex Sans" charset="0"/>
                        <a:cs typeface="IBM Plex Sans" charset="0"/>
                      </a:endParaRPr>
                    </a:p>
                  </a:txBody>
                  <a:tcPr marL="109728" marR="109728" marT="45720" marB="45720" anchor="ctr">
                    <a:lnL w="12700" cap="flat" cmpd="sng" algn="ctr">
                      <a:solidFill>
                        <a:srgbClr val="E2DDD0"/>
                      </a:solidFill>
                      <a:prstDash val="solid"/>
                      <a:round/>
                      <a:headEnd type="none" w="med" len="med"/>
                      <a:tailEnd type="none" w="med" len="med"/>
                    </a:lnL>
                    <a:lnR w="12700" cap="flat" cmpd="sng" algn="ctr">
                      <a:solidFill>
                        <a:srgbClr val="E2DDD0"/>
                      </a:solidFill>
                      <a:prstDash val="solid"/>
                      <a:round/>
                      <a:headEnd type="none" w="med" len="med"/>
                      <a:tailEnd type="none" w="med" len="med"/>
                    </a:lnR>
                    <a:lnT w="12700" cap="flat" cmpd="sng" algn="ctr">
                      <a:solidFill>
                        <a:srgbClr val="E2DDD0"/>
                      </a:solidFill>
                      <a:prstDash val="solid"/>
                      <a:round/>
                      <a:headEnd type="none" w="med" len="med"/>
                      <a:tailEnd type="none" w="med" len="med"/>
                    </a:lnT>
                    <a:lnB w="12700" cap="flat" cmpd="sng" algn="ctr">
                      <a:solidFill>
                        <a:srgbClr val="E2DDD0"/>
                      </a:solidFill>
                      <a:prstDash val="solid"/>
                      <a:round/>
                      <a:headEnd type="none" w="med" len="med"/>
                      <a:tailEnd type="none" w="med" len="med"/>
                    </a:lnB>
                    <a:solidFill>
                      <a:srgbClr val="ECE8DE"/>
                    </a:solidFill>
                  </a:tcPr>
                </a:tc>
                <a:tc>
                  <a:txBody>
                    <a:bodyPr/>
                    <a:lstStyle/>
                    <a:p>
                      <a:pPr indent="0" marL="0">
                        <a:buNone/>
                      </a:pPr>
                      <a:r>
                        <a:rPr lang="en-US" sz="1300" dirty="0">
                          <a:solidFill>
                            <a:srgbClr val="3E4A5C"/>
                          </a:solidFill>
                          <a:latin typeface="IBM Plex Sans" pitchFamily="34" charset="0"/>
                          <a:ea typeface="IBM Plex Sans" pitchFamily="34" charset="-122"/>
                          <a:cs typeface="IBM Plex Sans" pitchFamily="34" charset="-120"/>
                        </a:rPr>
                        <a:t>a few forward passes</a:t>
                      </a:r>
                      <a:endParaRPr lang="en-US" sz="1300" dirty="0">
                        <a:latin typeface="IBM Plex Sans" charset="0"/>
                        <a:ea typeface="IBM Plex Sans" charset="0"/>
                        <a:cs typeface="IBM Plex Sans" charset="0"/>
                      </a:endParaRPr>
                    </a:p>
                  </a:txBody>
                  <a:tcPr marL="109728" marR="109728" marT="45720" marB="45720" anchor="ctr">
                    <a:lnL w="12700" cap="flat" cmpd="sng" algn="ctr">
                      <a:solidFill>
                        <a:srgbClr val="E2DDD0"/>
                      </a:solidFill>
                      <a:prstDash val="solid"/>
                      <a:round/>
                      <a:headEnd type="none" w="med" len="med"/>
                      <a:tailEnd type="none" w="med" len="med"/>
                    </a:lnL>
                    <a:lnR w="12700" cap="flat" cmpd="sng" algn="ctr">
                      <a:solidFill>
                        <a:srgbClr val="E2DDD0"/>
                      </a:solidFill>
                      <a:prstDash val="solid"/>
                      <a:round/>
                      <a:headEnd type="none" w="med" len="med"/>
                      <a:tailEnd type="none" w="med" len="med"/>
                    </a:lnR>
                    <a:lnT w="12700" cap="flat" cmpd="sng" algn="ctr">
                      <a:solidFill>
                        <a:srgbClr val="E2DDD0"/>
                      </a:solidFill>
                      <a:prstDash val="solid"/>
                      <a:round/>
                      <a:headEnd type="none" w="med" len="med"/>
                      <a:tailEnd type="none" w="med" len="med"/>
                    </a:lnT>
                    <a:lnB w="12700" cap="flat" cmpd="sng" algn="ctr">
                      <a:solidFill>
                        <a:srgbClr val="E2DDD0"/>
                      </a:solidFill>
                      <a:prstDash val="solid"/>
                      <a:round/>
                      <a:headEnd type="none" w="med" len="med"/>
                      <a:tailEnd type="none" w="med" len="med"/>
                    </a:lnB>
                    <a:solidFill>
                      <a:srgbClr val="ECE8DE"/>
                    </a:solidFill>
                  </a:tcPr>
                </a:tc>
                <a:tc>
                  <a:txBody>
                    <a:bodyPr/>
                    <a:lstStyle/>
                    <a:p>
                      <a:pPr indent="0" marL="0">
                        <a:buNone/>
                      </a:pPr>
                      <a:r>
                        <a:rPr lang="en-US" sz="1300" dirty="0">
                          <a:solidFill>
                            <a:srgbClr val="3E4A5C"/>
                          </a:solidFill>
                          <a:latin typeface="IBM Plex Sans" pitchFamily="34" charset="0"/>
                          <a:ea typeface="IBM Plex Sans" pitchFamily="34" charset="-122"/>
                          <a:cs typeface="IBM Plex Sans" pitchFamily="34" charset="-120"/>
                        </a:rPr>
                        <a:t>4 trials × 200 steps = 800 network calls</a:t>
                      </a:r>
                      <a:endParaRPr lang="en-US" sz="1300" dirty="0">
                        <a:latin typeface="IBM Plex Sans" charset="0"/>
                        <a:ea typeface="IBM Plex Sans" charset="0"/>
                        <a:cs typeface="IBM Plex Sans" charset="0"/>
                      </a:endParaRPr>
                    </a:p>
                  </a:txBody>
                  <a:tcPr marL="109728" marR="109728" marT="45720" marB="45720" anchor="ctr">
                    <a:lnL w="12700" cap="flat" cmpd="sng" algn="ctr">
                      <a:solidFill>
                        <a:srgbClr val="E2DDD0"/>
                      </a:solidFill>
                      <a:prstDash val="solid"/>
                      <a:round/>
                      <a:headEnd type="none" w="med" len="med"/>
                      <a:tailEnd type="none" w="med" len="med"/>
                    </a:lnL>
                    <a:lnR w="12700" cap="flat" cmpd="sng" algn="ctr">
                      <a:solidFill>
                        <a:srgbClr val="E2DDD0"/>
                      </a:solidFill>
                      <a:prstDash val="solid"/>
                      <a:round/>
                      <a:headEnd type="none" w="med" len="med"/>
                      <a:tailEnd type="none" w="med" len="med"/>
                    </a:lnR>
                    <a:lnT w="12700" cap="flat" cmpd="sng" algn="ctr">
                      <a:solidFill>
                        <a:srgbClr val="E2DDD0"/>
                      </a:solidFill>
                      <a:prstDash val="solid"/>
                      <a:round/>
                      <a:headEnd type="none" w="med" len="med"/>
                      <a:tailEnd type="none" w="med" len="med"/>
                    </a:lnT>
                    <a:lnB w="12700" cap="flat" cmpd="sng" algn="ctr">
                      <a:solidFill>
                        <a:srgbClr val="E2DDD0"/>
                      </a:solidFill>
                      <a:prstDash val="solid"/>
                      <a:round/>
                      <a:headEnd type="none" w="med" len="med"/>
                      <a:tailEnd type="none" w="med" len="med"/>
                    </a:lnB>
                    <a:solidFill>
                      <a:srgbClr val="ECE8DE"/>
                    </a:solidFill>
                  </a:tcPr>
                </a:tc>
              </a:tr>
              <a:tr h="502920">
                <a:tc>
                  <a:txBody>
                    <a:bodyPr/>
                    <a:lstStyle/>
                    <a:p>
                      <a:pPr indent="0" marL="0">
                        <a:buNone/>
                      </a:pPr>
                      <a:r>
                        <a:rPr lang="en-US" sz="1300" b="1" dirty="0">
                          <a:solidFill>
                            <a:srgbClr val="16213A"/>
                          </a:solidFill>
                          <a:latin typeface="IBM Plex Sans" pitchFamily="34" charset="0"/>
                          <a:ea typeface="IBM Plex Sans" pitchFamily="34" charset="-122"/>
                          <a:cs typeface="IBM Plex Sans" pitchFamily="34" charset="-120"/>
                        </a:rPr>
                        <a:t>Same genotype twice</a:t>
                      </a:r>
                      <a:endParaRPr lang="en-US" sz="1300" dirty="0">
                        <a:latin typeface="IBM Plex Sans" charset="0"/>
                        <a:ea typeface="IBM Plex Sans" charset="0"/>
                        <a:cs typeface="IBM Plex Sans" charset="0"/>
                      </a:endParaRPr>
                    </a:p>
                  </a:txBody>
                  <a:tcPr marL="109728" marR="109728" marT="45720" marB="45720" anchor="ctr">
                    <a:lnL w="12700" cap="flat" cmpd="sng" algn="ctr">
                      <a:solidFill>
                        <a:srgbClr val="E2DDD0"/>
                      </a:solidFill>
                      <a:prstDash val="solid"/>
                      <a:round/>
                      <a:headEnd type="none" w="med" len="med"/>
                      <a:tailEnd type="none" w="med" len="med"/>
                    </a:lnL>
                    <a:lnR w="12700" cap="flat" cmpd="sng" algn="ctr">
                      <a:solidFill>
                        <a:srgbClr val="E2DDD0"/>
                      </a:solidFill>
                      <a:prstDash val="solid"/>
                      <a:round/>
                      <a:headEnd type="none" w="med" len="med"/>
                      <a:tailEnd type="none" w="med" len="med"/>
                    </a:lnR>
                    <a:lnT w="12700" cap="flat" cmpd="sng" algn="ctr">
                      <a:solidFill>
                        <a:srgbClr val="E2DDD0"/>
                      </a:solidFill>
                      <a:prstDash val="solid"/>
                      <a:round/>
                      <a:headEnd type="none" w="med" len="med"/>
                      <a:tailEnd type="none" w="med" len="med"/>
                    </a:lnT>
                    <a:lnB w="12700" cap="flat" cmpd="sng" algn="ctr">
                      <a:solidFill>
                        <a:srgbClr val="E2DDD0"/>
                      </a:solidFill>
                      <a:prstDash val="solid"/>
                      <a:round/>
                      <a:headEnd type="none" w="med" len="med"/>
                      <a:tailEnd type="none" w="med" len="med"/>
                    </a:lnB>
                  </a:tcPr>
                </a:tc>
                <a:tc>
                  <a:txBody>
                    <a:bodyPr/>
                    <a:lstStyle/>
                    <a:p>
                      <a:pPr indent="0" marL="0">
                        <a:buNone/>
                      </a:pPr>
                      <a:r>
                        <a:rPr lang="en-US" sz="1300" dirty="0">
                          <a:solidFill>
                            <a:srgbClr val="3E4A5C"/>
                          </a:solidFill>
                          <a:latin typeface="IBM Plex Sans" pitchFamily="34" charset="0"/>
                          <a:ea typeface="IBM Plex Sans" pitchFamily="34" charset="-122"/>
                          <a:cs typeface="IBM Plex Sans" pitchFamily="34" charset="-120"/>
                        </a:rPr>
                        <a:t>same score, deterministic</a:t>
                      </a:r>
                      <a:endParaRPr lang="en-US" sz="1300" dirty="0">
                        <a:latin typeface="IBM Plex Sans" charset="0"/>
                        <a:ea typeface="IBM Plex Sans" charset="0"/>
                        <a:cs typeface="IBM Plex Sans" charset="0"/>
                      </a:endParaRPr>
                    </a:p>
                  </a:txBody>
                  <a:tcPr marL="109728" marR="109728" marT="45720" marB="45720" anchor="ctr">
                    <a:lnL w="12700" cap="flat" cmpd="sng" algn="ctr">
                      <a:solidFill>
                        <a:srgbClr val="E2DDD0"/>
                      </a:solidFill>
                      <a:prstDash val="solid"/>
                      <a:round/>
                      <a:headEnd type="none" w="med" len="med"/>
                      <a:tailEnd type="none" w="med" len="med"/>
                    </a:lnL>
                    <a:lnR w="12700" cap="flat" cmpd="sng" algn="ctr">
                      <a:solidFill>
                        <a:srgbClr val="E2DDD0"/>
                      </a:solidFill>
                      <a:prstDash val="solid"/>
                      <a:round/>
                      <a:headEnd type="none" w="med" len="med"/>
                      <a:tailEnd type="none" w="med" len="med"/>
                    </a:lnR>
                    <a:lnT w="12700" cap="flat" cmpd="sng" algn="ctr">
                      <a:solidFill>
                        <a:srgbClr val="E2DDD0"/>
                      </a:solidFill>
                      <a:prstDash val="solid"/>
                      <a:round/>
                      <a:headEnd type="none" w="med" len="med"/>
                      <a:tailEnd type="none" w="med" len="med"/>
                    </a:lnT>
                    <a:lnB w="12700" cap="flat" cmpd="sng" algn="ctr">
                      <a:solidFill>
                        <a:srgbClr val="E2DDD0"/>
                      </a:solidFill>
                      <a:prstDash val="solid"/>
                      <a:round/>
                      <a:headEnd type="none" w="med" len="med"/>
                      <a:tailEnd type="none" w="med" len="med"/>
                    </a:lnB>
                  </a:tcPr>
                </a:tc>
                <a:tc>
                  <a:txBody>
                    <a:bodyPr/>
                    <a:lstStyle/>
                    <a:p>
                      <a:pPr indent="0" marL="0">
                        <a:buNone/>
                      </a:pPr>
                      <a:r>
                        <a:rPr lang="en-US" sz="1300" dirty="0">
                          <a:solidFill>
                            <a:srgbClr val="3E4A5C"/>
                          </a:solidFill>
                          <a:latin typeface="IBM Plex Sans" pitchFamily="34" charset="0"/>
                          <a:ea typeface="IBM Plex Sans" pitchFamily="34" charset="-122"/>
                          <a:cs typeface="IBM Plex Sans" pitchFamily="34" charset="-120"/>
                        </a:rPr>
                        <a:t>different score: random start, heading, noise</a:t>
                      </a:r>
                      <a:endParaRPr lang="en-US" sz="1300" dirty="0">
                        <a:latin typeface="IBM Plex Sans" charset="0"/>
                        <a:ea typeface="IBM Plex Sans" charset="0"/>
                        <a:cs typeface="IBM Plex Sans" charset="0"/>
                      </a:endParaRPr>
                    </a:p>
                  </a:txBody>
                  <a:tcPr marL="109728" marR="109728" marT="45720" marB="45720" anchor="ctr">
                    <a:lnL w="12700" cap="flat" cmpd="sng" algn="ctr">
                      <a:solidFill>
                        <a:srgbClr val="E2DDD0"/>
                      </a:solidFill>
                      <a:prstDash val="solid"/>
                      <a:round/>
                      <a:headEnd type="none" w="med" len="med"/>
                      <a:tailEnd type="none" w="med" len="med"/>
                    </a:lnL>
                    <a:lnR w="12700" cap="flat" cmpd="sng" algn="ctr">
                      <a:solidFill>
                        <a:srgbClr val="E2DDD0"/>
                      </a:solidFill>
                      <a:prstDash val="solid"/>
                      <a:round/>
                      <a:headEnd type="none" w="med" len="med"/>
                      <a:tailEnd type="none" w="med" len="med"/>
                    </a:lnR>
                    <a:lnT w="12700" cap="flat" cmpd="sng" algn="ctr">
                      <a:solidFill>
                        <a:srgbClr val="E2DDD0"/>
                      </a:solidFill>
                      <a:prstDash val="solid"/>
                      <a:round/>
                      <a:headEnd type="none" w="med" len="med"/>
                      <a:tailEnd type="none" w="med" len="med"/>
                    </a:lnT>
                    <a:lnB w="12700" cap="flat" cmpd="sng" algn="ctr">
                      <a:solidFill>
                        <a:srgbClr val="E2DDD0"/>
                      </a:solidFill>
                      <a:prstDash val="solid"/>
                      <a:round/>
                      <a:headEnd type="none" w="med" len="med"/>
                      <a:tailEnd type="none" w="med" len="med"/>
                    </a:lnB>
                  </a:tcPr>
                </a:tc>
              </a:tr>
              <a:tr h="502920">
                <a:tc>
                  <a:txBody>
                    <a:bodyPr/>
                    <a:lstStyle/>
                    <a:p>
                      <a:pPr indent="0" marL="0">
                        <a:buNone/>
                      </a:pPr>
                      <a:r>
                        <a:rPr lang="en-US" sz="1300" b="1" dirty="0">
                          <a:solidFill>
                            <a:srgbClr val="16213A"/>
                          </a:solidFill>
                          <a:latin typeface="IBM Plex Sans" pitchFamily="34" charset="0"/>
                          <a:ea typeface="IBM Plex Sans" pitchFamily="34" charset="-122"/>
                          <a:cs typeface="IBM Plex Sans" pitchFamily="34" charset="-120"/>
                        </a:rPr>
                        <a:t>Best possible score</a:t>
                      </a:r>
                      <a:endParaRPr lang="en-US" sz="1300" dirty="0">
                        <a:latin typeface="IBM Plex Sans" charset="0"/>
                        <a:ea typeface="IBM Plex Sans" charset="0"/>
                        <a:cs typeface="IBM Plex Sans" charset="0"/>
                      </a:endParaRPr>
                    </a:p>
                  </a:txBody>
                  <a:tcPr marL="109728" marR="109728" marT="45720" marB="45720" anchor="ctr">
                    <a:lnL w="12700" cap="flat" cmpd="sng" algn="ctr">
                      <a:solidFill>
                        <a:srgbClr val="E2DDD0"/>
                      </a:solidFill>
                      <a:prstDash val="solid"/>
                      <a:round/>
                      <a:headEnd type="none" w="med" len="med"/>
                      <a:tailEnd type="none" w="med" len="med"/>
                    </a:lnL>
                    <a:lnR w="12700" cap="flat" cmpd="sng" algn="ctr">
                      <a:solidFill>
                        <a:srgbClr val="E2DDD0"/>
                      </a:solidFill>
                      <a:prstDash val="solid"/>
                      <a:round/>
                      <a:headEnd type="none" w="med" len="med"/>
                      <a:tailEnd type="none" w="med" len="med"/>
                    </a:lnR>
                    <a:lnT w="12700" cap="flat" cmpd="sng" algn="ctr">
                      <a:solidFill>
                        <a:srgbClr val="E2DDD0"/>
                      </a:solidFill>
                      <a:prstDash val="solid"/>
                      <a:round/>
                      <a:headEnd type="none" w="med" len="med"/>
                      <a:tailEnd type="none" w="med" len="med"/>
                    </a:lnT>
                    <a:lnB w="12700" cap="flat" cmpd="sng" algn="ctr">
                      <a:solidFill>
                        <a:srgbClr val="E2DDD0"/>
                      </a:solidFill>
                      <a:prstDash val="solid"/>
                      <a:round/>
                      <a:headEnd type="none" w="med" len="med"/>
                      <a:tailEnd type="none" w="med" len="med"/>
                    </a:lnB>
                    <a:solidFill>
                      <a:srgbClr val="ECE8DE"/>
                    </a:solidFill>
                  </a:tcPr>
                </a:tc>
                <a:tc>
                  <a:txBody>
                    <a:bodyPr/>
                    <a:lstStyle/>
                    <a:p>
                      <a:pPr indent="0" marL="0">
                        <a:buNone/>
                      </a:pPr>
                      <a:r>
                        <a:rPr lang="en-US" sz="1300" dirty="0">
                          <a:solidFill>
                            <a:srgbClr val="3E4A5C"/>
                          </a:solidFill>
                          <a:latin typeface="IBM Plex Sans" pitchFamily="34" charset="0"/>
                          <a:ea typeface="IBM Plex Sans" pitchFamily="34" charset="-122"/>
                          <a:cs typeface="IBM Plex Sans" pitchFamily="34" charset="-120"/>
                        </a:rPr>
                        <a:t>perfect score is reachable</a:t>
                      </a:r>
                      <a:endParaRPr lang="en-US" sz="1300" dirty="0">
                        <a:latin typeface="IBM Plex Sans" charset="0"/>
                        <a:ea typeface="IBM Plex Sans" charset="0"/>
                        <a:cs typeface="IBM Plex Sans" charset="0"/>
                      </a:endParaRPr>
                    </a:p>
                  </a:txBody>
                  <a:tcPr marL="109728" marR="109728" marT="45720" marB="45720" anchor="ctr">
                    <a:lnL w="12700" cap="flat" cmpd="sng" algn="ctr">
                      <a:solidFill>
                        <a:srgbClr val="E2DDD0"/>
                      </a:solidFill>
                      <a:prstDash val="solid"/>
                      <a:round/>
                      <a:headEnd type="none" w="med" len="med"/>
                      <a:tailEnd type="none" w="med" len="med"/>
                    </a:lnL>
                    <a:lnR w="12700" cap="flat" cmpd="sng" algn="ctr">
                      <a:solidFill>
                        <a:srgbClr val="E2DDD0"/>
                      </a:solidFill>
                      <a:prstDash val="solid"/>
                      <a:round/>
                      <a:headEnd type="none" w="med" len="med"/>
                      <a:tailEnd type="none" w="med" len="med"/>
                    </a:lnR>
                    <a:lnT w="12700" cap="flat" cmpd="sng" algn="ctr">
                      <a:solidFill>
                        <a:srgbClr val="E2DDD0"/>
                      </a:solidFill>
                      <a:prstDash val="solid"/>
                      <a:round/>
                      <a:headEnd type="none" w="med" len="med"/>
                      <a:tailEnd type="none" w="med" len="med"/>
                    </a:lnT>
                    <a:lnB w="12700" cap="flat" cmpd="sng" algn="ctr">
                      <a:solidFill>
                        <a:srgbClr val="E2DDD0"/>
                      </a:solidFill>
                      <a:prstDash val="solid"/>
                      <a:round/>
                      <a:headEnd type="none" w="med" len="med"/>
                      <a:tailEnd type="none" w="med" len="med"/>
                    </a:lnB>
                    <a:solidFill>
                      <a:srgbClr val="ECE8DE"/>
                    </a:solidFill>
                  </a:tcPr>
                </a:tc>
                <a:tc>
                  <a:txBody>
                    <a:bodyPr/>
                    <a:lstStyle/>
                    <a:p>
                      <a:pPr indent="0" marL="0">
                        <a:buNone/>
                      </a:pPr>
                      <a:r>
                        <a:rPr lang="en-US" sz="1300" dirty="0">
                          <a:solidFill>
                            <a:srgbClr val="3E4A5C"/>
                          </a:solidFill>
                          <a:latin typeface="IBM Plex Sans" pitchFamily="34" charset="0"/>
                          <a:ea typeface="IBM Plex Sans" pitchFamily="34" charset="-122"/>
                          <a:cs typeface="IBM Plex Sans" pitchFamily="34" charset="-120"/>
                        </a:rPr>
                        <a:t>1.0 needs to start on the light; never moving scores 0.17</a:t>
                      </a:r>
                      <a:endParaRPr lang="en-US" sz="1300" dirty="0">
                        <a:latin typeface="IBM Plex Sans" charset="0"/>
                        <a:ea typeface="IBM Plex Sans" charset="0"/>
                        <a:cs typeface="IBM Plex Sans" charset="0"/>
                      </a:endParaRPr>
                    </a:p>
                  </a:txBody>
                  <a:tcPr marL="109728" marR="109728" marT="45720" marB="45720" anchor="ctr">
                    <a:lnL w="12700" cap="flat" cmpd="sng" algn="ctr">
                      <a:solidFill>
                        <a:srgbClr val="E2DDD0"/>
                      </a:solidFill>
                      <a:prstDash val="solid"/>
                      <a:round/>
                      <a:headEnd type="none" w="med" len="med"/>
                      <a:tailEnd type="none" w="med" len="med"/>
                    </a:lnL>
                    <a:lnR w="12700" cap="flat" cmpd="sng" algn="ctr">
                      <a:solidFill>
                        <a:srgbClr val="E2DDD0"/>
                      </a:solidFill>
                      <a:prstDash val="solid"/>
                      <a:round/>
                      <a:headEnd type="none" w="med" len="med"/>
                      <a:tailEnd type="none" w="med" len="med"/>
                    </a:lnR>
                    <a:lnT w="12700" cap="flat" cmpd="sng" algn="ctr">
                      <a:solidFill>
                        <a:srgbClr val="E2DDD0"/>
                      </a:solidFill>
                      <a:prstDash val="solid"/>
                      <a:round/>
                      <a:headEnd type="none" w="med" len="med"/>
                      <a:tailEnd type="none" w="med" len="med"/>
                    </a:lnT>
                    <a:lnB w="12700" cap="flat" cmpd="sng" algn="ctr">
                      <a:solidFill>
                        <a:srgbClr val="E2DDD0"/>
                      </a:solidFill>
                      <a:prstDash val="solid"/>
                      <a:round/>
                      <a:headEnd type="none" w="med" len="med"/>
                      <a:tailEnd type="none" w="med" len="med"/>
                    </a:lnB>
                    <a:solidFill>
                      <a:srgbClr val="ECE8DE"/>
                    </a:solidFill>
                  </a:tcPr>
                </a:tc>
              </a:tr>
              <a:tr h="502920">
                <a:tc>
                  <a:txBody>
                    <a:bodyPr/>
                    <a:lstStyle/>
                    <a:p>
                      <a:pPr indent="0" marL="0">
                        <a:buNone/>
                      </a:pPr>
                      <a:r>
                        <a:rPr lang="en-US" sz="1300" b="1" dirty="0">
                          <a:solidFill>
                            <a:srgbClr val="16213A"/>
                          </a:solidFill>
                          <a:latin typeface="IBM Plex Sans" pitchFamily="34" charset="0"/>
                          <a:ea typeface="IBM Plex Sans" pitchFamily="34" charset="-122"/>
                          <a:cs typeface="IBM Plex Sans" pitchFamily="34" charset="-120"/>
                        </a:rPr>
                        <a:t>Fitness inputs</a:t>
                      </a:r>
                      <a:endParaRPr lang="en-US" sz="1300" dirty="0">
                        <a:latin typeface="IBM Plex Sans" charset="0"/>
                        <a:ea typeface="IBM Plex Sans" charset="0"/>
                        <a:cs typeface="IBM Plex Sans" charset="0"/>
                      </a:endParaRPr>
                    </a:p>
                  </a:txBody>
                  <a:tcPr marL="109728" marR="109728" marT="45720" marB="45720" anchor="ctr">
                    <a:lnL w="12700" cap="flat" cmpd="sng" algn="ctr">
                      <a:solidFill>
                        <a:srgbClr val="E2DDD0"/>
                      </a:solidFill>
                      <a:prstDash val="solid"/>
                      <a:round/>
                      <a:headEnd type="none" w="med" len="med"/>
                      <a:tailEnd type="none" w="med" len="med"/>
                    </a:lnL>
                    <a:lnR w="12700" cap="flat" cmpd="sng" algn="ctr">
                      <a:solidFill>
                        <a:srgbClr val="E2DDD0"/>
                      </a:solidFill>
                      <a:prstDash val="solid"/>
                      <a:round/>
                      <a:headEnd type="none" w="med" len="med"/>
                      <a:tailEnd type="none" w="med" len="med"/>
                    </a:lnR>
                    <a:lnT w="12700" cap="flat" cmpd="sng" algn="ctr">
                      <a:solidFill>
                        <a:srgbClr val="E2DDD0"/>
                      </a:solidFill>
                      <a:prstDash val="solid"/>
                      <a:round/>
                      <a:headEnd type="none" w="med" len="med"/>
                      <a:tailEnd type="none" w="med" len="med"/>
                    </a:lnT>
                    <a:lnB w="12700" cap="flat" cmpd="sng" algn="ctr">
                      <a:solidFill>
                        <a:srgbClr val="E2DDD0"/>
                      </a:solidFill>
                      <a:prstDash val="solid"/>
                      <a:round/>
                      <a:headEnd type="none" w="med" len="med"/>
                      <a:tailEnd type="none" w="med" len="med"/>
                    </a:lnB>
                  </a:tcPr>
                </a:tc>
                <a:tc>
                  <a:txBody>
                    <a:bodyPr/>
                    <a:lstStyle/>
                    <a:p>
                      <a:pPr indent="0" marL="0">
                        <a:buNone/>
                      </a:pPr>
                      <a:r>
                        <a:rPr lang="en-US" sz="1300" dirty="0">
                          <a:solidFill>
                            <a:srgbClr val="3E4A5C"/>
                          </a:solidFill>
                          <a:latin typeface="IBM Plex Sans" pitchFamily="34" charset="0"/>
                          <a:ea typeface="IBM Plex Sans" pitchFamily="34" charset="-122"/>
                          <a:cs typeface="IBM Plex Sans" pitchFamily="34" charset="-120"/>
                        </a:rPr>
                        <a:t>data the network is shown</a:t>
                      </a:r>
                      <a:endParaRPr lang="en-US" sz="1300" dirty="0">
                        <a:latin typeface="IBM Plex Sans" charset="0"/>
                        <a:ea typeface="IBM Plex Sans" charset="0"/>
                        <a:cs typeface="IBM Plex Sans" charset="0"/>
                      </a:endParaRPr>
                    </a:p>
                  </a:txBody>
                  <a:tcPr marL="109728" marR="109728" marT="45720" marB="45720" anchor="ctr">
                    <a:lnL w="12700" cap="flat" cmpd="sng" algn="ctr">
                      <a:solidFill>
                        <a:srgbClr val="E2DDD0"/>
                      </a:solidFill>
                      <a:prstDash val="solid"/>
                      <a:round/>
                      <a:headEnd type="none" w="med" len="med"/>
                      <a:tailEnd type="none" w="med" len="med"/>
                    </a:lnL>
                    <a:lnR w="12700" cap="flat" cmpd="sng" algn="ctr">
                      <a:solidFill>
                        <a:srgbClr val="E2DDD0"/>
                      </a:solidFill>
                      <a:prstDash val="solid"/>
                      <a:round/>
                      <a:headEnd type="none" w="med" len="med"/>
                      <a:tailEnd type="none" w="med" len="med"/>
                    </a:lnR>
                    <a:lnT w="12700" cap="flat" cmpd="sng" algn="ctr">
                      <a:solidFill>
                        <a:srgbClr val="E2DDD0"/>
                      </a:solidFill>
                      <a:prstDash val="solid"/>
                      <a:round/>
                      <a:headEnd type="none" w="med" len="med"/>
                      <a:tailEnd type="none" w="med" len="med"/>
                    </a:lnT>
                    <a:lnB w="12700" cap="flat" cmpd="sng" algn="ctr">
                      <a:solidFill>
                        <a:srgbClr val="E2DDD0"/>
                      </a:solidFill>
                      <a:prstDash val="solid"/>
                      <a:round/>
                      <a:headEnd type="none" w="med" len="med"/>
                      <a:tailEnd type="none" w="med" len="med"/>
                    </a:lnB>
                  </a:tcPr>
                </a:tc>
                <a:tc>
                  <a:txBody>
                    <a:bodyPr/>
                    <a:lstStyle/>
                    <a:p>
                      <a:pPr indent="0" marL="0">
                        <a:buNone/>
                      </a:pPr>
                      <a:r>
                        <a:rPr lang="en-US" sz="1300" dirty="0">
                          <a:solidFill>
                            <a:srgbClr val="3E4A5C"/>
                          </a:solidFill>
                          <a:latin typeface="IBM Plex Sans" pitchFamily="34" charset="0"/>
                          <a:ea typeface="IBM Plex Sans" pitchFamily="34" charset="-122"/>
                          <a:cs typeface="IBM Plex Sans" pitchFamily="34" charset="-120"/>
                        </a:rPr>
                        <a:t>data the network's own outputs help create</a:t>
                      </a:r>
                      <a:endParaRPr lang="en-US" sz="1300" dirty="0">
                        <a:latin typeface="IBM Plex Sans" charset="0"/>
                        <a:ea typeface="IBM Plex Sans" charset="0"/>
                        <a:cs typeface="IBM Plex Sans" charset="0"/>
                      </a:endParaRPr>
                    </a:p>
                  </a:txBody>
                  <a:tcPr marL="109728" marR="109728" marT="45720" marB="45720" anchor="ctr">
                    <a:lnL w="12700" cap="flat" cmpd="sng" algn="ctr">
                      <a:solidFill>
                        <a:srgbClr val="E2DDD0"/>
                      </a:solidFill>
                      <a:prstDash val="solid"/>
                      <a:round/>
                      <a:headEnd type="none" w="med" len="med"/>
                      <a:tailEnd type="none" w="med" len="med"/>
                    </a:lnL>
                    <a:lnR w="12700" cap="flat" cmpd="sng" algn="ctr">
                      <a:solidFill>
                        <a:srgbClr val="E2DDD0"/>
                      </a:solidFill>
                      <a:prstDash val="solid"/>
                      <a:round/>
                      <a:headEnd type="none" w="med" len="med"/>
                      <a:tailEnd type="none" w="med" len="med"/>
                    </a:lnR>
                    <a:lnT w="12700" cap="flat" cmpd="sng" algn="ctr">
                      <a:solidFill>
                        <a:srgbClr val="E2DDD0"/>
                      </a:solidFill>
                      <a:prstDash val="solid"/>
                      <a:round/>
                      <a:headEnd type="none" w="med" len="med"/>
                      <a:tailEnd type="none" w="med" len="med"/>
                    </a:lnT>
                    <a:lnB w="12700" cap="flat" cmpd="sng" algn="ctr">
                      <a:solidFill>
                        <a:srgbClr val="E2DDD0"/>
                      </a:solidFill>
                      <a:prstDash val="solid"/>
                      <a:round/>
                      <a:headEnd type="none" w="med" len="med"/>
                      <a:tailEnd type="none" w="med" len="med"/>
                    </a:lnB>
                  </a:tcPr>
                </a:tc>
              </a:tr>
            </a:tbl>
          </a:graphicData>
        </a:graphic>
      </p:graphicFrame>
      <p:sp>
        <p:nvSpPr>
          <p:cNvPr id="6" name="Shape 2"/>
          <p:cNvSpPr/>
          <p:nvPr/>
        </p:nvSpPr>
        <p:spPr>
          <a:xfrm>
            <a:off x="813816" y="5029200"/>
            <a:ext cx="10561320" cy="777240"/>
          </a:xfrm>
          <a:prstGeom prst="roundRect">
            <a:avLst>
              <a:gd name="adj" fmla="val 9412"/>
            </a:avLst>
          </a:prstGeom>
          <a:solidFill>
            <a:srgbClr val="F6DCCB"/>
          </a:solidFill>
          <a:ln w="12700">
            <a:solidFill>
              <a:srgbClr val="F6DCCB"/>
            </a:solidFill>
            <a:prstDash val="solid"/>
          </a:ln>
        </p:spPr>
      </p:sp>
      <p:sp>
        <p:nvSpPr>
          <p:cNvPr id="7" name="Text 3"/>
          <p:cNvSpPr txBox="1"/>
          <p:nvPr/>
        </p:nvSpPr>
        <p:spPr>
          <a:xfrm>
            <a:off x="1088136" y="5029200"/>
            <a:ext cx="10012680" cy="777240"/>
          </a:xfrm>
          <a:prstGeom prst="rect">
            <a:avLst/>
          </a:prstGeom>
          <a:noFill/>
          <a:ln/>
        </p:spPr>
        <p:txBody>
          <a:bodyPr wrap="square" lIns="0" tIns="0" rIns="0" bIns="0" rtlCol="0" anchor="ctr"/>
          <a:lstStyle/>
          <a:p>
            <a:pPr indent="0" marL="0">
              <a:buNone/>
            </a:pPr>
            <a:r>
              <a:rPr lang="en-US" sz="1500" b="1" dirty="0">
                <a:solidFill>
                  <a:srgbClr val="16213A"/>
                </a:solidFill>
                <a:latin typeface="IBM Plex Sans" pitchFamily="34" charset="0"/>
                <a:ea typeface="IBM Plex Sans" pitchFamily="34" charset="-122"/>
                <a:cs typeface="IBM Plex Sans" pitchFamily="34" charset="-120"/>
              </a:rPr>
              <a:t>Unchanged: </a:t>
            </a:r>
            <a:pPr indent="0" marL="0">
              <a:buNone/>
            </a:pPr>
            <a:r>
              <a:rPr lang="en-US" sz="1500" dirty="0">
                <a:solidFill>
                  <a:srgbClr val="3E4A5C"/>
                </a:solidFill>
                <a:latin typeface="IBM Plex Sans" pitchFamily="34" charset="0"/>
                <a:ea typeface="IBM Plex Sans" pitchFamily="34" charset="-122"/>
                <a:cs typeface="IBM Plex Sans" pitchFamily="34" charset="-120"/>
              </a:rPr>
              <a:t>fnn.py and eas.py. Only the fitness function is new, and it contains the whole simulation.</a:t>
            </a:r>
            <a:endParaRPr lang="en-US" sz="1500" dirty="0"/>
          </a:p>
        </p:txBody>
      </p:sp>
      <p:sp>
        <p:nvSpPr>
          <p:cNvPr id="8" name="Text 4"/>
          <p:cNvSpPr txBox="1"/>
          <p:nvPr/>
        </p:nvSpPr>
        <p:spPr>
          <a:xfrm>
            <a:off x="813816" y="6355080"/>
            <a:ext cx="10561320" cy="256032"/>
          </a:xfrm>
          <a:prstGeom prst="rect">
            <a:avLst/>
          </a:prstGeom>
          <a:noFill/>
          <a:ln/>
        </p:spPr>
        <p:txBody>
          <a:bodyPr wrap="square" lIns="0" tIns="0" rIns="0" bIns="0" rtlCol="0" anchor="ctr"/>
          <a:lstStyle/>
          <a:p>
            <a:pPr indent="0" marL="0">
              <a:buNone/>
            </a:pPr>
            <a:r>
              <a:rPr lang="en-US" sz="1000" dirty="0">
                <a:solidFill>
                  <a:srgbClr val="5E6878"/>
                </a:solidFill>
                <a:latin typeface="JetBrains Mono" pitchFamily="34" charset="0"/>
                <a:ea typeface="JetBrains Mono" pitchFamily="34" charset="-122"/>
                <a:cs typeface="JetBrains Mono" pitchFamily="34" charset="-120"/>
              </a:rPr>
              <a:t>PythonBasics/Unit4/evolve.py · fitnessFunction()</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4EE"/>
        </a:solidFill>
      </p:bgPr>
    </p:bg>
    <p:spTree>
      <p:nvGrpSpPr>
        <p:cNvPr id="1" name=""/>
        <p:cNvGrpSpPr/>
        <p:nvPr/>
      </p:nvGrpSpPr>
      <p:grpSpPr>
        <a:xfrm>
          <a:off x="0" y="0"/>
          <a:ext cx="0" cy="0"/>
          <a:chOff x="0" y="0"/>
          <a:chExt cx="0" cy="0"/>
        </a:xfrm>
      </p:grpSpPr>
      <p:sp>
        <p:nvSpPr>
          <p:cNvPr id="2" name="Text 0"/>
          <p:cNvSpPr txBox="1"/>
          <p:nvPr/>
        </p:nvSpPr>
        <p:spPr>
          <a:xfrm>
            <a:off x="813816" y="548640"/>
            <a:ext cx="10561320" cy="274320"/>
          </a:xfrm>
          <a:prstGeom prst="rect">
            <a:avLst/>
          </a:prstGeom>
          <a:noFill/>
          <a:ln/>
        </p:spPr>
        <p:txBody>
          <a:bodyPr wrap="square" lIns="0" tIns="0" rIns="0" bIns="0" rtlCol="0" anchor="ctr"/>
          <a:lstStyle/>
          <a:p>
            <a:pPr indent="0" marL="0">
              <a:buNone/>
            </a:pPr>
            <a:r>
              <a:rPr lang="en-US" sz="1200" b="1" spc="100" kern="0" dirty="0">
                <a:solidFill>
                  <a:srgbClr val="B4521C"/>
                </a:solidFill>
                <a:latin typeface="IBM Plex Sans" pitchFamily="34" charset="0"/>
                <a:ea typeface="IBM Plex Sans" pitchFamily="34" charset="-122"/>
                <a:cs typeface="IBM Plex Sans" pitchFamily="34" charset="-120"/>
              </a:rPr>
              <a:t>CONNECTION 3 · THE FITNESS FUNCTION</a:t>
            </a:r>
            <a:endParaRPr lang="en-US" sz="1200" dirty="0"/>
          </a:p>
        </p:txBody>
      </p:sp>
      <p:sp>
        <p:nvSpPr>
          <p:cNvPr id="3" name="Text 1"/>
          <p:cNvSpPr txBox="1"/>
          <p:nvPr/>
        </p:nvSpPr>
        <p:spPr>
          <a:xfrm>
            <a:off x="813816" y="841248"/>
            <a:ext cx="10561320" cy="548640"/>
          </a:xfrm>
          <a:prstGeom prst="rect">
            <a:avLst/>
          </a:prstGeom>
          <a:noFill/>
          <a:ln/>
        </p:spPr>
        <p:txBody>
          <a:bodyPr wrap="square" lIns="0" tIns="0" rIns="0" bIns="0" rtlCol="0" anchor="ctr"/>
          <a:lstStyle/>
          <a:p>
            <a:pPr indent="0" marL="0">
              <a:buNone/>
            </a:pPr>
            <a:r>
              <a:rPr lang="en-US" sz="3200" b="1" dirty="0">
                <a:solidFill>
                  <a:srgbClr val="16213A"/>
                </a:solidFill>
                <a:latin typeface="IBM Plex Sans" pitchFamily="34" charset="0"/>
                <a:ea typeface="IBM Plex Sans" pitchFamily="34" charset="-122"/>
                <a:cs typeface="IBM Plex Sans" pitchFamily="34" charset="-120"/>
              </a:rPr>
              <a:t>Everything meets in fitnessFunction</a:t>
            </a:r>
            <a:endParaRPr lang="en-US" sz="3200" dirty="0"/>
          </a:p>
        </p:txBody>
      </p:sp>
      <p:sp>
        <p:nvSpPr>
          <p:cNvPr id="5" name="Shape 2"/>
          <p:cNvSpPr/>
          <p:nvPr/>
        </p:nvSpPr>
        <p:spPr>
          <a:xfrm>
            <a:off x="813816" y="1783080"/>
            <a:ext cx="6583680" cy="4251960"/>
          </a:xfrm>
          <a:prstGeom prst="roundRect">
            <a:avLst>
              <a:gd name="adj" fmla="val 1720"/>
            </a:avLst>
          </a:prstGeom>
          <a:solidFill>
            <a:srgbClr val="16213A"/>
          </a:solidFill>
          <a:ln w="12700">
            <a:solidFill>
              <a:srgbClr val="16213A"/>
            </a:solidFill>
            <a:prstDash val="solid"/>
          </a:ln>
        </p:spPr>
      </p:sp>
      <p:sp>
        <p:nvSpPr>
          <p:cNvPr id="6" name="Text 3"/>
          <p:cNvSpPr txBox="1"/>
          <p:nvPr/>
        </p:nvSpPr>
        <p:spPr>
          <a:xfrm>
            <a:off x="1042416" y="1965960"/>
            <a:ext cx="6126480" cy="3886200"/>
          </a:xfrm>
          <a:prstGeom prst="rect">
            <a:avLst/>
          </a:prstGeom>
          <a:noFill/>
          <a:ln/>
        </p:spPr>
        <p:txBody>
          <a:bodyPr wrap="square" lIns="0" tIns="0" rIns="0" bIns="0" rtlCol="0" anchor="t"/>
          <a:lstStyle/>
          <a:p>
            <a:pPr indent="0" marL="0">
              <a:spcAft>
                <a:spcPts val="200"/>
              </a:spcAft>
              <a:buNone/>
            </a:pPr>
            <a:r>
              <a:rPr lang="en-US" sz="1100" dirty="0">
                <a:solidFill>
                  <a:srgbClr val="E8E4D8"/>
                </a:solidFill>
                <a:latin typeface="JetBrains Mono" pitchFamily="34" charset="0"/>
                <a:ea typeface="JetBrains Mono" pitchFamily="34" charset="-122"/>
                <a:cs typeface="JetBrains Mono" pitchFamily="34" charset="-120"/>
              </a:rPr>
              <a:t>def fitnessFunction(genotype):</a:t>
            </a:r>
            <a:endParaRPr lang="en-US" sz="1100" dirty="0"/>
          </a:p>
          <a:p>
            <a:pPr indent="0" marL="0">
              <a:spcAft>
                <a:spcPts val="200"/>
              </a:spcAft>
              <a:buNone/>
            </a:pPr>
            <a:r>
              <a:rPr lang="en-US" sz="1100" dirty="0">
                <a:solidFill>
                  <a:srgbClr val="E8E4D8"/>
                </a:solidFill>
                <a:latin typeface="JetBrains Mono" pitchFamily="34" charset="0"/>
                <a:ea typeface="JetBrains Mono" pitchFamily="34" charset="-122"/>
                <a:cs typeface="JetBrains Mono" pitchFamily="34" charset="-120"/>
              </a:rPr>
              <a:t>    controller = fnn.FNN(layers)          # 1</a:t>
            </a:r>
            <a:endParaRPr lang="en-US" sz="1100" dirty="0"/>
          </a:p>
          <a:p>
            <a:pPr indent="0" marL="0">
              <a:spcAft>
                <a:spcPts val="200"/>
              </a:spcAft>
              <a:buNone/>
            </a:pPr>
            <a:r>
              <a:rPr lang="en-US" sz="1100" dirty="0">
                <a:solidFill>
                  <a:srgbClr val="E8E4D8"/>
                </a:solidFill>
                <a:latin typeface="JetBrains Mono" pitchFamily="34" charset="0"/>
                <a:ea typeface="JetBrains Mono" pitchFamily="34" charset="-122"/>
                <a:cs typeface="JetBrains Mono" pitchFamily="34" charset="-120"/>
              </a:rPr>
              <a:t>    controller.weightrange = weightrange</a:t>
            </a:r>
            <a:endParaRPr lang="en-US" sz="1100" dirty="0"/>
          </a:p>
          <a:p>
            <a:pPr indent="0" marL="0">
              <a:spcAft>
                <a:spcPts val="200"/>
              </a:spcAft>
              <a:buNone/>
            </a:pPr>
            <a:r>
              <a:rPr lang="en-US" sz="1100" dirty="0">
                <a:solidFill>
                  <a:srgbClr val="E8E4D8"/>
                </a:solidFill>
                <a:latin typeface="JetBrains Mono" pitchFamily="34" charset="0"/>
                <a:ea typeface="JetBrains Mono" pitchFamily="34" charset="-122"/>
                <a:cs typeface="JetBrains Mono" pitchFamily="34" charset="-120"/>
              </a:rPr>
              <a:t>    controller.biasrange = weightrange</a:t>
            </a:r>
            <a:endParaRPr lang="en-US" sz="1100" dirty="0"/>
          </a:p>
          <a:p>
            <a:pPr indent="0" marL="0">
              <a:spcAft>
                <a:spcPts val="200"/>
              </a:spcAft>
              <a:buNone/>
            </a:pPr>
            <a:r>
              <a:rPr lang="en-US" sz="1100" dirty="0">
                <a:solidFill>
                  <a:srgbClr val="F2A65A"/>
                </a:solidFill>
                <a:latin typeface="JetBrains Mono" pitchFamily="34" charset="0"/>
                <a:ea typeface="JetBrains Mono" pitchFamily="34" charset="-122"/>
                <a:cs typeface="JetBrains Mono" pitchFamily="34" charset="-120"/>
              </a:rPr>
              <a:t>    controller.setParams(genotype)</a:t>
            </a:r>
            <a:endParaRPr lang="en-US" sz="1100" dirty="0"/>
          </a:p>
          <a:p>
            <a:pPr indent="0" marL="0">
              <a:spcAft>
                <a:spcPts val="200"/>
              </a:spcAft>
              <a:buNone/>
            </a:pPr>
            <a:r>
              <a:rPr lang="en-US" sz="1100" dirty="0">
                <a:solidFill>
                  <a:srgbClr val="E8E4D8"/>
                </a:solidFill>
                <a:latin typeface="JetBrains Mono" pitchFamily="34" charset="0"/>
                <a:ea typeface="JetBrains Mono" pitchFamily="34" charset="-122"/>
                <a:cs typeface="JetBrains Mono" pitchFamily="34" charset="-120"/>
              </a:rPr>
              <a:t>    fitness = 0.0</a:t>
            </a:r>
            <a:endParaRPr lang="en-US" sz="1100" dirty="0"/>
          </a:p>
          <a:p>
            <a:pPr indent="0" marL="0">
              <a:spcAft>
                <a:spcPts val="200"/>
              </a:spcAft>
              <a:buNone/>
            </a:pPr>
            <a:r>
              <a:rPr lang="en-US" sz="1100" dirty="0">
                <a:solidFill>
                  <a:srgbClr val="E8E4D8"/>
                </a:solidFill>
                <a:latin typeface="JetBrains Mono" pitchFamily="34" charset="0"/>
                <a:ea typeface="JetBrains Mono" pitchFamily="34" charset="-122"/>
                <a:cs typeface="JetBrains Mono" pitchFamily="34" charset="-120"/>
              </a:rPr>
              <a:t>    for r in range(reps):                 # 2</a:t>
            </a:r>
            <a:endParaRPr lang="en-US" sz="1100" dirty="0"/>
          </a:p>
          <a:p>
            <a:pPr indent="0" marL="0">
              <a:spcAft>
                <a:spcPts val="200"/>
              </a:spcAft>
              <a:buNone/>
            </a:pPr>
            <a:r>
              <a:rPr lang="en-US" sz="1100" dirty="0">
                <a:solidFill>
                  <a:srgbClr val="F2A65A"/>
                </a:solidFill>
                <a:latin typeface="JetBrains Mono" pitchFamily="34" charset="0"/>
                <a:ea typeface="JetBrains Mono" pitchFamily="34" charset="-122"/>
                <a:cs typeface="JetBrains Mono" pitchFamily="34" charset="-120"/>
              </a:rPr>
              <a:t>        agent = env.Braitenberg(controller, distance)</a:t>
            </a:r>
            <a:endParaRPr lang="en-US" sz="1100" dirty="0"/>
          </a:p>
          <a:p>
            <a:pPr indent="0" marL="0">
              <a:spcAft>
                <a:spcPts val="200"/>
              </a:spcAft>
              <a:buNone/>
            </a:pPr>
            <a:r>
              <a:rPr lang="en-US" sz="1100" dirty="0">
                <a:solidFill>
                  <a:srgbClr val="E8E4D8"/>
                </a:solidFill>
                <a:latin typeface="JetBrains Mono" pitchFamily="34" charset="0"/>
                <a:ea typeface="JetBrains Mono" pitchFamily="34" charset="-122"/>
                <a:cs typeface="JetBrains Mono" pitchFamily="34" charset="-120"/>
              </a:rPr>
              <a:t>        light = env.Light()</a:t>
            </a:r>
            <a:endParaRPr lang="en-US" sz="1100" dirty="0"/>
          </a:p>
          <a:p>
            <a:pPr indent="0" marL="0">
              <a:spcAft>
                <a:spcPts val="200"/>
              </a:spcAft>
              <a:buNone/>
            </a:pPr>
            <a:r>
              <a:rPr lang="en-US" sz="1100" dirty="0">
                <a:solidFill>
                  <a:srgbClr val="E8E4D8"/>
                </a:solidFill>
                <a:latin typeface="JetBrains Mono" pitchFamily="34" charset="0"/>
                <a:ea typeface="JetBrains Mono" pitchFamily="34" charset="-122"/>
                <a:cs typeface="JetBrains Mono" pitchFamily="34" charset="-120"/>
              </a:rPr>
              <a:t>        for t in range(duration):         # 3</a:t>
            </a:r>
            <a:endParaRPr lang="en-US" sz="1100" dirty="0"/>
          </a:p>
          <a:p>
            <a:pPr indent="0" marL="0">
              <a:spcAft>
                <a:spcPts val="200"/>
              </a:spcAft>
              <a:buNone/>
            </a:pPr>
            <a:r>
              <a:rPr lang="en-US" sz="1100" dirty="0">
                <a:solidFill>
                  <a:srgbClr val="F2A65A"/>
                </a:solidFill>
                <a:latin typeface="JetBrains Mono" pitchFamily="34" charset="0"/>
                <a:ea typeface="JetBrains Mono" pitchFamily="34" charset="-122"/>
                <a:cs typeface="JetBrains Mono" pitchFamily="34" charset="-120"/>
              </a:rPr>
              <a:t>            agent.sense(light)</a:t>
            </a:r>
            <a:endParaRPr lang="en-US" sz="1100" dirty="0"/>
          </a:p>
          <a:p>
            <a:pPr indent="0" marL="0">
              <a:spcAft>
                <a:spcPts val="200"/>
              </a:spcAft>
              <a:buNone/>
            </a:pPr>
            <a:r>
              <a:rPr lang="en-US" sz="1100" dirty="0">
                <a:solidFill>
                  <a:srgbClr val="F2A65A"/>
                </a:solidFill>
                <a:latin typeface="JetBrains Mono" pitchFamily="34" charset="0"/>
                <a:ea typeface="JetBrains Mono" pitchFamily="34" charset="-122"/>
                <a:cs typeface="JetBrains Mono" pitchFamily="34" charset="-120"/>
              </a:rPr>
              <a:t>            agent.think()</a:t>
            </a:r>
            <a:endParaRPr lang="en-US" sz="1100" dirty="0"/>
          </a:p>
          <a:p>
            <a:pPr indent="0" marL="0">
              <a:spcAft>
                <a:spcPts val="200"/>
              </a:spcAft>
              <a:buNone/>
            </a:pPr>
            <a:r>
              <a:rPr lang="en-US" sz="1100" dirty="0">
                <a:solidFill>
                  <a:srgbClr val="F2A65A"/>
                </a:solidFill>
                <a:latin typeface="JetBrains Mono" pitchFamily="34" charset="0"/>
                <a:ea typeface="JetBrains Mono" pitchFamily="34" charset="-122"/>
                <a:cs typeface="JetBrains Mono" pitchFamily="34" charset="-120"/>
              </a:rPr>
              <a:t>            agent.move()</a:t>
            </a:r>
            <a:endParaRPr lang="en-US" sz="1100" dirty="0"/>
          </a:p>
          <a:p>
            <a:pPr indent="0" marL="0">
              <a:spcAft>
                <a:spcPts val="200"/>
              </a:spcAft>
              <a:buNone/>
            </a:pPr>
            <a:r>
              <a:rPr lang="en-US" sz="1100" dirty="0">
                <a:solidFill>
                  <a:srgbClr val="F2A65A"/>
                </a:solidFill>
                <a:latin typeface="JetBrains Mono" pitchFamily="34" charset="0"/>
                <a:ea typeface="JetBrains Mono" pitchFamily="34" charset="-122"/>
                <a:cs typeface="JetBrains Mono" pitchFamily="34" charset="-120"/>
              </a:rPr>
              <a:t>            fitness += 1/(1 + agent.distance(light))  # 4</a:t>
            </a:r>
            <a:endParaRPr lang="en-US" sz="1100" dirty="0"/>
          </a:p>
          <a:p>
            <a:pPr indent="0" marL="0">
              <a:spcAft>
                <a:spcPts val="200"/>
              </a:spcAft>
              <a:buNone/>
            </a:pPr>
            <a:r>
              <a:rPr lang="en-US" sz="1100" dirty="0">
                <a:solidFill>
                  <a:srgbClr val="E8E4D8"/>
                </a:solidFill>
                <a:latin typeface="JetBrains Mono" pitchFamily="34" charset="0"/>
                <a:ea typeface="JetBrains Mono" pitchFamily="34" charset="-122"/>
                <a:cs typeface="JetBrains Mono" pitchFamily="34" charset="-120"/>
              </a:rPr>
              <a:t>    return fitness/(reps*duration)</a:t>
            </a:r>
            <a:endParaRPr lang="en-US" sz="1100" dirty="0"/>
          </a:p>
        </p:txBody>
      </p:sp>
      <p:sp>
        <p:nvSpPr>
          <p:cNvPr id="7" name="Shape 4"/>
          <p:cNvSpPr/>
          <p:nvPr/>
        </p:nvSpPr>
        <p:spPr>
          <a:xfrm>
            <a:off x="7680960" y="1783080"/>
            <a:ext cx="3694176" cy="960120"/>
          </a:xfrm>
          <a:prstGeom prst="roundRect">
            <a:avLst>
              <a:gd name="adj" fmla="val 7619"/>
            </a:avLst>
          </a:prstGeom>
          <a:solidFill>
            <a:srgbClr val="FFFDF8"/>
          </a:solidFill>
          <a:ln w="12700">
            <a:solidFill>
              <a:srgbClr val="E2DDD0"/>
            </a:solidFill>
            <a:prstDash val="solid"/>
          </a:ln>
        </p:spPr>
      </p:sp>
      <p:sp>
        <p:nvSpPr>
          <p:cNvPr id="8" name="Shape 5"/>
          <p:cNvSpPr/>
          <p:nvPr/>
        </p:nvSpPr>
        <p:spPr>
          <a:xfrm>
            <a:off x="7863840" y="2057400"/>
            <a:ext cx="384048" cy="384048"/>
          </a:xfrm>
          <a:prstGeom prst="ellipse">
            <a:avLst/>
          </a:prstGeom>
          <a:solidFill>
            <a:srgbClr val="1D6F66"/>
          </a:solidFill>
          <a:ln w="12700">
            <a:solidFill>
              <a:srgbClr val="1D6F66"/>
            </a:solidFill>
            <a:prstDash val="solid"/>
          </a:ln>
        </p:spPr>
      </p:sp>
      <p:sp>
        <p:nvSpPr>
          <p:cNvPr id="9" name="Text 6"/>
          <p:cNvSpPr txBox="1"/>
          <p:nvPr/>
        </p:nvSpPr>
        <p:spPr>
          <a:xfrm>
            <a:off x="7863840" y="2057400"/>
            <a:ext cx="384048" cy="384048"/>
          </a:xfrm>
          <a:prstGeom prst="rect">
            <a:avLst/>
          </a:prstGeom>
          <a:noFill/>
          <a:ln/>
        </p:spPr>
        <p:txBody>
          <a:bodyPr wrap="square" lIns="0" tIns="0" rIns="0" bIns="0" rtlCol="0" anchor="ctr"/>
          <a:lstStyle/>
          <a:p>
            <a:pPr algn="ctr" indent="0" marL="0">
              <a:buNone/>
            </a:pPr>
            <a:r>
              <a:rPr lang="en-US" sz="1400" b="1" dirty="0">
                <a:solidFill>
                  <a:srgbClr val="F6F4EE"/>
                </a:solidFill>
                <a:latin typeface="IBM Plex Sans" pitchFamily="34" charset="0"/>
                <a:ea typeface="IBM Plex Sans" pitchFamily="34" charset="-122"/>
                <a:cs typeface="IBM Plex Sans" pitchFamily="34" charset="-120"/>
              </a:rPr>
              <a:t>1</a:t>
            </a:r>
            <a:endParaRPr lang="en-US" sz="1400" dirty="0"/>
          </a:p>
        </p:txBody>
      </p:sp>
      <p:sp>
        <p:nvSpPr>
          <p:cNvPr id="10" name="Text 7"/>
          <p:cNvSpPr txBox="1"/>
          <p:nvPr/>
        </p:nvSpPr>
        <p:spPr>
          <a:xfrm>
            <a:off x="8412480" y="1892808"/>
            <a:ext cx="2834640" cy="292608"/>
          </a:xfrm>
          <a:prstGeom prst="rect">
            <a:avLst/>
          </a:prstGeom>
          <a:noFill/>
          <a:ln/>
        </p:spPr>
        <p:txBody>
          <a:bodyPr wrap="square" lIns="0" tIns="0" rIns="0" bIns="0" rtlCol="0" anchor="ctr"/>
          <a:lstStyle/>
          <a:p>
            <a:pPr indent="0" marL="0">
              <a:buNone/>
            </a:pPr>
            <a:r>
              <a:rPr lang="en-US" sz="1400" b="1" dirty="0">
                <a:solidFill>
                  <a:srgbClr val="16213A"/>
                </a:solidFill>
                <a:latin typeface="IBM Plex Sans" pitchFamily="34" charset="0"/>
                <a:ea typeface="IBM Plex Sans" pitchFamily="34" charset="-122"/>
                <a:cs typeface="IBM Plex Sans" pitchFamily="34" charset="-120"/>
              </a:rPr>
              <a:t>Genotype → network</a:t>
            </a:r>
            <a:endParaRPr lang="en-US" sz="1400" dirty="0"/>
          </a:p>
        </p:txBody>
      </p:sp>
      <p:sp>
        <p:nvSpPr>
          <p:cNvPr id="11" name="Text 8"/>
          <p:cNvSpPr txBox="1"/>
          <p:nvPr/>
        </p:nvSpPr>
        <p:spPr>
          <a:xfrm>
            <a:off x="8412480" y="2203704"/>
            <a:ext cx="2834640" cy="502920"/>
          </a:xfrm>
          <a:prstGeom prst="rect">
            <a:avLst/>
          </a:prstGeom>
          <a:noFill/>
          <a:ln/>
        </p:spPr>
        <p:txBody>
          <a:bodyPr wrap="square" lIns="0" tIns="0" rIns="0" bIns="0" rtlCol="0" anchor="t"/>
          <a:lstStyle/>
          <a:p>
            <a:pPr indent="0" marL="0">
              <a:buNone/>
            </a:pPr>
            <a:r>
              <a:rPr lang="en-US" sz="1200" dirty="0">
                <a:solidFill>
                  <a:srgbClr val="3E4A5C"/>
                </a:solidFill>
                <a:latin typeface="IBM Plex Sans" pitchFamily="34" charset="0"/>
                <a:ea typeface="IBM Plex Sans" pitchFamily="34" charset="-122"/>
                <a:cs typeface="IBM Plex Sans" pitchFamily="34" charset="-120"/>
              </a:rPr>
              <a:t>setParams turns 32 numbers into weights and biases.</a:t>
            </a:r>
            <a:endParaRPr lang="en-US" sz="1200" dirty="0"/>
          </a:p>
        </p:txBody>
      </p:sp>
      <p:sp>
        <p:nvSpPr>
          <p:cNvPr id="12" name="Shape 9"/>
          <p:cNvSpPr/>
          <p:nvPr/>
        </p:nvSpPr>
        <p:spPr>
          <a:xfrm>
            <a:off x="7680960" y="2880360"/>
            <a:ext cx="3694176" cy="960120"/>
          </a:xfrm>
          <a:prstGeom prst="roundRect">
            <a:avLst>
              <a:gd name="adj" fmla="val 7619"/>
            </a:avLst>
          </a:prstGeom>
          <a:solidFill>
            <a:srgbClr val="FFFDF8"/>
          </a:solidFill>
          <a:ln w="12700">
            <a:solidFill>
              <a:srgbClr val="E2DDD0"/>
            </a:solidFill>
            <a:prstDash val="solid"/>
          </a:ln>
        </p:spPr>
      </p:sp>
      <p:sp>
        <p:nvSpPr>
          <p:cNvPr id="13" name="Shape 10"/>
          <p:cNvSpPr/>
          <p:nvPr/>
        </p:nvSpPr>
        <p:spPr>
          <a:xfrm>
            <a:off x="7863840" y="3154680"/>
            <a:ext cx="384048" cy="384048"/>
          </a:xfrm>
          <a:prstGeom prst="ellipse">
            <a:avLst/>
          </a:prstGeom>
          <a:solidFill>
            <a:srgbClr val="1D6F66"/>
          </a:solidFill>
          <a:ln w="12700">
            <a:solidFill>
              <a:srgbClr val="1D6F66"/>
            </a:solidFill>
            <a:prstDash val="solid"/>
          </a:ln>
        </p:spPr>
      </p:sp>
      <p:sp>
        <p:nvSpPr>
          <p:cNvPr id="14" name="Text 11"/>
          <p:cNvSpPr txBox="1"/>
          <p:nvPr/>
        </p:nvSpPr>
        <p:spPr>
          <a:xfrm>
            <a:off x="7863840" y="3154680"/>
            <a:ext cx="384048" cy="384048"/>
          </a:xfrm>
          <a:prstGeom prst="rect">
            <a:avLst/>
          </a:prstGeom>
          <a:noFill/>
          <a:ln/>
        </p:spPr>
        <p:txBody>
          <a:bodyPr wrap="square" lIns="0" tIns="0" rIns="0" bIns="0" rtlCol="0" anchor="ctr"/>
          <a:lstStyle/>
          <a:p>
            <a:pPr algn="ctr" indent="0" marL="0">
              <a:buNone/>
            </a:pPr>
            <a:r>
              <a:rPr lang="en-US" sz="1400" b="1" dirty="0">
                <a:solidFill>
                  <a:srgbClr val="F6F4EE"/>
                </a:solidFill>
                <a:latin typeface="IBM Plex Sans" pitchFamily="34" charset="0"/>
                <a:ea typeface="IBM Plex Sans" pitchFamily="34" charset="-122"/>
                <a:cs typeface="IBM Plex Sans" pitchFamily="34" charset="-120"/>
              </a:rPr>
              <a:t>2</a:t>
            </a:r>
            <a:endParaRPr lang="en-US" sz="1400" dirty="0"/>
          </a:p>
        </p:txBody>
      </p:sp>
      <p:sp>
        <p:nvSpPr>
          <p:cNvPr id="15" name="Text 12"/>
          <p:cNvSpPr txBox="1"/>
          <p:nvPr/>
        </p:nvSpPr>
        <p:spPr>
          <a:xfrm>
            <a:off x="8412480" y="2990088"/>
            <a:ext cx="2834640" cy="292608"/>
          </a:xfrm>
          <a:prstGeom prst="rect">
            <a:avLst/>
          </a:prstGeom>
          <a:noFill/>
          <a:ln/>
        </p:spPr>
        <p:txBody>
          <a:bodyPr wrap="square" lIns="0" tIns="0" rIns="0" bIns="0" rtlCol="0" anchor="ctr"/>
          <a:lstStyle/>
          <a:p>
            <a:pPr indent="0" marL="0">
              <a:buNone/>
            </a:pPr>
            <a:r>
              <a:rPr lang="en-US" sz="1400" b="1" dirty="0">
                <a:solidFill>
                  <a:srgbClr val="16213A"/>
                </a:solidFill>
                <a:latin typeface="IBM Plex Sans" pitchFamily="34" charset="0"/>
                <a:ea typeface="IBM Plex Sans" pitchFamily="34" charset="-122"/>
                <a:cs typeface="IBM Plex Sans" pitchFamily="34" charset="-120"/>
              </a:rPr>
              <a:t>Fresh random body</a:t>
            </a:r>
            <a:endParaRPr lang="en-US" sz="1400" dirty="0"/>
          </a:p>
        </p:txBody>
      </p:sp>
      <p:sp>
        <p:nvSpPr>
          <p:cNvPr id="16" name="Text 13"/>
          <p:cNvSpPr txBox="1"/>
          <p:nvPr/>
        </p:nvSpPr>
        <p:spPr>
          <a:xfrm>
            <a:off x="8412480" y="3300984"/>
            <a:ext cx="2834640" cy="502920"/>
          </a:xfrm>
          <a:prstGeom prst="rect">
            <a:avLst/>
          </a:prstGeom>
          <a:noFill/>
          <a:ln/>
        </p:spPr>
        <p:txBody>
          <a:bodyPr wrap="square" lIns="0" tIns="0" rIns="0" bIns="0" rtlCol="0" anchor="t"/>
          <a:lstStyle/>
          <a:p>
            <a:pPr indent="0" marL="0">
              <a:buNone/>
            </a:pPr>
            <a:r>
              <a:rPr lang="en-US" sz="1200" dirty="0">
                <a:solidFill>
                  <a:srgbClr val="3E4A5C"/>
                </a:solidFill>
                <a:latin typeface="IBM Plex Sans" pitchFamily="34" charset="0"/>
                <a:ea typeface="IBM Plex Sans" pitchFamily="34" charset="-122"/>
                <a:cs typeface="IBM Plex Sans" pitchFamily="34" charset="-120"/>
              </a:rPr>
              <a:t>New start position and heading each trial.</a:t>
            </a:r>
            <a:endParaRPr lang="en-US" sz="1200" dirty="0"/>
          </a:p>
        </p:txBody>
      </p:sp>
      <p:sp>
        <p:nvSpPr>
          <p:cNvPr id="17" name="Shape 14"/>
          <p:cNvSpPr/>
          <p:nvPr/>
        </p:nvSpPr>
        <p:spPr>
          <a:xfrm>
            <a:off x="7680960" y="3977640"/>
            <a:ext cx="3694176" cy="960120"/>
          </a:xfrm>
          <a:prstGeom prst="roundRect">
            <a:avLst>
              <a:gd name="adj" fmla="val 7619"/>
            </a:avLst>
          </a:prstGeom>
          <a:solidFill>
            <a:srgbClr val="FFFDF8"/>
          </a:solidFill>
          <a:ln w="12700">
            <a:solidFill>
              <a:srgbClr val="E2DDD0"/>
            </a:solidFill>
            <a:prstDash val="solid"/>
          </a:ln>
        </p:spPr>
      </p:sp>
      <p:sp>
        <p:nvSpPr>
          <p:cNvPr id="18" name="Shape 15"/>
          <p:cNvSpPr/>
          <p:nvPr/>
        </p:nvSpPr>
        <p:spPr>
          <a:xfrm>
            <a:off x="7863840" y="4251960"/>
            <a:ext cx="384048" cy="384048"/>
          </a:xfrm>
          <a:prstGeom prst="ellipse">
            <a:avLst/>
          </a:prstGeom>
          <a:solidFill>
            <a:srgbClr val="1D6F66"/>
          </a:solidFill>
          <a:ln w="12700">
            <a:solidFill>
              <a:srgbClr val="1D6F66"/>
            </a:solidFill>
            <a:prstDash val="solid"/>
          </a:ln>
        </p:spPr>
      </p:sp>
      <p:sp>
        <p:nvSpPr>
          <p:cNvPr id="19" name="Text 16"/>
          <p:cNvSpPr txBox="1"/>
          <p:nvPr/>
        </p:nvSpPr>
        <p:spPr>
          <a:xfrm>
            <a:off x="7863840" y="4251960"/>
            <a:ext cx="384048" cy="384048"/>
          </a:xfrm>
          <a:prstGeom prst="rect">
            <a:avLst/>
          </a:prstGeom>
          <a:noFill/>
          <a:ln/>
        </p:spPr>
        <p:txBody>
          <a:bodyPr wrap="square" lIns="0" tIns="0" rIns="0" bIns="0" rtlCol="0" anchor="ctr"/>
          <a:lstStyle/>
          <a:p>
            <a:pPr algn="ctr" indent="0" marL="0">
              <a:buNone/>
            </a:pPr>
            <a:r>
              <a:rPr lang="en-US" sz="1400" b="1" dirty="0">
                <a:solidFill>
                  <a:srgbClr val="F6F4EE"/>
                </a:solidFill>
                <a:latin typeface="IBM Plex Sans" pitchFamily="34" charset="0"/>
                <a:ea typeface="IBM Plex Sans" pitchFamily="34" charset="-122"/>
                <a:cs typeface="IBM Plex Sans" pitchFamily="34" charset="-120"/>
              </a:rPr>
              <a:t>3</a:t>
            </a:r>
            <a:endParaRPr lang="en-US" sz="1400" dirty="0"/>
          </a:p>
        </p:txBody>
      </p:sp>
      <p:sp>
        <p:nvSpPr>
          <p:cNvPr id="20" name="Text 17"/>
          <p:cNvSpPr txBox="1"/>
          <p:nvPr/>
        </p:nvSpPr>
        <p:spPr>
          <a:xfrm>
            <a:off x="8412480" y="4087368"/>
            <a:ext cx="2834640" cy="292608"/>
          </a:xfrm>
          <a:prstGeom prst="rect">
            <a:avLst/>
          </a:prstGeom>
          <a:noFill/>
          <a:ln/>
        </p:spPr>
        <p:txBody>
          <a:bodyPr wrap="square" lIns="0" tIns="0" rIns="0" bIns="0" rtlCol="0" anchor="ctr"/>
          <a:lstStyle/>
          <a:p>
            <a:pPr indent="0" marL="0">
              <a:buNone/>
            </a:pPr>
            <a:r>
              <a:rPr lang="en-US" sz="1400" b="1" dirty="0">
                <a:solidFill>
                  <a:srgbClr val="16213A"/>
                </a:solidFill>
                <a:latin typeface="IBM Plex Sans" pitchFamily="34" charset="0"/>
                <a:ea typeface="IBM Plex Sans" pitchFamily="34" charset="-122"/>
                <a:cs typeface="IBM Plex Sans" pitchFamily="34" charset="-120"/>
              </a:rPr>
              <a:t>Closed loop</a:t>
            </a:r>
            <a:endParaRPr lang="en-US" sz="1400" dirty="0"/>
          </a:p>
        </p:txBody>
      </p:sp>
      <p:sp>
        <p:nvSpPr>
          <p:cNvPr id="21" name="Text 18"/>
          <p:cNvSpPr txBox="1"/>
          <p:nvPr/>
        </p:nvSpPr>
        <p:spPr>
          <a:xfrm>
            <a:off x="8412480" y="4398264"/>
            <a:ext cx="2834640" cy="502920"/>
          </a:xfrm>
          <a:prstGeom prst="rect">
            <a:avLst/>
          </a:prstGeom>
          <a:noFill/>
          <a:ln/>
        </p:spPr>
        <p:txBody>
          <a:bodyPr wrap="square" lIns="0" tIns="0" rIns="0" bIns="0" rtlCol="0" anchor="t"/>
          <a:lstStyle/>
          <a:p>
            <a:pPr indent="0" marL="0">
              <a:buNone/>
            </a:pPr>
            <a:r>
              <a:rPr lang="en-US" sz="1200" dirty="0">
                <a:solidFill>
                  <a:srgbClr val="3E4A5C"/>
                </a:solidFill>
                <a:latin typeface="IBM Plex Sans" pitchFamily="34" charset="0"/>
                <a:ea typeface="IBM Plex Sans" pitchFamily="34" charset="-122"/>
                <a:cs typeface="IBM Plex Sans" pitchFamily="34" charset="-120"/>
              </a:rPr>
              <a:t>Sense, think, move, 200 times.</a:t>
            </a:r>
            <a:endParaRPr lang="en-US" sz="1200" dirty="0"/>
          </a:p>
        </p:txBody>
      </p:sp>
      <p:sp>
        <p:nvSpPr>
          <p:cNvPr id="22" name="Shape 19"/>
          <p:cNvSpPr/>
          <p:nvPr/>
        </p:nvSpPr>
        <p:spPr>
          <a:xfrm>
            <a:off x="7680960" y="5074920"/>
            <a:ext cx="3694176" cy="960120"/>
          </a:xfrm>
          <a:prstGeom prst="roundRect">
            <a:avLst>
              <a:gd name="adj" fmla="val 7619"/>
            </a:avLst>
          </a:prstGeom>
          <a:solidFill>
            <a:srgbClr val="FFFDF8"/>
          </a:solidFill>
          <a:ln w="12700">
            <a:solidFill>
              <a:srgbClr val="E2DDD0"/>
            </a:solidFill>
            <a:prstDash val="solid"/>
          </a:ln>
        </p:spPr>
      </p:sp>
      <p:sp>
        <p:nvSpPr>
          <p:cNvPr id="23" name="Shape 20"/>
          <p:cNvSpPr/>
          <p:nvPr/>
        </p:nvSpPr>
        <p:spPr>
          <a:xfrm>
            <a:off x="7863840" y="5349240"/>
            <a:ext cx="384048" cy="384048"/>
          </a:xfrm>
          <a:prstGeom prst="ellipse">
            <a:avLst/>
          </a:prstGeom>
          <a:solidFill>
            <a:srgbClr val="1D6F66"/>
          </a:solidFill>
          <a:ln w="12700">
            <a:solidFill>
              <a:srgbClr val="1D6F66"/>
            </a:solidFill>
            <a:prstDash val="solid"/>
          </a:ln>
        </p:spPr>
      </p:sp>
      <p:sp>
        <p:nvSpPr>
          <p:cNvPr id="24" name="Text 21"/>
          <p:cNvSpPr txBox="1"/>
          <p:nvPr/>
        </p:nvSpPr>
        <p:spPr>
          <a:xfrm>
            <a:off x="7863840" y="5349240"/>
            <a:ext cx="384048" cy="384048"/>
          </a:xfrm>
          <a:prstGeom prst="rect">
            <a:avLst/>
          </a:prstGeom>
          <a:noFill/>
          <a:ln/>
        </p:spPr>
        <p:txBody>
          <a:bodyPr wrap="square" lIns="0" tIns="0" rIns="0" bIns="0" rtlCol="0" anchor="ctr"/>
          <a:lstStyle/>
          <a:p>
            <a:pPr algn="ctr" indent="0" marL="0">
              <a:buNone/>
            </a:pPr>
            <a:r>
              <a:rPr lang="en-US" sz="1400" b="1" dirty="0">
                <a:solidFill>
                  <a:srgbClr val="F6F4EE"/>
                </a:solidFill>
                <a:latin typeface="IBM Plex Sans" pitchFamily="34" charset="0"/>
                <a:ea typeface="IBM Plex Sans" pitchFamily="34" charset="-122"/>
                <a:cs typeface="IBM Plex Sans" pitchFamily="34" charset="-120"/>
              </a:rPr>
              <a:t>4</a:t>
            </a:r>
            <a:endParaRPr lang="en-US" sz="1400" dirty="0"/>
          </a:p>
        </p:txBody>
      </p:sp>
      <p:sp>
        <p:nvSpPr>
          <p:cNvPr id="25" name="Text 22"/>
          <p:cNvSpPr txBox="1"/>
          <p:nvPr/>
        </p:nvSpPr>
        <p:spPr>
          <a:xfrm>
            <a:off x="8412480" y="5184648"/>
            <a:ext cx="2834640" cy="292608"/>
          </a:xfrm>
          <a:prstGeom prst="rect">
            <a:avLst/>
          </a:prstGeom>
          <a:noFill/>
          <a:ln/>
        </p:spPr>
        <p:txBody>
          <a:bodyPr wrap="square" lIns="0" tIns="0" rIns="0" bIns="0" rtlCol="0" anchor="ctr"/>
          <a:lstStyle/>
          <a:p>
            <a:pPr indent="0" marL="0">
              <a:buNone/>
            </a:pPr>
            <a:r>
              <a:rPr lang="en-US" sz="1400" b="1" dirty="0">
                <a:solidFill>
                  <a:srgbClr val="16213A"/>
                </a:solidFill>
                <a:latin typeface="IBM Plex Sans" pitchFamily="34" charset="0"/>
                <a:ea typeface="IBM Plex Sans" pitchFamily="34" charset="-122"/>
                <a:cs typeface="IBM Plex Sans" pitchFamily="34" charset="-120"/>
              </a:rPr>
              <a:t>Reward every step</a:t>
            </a:r>
            <a:endParaRPr lang="en-US" sz="1400" dirty="0"/>
          </a:p>
        </p:txBody>
      </p:sp>
      <p:sp>
        <p:nvSpPr>
          <p:cNvPr id="26" name="Text 23"/>
          <p:cNvSpPr txBox="1"/>
          <p:nvPr/>
        </p:nvSpPr>
        <p:spPr>
          <a:xfrm>
            <a:off x="8412480" y="5495544"/>
            <a:ext cx="2834640" cy="502920"/>
          </a:xfrm>
          <a:prstGeom prst="rect">
            <a:avLst/>
          </a:prstGeom>
          <a:noFill/>
          <a:ln/>
        </p:spPr>
        <p:txBody>
          <a:bodyPr wrap="square" lIns="0" tIns="0" rIns="0" bIns="0" rtlCol="0" anchor="t"/>
          <a:lstStyle/>
          <a:p>
            <a:pPr indent="0" marL="0">
              <a:buNone/>
            </a:pPr>
            <a:r>
              <a:rPr lang="en-US" sz="1200" dirty="0">
                <a:solidFill>
                  <a:srgbClr val="3E4A5C"/>
                </a:solidFill>
                <a:latin typeface="IBM Plex Sans" pitchFamily="34" charset="0"/>
                <a:ea typeface="IBM Plex Sans" pitchFamily="34" charset="-122"/>
                <a:cs typeface="IBM Plex Sans" pitchFamily="34" charset="-120"/>
              </a:rPr>
              <a:t>1 / (1 + distance), averaged over steps and trials.</a:t>
            </a:r>
            <a:endParaRPr lang="en-US" sz="1200" dirty="0"/>
          </a:p>
        </p:txBody>
      </p:sp>
      <p:sp>
        <p:nvSpPr>
          <p:cNvPr id="27" name="Text 24"/>
          <p:cNvSpPr txBox="1"/>
          <p:nvPr/>
        </p:nvSpPr>
        <p:spPr>
          <a:xfrm>
            <a:off x="813816" y="6355080"/>
            <a:ext cx="10561320" cy="256032"/>
          </a:xfrm>
          <a:prstGeom prst="rect">
            <a:avLst/>
          </a:prstGeom>
          <a:noFill/>
          <a:ln/>
        </p:spPr>
        <p:txBody>
          <a:bodyPr wrap="square" lIns="0" tIns="0" rIns="0" bIns="0" rtlCol="0" anchor="ctr"/>
          <a:lstStyle/>
          <a:p>
            <a:pPr indent="0" marL="0">
              <a:buNone/>
            </a:pPr>
            <a:r>
              <a:rPr lang="en-US" sz="1000" dirty="0">
                <a:solidFill>
                  <a:srgbClr val="5E6878"/>
                </a:solidFill>
                <a:latin typeface="JetBrains Mono" pitchFamily="34" charset="0"/>
                <a:ea typeface="JetBrains Mono" pitchFamily="34" charset="-122"/>
                <a:cs typeface="JetBrains Mono" pitchFamily="34" charset="-120"/>
              </a:rPr>
              <a:t>PythonBasics/Unit4/evolve.py  ·  duration 200 · distance 5 · reps 4</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4EE"/>
        </a:solidFill>
      </p:bgPr>
    </p:bg>
    <p:spTree>
      <p:nvGrpSpPr>
        <p:cNvPr id="1" name=""/>
        <p:cNvGrpSpPr/>
        <p:nvPr/>
      </p:nvGrpSpPr>
      <p:grpSpPr>
        <a:xfrm>
          <a:off x="0" y="0"/>
          <a:ext cx="0" cy="0"/>
          <a:chOff x="0" y="0"/>
          <a:chExt cx="0" cy="0"/>
        </a:xfrm>
      </p:grpSpPr>
      <p:sp>
        <p:nvSpPr>
          <p:cNvPr id="2" name="Text 0"/>
          <p:cNvSpPr txBox="1"/>
          <p:nvPr/>
        </p:nvSpPr>
        <p:spPr>
          <a:xfrm>
            <a:off x="813816" y="548640"/>
            <a:ext cx="10561320" cy="274320"/>
          </a:xfrm>
          <a:prstGeom prst="rect">
            <a:avLst/>
          </a:prstGeom>
          <a:noFill/>
          <a:ln/>
        </p:spPr>
        <p:txBody>
          <a:bodyPr wrap="square" lIns="0" tIns="0" rIns="0" bIns="0" rtlCol="0" anchor="ctr"/>
          <a:lstStyle/>
          <a:p>
            <a:pPr indent="0" marL="0">
              <a:buNone/>
            </a:pPr>
            <a:r>
              <a:rPr lang="en-US" sz="1200" b="1" spc="100" kern="0" dirty="0">
                <a:solidFill>
                  <a:srgbClr val="B4521C"/>
                </a:solidFill>
                <a:latin typeface="IBM Plex Sans" pitchFamily="34" charset="0"/>
                <a:ea typeface="IBM Plex Sans" pitchFamily="34" charset="-122"/>
                <a:cs typeface="IBM Plex Sans" pitchFamily="34" charset="-120"/>
              </a:rPr>
              <a:t>CONNECTION 4 · THE DATA FLOW</a:t>
            </a:r>
            <a:endParaRPr lang="en-US" sz="1200" dirty="0"/>
          </a:p>
        </p:txBody>
      </p:sp>
      <p:sp>
        <p:nvSpPr>
          <p:cNvPr id="3" name="Text 1"/>
          <p:cNvSpPr txBox="1"/>
          <p:nvPr/>
        </p:nvSpPr>
        <p:spPr>
          <a:xfrm>
            <a:off x="813816" y="841248"/>
            <a:ext cx="10561320" cy="548640"/>
          </a:xfrm>
          <a:prstGeom prst="rect">
            <a:avLst/>
          </a:prstGeom>
          <a:noFill/>
          <a:ln/>
        </p:spPr>
        <p:txBody>
          <a:bodyPr wrap="square" lIns="0" tIns="0" rIns="0" bIns="0" rtlCol="0" anchor="ctr"/>
          <a:lstStyle/>
          <a:p>
            <a:pPr indent="0" marL="0">
              <a:buNone/>
            </a:pPr>
            <a:r>
              <a:rPr lang="en-US" sz="3200" b="1" dirty="0">
                <a:solidFill>
                  <a:srgbClr val="16213A"/>
                </a:solidFill>
                <a:latin typeface="IBM Plex Sans" pitchFamily="34" charset="0"/>
                <a:ea typeface="IBM Plex Sans" pitchFamily="34" charset="-122"/>
                <a:cs typeface="IBM Plex Sans" pitchFamily="34" charset="-120"/>
              </a:rPr>
              <a:t>From a vector of numbers to a single number</a:t>
            </a:r>
            <a:endParaRPr lang="en-US" sz="3200" dirty="0"/>
          </a:p>
        </p:txBody>
      </p:sp>
      <p:sp>
        <p:nvSpPr>
          <p:cNvPr id="5" name="Shape 2"/>
          <p:cNvSpPr/>
          <p:nvPr/>
        </p:nvSpPr>
        <p:spPr>
          <a:xfrm>
            <a:off x="813816" y="1783080"/>
            <a:ext cx="1783080" cy="1371600"/>
          </a:xfrm>
          <a:prstGeom prst="roundRect">
            <a:avLst>
              <a:gd name="adj" fmla="val 5333"/>
            </a:avLst>
          </a:prstGeom>
          <a:solidFill>
            <a:srgbClr val="16213A"/>
          </a:solidFill>
          <a:ln w="12700">
            <a:solidFill>
              <a:srgbClr val="16213A"/>
            </a:solidFill>
            <a:prstDash val="solid"/>
          </a:ln>
        </p:spPr>
      </p:sp>
      <p:sp>
        <p:nvSpPr>
          <p:cNvPr id="6" name="Text 3"/>
          <p:cNvSpPr txBox="1"/>
          <p:nvPr/>
        </p:nvSpPr>
        <p:spPr>
          <a:xfrm>
            <a:off x="950976" y="1892808"/>
            <a:ext cx="1508760" cy="411480"/>
          </a:xfrm>
          <a:prstGeom prst="rect">
            <a:avLst/>
          </a:prstGeom>
          <a:noFill/>
          <a:ln/>
        </p:spPr>
        <p:txBody>
          <a:bodyPr wrap="square" lIns="0" tIns="0" rIns="0" bIns="0" rtlCol="0" anchor="ctr"/>
          <a:lstStyle/>
          <a:p>
            <a:pPr indent="0" marL="0">
              <a:buNone/>
            </a:pPr>
            <a:r>
              <a:rPr lang="en-US" sz="1400" b="1" dirty="0">
                <a:solidFill>
                  <a:srgbClr val="F6F4EE"/>
                </a:solidFill>
                <a:latin typeface="JetBrains Mono" pitchFamily="34" charset="0"/>
                <a:ea typeface="JetBrains Mono" pitchFamily="34" charset="-122"/>
                <a:cs typeface="JetBrains Mono" pitchFamily="34" charset="-120"/>
              </a:rPr>
              <a:t>genotype</a:t>
            </a:r>
            <a:endParaRPr lang="en-US" sz="1400" dirty="0"/>
          </a:p>
        </p:txBody>
      </p:sp>
      <p:sp>
        <p:nvSpPr>
          <p:cNvPr id="7" name="Text 4"/>
          <p:cNvSpPr txBox="1"/>
          <p:nvPr/>
        </p:nvSpPr>
        <p:spPr>
          <a:xfrm>
            <a:off x="950976" y="2350008"/>
            <a:ext cx="1508760" cy="731520"/>
          </a:xfrm>
          <a:prstGeom prst="rect">
            <a:avLst/>
          </a:prstGeom>
          <a:noFill/>
          <a:ln/>
        </p:spPr>
        <p:txBody>
          <a:bodyPr wrap="square" lIns="0" tIns="0" rIns="0" bIns="0" rtlCol="0" anchor="t"/>
          <a:lstStyle/>
          <a:p>
            <a:pPr indent="0" marL="0">
              <a:buNone/>
            </a:pPr>
            <a:r>
              <a:rPr lang="en-US" sz="1200" dirty="0">
                <a:solidFill>
                  <a:srgbClr val="F6F4EE"/>
                </a:solidFill>
                <a:latin typeface="IBM Plex Sans" pitchFamily="34" charset="0"/>
                <a:ea typeface="IBM Plex Sans" pitchFamily="34" charset="-122"/>
                <a:cs typeface="IBM Plex Sans" pitchFamily="34" charset="-120"/>
              </a:rPr>
              <a:t>32 floats in [−1, 1]</a:t>
            </a:r>
            <a:endParaRPr lang="en-US" sz="1200" dirty="0"/>
          </a:p>
        </p:txBody>
      </p:sp>
      <p:sp>
        <p:nvSpPr>
          <p:cNvPr id="8" name="Shape 5"/>
          <p:cNvSpPr/>
          <p:nvPr/>
        </p:nvSpPr>
        <p:spPr>
          <a:xfrm>
            <a:off x="2651760" y="2468880"/>
            <a:ext cx="301752" cy="0"/>
          </a:xfrm>
          <a:prstGeom prst="line">
            <a:avLst/>
          </a:prstGeom>
          <a:noFill/>
          <a:ln w="25400">
            <a:solidFill>
              <a:srgbClr val="5E6878"/>
            </a:solidFill>
            <a:prstDash val="solid"/>
            <a:tailEnd type="triangle"/>
          </a:ln>
        </p:spPr>
      </p:sp>
      <p:sp>
        <p:nvSpPr>
          <p:cNvPr id="9" name="Shape 6"/>
          <p:cNvSpPr/>
          <p:nvPr/>
        </p:nvSpPr>
        <p:spPr>
          <a:xfrm>
            <a:off x="3008376" y="1783080"/>
            <a:ext cx="1783080" cy="1371600"/>
          </a:xfrm>
          <a:prstGeom prst="roundRect">
            <a:avLst>
              <a:gd name="adj" fmla="val 5333"/>
            </a:avLst>
          </a:prstGeom>
          <a:solidFill>
            <a:srgbClr val="16213A"/>
          </a:solidFill>
          <a:ln w="12700">
            <a:solidFill>
              <a:srgbClr val="16213A"/>
            </a:solidFill>
            <a:prstDash val="solid"/>
          </a:ln>
        </p:spPr>
      </p:sp>
      <p:sp>
        <p:nvSpPr>
          <p:cNvPr id="10" name="Text 7"/>
          <p:cNvSpPr txBox="1"/>
          <p:nvPr/>
        </p:nvSpPr>
        <p:spPr>
          <a:xfrm>
            <a:off x="3145536" y="1892808"/>
            <a:ext cx="1508760" cy="411480"/>
          </a:xfrm>
          <a:prstGeom prst="rect">
            <a:avLst/>
          </a:prstGeom>
          <a:noFill/>
          <a:ln/>
        </p:spPr>
        <p:txBody>
          <a:bodyPr wrap="square" lIns="0" tIns="0" rIns="0" bIns="0" rtlCol="0" anchor="ctr"/>
          <a:lstStyle/>
          <a:p>
            <a:pPr indent="0" marL="0">
              <a:buNone/>
            </a:pPr>
            <a:r>
              <a:rPr lang="en-US" sz="1400" b="1" dirty="0">
                <a:solidFill>
                  <a:srgbClr val="F6F4EE"/>
                </a:solidFill>
                <a:latin typeface="JetBrains Mono" pitchFamily="34" charset="0"/>
                <a:ea typeface="JetBrains Mono" pitchFamily="34" charset="-122"/>
                <a:cs typeface="JetBrains Mono" pitchFamily="34" charset="-120"/>
              </a:rPr>
              <a:t>FNN</a:t>
            </a:r>
            <a:endParaRPr lang="en-US" sz="1400" dirty="0"/>
          </a:p>
        </p:txBody>
      </p:sp>
      <p:sp>
        <p:nvSpPr>
          <p:cNvPr id="11" name="Text 8"/>
          <p:cNvSpPr txBox="1"/>
          <p:nvPr/>
        </p:nvSpPr>
        <p:spPr>
          <a:xfrm>
            <a:off x="3145536" y="2350008"/>
            <a:ext cx="1508760" cy="731520"/>
          </a:xfrm>
          <a:prstGeom prst="rect">
            <a:avLst/>
          </a:prstGeom>
          <a:noFill/>
          <a:ln/>
        </p:spPr>
        <p:txBody>
          <a:bodyPr wrap="square" lIns="0" tIns="0" rIns="0" bIns="0" rtlCol="0" anchor="t"/>
          <a:lstStyle/>
          <a:p>
            <a:pPr indent="0" marL="0">
              <a:buNone/>
            </a:pPr>
            <a:r>
              <a:rPr lang="en-US" sz="1200" dirty="0">
                <a:solidFill>
                  <a:srgbClr val="F6F4EE"/>
                </a:solidFill>
                <a:latin typeface="IBM Plex Sans" pitchFamily="34" charset="0"/>
                <a:ea typeface="IBM Plex Sans" pitchFamily="34" charset="-122"/>
                <a:cs typeface="IBM Plex Sans" pitchFamily="34" charset="-120"/>
              </a:rPr>
              <a:t>weights and biases, after setParams</a:t>
            </a:r>
            <a:endParaRPr lang="en-US" sz="1200" dirty="0"/>
          </a:p>
        </p:txBody>
      </p:sp>
      <p:sp>
        <p:nvSpPr>
          <p:cNvPr id="12" name="Shape 9"/>
          <p:cNvSpPr/>
          <p:nvPr/>
        </p:nvSpPr>
        <p:spPr>
          <a:xfrm>
            <a:off x="4846320" y="2468880"/>
            <a:ext cx="301752" cy="0"/>
          </a:xfrm>
          <a:prstGeom prst="line">
            <a:avLst/>
          </a:prstGeom>
          <a:noFill/>
          <a:ln w="25400">
            <a:solidFill>
              <a:srgbClr val="5E6878"/>
            </a:solidFill>
            <a:prstDash val="solid"/>
            <a:tailEnd type="triangle"/>
          </a:ln>
        </p:spPr>
      </p:sp>
      <p:sp>
        <p:nvSpPr>
          <p:cNvPr id="13" name="Shape 10"/>
          <p:cNvSpPr/>
          <p:nvPr/>
        </p:nvSpPr>
        <p:spPr>
          <a:xfrm>
            <a:off x="5202936" y="1783080"/>
            <a:ext cx="1783080" cy="1371600"/>
          </a:xfrm>
          <a:prstGeom prst="roundRect">
            <a:avLst>
              <a:gd name="adj" fmla="val 5333"/>
            </a:avLst>
          </a:prstGeom>
          <a:solidFill>
            <a:srgbClr val="B4521C"/>
          </a:solidFill>
          <a:ln w="12700">
            <a:solidFill>
              <a:srgbClr val="B4521C"/>
            </a:solidFill>
            <a:prstDash val="solid"/>
          </a:ln>
        </p:spPr>
      </p:sp>
      <p:sp>
        <p:nvSpPr>
          <p:cNvPr id="14" name="Text 11"/>
          <p:cNvSpPr txBox="1"/>
          <p:nvPr/>
        </p:nvSpPr>
        <p:spPr>
          <a:xfrm>
            <a:off x="5340096" y="1892808"/>
            <a:ext cx="1508760" cy="411480"/>
          </a:xfrm>
          <a:prstGeom prst="rect">
            <a:avLst/>
          </a:prstGeom>
          <a:noFill/>
          <a:ln/>
        </p:spPr>
        <p:txBody>
          <a:bodyPr wrap="square" lIns="0" tIns="0" rIns="0" bIns="0" rtlCol="0" anchor="ctr"/>
          <a:lstStyle/>
          <a:p>
            <a:pPr indent="0" marL="0">
              <a:buNone/>
            </a:pPr>
            <a:r>
              <a:rPr lang="en-US" sz="1400" b="1" dirty="0">
                <a:solidFill>
                  <a:srgbClr val="F6F4EE"/>
                </a:solidFill>
                <a:latin typeface="JetBrains Mono" pitchFamily="34" charset="0"/>
                <a:ea typeface="JetBrains Mono" pitchFamily="34" charset="-122"/>
                <a:cs typeface="JetBrains Mono" pitchFamily="34" charset="-120"/>
              </a:rPr>
              <a:t>Braitenberg</a:t>
            </a:r>
            <a:endParaRPr lang="en-US" sz="1400" dirty="0"/>
          </a:p>
        </p:txBody>
      </p:sp>
      <p:sp>
        <p:nvSpPr>
          <p:cNvPr id="15" name="Text 12"/>
          <p:cNvSpPr txBox="1"/>
          <p:nvPr/>
        </p:nvSpPr>
        <p:spPr>
          <a:xfrm>
            <a:off x="5340096" y="2350008"/>
            <a:ext cx="1508760" cy="731520"/>
          </a:xfrm>
          <a:prstGeom prst="rect">
            <a:avLst/>
          </a:prstGeom>
          <a:noFill/>
          <a:ln/>
        </p:spPr>
        <p:txBody>
          <a:bodyPr wrap="square" lIns="0" tIns="0" rIns="0" bIns="0" rtlCol="0" anchor="t"/>
          <a:lstStyle/>
          <a:p>
            <a:pPr indent="0" marL="0">
              <a:buNone/>
            </a:pPr>
            <a:r>
              <a:rPr lang="en-US" sz="1200" dirty="0">
                <a:solidFill>
                  <a:srgbClr val="F6F4EE"/>
                </a:solidFill>
                <a:latin typeface="IBM Plex Sans" pitchFamily="34" charset="0"/>
                <a:ea typeface="IBM Plex Sans" pitchFamily="34" charset="-122"/>
                <a:cs typeface="IBM Plex Sans" pitchFamily="34" charset="-120"/>
              </a:rPr>
              <a:t>body plus this brain, random start</a:t>
            </a:r>
            <a:endParaRPr lang="en-US" sz="1200" dirty="0"/>
          </a:p>
        </p:txBody>
      </p:sp>
      <p:sp>
        <p:nvSpPr>
          <p:cNvPr id="16" name="Shape 13"/>
          <p:cNvSpPr/>
          <p:nvPr/>
        </p:nvSpPr>
        <p:spPr>
          <a:xfrm>
            <a:off x="7040880" y="2468880"/>
            <a:ext cx="301752" cy="0"/>
          </a:xfrm>
          <a:prstGeom prst="line">
            <a:avLst/>
          </a:prstGeom>
          <a:noFill/>
          <a:ln w="25400">
            <a:solidFill>
              <a:srgbClr val="5E6878"/>
            </a:solidFill>
            <a:prstDash val="solid"/>
            <a:tailEnd type="triangle"/>
          </a:ln>
        </p:spPr>
      </p:sp>
      <p:sp>
        <p:nvSpPr>
          <p:cNvPr id="17" name="Shape 14"/>
          <p:cNvSpPr/>
          <p:nvPr/>
        </p:nvSpPr>
        <p:spPr>
          <a:xfrm>
            <a:off x="7397496" y="1783080"/>
            <a:ext cx="1783080" cy="1371600"/>
          </a:xfrm>
          <a:prstGeom prst="roundRect">
            <a:avLst>
              <a:gd name="adj" fmla="val 5333"/>
            </a:avLst>
          </a:prstGeom>
          <a:solidFill>
            <a:srgbClr val="16213A"/>
          </a:solidFill>
          <a:ln w="12700">
            <a:solidFill>
              <a:srgbClr val="16213A"/>
            </a:solidFill>
            <a:prstDash val="solid"/>
          </a:ln>
        </p:spPr>
      </p:sp>
      <p:sp>
        <p:nvSpPr>
          <p:cNvPr id="18" name="Text 15"/>
          <p:cNvSpPr txBox="1"/>
          <p:nvPr/>
        </p:nvSpPr>
        <p:spPr>
          <a:xfrm>
            <a:off x="7534656" y="1892808"/>
            <a:ext cx="1508760" cy="411480"/>
          </a:xfrm>
          <a:prstGeom prst="rect">
            <a:avLst/>
          </a:prstGeom>
          <a:noFill/>
          <a:ln/>
        </p:spPr>
        <p:txBody>
          <a:bodyPr wrap="square" lIns="0" tIns="0" rIns="0" bIns="0" rtlCol="0" anchor="ctr"/>
          <a:lstStyle/>
          <a:p>
            <a:pPr indent="0" marL="0">
              <a:buNone/>
            </a:pPr>
            <a:r>
              <a:rPr lang="en-US" sz="1400" b="1" dirty="0">
                <a:solidFill>
                  <a:srgbClr val="F6F4EE"/>
                </a:solidFill>
                <a:latin typeface="JetBrains Mono" pitchFamily="34" charset="0"/>
                <a:ea typeface="JetBrains Mono" pitchFamily="34" charset="-122"/>
                <a:cs typeface="JetBrains Mono" pitchFamily="34" charset="-120"/>
              </a:rPr>
              <a:t>trajectory</a:t>
            </a:r>
            <a:endParaRPr lang="en-US" sz="1400" dirty="0"/>
          </a:p>
        </p:txBody>
      </p:sp>
      <p:sp>
        <p:nvSpPr>
          <p:cNvPr id="19" name="Text 16"/>
          <p:cNvSpPr txBox="1"/>
          <p:nvPr/>
        </p:nvSpPr>
        <p:spPr>
          <a:xfrm>
            <a:off x="7534656" y="2350008"/>
            <a:ext cx="1508760" cy="731520"/>
          </a:xfrm>
          <a:prstGeom prst="rect">
            <a:avLst/>
          </a:prstGeom>
          <a:noFill/>
          <a:ln/>
        </p:spPr>
        <p:txBody>
          <a:bodyPr wrap="square" lIns="0" tIns="0" rIns="0" bIns="0" rtlCol="0" anchor="t"/>
          <a:lstStyle/>
          <a:p>
            <a:pPr indent="0" marL="0">
              <a:buNone/>
            </a:pPr>
            <a:r>
              <a:rPr lang="en-US" sz="1200" dirty="0">
                <a:solidFill>
                  <a:srgbClr val="F6F4EE"/>
                </a:solidFill>
                <a:latin typeface="IBM Plex Sans" pitchFamily="34" charset="0"/>
                <a:ea typeface="IBM Plex Sans" pitchFamily="34" charset="-122"/>
                <a:cs typeface="IBM Plex Sans" pitchFamily="34" charset="-120"/>
              </a:rPr>
              <a:t>200 positions and distances</a:t>
            </a:r>
            <a:endParaRPr lang="en-US" sz="1200" dirty="0"/>
          </a:p>
        </p:txBody>
      </p:sp>
      <p:sp>
        <p:nvSpPr>
          <p:cNvPr id="20" name="Shape 17"/>
          <p:cNvSpPr/>
          <p:nvPr/>
        </p:nvSpPr>
        <p:spPr>
          <a:xfrm>
            <a:off x="9235440" y="2468880"/>
            <a:ext cx="301752" cy="0"/>
          </a:xfrm>
          <a:prstGeom prst="line">
            <a:avLst/>
          </a:prstGeom>
          <a:noFill/>
          <a:ln w="25400">
            <a:solidFill>
              <a:srgbClr val="5E6878"/>
            </a:solidFill>
            <a:prstDash val="solid"/>
            <a:tailEnd type="triangle"/>
          </a:ln>
        </p:spPr>
      </p:sp>
      <p:sp>
        <p:nvSpPr>
          <p:cNvPr id="21" name="Shape 18"/>
          <p:cNvSpPr/>
          <p:nvPr/>
        </p:nvSpPr>
        <p:spPr>
          <a:xfrm>
            <a:off x="9592056" y="1783080"/>
            <a:ext cx="1783080" cy="1371600"/>
          </a:xfrm>
          <a:prstGeom prst="roundRect">
            <a:avLst>
              <a:gd name="adj" fmla="val 5333"/>
            </a:avLst>
          </a:prstGeom>
          <a:solidFill>
            <a:srgbClr val="1D6F66"/>
          </a:solidFill>
          <a:ln w="12700">
            <a:solidFill>
              <a:srgbClr val="1D6F66"/>
            </a:solidFill>
            <a:prstDash val="solid"/>
          </a:ln>
        </p:spPr>
      </p:sp>
      <p:sp>
        <p:nvSpPr>
          <p:cNvPr id="22" name="Text 19"/>
          <p:cNvSpPr txBox="1"/>
          <p:nvPr/>
        </p:nvSpPr>
        <p:spPr>
          <a:xfrm>
            <a:off x="9729216" y="1892808"/>
            <a:ext cx="1508760" cy="411480"/>
          </a:xfrm>
          <a:prstGeom prst="rect">
            <a:avLst/>
          </a:prstGeom>
          <a:noFill/>
          <a:ln/>
        </p:spPr>
        <p:txBody>
          <a:bodyPr wrap="square" lIns="0" tIns="0" rIns="0" bIns="0" rtlCol="0" anchor="ctr"/>
          <a:lstStyle/>
          <a:p>
            <a:pPr indent="0" marL="0">
              <a:buNone/>
            </a:pPr>
            <a:r>
              <a:rPr lang="en-US" sz="1400" b="1" dirty="0">
                <a:solidFill>
                  <a:srgbClr val="F6F4EE"/>
                </a:solidFill>
                <a:latin typeface="JetBrains Mono" pitchFamily="34" charset="0"/>
                <a:ea typeface="JetBrains Mono" pitchFamily="34" charset="-122"/>
                <a:cs typeface="JetBrains Mono" pitchFamily="34" charset="-120"/>
              </a:rPr>
              <a:t>fitness</a:t>
            </a:r>
            <a:endParaRPr lang="en-US" sz="1400" dirty="0"/>
          </a:p>
        </p:txBody>
      </p:sp>
      <p:sp>
        <p:nvSpPr>
          <p:cNvPr id="23" name="Text 20"/>
          <p:cNvSpPr txBox="1"/>
          <p:nvPr/>
        </p:nvSpPr>
        <p:spPr>
          <a:xfrm>
            <a:off x="9729216" y="2350008"/>
            <a:ext cx="1508760" cy="731520"/>
          </a:xfrm>
          <a:prstGeom prst="rect">
            <a:avLst/>
          </a:prstGeom>
          <a:noFill/>
          <a:ln/>
        </p:spPr>
        <p:txBody>
          <a:bodyPr wrap="square" lIns="0" tIns="0" rIns="0" bIns="0" rtlCol="0" anchor="t"/>
          <a:lstStyle/>
          <a:p>
            <a:pPr indent="0" marL="0">
              <a:buNone/>
            </a:pPr>
            <a:r>
              <a:rPr lang="en-US" sz="1200" dirty="0">
                <a:solidFill>
                  <a:srgbClr val="F6F4EE"/>
                </a:solidFill>
                <a:latin typeface="IBM Plex Sans" pitchFamily="34" charset="0"/>
                <a:ea typeface="IBM Plex Sans" pitchFamily="34" charset="-122"/>
                <a:cs typeface="IBM Plex Sans" pitchFamily="34" charset="-120"/>
              </a:rPr>
              <a:t>one float, mean of 1 / (1 + d)</a:t>
            </a:r>
            <a:endParaRPr lang="en-US" sz="1200" dirty="0"/>
          </a:p>
        </p:txBody>
      </p:sp>
      <p:sp>
        <p:nvSpPr>
          <p:cNvPr id="24" name="Shape 21"/>
          <p:cNvSpPr/>
          <p:nvPr/>
        </p:nvSpPr>
        <p:spPr>
          <a:xfrm>
            <a:off x="813816" y="3520440"/>
            <a:ext cx="10561320" cy="2560320"/>
          </a:xfrm>
          <a:prstGeom prst="roundRect">
            <a:avLst>
              <a:gd name="adj" fmla="val 2857"/>
            </a:avLst>
          </a:prstGeom>
          <a:solidFill>
            <a:srgbClr val="ECE8DE"/>
          </a:solidFill>
          <a:ln w="12700">
            <a:solidFill>
              <a:srgbClr val="E2DDD0"/>
            </a:solidFill>
            <a:prstDash val="solid"/>
          </a:ln>
        </p:spPr>
      </p:sp>
      <p:sp>
        <p:nvSpPr>
          <p:cNvPr id="25" name="Text 22"/>
          <p:cNvSpPr txBox="1"/>
          <p:nvPr/>
        </p:nvSpPr>
        <p:spPr>
          <a:xfrm>
            <a:off x="1088136" y="3657600"/>
            <a:ext cx="7315200" cy="274320"/>
          </a:xfrm>
          <a:prstGeom prst="rect">
            <a:avLst/>
          </a:prstGeom>
          <a:noFill/>
          <a:ln/>
        </p:spPr>
        <p:txBody>
          <a:bodyPr wrap="square" lIns="0" tIns="0" rIns="0" bIns="0" rtlCol="0" anchor="ctr"/>
          <a:lstStyle/>
          <a:p>
            <a:pPr indent="0" marL="0">
              <a:buNone/>
            </a:pPr>
            <a:r>
              <a:rPr lang="en-US" sz="1200" b="1" spc="100" kern="0" dirty="0">
                <a:solidFill>
                  <a:srgbClr val="B4521C"/>
                </a:solidFill>
                <a:latin typeface="IBM Plex Sans" pitchFamily="34" charset="0"/>
                <a:ea typeface="IBM Plex Sans" pitchFamily="34" charset="-122"/>
                <a:cs typeface="IBM Plex Sans" pitchFamily="34" charset="-120"/>
              </a:rPr>
              <a:t>THREE NESTED LOOPS</a:t>
            </a:r>
            <a:endParaRPr lang="en-US" sz="1200" dirty="0"/>
          </a:p>
        </p:txBody>
      </p:sp>
      <p:sp>
        <p:nvSpPr>
          <p:cNvPr id="26" name="Text 23"/>
          <p:cNvSpPr txBox="1"/>
          <p:nvPr/>
        </p:nvSpPr>
        <p:spPr>
          <a:xfrm>
            <a:off x="1088136" y="4069080"/>
            <a:ext cx="3108960" cy="502920"/>
          </a:xfrm>
          <a:prstGeom prst="rect">
            <a:avLst/>
          </a:prstGeom>
          <a:noFill/>
          <a:ln/>
        </p:spPr>
        <p:txBody>
          <a:bodyPr wrap="square" lIns="0" tIns="0" rIns="0" bIns="0" rtlCol="0" anchor="ctr"/>
          <a:lstStyle/>
          <a:p>
            <a:pPr indent="0" marL="0">
              <a:buNone/>
            </a:pPr>
            <a:r>
              <a:rPr lang="en-US" sz="2800" b="1" dirty="0">
                <a:solidFill>
                  <a:srgbClr val="1D6F66"/>
                </a:solidFill>
                <a:latin typeface="IBM Plex Sans" pitchFamily="34" charset="0"/>
                <a:ea typeface="IBM Plex Sans" pitchFamily="34" charset="-122"/>
                <a:cs typeface="IBM Plex Sans" pitchFamily="34" charset="-120"/>
              </a:rPr>
              <a:t>100 × 50</a:t>
            </a:r>
            <a:endParaRPr lang="en-US" sz="2800" dirty="0"/>
          </a:p>
        </p:txBody>
      </p:sp>
      <p:sp>
        <p:nvSpPr>
          <p:cNvPr id="27" name="Text 24"/>
          <p:cNvSpPr txBox="1"/>
          <p:nvPr/>
        </p:nvSpPr>
        <p:spPr>
          <a:xfrm>
            <a:off x="1088136" y="4572000"/>
            <a:ext cx="3108960" cy="274320"/>
          </a:xfrm>
          <a:prstGeom prst="rect">
            <a:avLst/>
          </a:prstGeom>
          <a:noFill/>
          <a:ln/>
        </p:spPr>
        <p:txBody>
          <a:bodyPr wrap="square" lIns="0" tIns="0" rIns="0" bIns="0" rtlCol="0" anchor="ctr"/>
          <a:lstStyle/>
          <a:p>
            <a:pPr indent="0" marL="0">
              <a:buNone/>
            </a:pPr>
            <a:r>
              <a:rPr lang="en-US" sz="1200" b="1" dirty="0">
                <a:solidFill>
                  <a:srgbClr val="16213A"/>
                </a:solidFill>
                <a:latin typeface="JetBrains Mono" pitchFamily="34" charset="0"/>
                <a:ea typeface="JetBrains Mono" pitchFamily="34" charset="-122"/>
                <a:cs typeface="JetBrains Mono" pitchFamily="34" charset="-120"/>
              </a:rPr>
              <a:t>generations × tournaments</a:t>
            </a:r>
            <a:endParaRPr lang="en-US" sz="1200" dirty="0"/>
          </a:p>
        </p:txBody>
      </p:sp>
      <p:sp>
        <p:nvSpPr>
          <p:cNvPr id="28" name="Text 25"/>
          <p:cNvSpPr txBox="1"/>
          <p:nvPr/>
        </p:nvSpPr>
        <p:spPr>
          <a:xfrm>
            <a:off x="1088136" y="4892040"/>
            <a:ext cx="3017520" cy="548640"/>
          </a:xfrm>
          <a:prstGeom prst="rect">
            <a:avLst/>
          </a:prstGeom>
          <a:noFill/>
          <a:ln/>
        </p:spPr>
        <p:txBody>
          <a:bodyPr wrap="square" lIns="0" tIns="0" rIns="0" bIns="0" rtlCol="0" anchor="t"/>
          <a:lstStyle/>
          <a:p>
            <a:pPr indent="0" marL="0">
              <a:buNone/>
            </a:pPr>
            <a:r>
              <a:rPr lang="en-US" sz="1200" dirty="0">
                <a:solidFill>
                  <a:srgbClr val="3E4A5C"/>
                </a:solidFill>
                <a:latin typeface="IBM Plex Sans" pitchFamily="34" charset="0"/>
                <a:ea typeface="IBM Plex Sans" pitchFamily="34" charset="-122"/>
                <a:cs typeface="IBM Plex Sans" pitchFamily="34" charset="-120"/>
              </a:rPr>
              <a:t>each tournament scores one new individual: 5,000 evaluations</a:t>
            </a:r>
            <a:endParaRPr lang="en-US" sz="1200" dirty="0"/>
          </a:p>
        </p:txBody>
      </p:sp>
      <p:sp>
        <p:nvSpPr>
          <p:cNvPr id="29" name="Text 26"/>
          <p:cNvSpPr txBox="1"/>
          <p:nvPr/>
        </p:nvSpPr>
        <p:spPr>
          <a:xfrm>
            <a:off x="4517136" y="4069080"/>
            <a:ext cx="3108960" cy="502920"/>
          </a:xfrm>
          <a:prstGeom prst="rect">
            <a:avLst/>
          </a:prstGeom>
          <a:noFill/>
          <a:ln/>
        </p:spPr>
        <p:txBody>
          <a:bodyPr wrap="square" lIns="0" tIns="0" rIns="0" bIns="0" rtlCol="0" anchor="ctr"/>
          <a:lstStyle/>
          <a:p>
            <a:pPr indent="0" marL="0">
              <a:buNone/>
            </a:pPr>
            <a:r>
              <a:rPr lang="en-US" sz="2800" b="1" dirty="0">
                <a:solidFill>
                  <a:srgbClr val="1D6F66"/>
                </a:solidFill>
                <a:latin typeface="IBM Plex Sans" pitchFamily="34" charset="0"/>
                <a:ea typeface="IBM Plex Sans" pitchFamily="34" charset="-122"/>
                <a:cs typeface="IBM Plex Sans" pitchFamily="34" charset="-120"/>
              </a:rPr>
              <a:t>× 4</a:t>
            </a:r>
            <a:endParaRPr lang="en-US" sz="2800" dirty="0"/>
          </a:p>
        </p:txBody>
      </p:sp>
      <p:sp>
        <p:nvSpPr>
          <p:cNvPr id="30" name="Text 27"/>
          <p:cNvSpPr txBox="1"/>
          <p:nvPr/>
        </p:nvSpPr>
        <p:spPr>
          <a:xfrm>
            <a:off x="4517136" y="4572000"/>
            <a:ext cx="3108960" cy="274320"/>
          </a:xfrm>
          <a:prstGeom prst="rect">
            <a:avLst/>
          </a:prstGeom>
          <a:noFill/>
          <a:ln/>
        </p:spPr>
        <p:txBody>
          <a:bodyPr wrap="square" lIns="0" tIns="0" rIns="0" bIns="0" rtlCol="0" anchor="ctr"/>
          <a:lstStyle/>
          <a:p>
            <a:pPr indent="0" marL="0">
              <a:buNone/>
            </a:pPr>
            <a:r>
              <a:rPr lang="en-US" sz="1200" b="1" dirty="0">
                <a:solidFill>
                  <a:srgbClr val="16213A"/>
                </a:solidFill>
                <a:latin typeface="JetBrains Mono" pitchFamily="34" charset="0"/>
                <a:ea typeface="JetBrains Mono" pitchFamily="34" charset="-122"/>
                <a:cs typeface="JetBrains Mono" pitchFamily="34" charset="-120"/>
              </a:rPr>
              <a:t>trials per evaluation</a:t>
            </a:r>
            <a:endParaRPr lang="en-US" sz="1200" dirty="0"/>
          </a:p>
        </p:txBody>
      </p:sp>
      <p:sp>
        <p:nvSpPr>
          <p:cNvPr id="31" name="Text 28"/>
          <p:cNvSpPr txBox="1"/>
          <p:nvPr/>
        </p:nvSpPr>
        <p:spPr>
          <a:xfrm>
            <a:off x="4517136" y="4892040"/>
            <a:ext cx="3017520" cy="548640"/>
          </a:xfrm>
          <a:prstGeom prst="rect">
            <a:avLst/>
          </a:prstGeom>
          <a:noFill/>
          <a:ln/>
        </p:spPr>
        <p:txBody>
          <a:bodyPr wrap="square" lIns="0" tIns="0" rIns="0" bIns="0" rtlCol="0" anchor="t"/>
          <a:lstStyle/>
          <a:p>
            <a:pPr indent="0" marL="0">
              <a:buNone/>
            </a:pPr>
            <a:r>
              <a:rPr lang="en-US" sz="1200" dirty="0">
                <a:solidFill>
                  <a:srgbClr val="3E4A5C"/>
                </a:solidFill>
                <a:latin typeface="IBM Plex Sans" pitchFamily="34" charset="0"/>
                <a:ea typeface="IBM Plex Sans" pitchFamily="34" charset="-122"/>
                <a:cs typeface="IBM Plex Sans" pitchFamily="34" charset="-120"/>
              </a:rPr>
              <a:t>fresh random start each time</a:t>
            </a:r>
            <a:endParaRPr lang="en-US" sz="1200" dirty="0"/>
          </a:p>
        </p:txBody>
      </p:sp>
      <p:sp>
        <p:nvSpPr>
          <p:cNvPr id="32" name="Text 29"/>
          <p:cNvSpPr txBox="1"/>
          <p:nvPr/>
        </p:nvSpPr>
        <p:spPr>
          <a:xfrm>
            <a:off x="7946136" y="4069080"/>
            <a:ext cx="3108960" cy="502920"/>
          </a:xfrm>
          <a:prstGeom prst="rect">
            <a:avLst/>
          </a:prstGeom>
          <a:noFill/>
          <a:ln/>
        </p:spPr>
        <p:txBody>
          <a:bodyPr wrap="square" lIns="0" tIns="0" rIns="0" bIns="0" rtlCol="0" anchor="ctr"/>
          <a:lstStyle/>
          <a:p>
            <a:pPr indent="0" marL="0">
              <a:buNone/>
            </a:pPr>
            <a:r>
              <a:rPr lang="en-US" sz="2800" b="1" dirty="0">
                <a:solidFill>
                  <a:srgbClr val="1D6F66"/>
                </a:solidFill>
                <a:latin typeface="IBM Plex Sans" pitchFamily="34" charset="0"/>
                <a:ea typeface="IBM Plex Sans" pitchFamily="34" charset="-122"/>
                <a:cs typeface="IBM Plex Sans" pitchFamily="34" charset="-120"/>
              </a:rPr>
              <a:t>× 200</a:t>
            </a:r>
            <a:endParaRPr lang="en-US" sz="2800" dirty="0"/>
          </a:p>
        </p:txBody>
      </p:sp>
      <p:sp>
        <p:nvSpPr>
          <p:cNvPr id="33" name="Text 30"/>
          <p:cNvSpPr txBox="1"/>
          <p:nvPr/>
        </p:nvSpPr>
        <p:spPr>
          <a:xfrm>
            <a:off x="7946136" y="4572000"/>
            <a:ext cx="3108960" cy="274320"/>
          </a:xfrm>
          <a:prstGeom prst="rect">
            <a:avLst/>
          </a:prstGeom>
          <a:noFill/>
          <a:ln/>
        </p:spPr>
        <p:txBody>
          <a:bodyPr wrap="square" lIns="0" tIns="0" rIns="0" bIns="0" rtlCol="0" anchor="ctr"/>
          <a:lstStyle/>
          <a:p>
            <a:pPr indent="0" marL="0">
              <a:buNone/>
            </a:pPr>
            <a:r>
              <a:rPr lang="en-US" sz="1200" b="1" dirty="0">
                <a:solidFill>
                  <a:srgbClr val="16213A"/>
                </a:solidFill>
                <a:latin typeface="JetBrains Mono" pitchFamily="34" charset="0"/>
                <a:ea typeface="JetBrains Mono" pitchFamily="34" charset="-122"/>
                <a:cs typeface="JetBrains Mono" pitchFamily="34" charset="-120"/>
              </a:rPr>
              <a:t>time steps per trial</a:t>
            </a:r>
            <a:endParaRPr lang="en-US" sz="1200" dirty="0"/>
          </a:p>
        </p:txBody>
      </p:sp>
      <p:sp>
        <p:nvSpPr>
          <p:cNvPr id="34" name="Text 31"/>
          <p:cNvSpPr txBox="1"/>
          <p:nvPr/>
        </p:nvSpPr>
        <p:spPr>
          <a:xfrm>
            <a:off x="7946136" y="4892040"/>
            <a:ext cx="3017520" cy="548640"/>
          </a:xfrm>
          <a:prstGeom prst="rect">
            <a:avLst/>
          </a:prstGeom>
          <a:noFill/>
          <a:ln/>
        </p:spPr>
        <p:txBody>
          <a:bodyPr wrap="square" lIns="0" tIns="0" rIns="0" bIns="0" rtlCol="0" anchor="t"/>
          <a:lstStyle/>
          <a:p>
            <a:pPr indent="0" marL="0">
              <a:buNone/>
            </a:pPr>
            <a:r>
              <a:rPr lang="en-US" sz="1200" dirty="0">
                <a:solidFill>
                  <a:srgbClr val="3E4A5C"/>
                </a:solidFill>
                <a:latin typeface="IBM Plex Sans" pitchFamily="34" charset="0"/>
                <a:ea typeface="IBM Plex Sans" pitchFamily="34" charset="-122"/>
                <a:cs typeface="IBM Plex Sans" pitchFamily="34" charset="-120"/>
              </a:rPr>
              <a:t>sense, think, move</a:t>
            </a:r>
            <a:endParaRPr lang="en-US" sz="1200" dirty="0"/>
          </a:p>
        </p:txBody>
      </p:sp>
      <p:sp>
        <p:nvSpPr>
          <p:cNvPr id="35" name="Text 32"/>
          <p:cNvSpPr txBox="1"/>
          <p:nvPr/>
        </p:nvSpPr>
        <p:spPr>
          <a:xfrm>
            <a:off x="1088136" y="5577840"/>
            <a:ext cx="10012680" cy="365760"/>
          </a:xfrm>
          <a:prstGeom prst="rect">
            <a:avLst/>
          </a:prstGeom>
          <a:noFill/>
          <a:ln/>
        </p:spPr>
        <p:txBody>
          <a:bodyPr wrap="square" lIns="0" tIns="0" rIns="0" bIns="0" rtlCol="0" anchor="ctr"/>
          <a:lstStyle/>
          <a:p>
            <a:pPr indent="0" marL="0">
              <a:buNone/>
            </a:pPr>
            <a:r>
              <a:rPr lang="en-US" sz="1400" b="1" dirty="0">
                <a:solidFill>
                  <a:srgbClr val="16213A"/>
                </a:solidFill>
                <a:latin typeface="IBM Plex Sans" pitchFamily="34" charset="0"/>
                <a:ea typeface="IBM Plex Sans" pitchFamily="34" charset="-122"/>
                <a:cs typeface="IBM Plex Sans" pitchFamily="34" charset="-120"/>
              </a:rPr>
              <a:t>About 4 million sense-think-move steps, in plain Python, in roughly 35 seconds.</a:t>
            </a:r>
            <a:endParaRPr lang="en-US" sz="1400" dirty="0"/>
          </a:p>
        </p:txBody>
      </p:sp>
      <p:sp>
        <p:nvSpPr>
          <p:cNvPr id="36" name="Text 33"/>
          <p:cNvSpPr txBox="1"/>
          <p:nvPr/>
        </p:nvSpPr>
        <p:spPr>
          <a:xfrm>
            <a:off x="813816" y="6355080"/>
            <a:ext cx="10561320" cy="256032"/>
          </a:xfrm>
          <a:prstGeom prst="rect">
            <a:avLst/>
          </a:prstGeom>
          <a:noFill/>
          <a:ln/>
        </p:spPr>
        <p:txBody>
          <a:bodyPr wrap="square" lIns="0" tIns="0" rIns="0" bIns="0" rtlCol="0" anchor="ctr"/>
          <a:lstStyle/>
          <a:p>
            <a:pPr indent="0" marL="0">
              <a:buNone/>
            </a:pPr>
            <a:r>
              <a:rPr lang="en-US" sz="1000" dirty="0">
                <a:solidFill>
                  <a:srgbClr val="5E6878"/>
                </a:solidFill>
                <a:latin typeface="JetBrains Mono" pitchFamily="34" charset="0"/>
                <a:ea typeface="JetBrains Mono" pitchFamily="34" charset="-122"/>
                <a:cs typeface="JetBrains Mono" pitchFamily="34" charset="-120"/>
              </a:rPr>
              <a:t>evolve.py · fitnessFunction()  ·  eas.py · Microbial.run()</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4EE"/>
        </a:solidFill>
      </p:bgPr>
    </p:bg>
    <p:spTree>
      <p:nvGrpSpPr>
        <p:cNvPr id="1" name=""/>
        <p:cNvGrpSpPr/>
        <p:nvPr/>
      </p:nvGrpSpPr>
      <p:grpSpPr>
        <a:xfrm>
          <a:off x="0" y="0"/>
          <a:ext cx="0" cy="0"/>
          <a:chOff x="0" y="0"/>
          <a:chExt cx="0" cy="0"/>
        </a:xfrm>
      </p:grpSpPr>
      <p:sp>
        <p:nvSpPr>
          <p:cNvPr id="2" name="Text 0"/>
          <p:cNvSpPr txBox="1"/>
          <p:nvPr/>
        </p:nvSpPr>
        <p:spPr>
          <a:xfrm>
            <a:off x="813816" y="548640"/>
            <a:ext cx="10561320" cy="274320"/>
          </a:xfrm>
          <a:prstGeom prst="rect">
            <a:avLst/>
          </a:prstGeom>
          <a:noFill/>
          <a:ln/>
        </p:spPr>
        <p:txBody>
          <a:bodyPr wrap="square" lIns="0" tIns="0" rIns="0" bIns="0" rtlCol="0" anchor="ctr"/>
          <a:lstStyle/>
          <a:p>
            <a:pPr indent="0" marL="0">
              <a:buNone/>
            </a:pPr>
            <a:r>
              <a:rPr lang="en-US" sz="1200" b="1" spc="100" kern="0" dirty="0">
                <a:solidFill>
                  <a:srgbClr val="B4521C"/>
                </a:solidFill>
                <a:latin typeface="IBM Plex Sans" pitchFamily="34" charset="0"/>
                <a:ea typeface="IBM Plex Sans" pitchFamily="34" charset="-122"/>
                <a:cs typeface="IBM Plex Sans" pitchFamily="34" charset="-120"/>
              </a:rPr>
              <a:t>CONNECTION 5 · THE CONTRACT</a:t>
            </a:r>
            <a:endParaRPr lang="en-US" sz="1200" dirty="0"/>
          </a:p>
        </p:txBody>
      </p:sp>
      <p:sp>
        <p:nvSpPr>
          <p:cNvPr id="3" name="Text 1"/>
          <p:cNvSpPr txBox="1"/>
          <p:nvPr/>
        </p:nvSpPr>
        <p:spPr>
          <a:xfrm>
            <a:off x="813816" y="841248"/>
            <a:ext cx="10561320" cy="548640"/>
          </a:xfrm>
          <a:prstGeom prst="rect">
            <a:avLst/>
          </a:prstGeom>
          <a:noFill/>
          <a:ln/>
        </p:spPr>
        <p:txBody>
          <a:bodyPr wrap="square" lIns="0" tIns="0" rIns="0" bIns="0" rtlCol="0" anchor="ctr"/>
          <a:lstStyle/>
          <a:p>
            <a:pPr indent="0" marL="0">
              <a:buNone/>
            </a:pPr>
            <a:r>
              <a:rPr lang="en-US" sz="3200" b="1" dirty="0">
                <a:solidFill>
                  <a:srgbClr val="16213A"/>
                </a:solidFill>
                <a:latin typeface="IBM Plex Sans" pitchFamily="34" charset="0"/>
                <a:ea typeface="IBM Plex Sans" pitchFamily="34" charset="-122"/>
                <a:cs typeface="IBM Plex Sans" pitchFamily="34" charset="-120"/>
              </a:rPr>
              <a:t>What the pieces share, and how they hand off</a:t>
            </a:r>
            <a:endParaRPr lang="en-US" sz="3200" dirty="0"/>
          </a:p>
        </p:txBody>
      </p:sp>
      <p:sp>
        <p:nvSpPr>
          <p:cNvPr id="5" name="Shape 2"/>
          <p:cNvSpPr/>
          <p:nvPr/>
        </p:nvSpPr>
        <p:spPr>
          <a:xfrm>
            <a:off x="813816" y="1783080"/>
            <a:ext cx="6035040" cy="2788920"/>
          </a:xfrm>
          <a:prstGeom prst="roundRect">
            <a:avLst>
              <a:gd name="adj" fmla="val 2623"/>
            </a:avLst>
          </a:prstGeom>
          <a:solidFill>
            <a:srgbClr val="16213A"/>
          </a:solidFill>
          <a:ln w="12700">
            <a:solidFill>
              <a:srgbClr val="16213A"/>
            </a:solidFill>
            <a:prstDash val="solid"/>
          </a:ln>
        </p:spPr>
      </p:sp>
      <p:sp>
        <p:nvSpPr>
          <p:cNvPr id="6" name="Text 3"/>
          <p:cNvSpPr txBox="1"/>
          <p:nvPr/>
        </p:nvSpPr>
        <p:spPr>
          <a:xfrm>
            <a:off x="1042416" y="1965960"/>
            <a:ext cx="5577840" cy="2423160"/>
          </a:xfrm>
          <a:prstGeom prst="rect">
            <a:avLst/>
          </a:prstGeom>
          <a:noFill/>
          <a:ln/>
        </p:spPr>
        <p:txBody>
          <a:bodyPr wrap="square" lIns="0" tIns="0" rIns="0" bIns="0" rtlCol="0" anchor="t"/>
          <a:lstStyle/>
          <a:p>
            <a:pPr indent="0" marL="0">
              <a:spcAft>
                <a:spcPts val="200"/>
              </a:spcAft>
              <a:buNone/>
            </a:pPr>
            <a:r>
              <a:rPr lang="en-US" sz="1100" dirty="0">
                <a:solidFill>
                  <a:srgbClr val="E8E4D8"/>
                </a:solidFill>
                <a:latin typeface="JetBrains Mono" pitchFamily="34" charset="0"/>
                <a:ea typeface="JetBrains Mono" pitchFamily="34" charset="-122"/>
                <a:cs typeface="JetBrains Mono" pitchFamily="34" charset="-120"/>
              </a:rPr>
              <a:t>from config import duration, distance, layers, weightrange</a:t>
            </a:r>
            <a:endParaRPr lang="en-US" sz="1100" dirty="0"/>
          </a:p>
          <a:p>
            <a:pPr indent="0" marL="0">
              <a:spcAft>
                <a:spcPts val="200"/>
              </a:spcAft>
              <a:buNone/>
            </a:pPr>
            <a:r>
              <a:rPr lang="en-US" sz="1100" dirty="0">
                <a:solidFill>
                  <a:srgbClr val="E8E4D8"/>
                </a:solidFill>
                <a:latin typeface="JetBrains Mono" pitchFamily="34" charset="0"/>
                <a:ea typeface="JetBrains Mono" pitchFamily="34" charset="-122"/>
                <a:cs typeface="JetBrains Mono" pitchFamily="34" charset="-120"/>
              </a:rPr>
              <a:t>genesize = fnn.FNN.genome_size(layers)</a:t>
            </a:r>
            <a:endParaRPr lang="en-US" sz="1100" dirty="0"/>
          </a:p>
          <a:p>
            <a:pPr indent="0" marL="0">
              <a:spcAft>
                <a:spcPts val="200"/>
              </a:spcAft>
              <a:buNone/>
            </a:pPr>
            <a:endParaRPr lang="en-US" sz="1100" dirty="0"/>
          </a:p>
          <a:p>
            <a:pPr indent="0" marL="0">
              <a:spcAft>
                <a:spcPts val="200"/>
              </a:spcAft>
              <a:buNone/>
            </a:pPr>
            <a:r>
              <a:rPr lang="en-US" sz="1100" dirty="0">
                <a:solidFill>
                  <a:srgbClr val="F2A65A"/>
                </a:solidFill>
                <a:latin typeface="JetBrains Mono" pitchFamily="34" charset="0"/>
                <a:ea typeface="JetBrains Mono" pitchFamily="34" charset="-122"/>
                <a:cs typeface="JetBrains Mono" pitchFamily="34" charset="-120"/>
              </a:rPr>
              <a:t>ga = ea.Microbial(fitnessFunction, genesize, generations,</a:t>
            </a:r>
            <a:endParaRPr lang="en-US" sz="1100" dirty="0"/>
          </a:p>
          <a:p>
            <a:pPr indent="0" marL="0">
              <a:spcAft>
                <a:spcPts val="200"/>
              </a:spcAft>
              <a:buNone/>
            </a:pPr>
            <a:r>
              <a:rPr lang="en-US" sz="1100" dirty="0">
                <a:solidFill>
                  <a:srgbClr val="E8E4D8"/>
                </a:solidFill>
                <a:latin typeface="JetBrains Mono" pitchFamily="34" charset="0"/>
                <a:ea typeface="JetBrains Mono" pitchFamily="34" charset="-122"/>
                <a:cs typeface="JetBrains Mono" pitchFamily="34" charset="-120"/>
              </a:rPr>
              <a:t>     popsize=popsize, recombProb=recombProb,</a:t>
            </a:r>
            <a:endParaRPr lang="en-US" sz="1100" dirty="0"/>
          </a:p>
          <a:p>
            <a:pPr indent="0" marL="0">
              <a:spcAft>
                <a:spcPts val="200"/>
              </a:spcAft>
              <a:buNone/>
            </a:pPr>
            <a:r>
              <a:rPr lang="en-US" sz="1100" dirty="0">
                <a:solidFill>
                  <a:srgbClr val="E8E4D8"/>
                </a:solidFill>
                <a:latin typeface="JetBrains Mono" pitchFamily="34" charset="0"/>
                <a:ea typeface="JetBrains Mono" pitchFamily="34" charset="-122"/>
                <a:cs typeface="JetBrains Mono" pitchFamily="34" charset="-120"/>
              </a:rPr>
              <a:t>     mutatStd=mutatStd, demeSize=demeSize,</a:t>
            </a:r>
            <a:endParaRPr lang="en-US" sz="1100" dirty="0"/>
          </a:p>
          <a:p>
            <a:pPr indent="0" marL="0">
              <a:spcAft>
                <a:spcPts val="200"/>
              </a:spcAft>
              <a:buNone/>
            </a:pPr>
            <a:r>
              <a:rPr lang="en-US" sz="1100" dirty="0">
                <a:solidFill>
                  <a:srgbClr val="E8E4D8"/>
                </a:solidFill>
                <a:latin typeface="JetBrains Mono" pitchFamily="34" charset="0"/>
                <a:ea typeface="JetBrains Mono" pitchFamily="34" charset="-122"/>
                <a:cs typeface="JetBrains Mono" pitchFamily="34" charset="-120"/>
              </a:rPr>
              <a:t>     eliteprop=eliteprop)</a:t>
            </a:r>
            <a:endParaRPr lang="en-US" sz="1100" dirty="0"/>
          </a:p>
          <a:p>
            <a:pPr indent="0" marL="0">
              <a:spcAft>
                <a:spcPts val="200"/>
              </a:spcAft>
              <a:buNone/>
            </a:pPr>
            <a:r>
              <a:rPr lang="en-US" sz="1100" dirty="0">
                <a:solidFill>
                  <a:srgbClr val="E8E4D8"/>
                </a:solidFill>
                <a:latin typeface="JetBrains Mono" pitchFamily="34" charset="0"/>
                <a:ea typeface="JetBrains Mono" pitchFamily="34" charset="-122"/>
                <a:cs typeface="JetBrains Mono" pitchFamily="34" charset="-120"/>
              </a:rPr>
              <a:t>ga.run()</a:t>
            </a:r>
            <a:endParaRPr lang="en-US" sz="1100" dirty="0"/>
          </a:p>
          <a:p>
            <a:pPr indent="0" marL="0">
              <a:spcAft>
                <a:spcPts val="200"/>
              </a:spcAft>
              <a:buNone/>
            </a:pPr>
            <a:r>
              <a:rPr lang="en-US" sz="1100" dirty="0">
                <a:solidFill>
                  <a:srgbClr val="E8E4D8"/>
                </a:solidFill>
                <a:latin typeface="JetBrains Mono" pitchFamily="34" charset="0"/>
                <a:ea typeface="JetBrains Mono" pitchFamily="34" charset="-122"/>
                <a:cs typeface="JetBrains Mono" pitchFamily="34" charset="-120"/>
              </a:rPr>
              <a:t>avgfit, bestfit, bestind = ga.fitStats()</a:t>
            </a:r>
            <a:endParaRPr lang="en-US" sz="1100" dirty="0"/>
          </a:p>
          <a:p>
            <a:pPr indent="0" marL="0">
              <a:spcAft>
                <a:spcPts val="200"/>
              </a:spcAft>
              <a:buNone/>
            </a:pPr>
            <a:r>
              <a:rPr lang="en-US" sz="1100" dirty="0">
                <a:solidFill>
                  <a:srgbClr val="E8E4D8"/>
                </a:solidFill>
                <a:latin typeface="JetBrains Mono" pitchFamily="34" charset="0"/>
                <a:ea typeface="JetBrains Mono" pitchFamily="34" charset="-122"/>
                <a:cs typeface="JetBrains Mono" pitchFamily="34" charset="-120"/>
              </a:rPr>
              <a:t>np.save("best.npy", bestind)</a:t>
            </a:r>
            <a:endParaRPr lang="en-US" sz="1100" dirty="0"/>
          </a:p>
        </p:txBody>
      </p:sp>
      <p:sp>
        <p:nvSpPr>
          <p:cNvPr id="7" name="Text 4"/>
          <p:cNvSpPr txBox="1"/>
          <p:nvPr/>
        </p:nvSpPr>
        <p:spPr>
          <a:xfrm>
            <a:off x="7178040" y="1783080"/>
            <a:ext cx="4114800" cy="274320"/>
          </a:xfrm>
          <a:prstGeom prst="rect">
            <a:avLst/>
          </a:prstGeom>
          <a:noFill/>
          <a:ln/>
        </p:spPr>
        <p:txBody>
          <a:bodyPr wrap="square" lIns="0" tIns="0" rIns="0" bIns="0" rtlCol="0" anchor="ctr"/>
          <a:lstStyle/>
          <a:p>
            <a:pPr indent="0" marL="0">
              <a:buNone/>
            </a:pPr>
            <a:r>
              <a:rPr lang="en-US" sz="1200" b="1" spc="100" kern="0" dirty="0">
                <a:solidFill>
                  <a:srgbClr val="B4521C"/>
                </a:solidFill>
                <a:latin typeface="IBM Plex Sans" pitchFamily="34" charset="0"/>
                <a:ea typeface="IBM Plex Sans" pitchFamily="34" charset="-122"/>
                <a:cs typeface="IBM Plex Sans" pitchFamily="34" charset="-120"/>
              </a:rPr>
              <a:t>SHARED, SO THEY AGREE</a:t>
            </a:r>
            <a:endParaRPr lang="en-US" sz="1200" dirty="0"/>
          </a:p>
        </p:txBody>
      </p:sp>
      <p:sp>
        <p:nvSpPr>
          <p:cNvPr id="8" name="Text 5"/>
          <p:cNvSpPr txBox="1"/>
          <p:nvPr/>
        </p:nvSpPr>
        <p:spPr>
          <a:xfrm>
            <a:off x="7178040" y="2148840"/>
            <a:ext cx="4197096" cy="2468880"/>
          </a:xfrm>
          <a:prstGeom prst="rect">
            <a:avLst/>
          </a:prstGeom>
          <a:noFill/>
          <a:ln/>
        </p:spPr>
        <p:txBody>
          <a:bodyPr wrap="square" lIns="0" tIns="0" rIns="0" bIns="0" rtlCol="0" anchor="t"/>
          <a:lstStyle/>
          <a:p>
            <a:pPr marL="203200" indent="-203200">
              <a:spcAft>
                <a:spcPts val="800"/>
              </a:spcAft>
              <a:buSzPct val="100000"/>
              <a:buChar char="•"/>
            </a:pPr>
            <a:r>
              <a:rPr lang="en-US" sz="1300" b="1" dirty="0">
                <a:solidFill>
                  <a:srgbClr val="16213A"/>
                </a:solidFill>
                <a:latin typeface="IBM Plex Sans" pitchFamily="34" charset="0"/>
                <a:ea typeface="IBM Plex Sans" pitchFamily="34" charset="-122"/>
                <a:cs typeface="IBM Plex Sans" pitchFamily="34" charset="-120"/>
              </a:rPr>
              <a:t>config.py: </a:t>
            </a:r>
            <a:pPr indent="0" marL="0">
              <a:spcAft>
                <a:spcPts val="800"/>
              </a:spcAft>
              <a:buNone/>
            </a:pPr>
            <a:r>
              <a:rPr lang="en-US" sz="1300" dirty="0">
                <a:solidFill>
                  <a:srgbClr val="3E4A5C"/>
                </a:solidFill>
                <a:latin typeface="IBM Plex Sans" pitchFamily="34" charset="0"/>
                <a:ea typeface="IBM Plex Sans" pitchFamily="34" charset="-122"/>
                <a:cs typeface="IBM Plex Sans" pitchFamily="34" charset="-120"/>
              </a:rPr>
              <a:t>duration, distance, layers, weightrange, imported by evolve.py and sim.py.</a:t>
            </a:r>
            <a:endParaRPr lang="en-US" sz="1300" dirty="0"/>
          </a:p>
          <a:p>
            <a:pPr marL="203200" indent="-203200">
              <a:spcAft>
                <a:spcPts val="800"/>
              </a:spcAft>
              <a:buSzPct val="100000"/>
              <a:buChar char="•"/>
            </a:pPr>
            <a:r>
              <a:rPr lang="en-US" sz="1300" b="1" dirty="0">
                <a:solidFill>
                  <a:srgbClr val="16213A"/>
                </a:solidFill>
                <a:latin typeface="IBM Plex Sans" pitchFamily="34" charset="0"/>
                <a:ea typeface="IBM Plex Sans" pitchFamily="34" charset="-122"/>
                <a:cs typeface="IBM Plex Sans" pitchFamily="34" charset="-120"/>
              </a:rPr>
              <a:t>FNN.genome_size(layers): </a:t>
            </a:r>
            <a:pPr indent="0" marL="0">
              <a:spcAft>
                <a:spcPts val="800"/>
              </a:spcAft>
              <a:buNone/>
            </a:pPr>
            <a:r>
              <a:rPr lang="en-US" sz="1300" dirty="0">
                <a:solidFill>
                  <a:srgbClr val="3E4A5C"/>
                </a:solidFill>
                <a:latin typeface="IBM Plex Sans" pitchFamily="34" charset="0"/>
                <a:ea typeface="IBM Plex Sans" pitchFamily="34" charset="-122"/>
                <a:cs typeface="IBM Plex Sans" pitchFamily="34" charset="-120"/>
              </a:rPr>
              <a:t>genesize always matches setParams.</a:t>
            </a:r>
            <a:endParaRPr lang="en-US" sz="1300" dirty="0"/>
          </a:p>
          <a:p>
            <a:pPr marL="203200" indent="-203200">
              <a:spcAft>
                <a:spcPts val="800"/>
              </a:spcAft>
              <a:buSzPct val="100000"/>
              <a:buChar char="•"/>
            </a:pPr>
            <a:r>
              <a:rPr lang="en-US" sz="1300" b="1" dirty="0">
                <a:solidFill>
                  <a:srgbClr val="16213A"/>
                </a:solidFill>
                <a:latin typeface="IBM Plex Sans" pitchFamily="34" charset="0"/>
                <a:ea typeface="IBM Plex Sans" pitchFamily="34" charset="-122"/>
                <a:cs typeface="IBM Plex Sans" pitchFamily="34" charset="-120"/>
              </a:rPr>
              <a:t>Only in evolve.py: </a:t>
            </a:r>
            <a:pPr indent="0" marL="0">
              <a:spcAft>
                <a:spcPts val="800"/>
              </a:spcAft>
              <a:buNone/>
            </a:pPr>
            <a:r>
              <a:rPr lang="en-US" sz="1300" dirty="0">
                <a:solidFill>
                  <a:srgbClr val="3E4A5C"/>
                </a:solidFill>
                <a:latin typeface="IBM Plex Sans" pitchFamily="34" charset="0"/>
                <a:ea typeface="IBM Plex Sans" pitchFamily="34" charset="-122"/>
                <a:cs typeface="IBM Plex Sans" pitchFamily="34" charset="-120"/>
              </a:rPr>
              <a:t>reps, finaltrials, seed, and the GA settings.</a:t>
            </a:r>
            <a:endParaRPr lang="en-US" sz="1300" dirty="0"/>
          </a:p>
        </p:txBody>
      </p:sp>
      <p:sp>
        <p:nvSpPr>
          <p:cNvPr id="9" name="Shape 6"/>
          <p:cNvSpPr/>
          <p:nvPr/>
        </p:nvSpPr>
        <p:spPr>
          <a:xfrm>
            <a:off x="813816" y="4937760"/>
            <a:ext cx="1920240" cy="685800"/>
          </a:xfrm>
          <a:prstGeom prst="roundRect">
            <a:avLst>
              <a:gd name="adj" fmla="val 10667"/>
            </a:avLst>
          </a:prstGeom>
          <a:solidFill>
            <a:srgbClr val="1D6F66"/>
          </a:solidFill>
          <a:ln w="12700">
            <a:solidFill>
              <a:srgbClr val="F6F4EE"/>
            </a:solidFill>
            <a:prstDash val="solid"/>
          </a:ln>
        </p:spPr>
      </p:sp>
      <p:sp>
        <p:nvSpPr>
          <p:cNvPr id="10" name="Text 7"/>
          <p:cNvSpPr txBox="1"/>
          <p:nvPr/>
        </p:nvSpPr>
        <p:spPr>
          <a:xfrm>
            <a:off x="813816" y="4937760"/>
            <a:ext cx="1920240" cy="685800"/>
          </a:xfrm>
          <a:prstGeom prst="rect">
            <a:avLst/>
          </a:prstGeom>
          <a:noFill/>
          <a:ln/>
        </p:spPr>
        <p:txBody>
          <a:bodyPr wrap="square" lIns="0" tIns="0" rIns="0" bIns="0" rtlCol="0" anchor="ctr"/>
          <a:lstStyle/>
          <a:p>
            <a:pPr algn="ctr" indent="0" marL="0">
              <a:buNone/>
            </a:pPr>
            <a:r>
              <a:rPr lang="en-US" sz="1400" b="1" dirty="0">
                <a:solidFill>
                  <a:srgbClr val="F6F4EE"/>
                </a:solidFill>
                <a:latin typeface="JetBrains Mono" pitchFamily="34" charset="0"/>
                <a:ea typeface="JetBrains Mono" pitchFamily="34" charset="-122"/>
                <a:cs typeface="JetBrains Mono" pitchFamily="34" charset="-120"/>
              </a:rPr>
              <a:t>evolve.py</a:t>
            </a:r>
            <a:endParaRPr lang="en-US" sz="1400" dirty="0"/>
          </a:p>
        </p:txBody>
      </p:sp>
      <p:sp>
        <p:nvSpPr>
          <p:cNvPr id="11" name="Shape 8"/>
          <p:cNvSpPr/>
          <p:nvPr/>
        </p:nvSpPr>
        <p:spPr>
          <a:xfrm>
            <a:off x="2779776" y="5280660"/>
            <a:ext cx="1005840" cy="0"/>
          </a:xfrm>
          <a:prstGeom prst="line">
            <a:avLst/>
          </a:prstGeom>
          <a:noFill/>
          <a:ln w="25400">
            <a:solidFill>
              <a:srgbClr val="5E6878"/>
            </a:solidFill>
            <a:prstDash val="solid"/>
            <a:tailEnd type="triangle"/>
          </a:ln>
        </p:spPr>
      </p:sp>
      <p:sp>
        <p:nvSpPr>
          <p:cNvPr id="12" name="Text 9"/>
          <p:cNvSpPr txBox="1"/>
          <p:nvPr/>
        </p:nvSpPr>
        <p:spPr>
          <a:xfrm>
            <a:off x="2779776" y="4937760"/>
            <a:ext cx="1005840" cy="301752"/>
          </a:xfrm>
          <a:prstGeom prst="rect">
            <a:avLst/>
          </a:prstGeom>
          <a:noFill/>
          <a:ln/>
        </p:spPr>
        <p:txBody>
          <a:bodyPr wrap="square" lIns="0" tIns="0" rIns="0" bIns="0" rtlCol="0" anchor="ctr"/>
          <a:lstStyle/>
          <a:p>
            <a:pPr algn="ctr" indent="0" marL="0">
              <a:buNone/>
            </a:pPr>
            <a:r>
              <a:rPr lang="en-US" sz="1100" dirty="0">
                <a:solidFill>
                  <a:srgbClr val="5E6878"/>
                </a:solidFill>
                <a:latin typeface="JetBrains Mono" pitchFamily="34" charset="0"/>
                <a:ea typeface="JetBrains Mono" pitchFamily="34" charset="-122"/>
                <a:cs typeface="JetBrains Mono" pitchFamily="34" charset="-120"/>
              </a:rPr>
              <a:t>best.npy</a:t>
            </a:r>
            <a:endParaRPr lang="en-US" sz="1100" dirty="0"/>
          </a:p>
        </p:txBody>
      </p:sp>
      <p:sp>
        <p:nvSpPr>
          <p:cNvPr id="13" name="Shape 10"/>
          <p:cNvSpPr/>
          <p:nvPr/>
        </p:nvSpPr>
        <p:spPr>
          <a:xfrm>
            <a:off x="4425696" y="4937760"/>
            <a:ext cx="1920240" cy="685800"/>
          </a:xfrm>
          <a:prstGeom prst="roundRect">
            <a:avLst>
              <a:gd name="adj" fmla="val 10667"/>
            </a:avLst>
          </a:prstGeom>
          <a:solidFill>
            <a:srgbClr val="16213A"/>
          </a:solidFill>
          <a:ln w="12700">
            <a:solidFill>
              <a:srgbClr val="F6F4EE"/>
            </a:solidFill>
            <a:prstDash val="solid"/>
          </a:ln>
        </p:spPr>
      </p:sp>
      <p:sp>
        <p:nvSpPr>
          <p:cNvPr id="14" name="Text 11"/>
          <p:cNvSpPr txBox="1"/>
          <p:nvPr/>
        </p:nvSpPr>
        <p:spPr>
          <a:xfrm>
            <a:off x="4425696" y="4937760"/>
            <a:ext cx="1920240" cy="685800"/>
          </a:xfrm>
          <a:prstGeom prst="rect">
            <a:avLst/>
          </a:prstGeom>
          <a:noFill/>
          <a:ln/>
        </p:spPr>
        <p:txBody>
          <a:bodyPr wrap="square" lIns="0" tIns="0" rIns="0" bIns="0" rtlCol="0" anchor="ctr"/>
          <a:lstStyle/>
          <a:p>
            <a:pPr algn="ctr" indent="0" marL="0">
              <a:buNone/>
            </a:pPr>
            <a:r>
              <a:rPr lang="en-US" sz="1400" b="1" dirty="0">
                <a:solidFill>
                  <a:srgbClr val="F6F4EE"/>
                </a:solidFill>
                <a:latin typeface="JetBrains Mono" pitchFamily="34" charset="0"/>
                <a:ea typeface="JetBrains Mono" pitchFamily="34" charset="-122"/>
                <a:cs typeface="JetBrains Mono" pitchFamily="34" charset="-120"/>
              </a:rPr>
              <a:t>sim.py</a:t>
            </a:r>
            <a:endParaRPr lang="en-US" sz="1400" dirty="0"/>
          </a:p>
        </p:txBody>
      </p:sp>
      <p:sp>
        <p:nvSpPr>
          <p:cNvPr id="15" name="Shape 12"/>
          <p:cNvSpPr/>
          <p:nvPr/>
        </p:nvSpPr>
        <p:spPr>
          <a:xfrm>
            <a:off x="6391656" y="5280660"/>
            <a:ext cx="1005840" cy="0"/>
          </a:xfrm>
          <a:prstGeom prst="line">
            <a:avLst/>
          </a:prstGeom>
          <a:noFill/>
          <a:ln w="25400">
            <a:solidFill>
              <a:srgbClr val="5E6878"/>
            </a:solidFill>
            <a:prstDash val="solid"/>
            <a:tailEnd type="triangle"/>
          </a:ln>
        </p:spPr>
      </p:sp>
      <p:sp>
        <p:nvSpPr>
          <p:cNvPr id="16" name="Text 13"/>
          <p:cNvSpPr txBox="1"/>
          <p:nvPr/>
        </p:nvSpPr>
        <p:spPr>
          <a:xfrm>
            <a:off x="6391656" y="4937760"/>
            <a:ext cx="1005840" cy="301752"/>
          </a:xfrm>
          <a:prstGeom prst="rect">
            <a:avLst/>
          </a:prstGeom>
          <a:noFill/>
          <a:ln/>
        </p:spPr>
        <p:txBody>
          <a:bodyPr wrap="square" lIns="0" tIns="0" rIns="0" bIns="0" rtlCol="0" anchor="ctr"/>
          <a:lstStyle/>
          <a:p>
            <a:pPr algn="ctr" indent="0" marL="0">
              <a:buNone/>
            </a:pPr>
            <a:r>
              <a:rPr lang="en-US" sz="1100" dirty="0">
                <a:solidFill>
                  <a:srgbClr val="5E6878"/>
                </a:solidFill>
                <a:latin typeface="JetBrains Mono" pitchFamily="34" charset="0"/>
                <a:ea typeface="JetBrains Mono" pitchFamily="34" charset="-122"/>
                <a:cs typeface="JetBrains Mono" pitchFamily="34" charset="-120"/>
              </a:rPr>
              <a:t>sim.npz</a:t>
            </a:r>
            <a:endParaRPr lang="en-US" sz="1100" dirty="0"/>
          </a:p>
        </p:txBody>
      </p:sp>
      <p:sp>
        <p:nvSpPr>
          <p:cNvPr id="17" name="Shape 14"/>
          <p:cNvSpPr/>
          <p:nvPr/>
        </p:nvSpPr>
        <p:spPr>
          <a:xfrm>
            <a:off x="8037576" y="4937760"/>
            <a:ext cx="1920240" cy="685800"/>
          </a:xfrm>
          <a:prstGeom prst="roundRect">
            <a:avLst>
              <a:gd name="adj" fmla="val 10667"/>
            </a:avLst>
          </a:prstGeom>
          <a:solidFill>
            <a:srgbClr val="16213A"/>
          </a:solidFill>
          <a:ln w="12700">
            <a:solidFill>
              <a:srgbClr val="F6F4EE"/>
            </a:solidFill>
            <a:prstDash val="solid"/>
          </a:ln>
        </p:spPr>
      </p:sp>
      <p:sp>
        <p:nvSpPr>
          <p:cNvPr id="18" name="Text 15"/>
          <p:cNvSpPr txBox="1"/>
          <p:nvPr/>
        </p:nvSpPr>
        <p:spPr>
          <a:xfrm>
            <a:off x="8037576" y="4937760"/>
            <a:ext cx="1920240" cy="685800"/>
          </a:xfrm>
          <a:prstGeom prst="rect">
            <a:avLst/>
          </a:prstGeom>
          <a:noFill/>
          <a:ln/>
        </p:spPr>
        <p:txBody>
          <a:bodyPr wrap="square" lIns="0" tIns="0" rIns="0" bIns="0" rtlCol="0" anchor="ctr"/>
          <a:lstStyle/>
          <a:p>
            <a:pPr algn="ctr" indent="0" marL="0">
              <a:buNone/>
            </a:pPr>
            <a:r>
              <a:rPr lang="en-US" sz="1400" b="1" dirty="0">
                <a:solidFill>
                  <a:srgbClr val="F6F4EE"/>
                </a:solidFill>
                <a:latin typeface="JetBrains Mono" pitchFamily="34" charset="0"/>
                <a:ea typeface="JetBrains Mono" pitchFamily="34" charset="-122"/>
                <a:cs typeface="JetBrains Mono" pitchFamily="34" charset="-120"/>
              </a:rPr>
              <a:t>viz.py</a:t>
            </a:r>
            <a:endParaRPr lang="en-US" sz="1400" dirty="0"/>
          </a:p>
        </p:txBody>
      </p:sp>
      <p:sp>
        <p:nvSpPr>
          <p:cNvPr id="19" name="Text 16"/>
          <p:cNvSpPr txBox="1"/>
          <p:nvPr/>
        </p:nvSpPr>
        <p:spPr>
          <a:xfrm>
            <a:off x="813816" y="5806440"/>
            <a:ext cx="10561320" cy="365760"/>
          </a:xfrm>
          <a:prstGeom prst="rect">
            <a:avLst/>
          </a:prstGeom>
          <a:noFill/>
          <a:ln/>
        </p:spPr>
        <p:txBody>
          <a:bodyPr wrap="square" lIns="0" tIns="0" rIns="0" bIns="0" rtlCol="0" anchor="ctr"/>
          <a:lstStyle/>
          <a:p>
            <a:pPr indent="0" marL="0">
              <a:buNone/>
            </a:pPr>
            <a:r>
              <a:rPr lang="en-US" sz="1300" i="1" dirty="0">
                <a:solidFill>
                  <a:srgbClr val="3E4A5C"/>
                </a:solidFill>
                <a:latin typeface="IBM Plex Sans" pitchFamily="34" charset="0"/>
                <a:ea typeface="IBM Plex Sans" pitchFamily="34" charset="-122"/>
                <a:cs typeface="IBM Plex Sans" pitchFamily="34" charset="-120"/>
              </a:rPr>
              <a:t>Three scripts, connected only by the files they save and load.</a:t>
            </a:r>
            <a:endParaRPr lang="en-US" sz="1300" dirty="0"/>
          </a:p>
        </p:txBody>
      </p:sp>
      <p:sp>
        <p:nvSpPr>
          <p:cNvPr id="20" name="Text 17"/>
          <p:cNvSpPr txBox="1"/>
          <p:nvPr/>
        </p:nvSpPr>
        <p:spPr>
          <a:xfrm>
            <a:off x="813816" y="6355080"/>
            <a:ext cx="10561320" cy="256032"/>
          </a:xfrm>
          <a:prstGeom prst="rect">
            <a:avLst/>
          </a:prstGeom>
          <a:noFill/>
          <a:ln/>
        </p:spPr>
        <p:txBody>
          <a:bodyPr wrap="square" lIns="0" tIns="0" rIns="0" bIns="0" rtlCol="0" anchor="ctr"/>
          <a:lstStyle/>
          <a:p>
            <a:pPr indent="0" marL="0">
              <a:buNone/>
            </a:pPr>
            <a:r>
              <a:rPr lang="en-US" sz="1000" dirty="0">
                <a:solidFill>
                  <a:srgbClr val="5E6878"/>
                </a:solidFill>
                <a:latin typeface="JetBrains Mono" pitchFamily="34" charset="0"/>
                <a:ea typeface="JetBrains Mono" pitchFamily="34" charset="-122"/>
                <a:cs typeface="JetBrains Mono" pitchFamily="34" charset="-120"/>
              </a:rPr>
              <a:t>PythonBasics/Unit4/evolve.py · sim.py · viz.py</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4EE"/>
        </a:solidFill>
      </p:bgPr>
    </p:bg>
    <p:spTree>
      <p:nvGrpSpPr>
        <p:cNvPr id="1" name=""/>
        <p:cNvGrpSpPr/>
        <p:nvPr/>
      </p:nvGrpSpPr>
      <p:grpSpPr>
        <a:xfrm>
          <a:off x="0" y="0"/>
          <a:ext cx="0" cy="0"/>
          <a:chOff x="0" y="0"/>
          <a:chExt cx="0" cy="0"/>
        </a:xfrm>
      </p:grpSpPr>
      <p:sp>
        <p:nvSpPr>
          <p:cNvPr id="2" name="Text 0"/>
          <p:cNvSpPr txBox="1"/>
          <p:nvPr/>
        </p:nvSpPr>
        <p:spPr>
          <a:xfrm>
            <a:off x="813816" y="548640"/>
            <a:ext cx="10561320" cy="274320"/>
          </a:xfrm>
          <a:prstGeom prst="rect">
            <a:avLst/>
          </a:prstGeom>
          <a:noFill/>
          <a:ln/>
        </p:spPr>
        <p:txBody>
          <a:bodyPr wrap="square" lIns="0" tIns="0" rIns="0" bIns="0" rtlCol="0" anchor="ctr"/>
          <a:lstStyle/>
          <a:p>
            <a:pPr indent="0" marL="0">
              <a:buNone/>
            </a:pPr>
            <a:r>
              <a:rPr lang="en-US" sz="1200" b="1" spc="100" kern="0" dirty="0">
                <a:solidFill>
                  <a:srgbClr val="B4521C"/>
                </a:solidFill>
                <a:latin typeface="IBM Plex Sans" pitchFamily="34" charset="0"/>
                <a:ea typeface="IBM Plex Sans" pitchFamily="34" charset="-122"/>
                <a:cs typeface="IBM Plex Sans" pitchFamily="34" charset="-120"/>
              </a:rPr>
              <a:t>CONNECTION 6 · WHAT THE NUMBER MEANS</a:t>
            </a:r>
            <a:endParaRPr lang="en-US" sz="1200" dirty="0"/>
          </a:p>
        </p:txBody>
      </p:sp>
      <p:sp>
        <p:nvSpPr>
          <p:cNvPr id="3" name="Text 1"/>
          <p:cNvSpPr txBox="1"/>
          <p:nvPr/>
        </p:nvSpPr>
        <p:spPr>
          <a:xfrm>
            <a:off x="813816" y="841248"/>
            <a:ext cx="10561320" cy="548640"/>
          </a:xfrm>
          <a:prstGeom prst="rect">
            <a:avLst/>
          </a:prstGeom>
          <a:noFill/>
          <a:ln/>
        </p:spPr>
        <p:txBody>
          <a:bodyPr wrap="square" lIns="0" tIns="0" rIns="0" bIns="0" rtlCol="0" anchor="ctr"/>
          <a:lstStyle/>
          <a:p>
            <a:pPr indent="0" marL="0">
              <a:buNone/>
            </a:pPr>
            <a:r>
              <a:rPr lang="en-US" sz="3200" b="1" dirty="0">
                <a:solidFill>
                  <a:srgbClr val="16213A"/>
                </a:solidFill>
                <a:latin typeface="IBM Plex Sans" pitchFamily="34" charset="0"/>
                <a:ea typeface="IBM Plex Sans" pitchFamily="34" charset="-122"/>
                <a:cs typeface="IBM Plex Sans" pitchFamily="34" charset="-120"/>
              </a:rPr>
              <a:t>Reading the fitness number</a:t>
            </a:r>
            <a:endParaRPr lang="en-US" sz="3200" dirty="0"/>
          </a:p>
        </p:txBody>
      </p:sp>
      <p:graphicFrame>
        <p:nvGraphicFramePr>
          <p:cNvPr id="5" name="Chart 0" descr=""/>
          <p:cNvGraphicFramePr/>
          <p:nvPr/>
        </p:nvGraphicFramePr>
        <p:xfrm>
          <a:off x="813816" y="1737360"/>
          <a:ext cx="6035040" cy="420624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7132320" y="1783080"/>
            <a:ext cx="4242816" cy="1234440"/>
          </a:xfrm>
          <a:prstGeom prst="roundRect">
            <a:avLst>
              <a:gd name="adj" fmla="val 5926"/>
            </a:avLst>
          </a:prstGeom>
          <a:solidFill>
            <a:srgbClr val="16213A"/>
          </a:solidFill>
          <a:ln w="12700">
            <a:solidFill>
              <a:srgbClr val="16213A"/>
            </a:solidFill>
            <a:prstDash val="solid"/>
          </a:ln>
        </p:spPr>
      </p:sp>
      <p:sp>
        <p:nvSpPr>
          <p:cNvPr id="7" name="Text 3"/>
          <p:cNvSpPr txBox="1"/>
          <p:nvPr/>
        </p:nvSpPr>
        <p:spPr>
          <a:xfrm>
            <a:off x="7360920" y="1965960"/>
            <a:ext cx="3785616" cy="868680"/>
          </a:xfrm>
          <a:prstGeom prst="rect">
            <a:avLst/>
          </a:prstGeom>
          <a:noFill/>
          <a:ln/>
        </p:spPr>
        <p:txBody>
          <a:bodyPr wrap="square" lIns="0" tIns="0" rIns="0" bIns="0" rtlCol="0" anchor="t"/>
          <a:lstStyle/>
          <a:p>
            <a:pPr indent="0" marL="0">
              <a:spcAft>
                <a:spcPts val="200"/>
              </a:spcAft>
              <a:buNone/>
            </a:pPr>
            <a:r>
              <a:rPr lang="en-US" sz="1100" dirty="0">
                <a:solidFill>
                  <a:srgbClr val="8FA0B8"/>
                </a:solidFill>
                <a:latin typeface="JetBrains Mono" pitchFamily="34" charset="0"/>
                <a:ea typeface="JetBrains Mono" pitchFamily="34" charset="-122"/>
                <a:cs typeface="JetBrains Mono" pitchFamily="34" charset="-120"/>
              </a:rPr>
              <a:t># the reward, every time step</a:t>
            </a:r>
            <a:endParaRPr lang="en-US" sz="1100" dirty="0"/>
          </a:p>
          <a:p>
            <a:pPr indent="0" marL="0">
              <a:spcAft>
                <a:spcPts val="200"/>
              </a:spcAft>
              <a:buNone/>
            </a:pPr>
            <a:r>
              <a:rPr lang="en-US" sz="1100" dirty="0">
                <a:solidFill>
                  <a:srgbClr val="F2A65A"/>
                </a:solidFill>
                <a:latin typeface="JetBrains Mono" pitchFamily="34" charset="0"/>
                <a:ea typeface="JetBrains Mono" pitchFamily="34" charset="-122"/>
                <a:cs typeface="JetBrains Mono" pitchFamily="34" charset="-120"/>
              </a:rPr>
              <a:t>fitness += 1/(1 + agent.distance(light))</a:t>
            </a:r>
            <a:endParaRPr lang="en-US" sz="1100" dirty="0"/>
          </a:p>
          <a:p>
            <a:pPr indent="0" marL="0">
              <a:spcAft>
                <a:spcPts val="200"/>
              </a:spcAft>
              <a:buNone/>
            </a:pPr>
            <a:r>
              <a:rPr lang="en-US" sz="1100" dirty="0">
                <a:solidFill>
                  <a:srgbClr val="E8E4D8"/>
                </a:solidFill>
                <a:latin typeface="JetBrains Mono" pitchFamily="34" charset="0"/>
                <a:ea typeface="JetBrains Mono" pitchFamily="34" charset="-122"/>
                <a:cs typeface="JetBrains Mono" pitchFamily="34" charset="-120"/>
              </a:rPr>
              <a:t>return fitness/(reps*duration)</a:t>
            </a:r>
            <a:endParaRPr lang="en-US" sz="1100" dirty="0"/>
          </a:p>
        </p:txBody>
      </p:sp>
      <p:sp>
        <p:nvSpPr>
          <p:cNvPr id="8" name="Text 4"/>
          <p:cNvSpPr txBox="1"/>
          <p:nvPr/>
        </p:nvSpPr>
        <p:spPr>
          <a:xfrm>
            <a:off x="7132320" y="3291840"/>
            <a:ext cx="4242816" cy="2743200"/>
          </a:xfrm>
          <a:prstGeom prst="rect">
            <a:avLst/>
          </a:prstGeom>
          <a:noFill/>
          <a:ln/>
        </p:spPr>
        <p:txBody>
          <a:bodyPr wrap="square" lIns="0" tIns="0" rIns="0" bIns="0" rtlCol="0" anchor="t"/>
          <a:lstStyle/>
          <a:p>
            <a:pPr marL="203200" indent="-203200">
              <a:spcAft>
                <a:spcPts val="800"/>
              </a:spcAft>
              <a:buSzPct val="100000"/>
              <a:buChar char="•"/>
            </a:pPr>
            <a:r>
              <a:rPr lang="en-US" sz="1300" b="1" dirty="0">
                <a:solidFill>
                  <a:srgbClr val="16213A"/>
                </a:solidFill>
                <a:latin typeface="IBM Plex Sans" pitchFamily="34" charset="0"/>
                <a:ea typeface="IBM Plex Sans" pitchFamily="34" charset="-122"/>
                <a:cs typeface="IBM Plex Sans" pitchFamily="34" charset="-120"/>
              </a:rPr>
              <a:t>Bounded in (0, 1]. </a:t>
            </a:r>
            <a:pPr indent="0" marL="0">
              <a:spcAft>
                <a:spcPts val="800"/>
              </a:spcAft>
              <a:buNone/>
            </a:pPr>
            <a:r>
              <a:rPr lang="en-US" sz="1300" dirty="0">
                <a:solidFill>
                  <a:srgbClr val="3E4A5C"/>
                </a:solidFill>
                <a:latin typeface="IBM Plex Sans" pitchFamily="34" charset="0"/>
                <a:ea typeface="IBM Plex Sans" pitchFamily="34" charset="-122"/>
                <a:cs typeface="IBM Plex Sans" pitchFamily="34" charset="-120"/>
              </a:rPr>
              <a:t>1.0 would need to start on top of the light.</a:t>
            </a:r>
            <a:endParaRPr lang="en-US" sz="1300" dirty="0"/>
          </a:p>
          <a:p>
            <a:pPr marL="203200" indent="-203200">
              <a:spcAft>
                <a:spcPts val="800"/>
              </a:spcAft>
              <a:buSzPct val="100000"/>
              <a:buChar char="•"/>
            </a:pPr>
            <a:r>
              <a:rPr lang="en-US" sz="1300" b="1" dirty="0">
                <a:solidFill>
                  <a:srgbClr val="16213A"/>
                </a:solidFill>
                <a:latin typeface="IBM Plex Sans" pitchFamily="34" charset="0"/>
                <a:ea typeface="IBM Plex Sans" pitchFamily="34" charset="-122"/>
                <a:cs typeface="IBM Plex Sans" pitchFamily="34" charset="-120"/>
              </a:rPr>
              <a:t>Start 5 away, top speed 0.1 per step: </a:t>
            </a:r>
            <a:pPr indent="0" marL="0">
              <a:spcAft>
                <a:spcPts val="800"/>
              </a:spcAft>
              <a:buNone/>
            </a:pPr>
            <a:r>
              <a:rPr lang="en-US" sz="1300" dirty="0">
                <a:solidFill>
                  <a:srgbClr val="3E4A5C"/>
                </a:solidFill>
                <a:latin typeface="IBM Plex Sans" pitchFamily="34" charset="0"/>
                <a:ea typeface="IBM Plex Sans" pitchFamily="34" charset="-122"/>
                <a:cs typeface="IBM Plex Sans" pitchFamily="34" charset="-120"/>
              </a:rPr>
              <a:t>at least 50 of 200 steps are spent travelling. A perfect straight dash would score about 0.84.</a:t>
            </a:r>
            <a:endParaRPr lang="en-US" sz="1300" dirty="0"/>
          </a:p>
          <a:p>
            <a:pPr marL="203200" indent="-203200">
              <a:spcAft>
                <a:spcPts val="800"/>
              </a:spcAft>
              <a:buSzPct val="100000"/>
              <a:buChar char="•"/>
            </a:pPr>
            <a:r>
              <a:rPr lang="en-US" sz="1300" b="1" dirty="0">
                <a:solidFill>
                  <a:srgbClr val="16213A"/>
                </a:solidFill>
                <a:latin typeface="IBM Plex Sans" pitchFamily="34" charset="0"/>
                <a:ea typeface="IBM Plex Sans" pitchFamily="34" charset="-122"/>
                <a:cs typeface="IBM Plex Sans" pitchFamily="34" charset="-120"/>
              </a:rPr>
              <a:t>Not moving already scores 0.17, </a:t>
            </a:r>
            <a:pPr indent="0" marL="0">
              <a:spcAft>
                <a:spcPts val="800"/>
              </a:spcAft>
              <a:buNone/>
            </a:pPr>
            <a:r>
              <a:rPr lang="en-US" sz="1300" dirty="0">
                <a:solidFill>
                  <a:srgbClr val="3E4A5C"/>
                </a:solidFill>
                <a:latin typeface="IBM Plex Sans" pitchFamily="34" charset="0"/>
                <a:ea typeface="IBM Plex Sans" pitchFamily="34" charset="-122"/>
                <a:cs typeface="IBM Plex Sans" pitchFamily="34" charset="-120"/>
              </a:rPr>
              <a:t>and a random network scores about the same.</a:t>
            </a:r>
            <a:endParaRPr lang="en-US" sz="1300" dirty="0"/>
          </a:p>
          <a:p>
            <a:pPr marL="203200" indent="-203200">
              <a:spcAft>
                <a:spcPts val="800"/>
              </a:spcAft>
              <a:buSzPct val="100000"/>
              <a:buChar char="•"/>
            </a:pPr>
            <a:r>
              <a:rPr lang="en-US" sz="1300" b="1" dirty="0">
                <a:solidFill>
                  <a:srgbClr val="16213A"/>
                </a:solidFill>
                <a:latin typeface="IBM Plex Sans" pitchFamily="34" charset="0"/>
                <a:ea typeface="IBM Plex Sans" pitchFamily="34" charset="-122"/>
                <a:cs typeface="IBM Plex Sans" pitchFamily="34" charset="-120"/>
              </a:rPr>
              <a:t>Eight seeds </a:t>
            </a:r>
            <a:pPr indent="0" marL="0">
              <a:spcAft>
                <a:spcPts val="800"/>
              </a:spcAft>
              <a:buNone/>
            </a:pPr>
            <a:r>
              <a:rPr lang="en-US" sz="1300" dirty="0">
                <a:solidFill>
                  <a:srgbClr val="3E4A5C"/>
                </a:solidFill>
                <a:latin typeface="IBM Plex Sans" pitchFamily="34" charset="0"/>
                <a:ea typeface="IBM Plex Sans" pitchFamily="34" charset="-122"/>
                <a:cs typeface="IBM Plex Sans" pitchFamily="34" charset="-120"/>
              </a:rPr>
              <a:t>of evolve.py gave 0.56 to 0.66.</a:t>
            </a:r>
            <a:endParaRPr lang="en-US" sz="1300" dirty="0"/>
          </a:p>
        </p:txBody>
      </p:sp>
      <p:sp>
        <p:nvSpPr>
          <p:cNvPr id="9" name="Text 5"/>
          <p:cNvSpPr txBox="1"/>
          <p:nvPr/>
        </p:nvSpPr>
        <p:spPr>
          <a:xfrm>
            <a:off x="813816" y="6355080"/>
            <a:ext cx="10561320" cy="256032"/>
          </a:xfrm>
          <a:prstGeom prst="rect">
            <a:avLst/>
          </a:prstGeom>
          <a:noFill/>
          <a:ln/>
        </p:spPr>
        <p:txBody>
          <a:bodyPr wrap="square" lIns="0" tIns="0" rIns="0" bIns="0" rtlCol="0" anchor="ctr"/>
          <a:lstStyle/>
          <a:p>
            <a:pPr indent="0" marL="0">
              <a:buNone/>
            </a:pPr>
            <a:r>
              <a:rPr lang="en-US" sz="1000" dirty="0">
                <a:solidFill>
                  <a:srgbClr val="5E6878"/>
                </a:solidFill>
                <a:latin typeface="JetBrains Mono" pitchFamily="34" charset="0"/>
                <a:ea typeface="JetBrains Mono" pitchFamily="34" charset="-122"/>
                <a:cs typeface="JetBrains Mono" pitchFamily="34" charset="-120"/>
              </a:rPr>
              <a:t>one seeded run of evolve.py · evolved = 200 fresh single trials · random = mean of 150 genomes</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4EE"/>
        </a:solidFill>
      </p:bgPr>
    </p:bg>
    <p:spTree>
      <p:nvGrpSpPr>
        <p:cNvPr id="1" name=""/>
        <p:cNvGrpSpPr/>
        <p:nvPr/>
      </p:nvGrpSpPr>
      <p:grpSpPr>
        <a:xfrm>
          <a:off x="0" y="0"/>
          <a:ext cx="0" cy="0"/>
          <a:chOff x="0" y="0"/>
          <a:chExt cx="0" cy="0"/>
        </a:xfrm>
      </p:grpSpPr>
      <p:sp>
        <p:nvSpPr>
          <p:cNvPr id="2" name="Text 0"/>
          <p:cNvSpPr txBox="1"/>
          <p:nvPr/>
        </p:nvSpPr>
        <p:spPr>
          <a:xfrm>
            <a:off x="813816" y="548640"/>
            <a:ext cx="10561320" cy="274320"/>
          </a:xfrm>
          <a:prstGeom prst="rect">
            <a:avLst/>
          </a:prstGeom>
          <a:noFill/>
          <a:ln/>
        </p:spPr>
        <p:txBody>
          <a:bodyPr wrap="square" lIns="0" tIns="0" rIns="0" bIns="0" rtlCol="0" anchor="ctr"/>
          <a:lstStyle/>
          <a:p>
            <a:pPr indent="0" marL="0">
              <a:buNone/>
            </a:pPr>
            <a:r>
              <a:rPr lang="en-US" sz="1200" b="1" spc="100" kern="0" dirty="0">
                <a:solidFill>
                  <a:srgbClr val="B4521C"/>
                </a:solidFill>
                <a:latin typeface="IBM Plex Sans" pitchFamily="34" charset="0"/>
                <a:ea typeface="IBM Plex Sans" pitchFamily="34" charset="-122"/>
                <a:cs typeface="IBM Plex Sans" pitchFamily="34" charset="-120"/>
              </a:rPr>
              <a:t>CONNECTION 7 · NOISY FITNESS</a:t>
            </a:r>
            <a:endParaRPr lang="en-US" sz="1200" dirty="0"/>
          </a:p>
        </p:txBody>
      </p:sp>
      <p:sp>
        <p:nvSpPr>
          <p:cNvPr id="3" name="Text 1"/>
          <p:cNvSpPr txBox="1"/>
          <p:nvPr/>
        </p:nvSpPr>
        <p:spPr>
          <a:xfrm>
            <a:off x="813816" y="841248"/>
            <a:ext cx="10561320" cy="548640"/>
          </a:xfrm>
          <a:prstGeom prst="rect">
            <a:avLst/>
          </a:prstGeom>
          <a:noFill/>
          <a:ln/>
        </p:spPr>
        <p:txBody>
          <a:bodyPr wrap="square" lIns="0" tIns="0" rIns="0" bIns="0" rtlCol="0" anchor="ctr"/>
          <a:lstStyle/>
          <a:p>
            <a:pPr indent="0" marL="0">
              <a:buNone/>
            </a:pPr>
            <a:r>
              <a:rPr lang="en-US" sz="3200" b="1" dirty="0">
                <a:solidFill>
                  <a:srgbClr val="16213A"/>
                </a:solidFill>
                <a:latin typeface="IBM Plex Sans" pitchFamily="34" charset="0"/>
                <a:ea typeface="IBM Plex Sans" pitchFamily="34" charset="-122"/>
                <a:cs typeface="IBM Plex Sans" pitchFamily="34" charset="-120"/>
              </a:rPr>
              <a:t>The recorded fitness runs a bit high</a:t>
            </a:r>
            <a:endParaRPr lang="en-US" sz="3200" dirty="0"/>
          </a:p>
        </p:txBody>
      </p:sp>
      <p:pic>
        <p:nvPicPr>
          <p:cNvPr id="5" name="Image 0" descr="/private/tmp/claude-501/-Users-edizquie-Documents-GitHub-ECE497-Fall2026-PythonBasics/b1361503-7cb3-4cd7-872d-6a473a880a67/scratchpad/fig4_curve.png">    </p:cNvPr>
          <p:cNvPicPr>
            <a:picLocks noChangeAspect="1"/>
          </p:cNvPicPr>
          <p:nvPr/>
        </p:nvPicPr>
        <p:blipFill>
          <a:blip r:embed="rId1"/>
          <a:stretch>
            <a:fillRect/>
          </a:stretch>
        </p:blipFill>
        <p:spPr>
          <a:xfrm>
            <a:off x="813816" y="1691640"/>
            <a:ext cx="6309360" cy="3561735"/>
          </a:xfrm>
          <a:prstGeom prst="rect">
            <a:avLst/>
          </a:prstGeom>
        </p:spPr>
      </p:pic>
      <p:sp>
        <p:nvSpPr>
          <p:cNvPr id="6" name="Text 2"/>
          <p:cNvSpPr txBox="1"/>
          <p:nvPr/>
        </p:nvSpPr>
        <p:spPr>
          <a:xfrm>
            <a:off x="7406640" y="1783080"/>
            <a:ext cx="3968496" cy="2743200"/>
          </a:xfrm>
          <a:prstGeom prst="rect">
            <a:avLst/>
          </a:prstGeom>
          <a:noFill/>
          <a:ln/>
        </p:spPr>
        <p:txBody>
          <a:bodyPr wrap="square" lIns="0" tIns="0" rIns="0" bIns="0" rtlCol="0" anchor="t"/>
          <a:lstStyle/>
          <a:p>
            <a:pPr marL="203200" indent="-203200">
              <a:spcAft>
                <a:spcPts val="800"/>
              </a:spcAft>
              <a:buSzPct val="100000"/>
              <a:buChar char="•"/>
            </a:pPr>
            <a:r>
              <a:rPr lang="en-US" sz="1300" b="1" dirty="0">
                <a:solidFill>
                  <a:srgbClr val="16213A"/>
                </a:solidFill>
                <a:latin typeface="IBM Plex Sans" pitchFamily="34" charset="0"/>
                <a:ea typeface="IBM Plex Sans" pitchFamily="34" charset="-122"/>
                <a:cs typeface="IBM Plex Sans" pitchFamily="34" charset="-120"/>
              </a:rPr>
              <a:t>One sample. </a:t>
            </a:r>
            <a:pPr indent="0" marL="0">
              <a:spcAft>
                <a:spcPts val="800"/>
              </a:spcAft>
              <a:buNone/>
            </a:pPr>
            <a:r>
              <a:rPr lang="en-US" sz="1300" dirty="0">
                <a:solidFill>
                  <a:srgbClr val="3E4A5C"/>
                </a:solidFill>
                <a:latin typeface="IBM Plex Sans" pitchFamily="34" charset="0"/>
                <a:ea typeface="IBM Plex Sans" pitchFamily="34" charset="-122"/>
                <a:cs typeface="IBM Plex Sans" pitchFamily="34" charset="-120"/>
              </a:rPr>
              <a:t>Each score is the mean of only 4 random trials.</a:t>
            </a:r>
            <a:endParaRPr lang="en-US" sz="1300" dirty="0"/>
          </a:p>
          <a:p>
            <a:pPr marL="203200" indent="-203200">
              <a:spcAft>
                <a:spcPts val="800"/>
              </a:spcAft>
              <a:buSzPct val="100000"/>
              <a:buChar char="•"/>
            </a:pPr>
            <a:r>
              <a:rPr lang="en-US" sz="1300" b="1" dirty="0">
                <a:solidFill>
                  <a:srgbClr val="16213A"/>
                </a:solidFill>
                <a:latin typeface="IBM Plex Sans" pitchFamily="34" charset="0"/>
                <a:ea typeface="IBM Plex Sans" pitchFamily="34" charset="-122"/>
                <a:cs typeface="IBM Plex Sans" pitchFamily="34" charset="-120"/>
              </a:rPr>
              <a:t>Never refreshed. </a:t>
            </a:r>
            <a:pPr indent="0" marL="0">
              <a:spcAft>
                <a:spcPts val="800"/>
              </a:spcAft>
              <a:buNone/>
            </a:pPr>
            <a:r>
              <a:rPr lang="en-US" sz="1300" dirty="0">
                <a:solidFill>
                  <a:srgbClr val="3E4A5C"/>
                </a:solidFill>
                <a:latin typeface="IBM Plex Sans" pitchFamily="34" charset="0"/>
                <a:ea typeface="IBM Plex Sans" pitchFamily="34" charset="-122"/>
                <a:cs typeface="IBM Plex Sans" pitchFamily="34" charset="-120"/>
              </a:rPr>
              <a:t>Microbial re-scores only the loser, so the best curve can only go up.</a:t>
            </a:r>
            <a:endParaRPr lang="en-US" sz="1300" dirty="0"/>
          </a:p>
          <a:p>
            <a:pPr marL="203200" indent="-203200">
              <a:spcAft>
                <a:spcPts val="800"/>
              </a:spcAft>
              <a:buSzPct val="100000"/>
              <a:buChar char="•"/>
            </a:pPr>
            <a:r>
              <a:rPr lang="en-US" sz="1300" b="1" dirty="0">
                <a:solidFill>
                  <a:srgbClr val="16213A"/>
                </a:solidFill>
                <a:latin typeface="IBM Plex Sans" pitchFamily="34" charset="0"/>
                <a:ea typeface="IBM Plex Sans" pitchFamily="34" charset="-122"/>
                <a:cs typeface="IBM Plex Sans" pitchFamily="34" charset="-120"/>
              </a:rPr>
              <a:t>So check it: </a:t>
            </a:r>
            <a:pPr indent="0" marL="0">
              <a:spcAft>
                <a:spcPts val="800"/>
              </a:spcAft>
              <a:buNone/>
            </a:pPr>
            <a:r>
              <a:rPr lang="en-US" sz="1300" dirty="0">
                <a:solidFill>
                  <a:srgbClr val="3E4A5C"/>
                </a:solidFill>
                <a:latin typeface="IBM Plex Sans" pitchFamily="34" charset="0"/>
                <a:ea typeface="IBM Plex Sans" pitchFamily="34" charset="-122"/>
                <a:cs typeface="IBM Plex Sans" pitchFamily="34" charset="-120"/>
              </a:rPr>
              <a:t>evolve.py now re-scores the best genotype on 100 fresh trials (dashed line).</a:t>
            </a:r>
            <a:endParaRPr lang="en-US" sz="1300" dirty="0"/>
          </a:p>
        </p:txBody>
      </p:sp>
      <p:sp>
        <p:nvSpPr>
          <p:cNvPr id="7" name="Shape 3"/>
          <p:cNvSpPr/>
          <p:nvPr/>
        </p:nvSpPr>
        <p:spPr>
          <a:xfrm>
            <a:off x="7406640" y="4343400"/>
            <a:ext cx="3968496" cy="1737360"/>
          </a:xfrm>
          <a:prstGeom prst="roundRect">
            <a:avLst>
              <a:gd name="adj" fmla="val 4211"/>
            </a:avLst>
          </a:prstGeom>
          <a:solidFill>
            <a:srgbClr val="F6DCCB"/>
          </a:solidFill>
          <a:ln w="12700">
            <a:solidFill>
              <a:srgbClr val="E2DDD0"/>
            </a:solidFill>
            <a:prstDash val="solid"/>
          </a:ln>
        </p:spPr>
      </p:sp>
      <p:sp>
        <p:nvSpPr>
          <p:cNvPr id="8" name="Text 4"/>
          <p:cNvSpPr txBox="1"/>
          <p:nvPr/>
        </p:nvSpPr>
        <p:spPr>
          <a:xfrm>
            <a:off x="7635240" y="4434840"/>
            <a:ext cx="3520440" cy="1554480"/>
          </a:xfrm>
          <a:prstGeom prst="rect">
            <a:avLst/>
          </a:prstGeom>
          <a:noFill/>
          <a:ln/>
        </p:spPr>
        <p:txBody>
          <a:bodyPr wrap="square" lIns="0" tIns="0" rIns="0" bIns="0" rtlCol="0" anchor="t"/>
          <a:lstStyle/>
          <a:p>
            <a:pPr indent="0" marL="0">
              <a:spcAft>
                <a:spcPts val="400"/>
              </a:spcAft>
              <a:buNone/>
            </a:pPr>
            <a:r>
              <a:rPr lang="en-US" sz="1300" b="1" dirty="0">
                <a:solidFill>
                  <a:srgbClr val="16213A"/>
                </a:solidFill>
                <a:latin typeface="IBM Plex Sans" pitchFamily="34" charset="0"/>
                <a:ea typeface="IBM Plex Sans" pitchFamily="34" charset="-122"/>
                <a:cs typeface="IBM Plex Sans" pitchFamily="34" charset="-120"/>
              </a:rPr>
              <a:t>Slightly optimistic.</a:t>
            </a:r>
            <a:endParaRPr lang="en-US" sz="1300" dirty="0"/>
          </a:p>
          <a:p>
            <a:pPr indent="0" marL="0">
              <a:spcAft>
                <a:spcPts val="400"/>
              </a:spcAft>
              <a:buNone/>
            </a:pPr>
            <a:r>
              <a:rPr lang="en-US" sz="1300" dirty="0">
                <a:solidFill>
                  <a:srgbClr val="3E4A5C"/>
                </a:solidFill>
                <a:latin typeface="IBM Plex Sans" pitchFamily="34" charset="0"/>
                <a:ea typeface="IBM Plex Sans" pitchFamily="34" charset="-122"/>
                <a:cs typeface="IBM Plex Sans" pitchFamily="34" charset="-120"/>
              </a:rPr>
              <a:t>Over 8 seeds, recorded beats fresh by 0.02 on average, up to 0.05. Single trials of one genotype ranged from 0.44 to 0.68. Try reps = 1: does the gap grow?</a:t>
            </a:r>
            <a:endParaRPr lang="en-US" sz="1300" dirty="0"/>
          </a:p>
        </p:txBody>
      </p:sp>
      <p:sp>
        <p:nvSpPr>
          <p:cNvPr id="9" name="Text 5"/>
          <p:cNvSpPr txBox="1"/>
          <p:nvPr/>
        </p:nvSpPr>
        <p:spPr>
          <a:xfrm>
            <a:off x="813816" y="6355080"/>
            <a:ext cx="10561320" cy="256032"/>
          </a:xfrm>
          <a:prstGeom prst="rect">
            <a:avLst/>
          </a:prstGeom>
          <a:noFill/>
          <a:ln/>
        </p:spPr>
        <p:txBody>
          <a:bodyPr wrap="square" lIns="0" tIns="0" rIns="0" bIns="0" rtlCol="0" anchor="ctr"/>
          <a:lstStyle/>
          <a:p>
            <a:pPr indent="0" marL="0">
              <a:buNone/>
            </a:pPr>
            <a:r>
              <a:rPr lang="en-US" sz="1000" dirty="0">
                <a:solidFill>
                  <a:srgbClr val="5E6878"/>
                </a:solidFill>
                <a:latin typeface="JetBrains Mono" pitchFamily="34" charset="0"/>
                <a:ea typeface="JetBrains Mono" pitchFamily="34" charset="-122"/>
                <a:cs typeface="JetBrains Mono" pitchFamily="34" charset="-120"/>
              </a:rPr>
              <a:t>seed 3 · dashed line: 200 fresh single trials · 8 seeds: recorded 0.55 to 0.70, fresh 0.56 to 0.66</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4EE"/>
        </a:solidFill>
      </p:bgPr>
    </p:bg>
    <p:spTree>
      <p:nvGrpSpPr>
        <p:cNvPr id="1" name=""/>
        <p:cNvGrpSpPr/>
        <p:nvPr/>
      </p:nvGrpSpPr>
      <p:grpSpPr>
        <a:xfrm>
          <a:off x="0" y="0"/>
          <a:ext cx="0" cy="0"/>
          <a:chOff x="0" y="0"/>
          <a:chExt cx="0" cy="0"/>
        </a:xfrm>
      </p:grpSpPr>
      <p:sp>
        <p:nvSpPr>
          <p:cNvPr id="2" name="Text 0"/>
          <p:cNvSpPr txBox="1"/>
          <p:nvPr/>
        </p:nvSpPr>
        <p:spPr>
          <a:xfrm>
            <a:off x="813816" y="548640"/>
            <a:ext cx="10561320" cy="274320"/>
          </a:xfrm>
          <a:prstGeom prst="rect">
            <a:avLst/>
          </a:prstGeom>
          <a:noFill/>
          <a:ln/>
        </p:spPr>
        <p:txBody>
          <a:bodyPr wrap="square" lIns="0" tIns="0" rIns="0" bIns="0" rtlCol="0" anchor="ctr"/>
          <a:lstStyle/>
          <a:p>
            <a:pPr indent="0" marL="0">
              <a:buNone/>
            </a:pPr>
            <a:r>
              <a:rPr lang="en-US" sz="1200" b="1" spc="100" kern="0" dirty="0">
                <a:solidFill>
                  <a:srgbClr val="B4521C"/>
                </a:solidFill>
                <a:latin typeface="IBM Plex Sans" pitchFamily="34" charset="0"/>
                <a:ea typeface="IBM Plex Sans" pitchFamily="34" charset="-122"/>
                <a:cs typeface="IBM Plex Sans" pitchFamily="34" charset="-120"/>
              </a:rPr>
              <a:t>DEMO</a:t>
            </a:r>
            <a:endParaRPr lang="en-US" sz="1200" dirty="0"/>
          </a:p>
        </p:txBody>
      </p:sp>
      <p:sp>
        <p:nvSpPr>
          <p:cNvPr id="3" name="Text 1"/>
          <p:cNvSpPr txBox="1"/>
          <p:nvPr/>
        </p:nvSpPr>
        <p:spPr>
          <a:xfrm>
            <a:off x="813816" y="841248"/>
            <a:ext cx="10561320" cy="548640"/>
          </a:xfrm>
          <a:prstGeom prst="rect">
            <a:avLst/>
          </a:prstGeom>
          <a:noFill/>
          <a:ln/>
        </p:spPr>
        <p:txBody>
          <a:bodyPr wrap="square" lIns="0" tIns="0" rIns="0" bIns="0" rtlCol="0" anchor="ctr"/>
          <a:lstStyle/>
          <a:p>
            <a:pPr indent="0" marL="0">
              <a:buNone/>
            </a:pPr>
            <a:r>
              <a:rPr lang="en-US" sz="3200" b="1" dirty="0">
                <a:solidFill>
                  <a:srgbClr val="16213A"/>
                </a:solidFill>
                <a:latin typeface="IBM Plex Sans" pitchFamily="34" charset="0"/>
                <a:ea typeface="IBM Plex Sans" pitchFamily="34" charset="-122"/>
                <a:cs typeface="IBM Plex Sans" pitchFamily="34" charset="-120"/>
              </a:rPr>
              <a:t>Run it: evolve, test, plot</a:t>
            </a:r>
            <a:endParaRPr lang="en-US" sz="3200" dirty="0"/>
          </a:p>
        </p:txBody>
      </p:sp>
      <p:sp>
        <p:nvSpPr>
          <p:cNvPr id="5" name="Shape 2"/>
          <p:cNvSpPr/>
          <p:nvPr/>
        </p:nvSpPr>
        <p:spPr>
          <a:xfrm>
            <a:off x="813816" y="1783080"/>
            <a:ext cx="6583680" cy="2651760"/>
          </a:xfrm>
          <a:prstGeom prst="roundRect">
            <a:avLst>
              <a:gd name="adj" fmla="val 2759"/>
            </a:avLst>
          </a:prstGeom>
          <a:solidFill>
            <a:srgbClr val="16213A"/>
          </a:solidFill>
          <a:ln w="12700">
            <a:solidFill>
              <a:srgbClr val="16213A"/>
            </a:solidFill>
            <a:prstDash val="solid"/>
          </a:ln>
        </p:spPr>
      </p:sp>
      <p:sp>
        <p:nvSpPr>
          <p:cNvPr id="6" name="Text 3"/>
          <p:cNvSpPr txBox="1"/>
          <p:nvPr/>
        </p:nvSpPr>
        <p:spPr>
          <a:xfrm>
            <a:off x="1042416" y="1965960"/>
            <a:ext cx="6126480" cy="2286000"/>
          </a:xfrm>
          <a:prstGeom prst="rect">
            <a:avLst/>
          </a:prstGeom>
          <a:noFill/>
          <a:ln/>
        </p:spPr>
        <p:txBody>
          <a:bodyPr wrap="square" lIns="0" tIns="0" rIns="0" bIns="0" rtlCol="0" anchor="t"/>
          <a:lstStyle/>
          <a:p>
            <a:pPr indent="0" marL="0">
              <a:spcAft>
                <a:spcPts val="200"/>
              </a:spcAft>
              <a:buNone/>
            </a:pPr>
            <a:r>
              <a:rPr lang="en-US" sz="1100" dirty="0">
                <a:solidFill>
                  <a:srgbClr val="E8E4D8"/>
                </a:solidFill>
                <a:latin typeface="JetBrains Mono" pitchFamily="34" charset="0"/>
                <a:ea typeface="JetBrains Mono" pitchFamily="34" charset="-122"/>
                <a:cs typeface="JetBrains Mono" pitchFamily="34" charset="-120"/>
              </a:rPr>
              <a:t>cd PythonBasics/Unit4</a:t>
            </a:r>
            <a:endParaRPr lang="en-US" sz="1100" dirty="0"/>
          </a:p>
          <a:p>
            <a:pPr indent="0" marL="0">
              <a:spcAft>
                <a:spcPts val="200"/>
              </a:spcAft>
              <a:buNone/>
            </a:pPr>
            <a:endParaRPr lang="en-US" sz="1100" dirty="0"/>
          </a:p>
          <a:p>
            <a:pPr indent="0" marL="0">
              <a:spcAft>
                <a:spcPts val="200"/>
              </a:spcAft>
              <a:buNone/>
            </a:pPr>
            <a:r>
              <a:rPr lang="en-US" sz="1100" dirty="0">
                <a:solidFill>
                  <a:srgbClr val="8FA0B8"/>
                </a:solidFill>
                <a:latin typeface="JetBrains Mono" pitchFamily="34" charset="0"/>
                <a:ea typeface="JetBrains Mono" pitchFamily="34" charset="-122"/>
                <a:cs typeface="JetBrains Mono" pitchFamily="34" charset="-120"/>
              </a:rPr>
              <a:t># 1. evolve (about 30 s): prints recorded and fresh fitness</a:t>
            </a:r>
            <a:endParaRPr lang="en-US" sz="1100" dirty="0"/>
          </a:p>
          <a:p>
            <a:pPr indent="0" marL="0">
              <a:spcAft>
                <a:spcPts val="200"/>
              </a:spcAft>
              <a:buNone/>
            </a:pPr>
            <a:r>
              <a:rPr lang="en-US" sz="1100" dirty="0">
                <a:solidFill>
                  <a:srgbClr val="E8E4D8"/>
                </a:solidFill>
                <a:latin typeface="JetBrains Mono" pitchFamily="34" charset="0"/>
                <a:ea typeface="JetBrains Mono" pitchFamily="34" charset="-122"/>
                <a:cs typeface="JetBrains Mono" pitchFamily="34" charset="-120"/>
              </a:rPr>
              <a:t>python3 evolve.py</a:t>
            </a:r>
            <a:endParaRPr lang="en-US" sz="1100" dirty="0"/>
          </a:p>
          <a:p>
            <a:pPr indent="0" marL="0">
              <a:spcAft>
                <a:spcPts val="200"/>
              </a:spcAft>
              <a:buNone/>
            </a:pPr>
            <a:endParaRPr lang="en-US" sz="1100" dirty="0"/>
          </a:p>
          <a:p>
            <a:pPr indent="0" marL="0">
              <a:spcAft>
                <a:spcPts val="200"/>
              </a:spcAft>
              <a:buNone/>
            </a:pPr>
            <a:r>
              <a:rPr lang="en-US" sz="1100" dirty="0">
                <a:solidFill>
                  <a:srgbClr val="8FA0B8"/>
                </a:solidFill>
                <a:latin typeface="JetBrains Mono" pitchFamily="34" charset="0"/>
                <a:ea typeface="JetBrains Mono" pitchFamily="34" charset="-122"/>
                <a:cs typeface="JetBrains Mono" pitchFamily="34" charset="-120"/>
              </a:rPr>
              <a:t># 2. test best.npy on 20 new trials: saves sim.npz</a:t>
            </a:r>
            <a:endParaRPr lang="en-US" sz="1100" dirty="0"/>
          </a:p>
          <a:p>
            <a:pPr indent="0" marL="0">
              <a:spcAft>
                <a:spcPts val="200"/>
              </a:spcAft>
              <a:buNone/>
            </a:pPr>
            <a:r>
              <a:rPr lang="en-US" sz="1100" dirty="0">
                <a:solidFill>
                  <a:srgbClr val="E8E4D8"/>
                </a:solidFill>
                <a:latin typeface="JetBrains Mono" pitchFamily="34" charset="0"/>
                <a:ea typeface="JetBrains Mono" pitchFamily="34" charset="-122"/>
                <a:cs typeface="JetBrains Mono" pitchFamily="34" charset="-120"/>
              </a:rPr>
              <a:t>python3 sim.py</a:t>
            </a:r>
            <a:endParaRPr lang="en-US" sz="1100" dirty="0"/>
          </a:p>
          <a:p>
            <a:pPr indent="0" marL="0">
              <a:spcAft>
                <a:spcPts val="200"/>
              </a:spcAft>
              <a:buNone/>
            </a:pPr>
            <a:endParaRPr lang="en-US" sz="1100" dirty="0"/>
          </a:p>
          <a:p>
            <a:pPr indent="0" marL="0">
              <a:spcAft>
                <a:spcPts val="200"/>
              </a:spcAft>
              <a:buNone/>
            </a:pPr>
            <a:r>
              <a:rPr lang="en-US" sz="1100" dirty="0">
                <a:solidFill>
                  <a:srgbClr val="8FA0B8"/>
                </a:solidFill>
                <a:latin typeface="JetBrains Mono" pitchFamily="34" charset="0"/>
                <a:ea typeface="JetBrains Mono" pitchFamily="34" charset="-122"/>
                <a:cs typeface="JetBrains Mono" pitchFamily="34" charset="-120"/>
              </a:rPr>
              <a:t># 3. trajectories and distance over time</a:t>
            </a:r>
            <a:endParaRPr lang="en-US" sz="1100" dirty="0"/>
          </a:p>
          <a:p>
            <a:pPr indent="0" marL="0">
              <a:spcAft>
                <a:spcPts val="200"/>
              </a:spcAft>
              <a:buNone/>
            </a:pPr>
            <a:r>
              <a:rPr lang="en-US" sz="1100" dirty="0">
                <a:solidFill>
                  <a:srgbClr val="E8E4D8"/>
                </a:solidFill>
                <a:latin typeface="JetBrains Mono" pitchFamily="34" charset="0"/>
                <a:ea typeface="JetBrains Mono" pitchFamily="34" charset="-122"/>
                <a:cs typeface="JetBrains Mono" pitchFamily="34" charset="-120"/>
              </a:rPr>
              <a:t>python3 viz.py</a:t>
            </a:r>
            <a:endParaRPr lang="en-US" sz="1100" dirty="0"/>
          </a:p>
        </p:txBody>
      </p:sp>
      <p:sp>
        <p:nvSpPr>
          <p:cNvPr id="7" name="Text 4"/>
          <p:cNvSpPr txBox="1"/>
          <p:nvPr/>
        </p:nvSpPr>
        <p:spPr>
          <a:xfrm>
            <a:off x="7680960" y="1783080"/>
            <a:ext cx="3657600" cy="274320"/>
          </a:xfrm>
          <a:prstGeom prst="rect">
            <a:avLst/>
          </a:prstGeom>
          <a:noFill/>
          <a:ln/>
        </p:spPr>
        <p:txBody>
          <a:bodyPr wrap="square" lIns="0" tIns="0" rIns="0" bIns="0" rtlCol="0" anchor="ctr"/>
          <a:lstStyle/>
          <a:p>
            <a:pPr indent="0" marL="0">
              <a:buNone/>
            </a:pPr>
            <a:r>
              <a:rPr lang="en-US" sz="1200" b="1" spc="100" kern="0" dirty="0">
                <a:solidFill>
                  <a:srgbClr val="B4521C"/>
                </a:solidFill>
                <a:latin typeface="IBM Plex Sans" pitchFamily="34" charset="0"/>
                <a:ea typeface="IBM Plex Sans" pitchFamily="34" charset="-122"/>
                <a:cs typeface="IBM Plex Sans" pitchFamily="34" charset="-120"/>
              </a:rPr>
              <a:t>WHAT TO WATCH</a:t>
            </a:r>
            <a:endParaRPr lang="en-US" sz="1200" dirty="0"/>
          </a:p>
        </p:txBody>
      </p:sp>
      <p:sp>
        <p:nvSpPr>
          <p:cNvPr id="8" name="Text 5"/>
          <p:cNvSpPr txBox="1"/>
          <p:nvPr/>
        </p:nvSpPr>
        <p:spPr>
          <a:xfrm>
            <a:off x="7680960" y="2148840"/>
            <a:ext cx="3694176" cy="3108960"/>
          </a:xfrm>
          <a:prstGeom prst="rect">
            <a:avLst/>
          </a:prstGeom>
          <a:noFill/>
          <a:ln/>
        </p:spPr>
        <p:txBody>
          <a:bodyPr wrap="square" lIns="0" tIns="0" rIns="0" bIns="0" rtlCol="0" anchor="t"/>
          <a:lstStyle/>
          <a:p>
            <a:pPr marL="203200" indent="-203200">
              <a:spcAft>
                <a:spcPts val="800"/>
              </a:spcAft>
              <a:buSzPct val="100000"/>
              <a:buChar char="•"/>
            </a:pPr>
            <a:r>
              <a:rPr lang="en-US" sz="1300" dirty="0">
                <a:solidFill>
                  <a:srgbClr val="3E4A5C"/>
                </a:solidFill>
                <a:latin typeface="IBM Plex Sans" pitchFamily="34" charset="0"/>
                <a:ea typeface="IBM Plex Sans" pitchFamily="34" charset="-122"/>
                <a:cs typeface="IBM Plex Sans" pitchFamily="34" charset="-120"/>
              </a:rPr>
              <a:t>Recorded vs fresh-trial fitness (printed)</a:t>
            </a:r>
            <a:endParaRPr lang="en-US" sz="1300" dirty="0"/>
          </a:p>
          <a:p>
            <a:pPr marL="203200" indent="-203200">
              <a:spcAft>
                <a:spcPts val="800"/>
              </a:spcAft>
              <a:buSzPct val="100000"/>
              <a:buChar char="•"/>
            </a:pPr>
            <a:r>
              <a:rPr lang="en-US" sz="1300" dirty="0">
                <a:solidFill>
                  <a:srgbClr val="3E4A5C"/>
                </a:solidFill>
                <a:latin typeface="IBM Plex Sans" pitchFamily="34" charset="0"/>
                <a:ea typeface="IBM Plex Sans" pitchFamily="34" charset="-122"/>
                <a:cs typeface="IBM Plex Sans" pitchFamily="34" charset="-120"/>
              </a:rPr>
              <a:t>Average fitness starts near 0.17 and climbs</a:t>
            </a:r>
            <a:endParaRPr lang="en-US" sz="1300" dirty="0"/>
          </a:p>
          <a:p>
            <a:pPr marL="203200" indent="-203200">
              <a:spcAft>
                <a:spcPts val="800"/>
              </a:spcAft>
              <a:buSzPct val="100000"/>
              <a:buChar char="•"/>
            </a:pPr>
            <a:r>
              <a:rPr lang="en-US" sz="1300" dirty="0">
                <a:solidFill>
                  <a:srgbClr val="3E4A5C"/>
                </a:solidFill>
                <a:latin typeface="IBM Plex Sans" pitchFamily="34" charset="0"/>
                <a:ea typeface="IBM Plex Sans" pitchFamily="34" charset="-122"/>
                <a:cs typeface="IBM Plex Sans" pitchFamily="34" charset="-120"/>
              </a:rPr>
              <a:t>Best jumps early, then only goes up</a:t>
            </a:r>
            <a:endParaRPr lang="en-US" sz="1300" dirty="0"/>
          </a:p>
          <a:p>
            <a:pPr marL="203200" indent="-203200">
              <a:spcAft>
                <a:spcPts val="800"/>
              </a:spcAft>
              <a:buSzPct val="100000"/>
              <a:buChar char="•"/>
            </a:pPr>
            <a:r>
              <a:rPr lang="en-US" sz="1300" dirty="0">
                <a:solidFill>
                  <a:srgbClr val="3E4A5C"/>
                </a:solidFill>
                <a:latin typeface="IBM Plex Sans" pitchFamily="34" charset="0"/>
                <a:ea typeface="IBM Plex Sans" pitchFamily="34" charset="-122"/>
                <a:cs typeface="IBM Plex Sans" pitchFamily="34" charset="-120"/>
              </a:rPr>
              <a:t>sim.py's fitness vs the one evolve.py printed</a:t>
            </a:r>
            <a:endParaRPr lang="en-US" sz="1300" dirty="0"/>
          </a:p>
          <a:p>
            <a:pPr marL="203200" indent="-203200">
              <a:spcAft>
                <a:spcPts val="800"/>
              </a:spcAft>
              <a:buSzPct val="100000"/>
              <a:buChar char="•"/>
            </a:pPr>
            <a:r>
              <a:rPr lang="en-US" sz="1300" dirty="0">
                <a:solidFill>
                  <a:srgbClr val="3E4A5C"/>
                </a:solidFill>
                <a:latin typeface="IBM Plex Sans" pitchFamily="34" charset="0"/>
                <a:ea typeface="IBM Plex Sans" pitchFamily="34" charset="-122"/>
                <a:cs typeface="IBM Plex Sans" pitchFamily="34" charset="-120"/>
              </a:rPr>
              <a:t>Do all trajectories reach the light?</a:t>
            </a:r>
            <a:endParaRPr lang="en-US" sz="1300" dirty="0"/>
          </a:p>
        </p:txBody>
      </p:sp>
      <p:sp>
        <p:nvSpPr>
          <p:cNvPr id="9" name="Shape 6"/>
          <p:cNvSpPr/>
          <p:nvPr/>
        </p:nvSpPr>
        <p:spPr>
          <a:xfrm>
            <a:off x="813816" y="4709160"/>
            <a:ext cx="10561320" cy="1280160"/>
          </a:xfrm>
          <a:prstGeom prst="roundRect">
            <a:avLst>
              <a:gd name="adj" fmla="val 5714"/>
            </a:avLst>
          </a:prstGeom>
          <a:solidFill>
            <a:srgbClr val="ECE8DE"/>
          </a:solidFill>
          <a:ln w="12700">
            <a:solidFill>
              <a:srgbClr val="E2DDD0"/>
            </a:solidFill>
            <a:prstDash val="solid"/>
          </a:ln>
        </p:spPr>
      </p:sp>
      <p:sp>
        <p:nvSpPr>
          <p:cNvPr id="10" name="Text 7"/>
          <p:cNvSpPr txBox="1"/>
          <p:nvPr/>
        </p:nvSpPr>
        <p:spPr>
          <a:xfrm>
            <a:off x="1088136" y="4846320"/>
            <a:ext cx="5486400" cy="274320"/>
          </a:xfrm>
          <a:prstGeom prst="rect">
            <a:avLst/>
          </a:prstGeom>
          <a:noFill/>
          <a:ln/>
        </p:spPr>
        <p:txBody>
          <a:bodyPr wrap="square" lIns="0" tIns="0" rIns="0" bIns="0" rtlCol="0" anchor="ctr"/>
          <a:lstStyle/>
          <a:p>
            <a:pPr indent="0" marL="0">
              <a:buNone/>
            </a:pPr>
            <a:r>
              <a:rPr lang="en-US" sz="1200" b="1" spc="100" kern="0" dirty="0">
                <a:solidFill>
                  <a:srgbClr val="1D6F66"/>
                </a:solidFill>
                <a:latin typeface="IBM Plex Sans" pitchFamily="34" charset="0"/>
                <a:ea typeface="IBM Plex Sans" pitchFamily="34" charset="-122"/>
                <a:cs typeface="IBM Plex Sans" pitchFamily="34" charset="-120"/>
              </a:rPr>
              <a:t>THEN CHANGE ONE THING</a:t>
            </a:r>
            <a:endParaRPr lang="en-US" sz="1200" dirty="0"/>
          </a:p>
        </p:txBody>
      </p:sp>
      <p:sp>
        <p:nvSpPr>
          <p:cNvPr id="11" name="Text 8"/>
          <p:cNvSpPr txBox="1"/>
          <p:nvPr/>
        </p:nvSpPr>
        <p:spPr>
          <a:xfrm>
            <a:off x="1088136" y="5166360"/>
            <a:ext cx="10012680" cy="731520"/>
          </a:xfrm>
          <a:prstGeom prst="rect">
            <a:avLst/>
          </a:prstGeom>
          <a:noFill/>
          <a:ln/>
        </p:spPr>
        <p:txBody>
          <a:bodyPr wrap="square" lIns="0" tIns="0" rIns="0" bIns="0" rtlCol="0" anchor="t"/>
          <a:lstStyle/>
          <a:p>
            <a:pPr indent="0" marL="0">
              <a:buNone/>
            </a:pPr>
            <a:r>
              <a:rPr lang="en-US" sz="1300" b="1" dirty="0">
                <a:solidFill>
                  <a:srgbClr val="16213A"/>
                </a:solidFill>
                <a:latin typeface="IBM Plex Sans" pitchFamily="34" charset="0"/>
                <a:ea typeface="IBM Plex Sans" pitchFamily="34" charset="-122"/>
                <a:cs typeface="IBM Plex Sans" pitchFamily="34" charset="-120"/>
              </a:rPr>
              <a:t>Task: </a:t>
            </a:r>
            <a:pPr indent="0" marL="0">
              <a:buNone/>
            </a:pPr>
            <a:r>
              <a:rPr lang="en-US" sz="1300" dirty="0">
                <a:solidFill>
                  <a:srgbClr val="3E4A5C"/>
                </a:solidFill>
                <a:latin typeface="IBM Plex Sans" pitchFamily="34" charset="0"/>
                <a:ea typeface="IBM Plex Sans" pitchFamily="34" charset="-122"/>
                <a:cs typeface="IBM Plex Sans" pitchFamily="34" charset="-120"/>
              </a:rPr>
              <a:t>duration, distance (config.py), reps.   </a:t>
            </a:r>
            <a:pPr indent="0" marL="0">
              <a:buNone/>
            </a:pPr>
            <a:r>
              <a:rPr lang="en-US" sz="1300" b="1" dirty="0">
                <a:solidFill>
                  <a:srgbClr val="16213A"/>
                </a:solidFill>
                <a:latin typeface="IBM Plex Sans" pitchFamily="34" charset="0"/>
                <a:ea typeface="IBM Plex Sans" pitchFamily="34" charset="-122"/>
                <a:cs typeface="IBM Plex Sans" pitchFamily="34" charset="-120"/>
              </a:rPr>
              <a:t>Network: </a:t>
            </a:r>
            <a:pPr indent="0" marL="0">
              <a:buNone/>
            </a:pPr>
            <a:r>
              <a:rPr lang="en-US" sz="1300" dirty="0">
                <a:solidFill>
                  <a:srgbClr val="3E4A5C"/>
                </a:solidFill>
                <a:latin typeface="IBM Plex Sans" pitchFamily="34" charset="0"/>
                <a:ea typeface="IBM Plex Sans" pitchFamily="34" charset="-122"/>
                <a:cs typeface="IBM Plex Sans" pitchFamily="34" charset="-120"/>
              </a:rPr>
              <a:t>layers, weightrange (config.py).   </a:t>
            </a:r>
            <a:pPr indent="0" marL="0">
              <a:buNone/>
            </a:pPr>
            <a:r>
              <a:rPr lang="en-US" sz="1300" b="1" dirty="0">
                <a:solidFill>
                  <a:srgbClr val="16213A"/>
                </a:solidFill>
                <a:latin typeface="IBM Plex Sans" pitchFamily="34" charset="0"/>
                <a:ea typeface="IBM Plex Sans" pitchFamily="34" charset="-122"/>
                <a:cs typeface="IBM Plex Sans" pitchFamily="34" charset="-120"/>
              </a:rPr>
              <a:t>Algorithm: </a:t>
            </a:r>
            <a:pPr indent="0" marL="0">
              <a:buNone/>
            </a:pPr>
            <a:r>
              <a:rPr lang="en-US" sz="1300" dirty="0">
                <a:solidFill>
                  <a:srgbClr val="3E4A5C"/>
                </a:solidFill>
                <a:latin typeface="IBM Plex Sans" pitchFamily="34" charset="0"/>
                <a:ea typeface="IBM Plex Sans" pitchFamily="34" charset="-122"/>
                <a:cs typeface="IBM Plex Sans" pitchFamily="34" charset="-120"/>
              </a:rPr>
              <a:t>popsize, generations, mutatStd, or swap ea.Microbial for another class in eas.py.</a:t>
            </a:r>
            <a:endParaRPr lang="en-US" sz="1300" dirty="0"/>
          </a:p>
        </p:txBody>
      </p:sp>
      <p:sp>
        <p:nvSpPr>
          <p:cNvPr id="12" name="Text 9"/>
          <p:cNvSpPr txBox="1"/>
          <p:nvPr/>
        </p:nvSpPr>
        <p:spPr>
          <a:xfrm>
            <a:off x="813816" y="6355080"/>
            <a:ext cx="10561320" cy="256032"/>
          </a:xfrm>
          <a:prstGeom prst="rect">
            <a:avLst/>
          </a:prstGeom>
          <a:noFill/>
          <a:ln/>
        </p:spPr>
        <p:txBody>
          <a:bodyPr wrap="square" lIns="0" tIns="0" rIns="0" bIns="0" rtlCol="0" anchor="ctr"/>
          <a:lstStyle/>
          <a:p>
            <a:pPr indent="0" marL="0">
              <a:buNone/>
            </a:pPr>
            <a:r>
              <a:rPr lang="en-US" sz="1000" dirty="0">
                <a:solidFill>
                  <a:srgbClr val="5E6878"/>
                </a:solidFill>
                <a:latin typeface="JetBrains Mono" pitchFamily="34" charset="0"/>
                <a:ea typeface="JetBrains Mono" pitchFamily="34" charset="-122"/>
                <a:cs typeface="JetBrains Mono" pitchFamily="34" charset="-120"/>
              </a:rPr>
              <a:t>PythonBasics/Unit4/README.md</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4EE"/>
        </a:solidFill>
      </p:bgPr>
    </p:bg>
    <p:spTree>
      <p:nvGrpSpPr>
        <p:cNvPr id="1" name=""/>
        <p:cNvGrpSpPr/>
        <p:nvPr/>
      </p:nvGrpSpPr>
      <p:grpSpPr>
        <a:xfrm>
          <a:off x="0" y="0"/>
          <a:ext cx="0" cy="0"/>
          <a:chOff x="0" y="0"/>
          <a:chExt cx="0" cy="0"/>
        </a:xfrm>
      </p:grpSpPr>
      <p:sp>
        <p:nvSpPr>
          <p:cNvPr id="2" name="Text 0"/>
          <p:cNvSpPr txBox="1"/>
          <p:nvPr/>
        </p:nvSpPr>
        <p:spPr>
          <a:xfrm>
            <a:off x="813816" y="548640"/>
            <a:ext cx="10561320" cy="274320"/>
          </a:xfrm>
          <a:prstGeom prst="rect">
            <a:avLst/>
          </a:prstGeom>
          <a:noFill/>
          <a:ln/>
        </p:spPr>
        <p:txBody>
          <a:bodyPr wrap="square" lIns="0" tIns="0" rIns="0" bIns="0" rtlCol="0" anchor="ctr"/>
          <a:lstStyle/>
          <a:p>
            <a:pPr indent="0" marL="0">
              <a:buNone/>
            </a:pPr>
            <a:r>
              <a:rPr lang="en-US" sz="1200" b="1" spc="100" kern="0" dirty="0">
                <a:solidFill>
                  <a:srgbClr val="B4521C"/>
                </a:solidFill>
                <a:latin typeface="IBM Plex Sans" pitchFamily="34" charset="0"/>
                <a:ea typeface="IBM Plex Sans" pitchFamily="34" charset="-122"/>
                <a:cs typeface="IBM Plex Sans" pitchFamily="34" charset="-120"/>
              </a:rPr>
              <a:t>WHAT EVOLUTION FOUND</a:t>
            </a:r>
            <a:endParaRPr lang="en-US" sz="1200" dirty="0"/>
          </a:p>
        </p:txBody>
      </p:sp>
      <p:sp>
        <p:nvSpPr>
          <p:cNvPr id="3" name="Text 1"/>
          <p:cNvSpPr txBox="1"/>
          <p:nvPr/>
        </p:nvSpPr>
        <p:spPr>
          <a:xfrm>
            <a:off x="813816" y="841248"/>
            <a:ext cx="10561320" cy="548640"/>
          </a:xfrm>
          <a:prstGeom prst="rect">
            <a:avLst/>
          </a:prstGeom>
          <a:noFill/>
          <a:ln/>
        </p:spPr>
        <p:txBody>
          <a:bodyPr wrap="square" lIns="0" tIns="0" rIns="0" bIns="0" rtlCol="0" anchor="ctr"/>
          <a:lstStyle/>
          <a:p>
            <a:pPr indent="0" marL="0">
              <a:buNone/>
            </a:pPr>
            <a:r>
              <a:rPr lang="en-US" sz="3200" b="1" dirty="0">
                <a:solidFill>
                  <a:srgbClr val="16213A"/>
                </a:solidFill>
                <a:latin typeface="IBM Plex Sans" pitchFamily="34" charset="0"/>
                <a:ea typeface="IBM Plex Sans" pitchFamily="34" charset="-122"/>
                <a:cs typeface="IBM Plex Sans" pitchFamily="34" charset="-120"/>
              </a:rPr>
              <a:t>Smooth paths, and nearly every start arrives</a:t>
            </a:r>
            <a:endParaRPr lang="en-US" sz="3200" dirty="0"/>
          </a:p>
        </p:txBody>
      </p:sp>
      <p:pic>
        <p:nvPicPr>
          <p:cNvPr id="5" name="Image 0" descr="/private/tmp/claude-501/-Users-edizquie-Documents-GitHub-ECE497-Fall2026-PythonBasics/b1361503-7cb3-4cd7-872d-6a473a880a67/scratchpad/fig4_sim.png">    </p:cNvPr>
          <p:cNvPicPr>
            <a:picLocks noChangeAspect="1"/>
          </p:cNvPicPr>
          <p:nvPr/>
        </p:nvPicPr>
        <p:blipFill>
          <a:blip r:embed="rId1"/>
          <a:stretch>
            <a:fillRect/>
          </a:stretch>
        </p:blipFill>
        <p:spPr>
          <a:xfrm>
            <a:off x="813816" y="1691640"/>
            <a:ext cx="6675120" cy="3003804"/>
          </a:xfrm>
          <a:prstGeom prst="rect">
            <a:avLst/>
          </a:prstGeom>
        </p:spPr>
      </p:pic>
      <p:sp>
        <p:nvSpPr>
          <p:cNvPr id="6" name="Text 2"/>
          <p:cNvSpPr txBox="1"/>
          <p:nvPr/>
        </p:nvSpPr>
        <p:spPr>
          <a:xfrm>
            <a:off x="7818120" y="1783080"/>
            <a:ext cx="3566160" cy="2651760"/>
          </a:xfrm>
          <a:prstGeom prst="rect">
            <a:avLst/>
          </a:prstGeom>
          <a:noFill/>
          <a:ln/>
        </p:spPr>
        <p:txBody>
          <a:bodyPr wrap="square" lIns="0" tIns="0" rIns="0" bIns="0" rtlCol="0" anchor="t"/>
          <a:lstStyle/>
          <a:p>
            <a:pPr marL="203200" indent="-203200">
              <a:spcAft>
                <a:spcPts val="800"/>
              </a:spcAft>
              <a:buSzPct val="100000"/>
              <a:buChar char="•"/>
            </a:pPr>
            <a:r>
              <a:rPr lang="en-US" sz="1300" b="1" dirty="0">
                <a:solidFill>
                  <a:srgbClr val="16213A"/>
                </a:solidFill>
                <a:latin typeface="IBM Plex Sans" pitchFamily="34" charset="0"/>
                <a:ea typeface="IBM Plex Sans" pitchFamily="34" charset="-122"/>
                <a:cs typeface="IBM Plex Sans" pitchFamily="34" charset="-120"/>
              </a:rPr>
              <a:t>19 of 20 trials </a:t>
            </a:r>
            <a:pPr indent="0" marL="0">
              <a:spcAft>
                <a:spcPts val="800"/>
              </a:spcAft>
              <a:buNone/>
            </a:pPr>
            <a:r>
              <a:rPr lang="en-US" sz="1300" dirty="0">
                <a:solidFill>
                  <a:srgbClr val="3E4A5C"/>
                </a:solidFill>
                <a:latin typeface="IBM Plex Sans" pitchFamily="34" charset="0"/>
                <a:ea typeface="IBM Plex Sans" pitchFamily="34" charset="-122"/>
                <a:cs typeface="IBM Plex Sans" pitchFamily="34" charset="-120"/>
              </a:rPr>
              <a:t>arrive, most by step 60 to 100, and stay.</a:t>
            </a:r>
            <a:endParaRPr lang="en-US" sz="1300" dirty="0"/>
          </a:p>
          <a:p>
            <a:pPr marL="203200" indent="-203200">
              <a:spcAft>
                <a:spcPts val="800"/>
              </a:spcAft>
              <a:buSzPct val="100000"/>
              <a:buChar char="•"/>
            </a:pPr>
            <a:r>
              <a:rPr lang="en-US" sz="1300" b="1" dirty="0">
                <a:solidFill>
                  <a:srgbClr val="16213A"/>
                </a:solidFill>
                <a:latin typeface="IBM Plex Sans" pitchFamily="34" charset="0"/>
                <a:ea typeface="IBM Plex Sans" pitchFamily="34" charset="-122"/>
                <a:cs typeface="IBM Plex Sans" pitchFamily="34" charset="-120"/>
              </a:rPr>
              <a:t>Smooth curved paths, </a:t>
            </a:r>
            <a:pPr indent="0" marL="0">
              <a:spcAft>
                <a:spcPts val="800"/>
              </a:spcAft>
              <a:buNone/>
            </a:pPr>
            <a:r>
              <a:rPr lang="en-US" sz="1300" dirty="0">
                <a:solidFill>
                  <a:srgbClr val="3E4A5C"/>
                </a:solidFill>
                <a:latin typeface="IBM Plex Sans" pitchFamily="34" charset="0"/>
                <a:ea typeface="IBM Plex Sans" pitchFamily="34" charset="-122"/>
                <a:cs typeface="IBM Plex Sans" pitchFamily="34" charset="-120"/>
              </a:rPr>
              <a:t>with only small wiggles from motion noise.</a:t>
            </a:r>
            <a:endParaRPr lang="en-US" sz="1300" dirty="0"/>
          </a:p>
          <a:p>
            <a:pPr marL="203200" indent="-203200">
              <a:spcAft>
                <a:spcPts val="800"/>
              </a:spcAft>
              <a:buSzPct val="100000"/>
              <a:buChar char="•"/>
            </a:pPr>
            <a:r>
              <a:rPr lang="en-US" sz="1300" b="1" dirty="0">
                <a:solidFill>
                  <a:srgbClr val="16213A"/>
                </a:solidFill>
                <a:latin typeface="IBM Plex Sans" pitchFamily="34" charset="0"/>
                <a:ea typeface="IBM Plex Sans" pitchFamily="34" charset="-122"/>
                <a:cs typeface="IBM Plex Sans" pitchFamily="34" charset="-120"/>
              </a:rPr>
              <a:t>One start fails: </a:t>
            </a:r>
            <a:pPr indent="0" marL="0">
              <a:spcAft>
                <a:spcPts val="800"/>
              </a:spcAft>
              <a:buNone/>
            </a:pPr>
            <a:r>
              <a:rPr lang="en-US" sz="1300" dirty="0">
                <a:solidFill>
                  <a:srgbClr val="3E4A5C"/>
                </a:solidFill>
                <a:latin typeface="IBM Plex Sans" pitchFamily="34" charset="0"/>
                <a:ea typeface="IBM Plex Sans" pitchFamily="34" charset="-122"/>
                <a:cs typeface="IBM Plex Sans" pitchFamily="34" charset="-120"/>
              </a:rPr>
              <a:t>it drives away. 300 fresh trials: 99% arrive.</a:t>
            </a:r>
            <a:endParaRPr lang="en-US" sz="1300" dirty="0"/>
          </a:p>
        </p:txBody>
      </p:sp>
      <p:sp>
        <p:nvSpPr>
          <p:cNvPr id="7" name="Shape 3"/>
          <p:cNvSpPr/>
          <p:nvPr/>
        </p:nvSpPr>
        <p:spPr>
          <a:xfrm>
            <a:off x="7818120" y="4023360"/>
            <a:ext cx="3557016" cy="2011680"/>
          </a:xfrm>
          <a:prstGeom prst="roundRect">
            <a:avLst>
              <a:gd name="adj" fmla="val 3636"/>
            </a:avLst>
          </a:prstGeom>
          <a:solidFill>
            <a:srgbClr val="F6DCCB"/>
          </a:solidFill>
          <a:ln w="12700">
            <a:solidFill>
              <a:srgbClr val="E2DDD0"/>
            </a:solidFill>
            <a:prstDash val="solid"/>
          </a:ln>
        </p:spPr>
      </p:sp>
      <p:sp>
        <p:nvSpPr>
          <p:cNvPr id="8" name="Text 4"/>
          <p:cNvSpPr txBox="1"/>
          <p:nvPr/>
        </p:nvSpPr>
        <p:spPr>
          <a:xfrm>
            <a:off x="8046720" y="4114800"/>
            <a:ext cx="3108960" cy="1828800"/>
          </a:xfrm>
          <a:prstGeom prst="rect">
            <a:avLst/>
          </a:prstGeom>
          <a:noFill/>
          <a:ln/>
        </p:spPr>
        <p:txBody>
          <a:bodyPr wrap="square" lIns="0" tIns="0" rIns="0" bIns="0" rtlCol="0" anchor="t"/>
          <a:lstStyle/>
          <a:p>
            <a:pPr indent="0" marL="0">
              <a:spcAft>
                <a:spcPts val="400"/>
              </a:spcAft>
              <a:buNone/>
            </a:pPr>
            <a:r>
              <a:rPr lang="en-US" sz="1300" b="1" dirty="0">
                <a:solidFill>
                  <a:srgbClr val="16213A"/>
                </a:solidFill>
                <a:latin typeface="IBM Plex Sans" pitchFamily="34" charset="0"/>
                <a:ea typeface="IBM Plex Sans" pitchFamily="34" charset="-122"/>
                <a:cs typeface="IBM Plex Sans" pitchFamily="34" charset="-120"/>
              </a:rPr>
              <a:t>Discuss</a:t>
            </a:r>
            <a:endParaRPr lang="en-US" sz="1300" dirty="0"/>
          </a:p>
          <a:p>
            <a:pPr indent="0" marL="0">
              <a:spcAft>
                <a:spcPts val="400"/>
              </a:spcAft>
              <a:buNone/>
            </a:pPr>
            <a:r>
              <a:rPr lang="en-US" sz="1300" dirty="0">
                <a:solidFill>
                  <a:srgbClr val="3E4A5C"/>
                </a:solidFill>
                <a:latin typeface="IBM Plex Sans" pitchFamily="34" charset="0"/>
                <a:ea typeface="IBM Plex Sans" pitchFamily="34" charset="-122"/>
                <a:cs typeface="IBM Plex Sans" pitchFamily="34" charset="-120"/>
              </a:rPr>
              <a:t>Why does one start fail? Motors cannot reverse now, so what could evolution do about a start facing away? More trials, more generations?</a:t>
            </a:r>
            <a:endParaRPr lang="en-US" sz="1300" dirty="0"/>
          </a:p>
        </p:txBody>
      </p:sp>
      <p:sp>
        <p:nvSpPr>
          <p:cNvPr id="9" name="Text 5"/>
          <p:cNvSpPr txBox="1"/>
          <p:nvPr/>
        </p:nvSpPr>
        <p:spPr>
          <a:xfrm>
            <a:off x="813816" y="6355080"/>
            <a:ext cx="10561320" cy="256032"/>
          </a:xfrm>
          <a:prstGeom prst="rect">
            <a:avLst/>
          </a:prstGeom>
          <a:noFill/>
          <a:ln/>
        </p:spPr>
        <p:txBody>
          <a:bodyPr wrap="square" lIns="0" tIns="0" rIns="0" bIns="0" rtlCol="0" anchor="ctr"/>
          <a:lstStyle/>
          <a:p>
            <a:pPr indent="0" marL="0">
              <a:buNone/>
            </a:pPr>
            <a:r>
              <a:rPr lang="en-US" sz="1000" dirty="0">
                <a:solidFill>
                  <a:srgbClr val="5E6878"/>
                </a:solidFill>
                <a:latin typeface="JetBrains Mono" pitchFamily="34" charset="0"/>
                <a:ea typeface="JetBrains Mono" pitchFamily="34" charset="-122"/>
                <a:cs typeface="JetBrains Mono" pitchFamily="34" charset="-120"/>
              </a:rPr>
              <a:t>PythonBasics/Unit4 · sim.py + viz.py · seed 3</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4EE"/>
        </a:solidFill>
      </p:bgPr>
    </p:bg>
    <p:spTree>
      <p:nvGrpSpPr>
        <p:cNvPr id="1" name=""/>
        <p:cNvGrpSpPr/>
        <p:nvPr/>
      </p:nvGrpSpPr>
      <p:grpSpPr>
        <a:xfrm>
          <a:off x="0" y="0"/>
          <a:ext cx="0" cy="0"/>
          <a:chOff x="0" y="0"/>
          <a:chExt cx="0" cy="0"/>
        </a:xfrm>
      </p:grpSpPr>
      <p:sp>
        <p:nvSpPr>
          <p:cNvPr id="2" name="Text 0"/>
          <p:cNvSpPr txBox="1"/>
          <p:nvPr/>
        </p:nvSpPr>
        <p:spPr>
          <a:xfrm>
            <a:off x="813816" y="548640"/>
            <a:ext cx="10561320" cy="274320"/>
          </a:xfrm>
          <a:prstGeom prst="rect">
            <a:avLst/>
          </a:prstGeom>
          <a:noFill/>
          <a:ln/>
        </p:spPr>
        <p:txBody>
          <a:bodyPr wrap="square" lIns="0" tIns="0" rIns="0" bIns="0" rtlCol="0" anchor="ctr"/>
          <a:lstStyle/>
          <a:p>
            <a:pPr indent="0" marL="0">
              <a:buNone/>
            </a:pPr>
            <a:r>
              <a:rPr lang="en-US" sz="1200" b="1" spc="100" kern="0" dirty="0">
                <a:solidFill>
                  <a:srgbClr val="B4521C"/>
                </a:solidFill>
                <a:latin typeface="IBM Plex Sans" pitchFamily="34" charset="0"/>
                <a:ea typeface="IBM Plex Sans" pitchFamily="34" charset="-122"/>
                <a:cs typeface="IBM Plex Sans" pitchFamily="34" charset="-120"/>
              </a:rPr>
              <a:t>PROJECT 4 · THE OFFICIAL VERSION</a:t>
            </a:r>
            <a:endParaRPr lang="en-US" sz="1200" dirty="0"/>
          </a:p>
        </p:txBody>
      </p:sp>
      <p:sp>
        <p:nvSpPr>
          <p:cNvPr id="3" name="Text 1"/>
          <p:cNvSpPr txBox="1"/>
          <p:nvPr/>
        </p:nvSpPr>
        <p:spPr>
          <a:xfrm>
            <a:off x="813816" y="841248"/>
            <a:ext cx="10561320" cy="548640"/>
          </a:xfrm>
          <a:prstGeom prst="rect">
            <a:avLst/>
          </a:prstGeom>
          <a:noFill/>
          <a:ln/>
        </p:spPr>
        <p:txBody>
          <a:bodyPr wrap="square" lIns="0" tIns="0" rIns="0" bIns="0" rtlCol="0" anchor="ctr"/>
          <a:lstStyle/>
          <a:p>
            <a:pPr indent="0" marL="0">
              <a:buNone/>
            </a:pPr>
            <a:r>
              <a:rPr lang="en-US" sz="3200" b="1" dirty="0">
                <a:solidFill>
                  <a:srgbClr val="16213A"/>
                </a:solidFill>
                <a:latin typeface="IBM Plex Sans" pitchFamily="34" charset="0"/>
                <a:ea typeface="IBM Plex Sans" pitchFamily="34" charset="-122"/>
                <a:cs typeface="IBM Plex Sans" pitchFamily="34" charset="-120"/>
              </a:rPr>
              <a:t>Same pipeline in PyTorch and EvoTorch</a:t>
            </a:r>
            <a:endParaRPr lang="en-US" sz="3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813816" y="1737360"/>
          <a:ext cx="10561320" cy="914400"/>
        </p:xfrm>
        <a:graphic>
          <a:graphicData uri="http://schemas.openxmlformats.org/drawingml/2006/table">
            <a:tbl>
              <a:tblPr/>
              <a:tblGrid>
                <a:gridCol w="1737360"/>
                <a:gridCol w="3657600"/>
                <a:gridCol w="5166360"/>
              </a:tblGrid>
              <a:tr h="502920">
                <a:tc>
                  <a:txBody>
                    <a:bodyPr/>
                    <a:lstStyle/>
                    <a:p>
                      <a:pPr indent="0" marL="0">
                        <a:buNone/>
                      </a:pPr>
                      <a:endParaRPr lang="en-US" sz="1300" dirty="0">
                        <a:latin typeface="IBM Plex Sans" charset="0"/>
                        <a:ea typeface="IBM Plex Sans" charset="0"/>
                        <a:cs typeface="IBM Plex Sans" charset="0"/>
                      </a:endParaRPr>
                    </a:p>
                  </a:txBody>
                  <a:tcPr marL="109728" marR="109728" marT="45720" marB="45720" anchor="ctr">
                    <a:lnL w="12700" cap="flat" cmpd="sng" algn="ctr">
                      <a:solidFill>
                        <a:srgbClr val="E2DDD0"/>
                      </a:solidFill>
                      <a:prstDash val="solid"/>
                      <a:round/>
                      <a:headEnd type="none" w="med" len="med"/>
                      <a:tailEnd type="none" w="med" len="med"/>
                    </a:lnL>
                    <a:lnR w="12700" cap="flat" cmpd="sng" algn="ctr">
                      <a:solidFill>
                        <a:srgbClr val="E2DDD0"/>
                      </a:solidFill>
                      <a:prstDash val="solid"/>
                      <a:round/>
                      <a:headEnd type="none" w="med" len="med"/>
                      <a:tailEnd type="none" w="med" len="med"/>
                    </a:lnR>
                    <a:lnT w="12700" cap="flat" cmpd="sng" algn="ctr">
                      <a:solidFill>
                        <a:srgbClr val="E2DDD0"/>
                      </a:solidFill>
                      <a:prstDash val="solid"/>
                      <a:round/>
                      <a:headEnd type="none" w="med" len="med"/>
                      <a:tailEnd type="none" w="med" len="med"/>
                    </a:lnT>
                    <a:lnB w="12700" cap="flat" cmpd="sng" algn="ctr">
                      <a:solidFill>
                        <a:srgbClr val="E2DDD0"/>
                      </a:solidFill>
                      <a:prstDash val="solid"/>
                      <a:round/>
                      <a:headEnd type="none" w="med" len="med"/>
                      <a:tailEnd type="none" w="med" len="med"/>
                    </a:lnB>
                    <a:solidFill>
                      <a:srgbClr val="16213A"/>
                    </a:solidFill>
                  </a:tcPr>
                </a:tc>
                <a:tc>
                  <a:txBody>
                    <a:bodyPr/>
                    <a:lstStyle/>
                    <a:p>
                      <a:pPr indent="0" marL="0">
                        <a:buNone/>
                      </a:pPr>
                      <a:r>
                        <a:rPr lang="en-US" sz="1300" b="1" dirty="0">
                          <a:solidFill>
                            <a:srgbClr val="F6F4EE"/>
                          </a:solidFill>
                          <a:latin typeface="IBM Plex Sans" pitchFamily="34" charset="0"/>
                          <a:ea typeface="IBM Plex Sans" pitchFamily="34" charset="-122"/>
                          <a:cs typeface="IBM Plex Sans" pitchFamily="34" charset="-120"/>
                        </a:rPr>
                        <a:t>Unit 4 demo (plain Python)</a:t>
                      </a:r>
                      <a:endParaRPr lang="en-US" sz="1300" dirty="0">
                        <a:latin typeface="IBM Plex Sans" charset="0"/>
                        <a:ea typeface="IBM Plex Sans" charset="0"/>
                        <a:cs typeface="IBM Plex Sans" charset="0"/>
                      </a:endParaRPr>
                    </a:p>
                  </a:txBody>
                  <a:tcPr marL="109728" marR="109728" marT="45720" marB="45720" anchor="ctr">
                    <a:lnL w="12700" cap="flat" cmpd="sng" algn="ctr">
                      <a:solidFill>
                        <a:srgbClr val="E2DDD0"/>
                      </a:solidFill>
                      <a:prstDash val="solid"/>
                      <a:round/>
                      <a:headEnd type="none" w="med" len="med"/>
                      <a:tailEnd type="none" w="med" len="med"/>
                    </a:lnL>
                    <a:lnR w="12700" cap="flat" cmpd="sng" algn="ctr">
                      <a:solidFill>
                        <a:srgbClr val="E2DDD0"/>
                      </a:solidFill>
                      <a:prstDash val="solid"/>
                      <a:round/>
                      <a:headEnd type="none" w="med" len="med"/>
                      <a:tailEnd type="none" w="med" len="med"/>
                    </a:lnR>
                    <a:lnT w="12700" cap="flat" cmpd="sng" algn="ctr">
                      <a:solidFill>
                        <a:srgbClr val="E2DDD0"/>
                      </a:solidFill>
                      <a:prstDash val="solid"/>
                      <a:round/>
                      <a:headEnd type="none" w="med" len="med"/>
                      <a:tailEnd type="none" w="med" len="med"/>
                    </a:lnT>
                    <a:lnB w="12700" cap="flat" cmpd="sng" algn="ctr">
                      <a:solidFill>
                        <a:srgbClr val="E2DDD0"/>
                      </a:solidFill>
                      <a:prstDash val="solid"/>
                      <a:round/>
                      <a:headEnd type="none" w="med" len="med"/>
                      <a:tailEnd type="none" w="med" len="med"/>
                    </a:lnB>
                    <a:solidFill>
                      <a:srgbClr val="16213A"/>
                    </a:solidFill>
                  </a:tcPr>
                </a:tc>
                <a:tc>
                  <a:txBody>
                    <a:bodyPr/>
                    <a:lstStyle/>
                    <a:p>
                      <a:pPr indent="0" marL="0">
                        <a:buNone/>
                      </a:pPr>
                      <a:r>
                        <a:rPr lang="en-US" sz="1300" b="1" dirty="0">
                          <a:solidFill>
                            <a:srgbClr val="F6F4EE"/>
                          </a:solidFill>
                          <a:latin typeface="IBM Plex Sans" pitchFamily="34" charset="0"/>
                          <a:ea typeface="IBM Plex Sans" pitchFamily="34" charset="-122"/>
                          <a:cs typeface="IBM Plex Sans" pitchFamily="34" charset="-120"/>
                        </a:rPr>
                        <a:t>Project 4 (PyTorch + EvoTorch)</a:t>
                      </a:r>
                      <a:endParaRPr lang="en-US" sz="1300" dirty="0">
                        <a:latin typeface="IBM Plex Sans" charset="0"/>
                        <a:ea typeface="IBM Plex Sans" charset="0"/>
                        <a:cs typeface="IBM Plex Sans" charset="0"/>
                      </a:endParaRPr>
                    </a:p>
                  </a:txBody>
                  <a:tcPr marL="109728" marR="109728" marT="45720" marB="45720" anchor="ctr">
                    <a:lnL w="12700" cap="flat" cmpd="sng" algn="ctr">
                      <a:solidFill>
                        <a:srgbClr val="E2DDD0"/>
                      </a:solidFill>
                      <a:prstDash val="solid"/>
                      <a:round/>
                      <a:headEnd type="none" w="med" len="med"/>
                      <a:tailEnd type="none" w="med" len="med"/>
                    </a:lnL>
                    <a:lnR w="12700" cap="flat" cmpd="sng" algn="ctr">
                      <a:solidFill>
                        <a:srgbClr val="E2DDD0"/>
                      </a:solidFill>
                      <a:prstDash val="solid"/>
                      <a:round/>
                      <a:headEnd type="none" w="med" len="med"/>
                      <a:tailEnd type="none" w="med" len="med"/>
                    </a:lnR>
                    <a:lnT w="12700" cap="flat" cmpd="sng" algn="ctr">
                      <a:solidFill>
                        <a:srgbClr val="E2DDD0"/>
                      </a:solidFill>
                      <a:prstDash val="solid"/>
                      <a:round/>
                      <a:headEnd type="none" w="med" len="med"/>
                      <a:tailEnd type="none" w="med" len="med"/>
                    </a:lnT>
                    <a:lnB w="12700" cap="flat" cmpd="sng" algn="ctr">
                      <a:solidFill>
                        <a:srgbClr val="E2DDD0"/>
                      </a:solidFill>
                      <a:prstDash val="solid"/>
                      <a:round/>
                      <a:headEnd type="none" w="med" len="med"/>
                      <a:tailEnd type="none" w="med" len="med"/>
                    </a:lnB>
                    <a:solidFill>
                      <a:srgbClr val="1D6F66"/>
                    </a:solidFill>
                  </a:tcPr>
                </a:tc>
              </a:tr>
              <a:tr h="502920">
                <a:tc>
                  <a:txBody>
                    <a:bodyPr/>
                    <a:lstStyle/>
                    <a:p>
                      <a:pPr indent="0" marL="0">
                        <a:buNone/>
                      </a:pPr>
                      <a:r>
                        <a:rPr lang="en-US" sz="1200" b="1" dirty="0">
                          <a:solidFill>
                            <a:srgbClr val="16213A"/>
                          </a:solidFill>
                          <a:latin typeface="IBM Plex Sans" pitchFamily="34" charset="0"/>
                          <a:ea typeface="IBM Plex Sans" pitchFamily="34" charset="-122"/>
                          <a:cs typeface="IBM Plex Sans" pitchFamily="34" charset="-120"/>
                        </a:rPr>
                        <a:t>Network</a:t>
                      </a:r>
                      <a:endParaRPr lang="en-US" sz="1200" dirty="0">
                        <a:latin typeface="IBM Plex Sans" charset="0"/>
                        <a:ea typeface="IBM Plex Sans" charset="0"/>
                        <a:cs typeface="IBM Plex Sans" charset="0"/>
                      </a:endParaRPr>
                    </a:p>
                  </a:txBody>
                  <a:tcPr marL="109728" marR="109728" marT="45720" marB="45720" anchor="ctr">
                    <a:lnL w="12700" cap="flat" cmpd="sng" algn="ctr">
                      <a:solidFill>
                        <a:srgbClr val="E2DDD0"/>
                      </a:solidFill>
                      <a:prstDash val="solid"/>
                      <a:round/>
                      <a:headEnd type="none" w="med" len="med"/>
                      <a:tailEnd type="none" w="med" len="med"/>
                    </a:lnL>
                    <a:lnR w="12700" cap="flat" cmpd="sng" algn="ctr">
                      <a:solidFill>
                        <a:srgbClr val="E2DDD0"/>
                      </a:solidFill>
                      <a:prstDash val="solid"/>
                      <a:round/>
                      <a:headEnd type="none" w="med" len="med"/>
                      <a:tailEnd type="none" w="med" len="med"/>
                    </a:lnR>
                    <a:lnT w="12700" cap="flat" cmpd="sng" algn="ctr">
                      <a:solidFill>
                        <a:srgbClr val="E2DDD0"/>
                      </a:solidFill>
                      <a:prstDash val="solid"/>
                      <a:round/>
                      <a:headEnd type="none" w="med" len="med"/>
                      <a:tailEnd type="none" w="med" len="med"/>
                    </a:lnT>
                    <a:lnB w="12700" cap="flat" cmpd="sng" algn="ctr">
                      <a:solidFill>
                        <a:srgbClr val="E2DDD0"/>
                      </a:solidFill>
                      <a:prstDash val="solid"/>
                      <a:round/>
                      <a:headEnd type="none" w="med" len="med"/>
                      <a:tailEnd type="none" w="med" len="med"/>
                    </a:lnB>
                  </a:tcPr>
                </a:tc>
                <a:tc>
                  <a:txBody>
                    <a:bodyPr/>
                    <a:lstStyle/>
                    <a:p>
                      <a:pPr indent="0" marL="0">
                        <a:buNone/>
                      </a:pPr>
                      <a:r>
                        <a:rPr lang="en-US" sz="1200" dirty="0">
                          <a:solidFill>
                            <a:srgbClr val="3E4A5C"/>
                          </a:solidFill>
                          <a:latin typeface="IBM Plex Sans" pitchFamily="34" charset="0"/>
                          <a:ea typeface="IBM Plex Sans" pitchFamily="34" charset="-122"/>
                          <a:cs typeface="IBM Plex Sans" pitchFamily="34" charset="-120"/>
                        </a:rPr>
                        <a:t>fnn.FNN, NumPy, [2, 4, 2], genes × 5</a:t>
                      </a:r>
                      <a:endParaRPr lang="en-US" sz="1200" dirty="0">
                        <a:latin typeface="IBM Plex Sans" charset="0"/>
                        <a:ea typeface="IBM Plex Sans" charset="0"/>
                        <a:cs typeface="IBM Plex Sans" charset="0"/>
                      </a:endParaRPr>
                    </a:p>
                  </a:txBody>
                  <a:tcPr marL="109728" marR="109728" marT="45720" marB="45720" anchor="ctr">
                    <a:lnL w="12700" cap="flat" cmpd="sng" algn="ctr">
                      <a:solidFill>
                        <a:srgbClr val="E2DDD0"/>
                      </a:solidFill>
                      <a:prstDash val="solid"/>
                      <a:round/>
                      <a:headEnd type="none" w="med" len="med"/>
                      <a:tailEnd type="none" w="med" len="med"/>
                    </a:lnL>
                    <a:lnR w="12700" cap="flat" cmpd="sng" algn="ctr">
                      <a:solidFill>
                        <a:srgbClr val="E2DDD0"/>
                      </a:solidFill>
                      <a:prstDash val="solid"/>
                      <a:round/>
                      <a:headEnd type="none" w="med" len="med"/>
                      <a:tailEnd type="none" w="med" len="med"/>
                    </a:lnR>
                    <a:lnT w="12700" cap="flat" cmpd="sng" algn="ctr">
                      <a:solidFill>
                        <a:srgbClr val="E2DDD0"/>
                      </a:solidFill>
                      <a:prstDash val="solid"/>
                      <a:round/>
                      <a:headEnd type="none" w="med" len="med"/>
                      <a:tailEnd type="none" w="med" len="med"/>
                    </a:lnT>
                    <a:lnB w="12700" cap="flat" cmpd="sng" algn="ctr">
                      <a:solidFill>
                        <a:srgbClr val="E2DDD0"/>
                      </a:solidFill>
                      <a:prstDash val="solid"/>
                      <a:round/>
                      <a:headEnd type="none" w="med" len="med"/>
                      <a:tailEnd type="none" w="med" len="med"/>
                    </a:lnB>
                  </a:tcPr>
                </a:tc>
                <a:tc>
                  <a:txBody>
                    <a:bodyPr/>
                    <a:lstStyle/>
                    <a:p>
                      <a:pPr indent="0" marL="0">
                        <a:buNone/>
                      </a:pPr>
                      <a:r>
                        <a:rPr lang="en-US" sz="1200" dirty="0">
                          <a:solidFill>
                            <a:srgbClr val="3E4A5C"/>
                          </a:solidFill>
                          <a:latin typeface="IBM Plex Sans" pitchFamily="34" charset="0"/>
                          <a:ea typeface="IBM Plex Sans" pitchFamily="34" charset="-122"/>
                          <a:cs typeface="IBM Plex Sans" pitchFamily="34" charset="-120"/>
                        </a:rPr>
                        <a:t>NeuralController (nn.Module), 2 → 8 → 2, Tanh outputs in [−1, 1], 42 weights</a:t>
                      </a:r>
                      <a:endParaRPr lang="en-US" sz="1200" dirty="0">
                        <a:latin typeface="IBM Plex Sans" charset="0"/>
                        <a:ea typeface="IBM Plex Sans" charset="0"/>
                        <a:cs typeface="IBM Plex Sans" charset="0"/>
                      </a:endParaRPr>
                    </a:p>
                  </a:txBody>
                  <a:tcPr marL="109728" marR="109728" marT="45720" marB="45720" anchor="ctr">
                    <a:lnL w="12700" cap="flat" cmpd="sng" algn="ctr">
                      <a:solidFill>
                        <a:srgbClr val="E2DDD0"/>
                      </a:solidFill>
                      <a:prstDash val="solid"/>
                      <a:round/>
                      <a:headEnd type="none" w="med" len="med"/>
                      <a:tailEnd type="none" w="med" len="med"/>
                    </a:lnL>
                    <a:lnR w="12700" cap="flat" cmpd="sng" algn="ctr">
                      <a:solidFill>
                        <a:srgbClr val="E2DDD0"/>
                      </a:solidFill>
                      <a:prstDash val="solid"/>
                      <a:round/>
                      <a:headEnd type="none" w="med" len="med"/>
                      <a:tailEnd type="none" w="med" len="med"/>
                    </a:lnR>
                    <a:lnT w="12700" cap="flat" cmpd="sng" algn="ctr">
                      <a:solidFill>
                        <a:srgbClr val="E2DDD0"/>
                      </a:solidFill>
                      <a:prstDash val="solid"/>
                      <a:round/>
                      <a:headEnd type="none" w="med" len="med"/>
                      <a:tailEnd type="none" w="med" len="med"/>
                    </a:lnT>
                    <a:lnB w="12700" cap="flat" cmpd="sng" algn="ctr">
                      <a:solidFill>
                        <a:srgbClr val="E2DDD0"/>
                      </a:solidFill>
                      <a:prstDash val="solid"/>
                      <a:round/>
                      <a:headEnd type="none" w="med" len="med"/>
                      <a:tailEnd type="none" w="med" len="med"/>
                    </a:lnB>
                  </a:tcPr>
                </a:tc>
              </a:tr>
              <a:tr h="502920">
                <a:tc>
                  <a:txBody>
                    <a:bodyPr/>
                    <a:lstStyle/>
                    <a:p>
                      <a:pPr indent="0" marL="0">
                        <a:buNone/>
                      </a:pPr>
                      <a:r>
                        <a:rPr lang="en-US" sz="1200" b="1" dirty="0">
                          <a:solidFill>
                            <a:srgbClr val="16213A"/>
                          </a:solidFill>
                          <a:latin typeface="IBM Plex Sans" pitchFamily="34" charset="0"/>
                          <a:ea typeface="IBM Plex Sans" pitchFamily="34" charset="-122"/>
                          <a:cs typeface="IBM Plex Sans" pitchFamily="34" charset="-120"/>
                        </a:rPr>
                        <a:t>Algorithm</a:t>
                      </a:r>
                      <a:endParaRPr lang="en-US" sz="1200" dirty="0">
                        <a:latin typeface="IBM Plex Sans" charset="0"/>
                        <a:ea typeface="IBM Plex Sans" charset="0"/>
                        <a:cs typeface="IBM Plex Sans" charset="0"/>
                      </a:endParaRPr>
                    </a:p>
                  </a:txBody>
                  <a:tcPr marL="109728" marR="109728" marT="45720" marB="45720" anchor="ctr">
                    <a:lnL w="12700" cap="flat" cmpd="sng" algn="ctr">
                      <a:solidFill>
                        <a:srgbClr val="E2DDD0"/>
                      </a:solidFill>
                      <a:prstDash val="solid"/>
                      <a:round/>
                      <a:headEnd type="none" w="med" len="med"/>
                      <a:tailEnd type="none" w="med" len="med"/>
                    </a:lnL>
                    <a:lnR w="12700" cap="flat" cmpd="sng" algn="ctr">
                      <a:solidFill>
                        <a:srgbClr val="E2DDD0"/>
                      </a:solidFill>
                      <a:prstDash val="solid"/>
                      <a:round/>
                      <a:headEnd type="none" w="med" len="med"/>
                      <a:tailEnd type="none" w="med" len="med"/>
                    </a:lnR>
                    <a:lnT w="12700" cap="flat" cmpd="sng" algn="ctr">
                      <a:solidFill>
                        <a:srgbClr val="E2DDD0"/>
                      </a:solidFill>
                      <a:prstDash val="solid"/>
                      <a:round/>
                      <a:headEnd type="none" w="med" len="med"/>
                      <a:tailEnd type="none" w="med" len="med"/>
                    </a:lnT>
                    <a:lnB w="12700" cap="flat" cmpd="sng" algn="ctr">
                      <a:solidFill>
                        <a:srgbClr val="E2DDD0"/>
                      </a:solidFill>
                      <a:prstDash val="solid"/>
                      <a:round/>
                      <a:headEnd type="none" w="med" len="med"/>
                      <a:tailEnd type="none" w="med" len="med"/>
                    </a:lnB>
                    <a:solidFill>
                      <a:srgbClr val="ECE8DE"/>
                    </a:solidFill>
                  </a:tcPr>
                </a:tc>
                <a:tc>
                  <a:txBody>
                    <a:bodyPr/>
                    <a:lstStyle/>
                    <a:p>
                      <a:pPr indent="0" marL="0">
                        <a:buNone/>
                      </a:pPr>
                      <a:r>
                        <a:rPr lang="en-US" sz="1200" dirty="0">
                          <a:solidFill>
                            <a:srgbClr val="3E4A5C"/>
                          </a:solidFill>
                          <a:latin typeface="IBM Plex Sans" pitchFamily="34" charset="0"/>
                          <a:ea typeface="IBM Plex Sans" pitchFamily="34" charset="-122"/>
                          <a:cs typeface="IBM Plex Sans" pitchFamily="34" charset="-120"/>
                        </a:rPr>
                        <a:t>eas.Microbial, one tournament at a time</a:t>
                      </a:r>
                      <a:endParaRPr lang="en-US" sz="1200" dirty="0">
                        <a:latin typeface="IBM Plex Sans" charset="0"/>
                        <a:ea typeface="IBM Plex Sans" charset="0"/>
                        <a:cs typeface="IBM Plex Sans" charset="0"/>
                      </a:endParaRPr>
                    </a:p>
                  </a:txBody>
                  <a:tcPr marL="109728" marR="109728" marT="45720" marB="45720" anchor="ctr">
                    <a:lnL w="12700" cap="flat" cmpd="sng" algn="ctr">
                      <a:solidFill>
                        <a:srgbClr val="E2DDD0"/>
                      </a:solidFill>
                      <a:prstDash val="solid"/>
                      <a:round/>
                      <a:headEnd type="none" w="med" len="med"/>
                      <a:tailEnd type="none" w="med" len="med"/>
                    </a:lnL>
                    <a:lnR w="12700" cap="flat" cmpd="sng" algn="ctr">
                      <a:solidFill>
                        <a:srgbClr val="E2DDD0"/>
                      </a:solidFill>
                      <a:prstDash val="solid"/>
                      <a:round/>
                      <a:headEnd type="none" w="med" len="med"/>
                      <a:tailEnd type="none" w="med" len="med"/>
                    </a:lnR>
                    <a:lnT w="12700" cap="flat" cmpd="sng" algn="ctr">
                      <a:solidFill>
                        <a:srgbClr val="E2DDD0"/>
                      </a:solidFill>
                      <a:prstDash val="solid"/>
                      <a:round/>
                      <a:headEnd type="none" w="med" len="med"/>
                      <a:tailEnd type="none" w="med" len="med"/>
                    </a:lnT>
                    <a:lnB w="12700" cap="flat" cmpd="sng" algn="ctr">
                      <a:solidFill>
                        <a:srgbClr val="E2DDD0"/>
                      </a:solidFill>
                      <a:prstDash val="solid"/>
                      <a:round/>
                      <a:headEnd type="none" w="med" len="med"/>
                      <a:tailEnd type="none" w="med" len="med"/>
                    </a:lnB>
                    <a:solidFill>
                      <a:srgbClr val="ECE8DE"/>
                    </a:solidFill>
                  </a:tcPr>
                </a:tc>
                <a:tc>
                  <a:txBody>
                    <a:bodyPr/>
                    <a:lstStyle/>
                    <a:p>
                      <a:pPr indent="0" marL="0">
                        <a:buNone/>
                      </a:pPr>
                      <a:r>
                        <a:rPr lang="en-US" sz="1200" dirty="0">
                          <a:solidFill>
                            <a:srgbClr val="3E4A5C"/>
                          </a:solidFill>
                          <a:latin typeface="IBM Plex Sans" pitchFamily="34" charset="0"/>
                          <a:ea typeface="IBM Plex Sans" pitchFamily="34" charset="-122"/>
                          <a:cs typeface="IBM Plex Sans" pitchFamily="34" charset="-120"/>
                        </a:rPr>
                        <a:t>EvoTorch GeneticAlgorithm: SBX crossover, Gaussian mutation, elitism</a:t>
                      </a:r>
                      <a:endParaRPr lang="en-US" sz="1200" dirty="0">
                        <a:latin typeface="IBM Plex Sans" charset="0"/>
                        <a:ea typeface="IBM Plex Sans" charset="0"/>
                        <a:cs typeface="IBM Plex Sans" charset="0"/>
                      </a:endParaRPr>
                    </a:p>
                  </a:txBody>
                  <a:tcPr marL="109728" marR="109728" marT="45720" marB="45720" anchor="ctr">
                    <a:lnL w="12700" cap="flat" cmpd="sng" algn="ctr">
                      <a:solidFill>
                        <a:srgbClr val="E2DDD0"/>
                      </a:solidFill>
                      <a:prstDash val="solid"/>
                      <a:round/>
                      <a:headEnd type="none" w="med" len="med"/>
                      <a:tailEnd type="none" w="med" len="med"/>
                    </a:lnL>
                    <a:lnR w="12700" cap="flat" cmpd="sng" algn="ctr">
                      <a:solidFill>
                        <a:srgbClr val="E2DDD0"/>
                      </a:solidFill>
                      <a:prstDash val="solid"/>
                      <a:round/>
                      <a:headEnd type="none" w="med" len="med"/>
                      <a:tailEnd type="none" w="med" len="med"/>
                    </a:lnR>
                    <a:lnT w="12700" cap="flat" cmpd="sng" algn="ctr">
                      <a:solidFill>
                        <a:srgbClr val="E2DDD0"/>
                      </a:solidFill>
                      <a:prstDash val="solid"/>
                      <a:round/>
                      <a:headEnd type="none" w="med" len="med"/>
                      <a:tailEnd type="none" w="med" len="med"/>
                    </a:lnT>
                    <a:lnB w="12700" cap="flat" cmpd="sng" algn="ctr">
                      <a:solidFill>
                        <a:srgbClr val="E2DDD0"/>
                      </a:solidFill>
                      <a:prstDash val="solid"/>
                      <a:round/>
                      <a:headEnd type="none" w="med" len="med"/>
                      <a:tailEnd type="none" w="med" len="med"/>
                    </a:lnB>
                    <a:solidFill>
                      <a:srgbClr val="ECE8DE"/>
                    </a:solidFill>
                  </a:tcPr>
                </a:tc>
              </a:tr>
              <a:tr h="502920">
                <a:tc>
                  <a:txBody>
                    <a:bodyPr/>
                    <a:lstStyle/>
                    <a:p>
                      <a:pPr indent="0" marL="0">
                        <a:buNone/>
                      </a:pPr>
                      <a:r>
                        <a:rPr lang="en-US" sz="1200" b="1" dirty="0">
                          <a:solidFill>
                            <a:srgbClr val="16213A"/>
                          </a:solidFill>
                          <a:latin typeface="IBM Plex Sans" pitchFamily="34" charset="0"/>
                          <a:ea typeface="IBM Plex Sans" pitchFamily="34" charset="-122"/>
                          <a:cs typeface="IBM Plex Sans" pitchFamily="34" charset="-120"/>
                        </a:rPr>
                        <a:t>Simulation</a:t>
                      </a:r>
                      <a:endParaRPr lang="en-US" sz="1200" dirty="0">
                        <a:latin typeface="IBM Plex Sans" charset="0"/>
                        <a:ea typeface="IBM Plex Sans" charset="0"/>
                        <a:cs typeface="IBM Plex Sans" charset="0"/>
                      </a:endParaRPr>
                    </a:p>
                  </a:txBody>
                  <a:tcPr marL="109728" marR="109728" marT="45720" marB="45720" anchor="ctr">
                    <a:lnL w="12700" cap="flat" cmpd="sng" algn="ctr">
                      <a:solidFill>
                        <a:srgbClr val="E2DDD0"/>
                      </a:solidFill>
                      <a:prstDash val="solid"/>
                      <a:round/>
                      <a:headEnd type="none" w="med" len="med"/>
                      <a:tailEnd type="none" w="med" len="med"/>
                    </a:lnL>
                    <a:lnR w="12700" cap="flat" cmpd="sng" algn="ctr">
                      <a:solidFill>
                        <a:srgbClr val="E2DDD0"/>
                      </a:solidFill>
                      <a:prstDash val="solid"/>
                      <a:round/>
                      <a:headEnd type="none" w="med" len="med"/>
                      <a:tailEnd type="none" w="med" len="med"/>
                    </a:lnR>
                    <a:lnT w="12700" cap="flat" cmpd="sng" algn="ctr">
                      <a:solidFill>
                        <a:srgbClr val="E2DDD0"/>
                      </a:solidFill>
                      <a:prstDash val="solid"/>
                      <a:round/>
                      <a:headEnd type="none" w="med" len="med"/>
                      <a:tailEnd type="none" w="med" len="med"/>
                    </a:lnT>
                    <a:lnB w="12700" cap="flat" cmpd="sng" algn="ctr">
                      <a:solidFill>
                        <a:srgbClr val="E2DDD0"/>
                      </a:solidFill>
                      <a:prstDash val="solid"/>
                      <a:round/>
                      <a:headEnd type="none" w="med" len="med"/>
                      <a:tailEnd type="none" w="med" len="med"/>
                    </a:lnB>
                  </a:tcPr>
                </a:tc>
                <a:tc>
                  <a:txBody>
                    <a:bodyPr/>
                    <a:lstStyle/>
                    <a:p>
                      <a:pPr indent="0" marL="0">
                        <a:buNone/>
                      </a:pPr>
                      <a:r>
                        <a:rPr lang="en-US" sz="1200" dirty="0">
                          <a:solidFill>
                            <a:srgbClr val="3E4A5C"/>
                          </a:solidFill>
                          <a:latin typeface="IBM Plex Sans" pitchFamily="34" charset="0"/>
                          <a:ea typeface="IBM Plex Sans" pitchFamily="34" charset="-122"/>
                          <a:cs typeface="IBM Plex Sans" pitchFamily="34" charset="-120"/>
                        </a:rPr>
                        <a:t>one vehicle at a time, Python loops</a:t>
                      </a:r>
                      <a:endParaRPr lang="en-US" sz="1200" dirty="0">
                        <a:latin typeface="IBM Plex Sans" charset="0"/>
                        <a:ea typeface="IBM Plex Sans" charset="0"/>
                        <a:cs typeface="IBM Plex Sans" charset="0"/>
                      </a:endParaRPr>
                    </a:p>
                  </a:txBody>
                  <a:tcPr marL="109728" marR="109728" marT="45720" marB="45720" anchor="ctr">
                    <a:lnL w="12700" cap="flat" cmpd="sng" algn="ctr">
                      <a:solidFill>
                        <a:srgbClr val="E2DDD0"/>
                      </a:solidFill>
                      <a:prstDash val="solid"/>
                      <a:round/>
                      <a:headEnd type="none" w="med" len="med"/>
                      <a:tailEnd type="none" w="med" len="med"/>
                    </a:lnL>
                    <a:lnR w="12700" cap="flat" cmpd="sng" algn="ctr">
                      <a:solidFill>
                        <a:srgbClr val="E2DDD0"/>
                      </a:solidFill>
                      <a:prstDash val="solid"/>
                      <a:round/>
                      <a:headEnd type="none" w="med" len="med"/>
                      <a:tailEnd type="none" w="med" len="med"/>
                    </a:lnR>
                    <a:lnT w="12700" cap="flat" cmpd="sng" algn="ctr">
                      <a:solidFill>
                        <a:srgbClr val="E2DDD0"/>
                      </a:solidFill>
                      <a:prstDash val="solid"/>
                      <a:round/>
                      <a:headEnd type="none" w="med" len="med"/>
                      <a:tailEnd type="none" w="med" len="med"/>
                    </a:lnT>
                    <a:lnB w="12700" cap="flat" cmpd="sng" algn="ctr">
                      <a:solidFill>
                        <a:srgbClr val="E2DDD0"/>
                      </a:solidFill>
                      <a:prstDash val="solid"/>
                      <a:round/>
                      <a:headEnd type="none" w="med" len="med"/>
                      <a:tailEnd type="none" w="med" len="med"/>
                    </a:lnB>
                  </a:tcPr>
                </a:tc>
                <a:tc>
                  <a:txBody>
                    <a:bodyPr/>
                    <a:lstStyle/>
                    <a:p>
                      <a:pPr indent="0" marL="0">
                        <a:buNone/>
                      </a:pPr>
                      <a:r>
                        <a:rPr lang="en-US" sz="1200" dirty="0">
                          <a:solidFill>
                            <a:srgbClr val="3E4A5C"/>
                          </a:solidFill>
                          <a:latin typeface="IBM Plex Sans" pitchFamily="34" charset="0"/>
                          <a:ea typeface="IBM Plex Sans" pitchFamily="34" charset="-122"/>
                          <a:cs typeface="IBM Plex Sans" pitchFamily="34" charset="-120"/>
                        </a:rPr>
                        <a:t>simulate_population: all vehicles as tensors, about 30× faster</a:t>
                      </a:r>
                      <a:endParaRPr lang="en-US" sz="1200" dirty="0">
                        <a:latin typeface="IBM Plex Sans" charset="0"/>
                        <a:ea typeface="IBM Plex Sans" charset="0"/>
                        <a:cs typeface="IBM Plex Sans" charset="0"/>
                      </a:endParaRPr>
                    </a:p>
                  </a:txBody>
                  <a:tcPr marL="109728" marR="109728" marT="45720" marB="45720" anchor="ctr">
                    <a:lnL w="12700" cap="flat" cmpd="sng" algn="ctr">
                      <a:solidFill>
                        <a:srgbClr val="E2DDD0"/>
                      </a:solidFill>
                      <a:prstDash val="solid"/>
                      <a:round/>
                      <a:headEnd type="none" w="med" len="med"/>
                      <a:tailEnd type="none" w="med" len="med"/>
                    </a:lnL>
                    <a:lnR w="12700" cap="flat" cmpd="sng" algn="ctr">
                      <a:solidFill>
                        <a:srgbClr val="E2DDD0"/>
                      </a:solidFill>
                      <a:prstDash val="solid"/>
                      <a:round/>
                      <a:headEnd type="none" w="med" len="med"/>
                      <a:tailEnd type="none" w="med" len="med"/>
                    </a:lnR>
                    <a:lnT w="12700" cap="flat" cmpd="sng" algn="ctr">
                      <a:solidFill>
                        <a:srgbClr val="E2DDD0"/>
                      </a:solidFill>
                      <a:prstDash val="solid"/>
                      <a:round/>
                      <a:headEnd type="none" w="med" len="med"/>
                      <a:tailEnd type="none" w="med" len="med"/>
                    </a:lnT>
                    <a:lnB w="12700" cap="flat" cmpd="sng" algn="ctr">
                      <a:solidFill>
                        <a:srgbClr val="E2DDD0"/>
                      </a:solidFill>
                      <a:prstDash val="solid"/>
                      <a:round/>
                      <a:headEnd type="none" w="med" len="med"/>
                      <a:tailEnd type="none" w="med" len="med"/>
                    </a:lnB>
                  </a:tcPr>
                </a:tc>
              </a:tr>
              <a:tr h="502920">
                <a:tc>
                  <a:txBody>
                    <a:bodyPr/>
                    <a:lstStyle/>
                    <a:p>
                      <a:pPr indent="0" marL="0">
                        <a:buNone/>
                      </a:pPr>
                      <a:r>
                        <a:rPr lang="en-US" sz="1200" b="1" dirty="0">
                          <a:solidFill>
                            <a:srgbClr val="16213A"/>
                          </a:solidFill>
                          <a:latin typeface="IBM Plex Sans" pitchFamily="34" charset="0"/>
                          <a:ea typeface="IBM Plex Sans" pitchFamily="34" charset="-122"/>
                          <a:cs typeface="IBM Plex Sans" pitchFamily="34" charset="-120"/>
                        </a:rPr>
                        <a:t>Task</a:t>
                      </a:r>
                      <a:endParaRPr lang="en-US" sz="1200" dirty="0">
                        <a:latin typeface="IBM Plex Sans" charset="0"/>
                        <a:ea typeface="IBM Plex Sans" charset="0"/>
                        <a:cs typeface="IBM Plex Sans" charset="0"/>
                      </a:endParaRPr>
                    </a:p>
                  </a:txBody>
                  <a:tcPr marL="109728" marR="109728" marT="45720" marB="45720" anchor="ctr">
                    <a:lnL w="12700" cap="flat" cmpd="sng" algn="ctr">
                      <a:solidFill>
                        <a:srgbClr val="E2DDD0"/>
                      </a:solidFill>
                      <a:prstDash val="solid"/>
                      <a:round/>
                      <a:headEnd type="none" w="med" len="med"/>
                      <a:tailEnd type="none" w="med" len="med"/>
                    </a:lnL>
                    <a:lnR w="12700" cap="flat" cmpd="sng" algn="ctr">
                      <a:solidFill>
                        <a:srgbClr val="E2DDD0"/>
                      </a:solidFill>
                      <a:prstDash val="solid"/>
                      <a:round/>
                      <a:headEnd type="none" w="med" len="med"/>
                      <a:tailEnd type="none" w="med" len="med"/>
                    </a:lnR>
                    <a:lnT w="12700" cap="flat" cmpd="sng" algn="ctr">
                      <a:solidFill>
                        <a:srgbClr val="E2DDD0"/>
                      </a:solidFill>
                      <a:prstDash val="solid"/>
                      <a:round/>
                      <a:headEnd type="none" w="med" len="med"/>
                      <a:tailEnd type="none" w="med" len="med"/>
                    </a:lnT>
                    <a:lnB w="12700" cap="flat" cmpd="sng" algn="ctr">
                      <a:solidFill>
                        <a:srgbClr val="E2DDD0"/>
                      </a:solidFill>
                      <a:prstDash val="solid"/>
                      <a:round/>
                      <a:headEnd type="none" w="med" len="med"/>
                      <a:tailEnd type="none" w="med" len="med"/>
                    </a:lnB>
                    <a:solidFill>
                      <a:srgbClr val="ECE8DE"/>
                    </a:solidFill>
                  </a:tcPr>
                </a:tc>
                <a:tc>
                  <a:txBody>
                    <a:bodyPr/>
                    <a:lstStyle/>
                    <a:p>
                      <a:pPr indent="0" marL="0">
                        <a:buNone/>
                      </a:pPr>
                      <a:r>
                        <a:rPr lang="en-US" sz="1200" dirty="0">
                          <a:solidFill>
                            <a:srgbClr val="3E4A5C"/>
                          </a:solidFill>
                          <a:latin typeface="IBM Plex Sans" pitchFamily="34" charset="0"/>
                          <a:ea typeface="IBM Plex Sans" pitchFamily="34" charset="-122"/>
                          <a:cs typeface="IBM Plex Sans" pitchFamily="34" charset="-120"/>
                        </a:rPr>
                        <a:t>4 trials, 200 steps, start 5 away</a:t>
                      </a:r>
                      <a:endParaRPr lang="en-US" sz="1200" dirty="0">
                        <a:latin typeface="IBM Plex Sans" charset="0"/>
                        <a:ea typeface="IBM Plex Sans" charset="0"/>
                        <a:cs typeface="IBM Plex Sans" charset="0"/>
                      </a:endParaRPr>
                    </a:p>
                  </a:txBody>
                  <a:tcPr marL="109728" marR="109728" marT="45720" marB="45720" anchor="ctr">
                    <a:lnL w="12700" cap="flat" cmpd="sng" algn="ctr">
                      <a:solidFill>
                        <a:srgbClr val="E2DDD0"/>
                      </a:solidFill>
                      <a:prstDash val="solid"/>
                      <a:round/>
                      <a:headEnd type="none" w="med" len="med"/>
                      <a:tailEnd type="none" w="med" len="med"/>
                    </a:lnL>
                    <a:lnR w="12700" cap="flat" cmpd="sng" algn="ctr">
                      <a:solidFill>
                        <a:srgbClr val="E2DDD0"/>
                      </a:solidFill>
                      <a:prstDash val="solid"/>
                      <a:round/>
                      <a:headEnd type="none" w="med" len="med"/>
                      <a:tailEnd type="none" w="med" len="med"/>
                    </a:lnR>
                    <a:lnT w="12700" cap="flat" cmpd="sng" algn="ctr">
                      <a:solidFill>
                        <a:srgbClr val="E2DDD0"/>
                      </a:solidFill>
                      <a:prstDash val="solid"/>
                      <a:round/>
                      <a:headEnd type="none" w="med" len="med"/>
                      <a:tailEnd type="none" w="med" len="med"/>
                    </a:lnT>
                    <a:lnB w="12700" cap="flat" cmpd="sng" algn="ctr">
                      <a:solidFill>
                        <a:srgbClr val="E2DDD0"/>
                      </a:solidFill>
                      <a:prstDash val="solid"/>
                      <a:round/>
                      <a:headEnd type="none" w="med" len="med"/>
                      <a:tailEnd type="none" w="med" len="med"/>
                    </a:lnB>
                    <a:solidFill>
                      <a:srgbClr val="ECE8DE"/>
                    </a:solidFill>
                  </a:tcPr>
                </a:tc>
                <a:tc>
                  <a:txBody>
                    <a:bodyPr/>
                    <a:lstStyle/>
                    <a:p>
                      <a:pPr indent="0" marL="0">
                        <a:buNone/>
                      </a:pPr>
                      <a:r>
                        <a:rPr lang="en-US" sz="1200" dirty="0">
                          <a:solidFill>
                            <a:srgbClr val="3E4A5C"/>
                          </a:solidFill>
                          <a:latin typeface="IBM Plex Sans" pitchFamily="34" charset="0"/>
                          <a:ea typeface="IBM Plex Sans" pitchFamily="34" charset="-122"/>
                          <a:cs typeface="IBM Plex Sans" pitchFamily="34" charset="-120"/>
                        </a:rPr>
                        <a:t>5 episodes, 2000 steps, start 10 away</a:t>
                      </a:r>
                      <a:endParaRPr lang="en-US" sz="1200" dirty="0">
                        <a:latin typeface="IBM Plex Sans" charset="0"/>
                        <a:ea typeface="IBM Plex Sans" charset="0"/>
                        <a:cs typeface="IBM Plex Sans" charset="0"/>
                      </a:endParaRPr>
                    </a:p>
                  </a:txBody>
                  <a:tcPr marL="109728" marR="109728" marT="45720" marB="45720" anchor="ctr">
                    <a:lnL w="12700" cap="flat" cmpd="sng" algn="ctr">
                      <a:solidFill>
                        <a:srgbClr val="E2DDD0"/>
                      </a:solidFill>
                      <a:prstDash val="solid"/>
                      <a:round/>
                      <a:headEnd type="none" w="med" len="med"/>
                      <a:tailEnd type="none" w="med" len="med"/>
                    </a:lnL>
                    <a:lnR w="12700" cap="flat" cmpd="sng" algn="ctr">
                      <a:solidFill>
                        <a:srgbClr val="E2DDD0"/>
                      </a:solidFill>
                      <a:prstDash val="solid"/>
                      <a:round/>
                      <a:headEnd type="none" w="med" len="med"/>
                      <a:tailEnd type="none" w="med" len="med"/>
                    </a:lnR>
                    <a:lnT w="12700" cap="flat" cmpd="sng" algn="ctr">
                      <a:solidFill>
                        <a:srgbClr val="E2DDD0"/>
                      </a:solidFill>
                      <a:prstDash val="solid"/>
                      <a:round/>
                      <a:headEnd type="none" w="med" len="med"/>
                      <a:tailEnd type="none" w="med" len="med"/>
                    </a:lnT>
                    <a:lnB w="12700" cap="flat" cmpd="sng" algn="ctr">
                      <a:solidFill>
                        <a:srgbClr val="E2DDD0"/>
                      </a:solidFill>
                      <a:prstDash val="solid"/>
                      <a:round/>
                      <a:headEnd type="none" w="med" len="med"/>
                      <a:tailEnd type="none" w="med" len="med"/>
                    </a:lnB>
                    <a:solidFill>
                      <a:srgbClr val="ECE8DE"/>
                    </a:solidFill>
                  </a:tcPr>
                </a:tc>
              </a:tr>
              <a:tr h="502920">
                <a:tc>
                  <a:txBody>
                    <a:bodyPr/>
                    <a:lstStyle/>
                    <a:p>
                      <a:pPr indent="0" marL="0">
                        <a:buNone/>
                      </a:pPr>
                      <a:r>
                        <a:rPr lang="en-US" sz="1200" b="1" dirty="0">
                          <a:solidFill>
                            <a:srgbClr val="16213A"/>
                          </a:solidFill>
                          <a:latin typeface="IBM Plex Sans" pitchFamily="34" charset="0"/>
                          <a:ea typeface="IBM Plex Sans" pitchFamily="34" charset="-122"/>
                          <a:cs typeface="IBM Plex Sans" pitchFamily="34" charset="-120"/>
                        </a:rPr>
                        <a:t>Scoring</a:t>
                      </a:r>
                      <a:endParaRPr lang="en-US" sz="1200" dirty="0">
                        <a:latin typeface="IBM Plex Sans" charset="0"/>
                        <a:ea typeface="IBM Plex Sans" charset="0"/>
                        <a:cs typeface="IBM Plex Sans" charset="0"/>
                      </a:endParaRPr>
                    </a:p>
                  </a:txBody>
                  <a:tcPr marL="109728" marR="109728" marT="45720" marB="45720" anchor="ctr">
                    <a:lnL w="12700" cap="flat" cmpd="sng" algn="ctr">
                      <a:solidFill>
                        <a:srgbClr val="E2DDD0"/>
                      </a:solidFill>
                      <a:prstDash val="solid"/>
                      <a:round/>
                      <a:headEnd type="none" w="med" len="med"/>
                      <a:tailEnd type="none" w="med" len="med"/>
                    </a:lnL>
                    <a:lnR w="12700" cap="flat" cmpd="sng" algn="ctr">
                      <a:solidFill>
                        <a:srgbClr val="E2DDD0"/>
                      </a:solidFill>
                      <a:prstDash val="solid"/>
                      <a:round/>
                      <a:headEnd type="none" w="med" len="med"/>
                      <a:tailEnd type="none" w="med" len="med"/>
                    </a:lnR>
                    <a:lnT w="12700" cap="flat" cmpd="sng" algn="ctr">
                      <a:solidFill>
                        <a:srgbClr val="E2DDD0"/>
                      </a:solidFill>
                      <a:prstDash val="solid"/>
                      <a:round/>
                      <a:headEnd type="none" w="med" len="med"/>
                      <a:tailEnd type="none" w="med" len="med"/>
                    </a:lnT>
                    <a:lnB w="12700" cap="flat" cmpd="sng" algn="ctr">
                      <a:solidFill>
                        <a:srgbClr val="E2DDD0"/>
                      </a:solidFill>
                      <a:prstDash val="solid"/>
                      <a:round/>
                      <a:headEnd type="none" w="med" len="med"/>
                      <a:tailEnd type="none" w="med" len="med"/>
                    </a:lnB>
                  </a:tcPr>
                </a:tc>
                <a:tc>
                  <a:txBody>
                    <a:bodyPr/>
                    <a:lstStyle/>
                    <a:p>
                      <a:pPr indent="0" marL="0">
                        <a:buNone/>
                      </a:pPr>
                      <a:r>
                        <a:rPr lang="en-US" sz="1200" dirty="0">
                          <a:solidFill>
                            <a:srgbClr val="3E4A5C"/>
                          </a:solidFill>
                          <a:latin typeface="IBM Plex Sans" pitchFamily="34" charset="0"/>
                          <a:ea typeface="IBM Plex Sans" pitchFamily="34" charset="-122"/>
                          <a:cs typeface="IBM Plex Sans" pitchFamily="34" charset="-120"/>
                        </a:rPr>
                        <a:t>recorded once, never refreshed</a:t>
                      </a:r>
                      <a:endParaRPr lang="en-US" sz="1200" dirty="0">
                        <a:latin typeface="IBM Plex Sans" charset="0"/>
                        <a:ea typeface="IBM Plex Sans" charset="0"/>
                        <a:cs typeface="IBM Plex Sans" charset="0"/>
                      </a:endParaRPr>
                    </a:p>
                  </a:txBody>
                  <a:tcPr marL="109728" marR="109728" marT="45720" marB="45720" anchor="ctr">
                    <a:lnL w="12700" cap="flat" cmpd="sng" algn="ctr">
                      <a:solidFill>
                        <a:srgbClr val="E2DDD0"/>
                      </a:solidFill>
                      <a:prstDash val="solid"/>
                      <a:round/>
                      <a:headEnd type="none" w="med" len="med"/>
                      <a:tailEnd type="none" w="med" len="med"/>
                    </a:lnL>
                    <a:lnR w="12700" cap="flat" cmpd="sng" algn="ctr">
                      <a:solidFill>
                        <a:srgbClr val="E2DDD0"/>
                      </a:solidFill>
                      <a:prstDash val="solid"/>
                      <a:round/>
                      <a:headEnd type="none" w="med" len="med"/>
                      <a:tailEnd type="none" w="med" len="med"/>
                    </a:lnR>
                    <a:lnT w="12700" cap="flat" cmpd="sng" algn="ctr">
                      <a:solidFill>
                        <a:srgbClr val="E2DDD0"/>
                      </a:solidFill>
                      <a:prstDash val="solid"/>
                      <a:round/>
                      <a:headEnd type="none" w="med" len="med"/>
                      <a:tailEnd type="none" w="med" len="med"/>
                    </a:lnT>
                    <a:lnB w="12700" cap="flat" cmpd="sng" algn="ctr">
                      <a:solidFill>
                        <a:srgbClr val="E2DDD0"/>
                      </a:solidFill>
                      <a:prstDash val="solid"/>
                      <a:round/>
                      <a:headEnd type="none" w="med" len="med"/>
                      <a:tailEnd type="none" w="med" len="med"/>
                    </a:lnB>
                  </a:tcPr>
                </a:tc>
                <a:tc>
                  <a:txBody>
                    <a:bodyPr/>
                    <a:lstStyle/>
                    <a:p>
                      <a:pPr indent="0" marL="0">
                        <a:buNone/>
                      </a:pPr>
                      <a:r>
                        <a:rPr lang="en-US" sz="1200" dirty="0">
                          <a:solidFill>
                            <a:srgbClr val="3E4A5C"/>
                          </a:solidFill>
                          <a:latin typeface="IBM Plex Sans" pitchFamily="34" charset="0"/>
                          <a:ea typeface="IBM Plex Sans" pitchFamily="34" charset="-122"/>
                          <a:cs typeface="IBM Plex Sans" pitchFamily="34" charset="-120"/>
                        </a:rPr>
                        <a:t>parents re-scored every generation; best re-evaluated on 100 new episodes</a:t>
                      </a:r>
                      <a:endParaRPr lang="en-US" sz="1200" dirty="0">
                        <a:latin typeface="IBM Plex Sans" charset="0"/>
                        <a:ea typeface="IBM Plex Sans" charset="0"/>
                        <a:cs typeface="IBM Plex Sans" charset="0"/>
                      </a:endParaRPr>
                    </a:p>
                  </a:txBody>
                  <a:tcPr marL="109728" marR="109728" marT="45720" marB="45720" anchor="ctr">
                    <a:lnL w="12700" cap="flat" cmpd="sng" algn="ctr">
                      <a:solidFill>
                        <a:srgbClr val="E2DDD0"/>
                      </a:solidFill>
                      <a:prstDash val="solid"/>
                      <a:round/>
                      <a:headEnd type="none" w="med" len="med"/>
                      <a:tailEnd type="none" w="med" len="med"/>
                    </a:lnL>
                    <a:lnR w="12700" cap="flat" cmpd="sng" algn="ctr">
                      <a:solidFill>
                        <a:srgbClr val="E2DDD0"/>
                      </a:solidFill>
                      <a:prstDash val="solid"/>
                      <a:round/>
                      <a:headEnd type="none" w="med" len="med"/>
                      <a:tailEnd type="none" w="med" len="med"/>
                    </a:lnR>
                    <a:lnT w="12700" cap="flat" cmpd="sng" algn="ctr">
                      <a:solidFill>
                        <a:srgbClr val="E2DDD0"/>
                      </a:solidFill>
                      <a:prstDash val="solid"/>
                      <a:round/>
                      <a:headEnd type="none" w="med" len="med"/>
                      <a:tailEnd type="none" w="med" len="med"/>
                    </a:lnT>
                    <a:lnB w="12700" cap="flat" cmpd="sng" algn="ctr">
                      <a:solidFill>
                        <a:srgbClr val="E2DDD0"/>
                      </a:solidFill>
                      <a:prstDash val="solid"/>
                      <a:round/>
                      <a:headEnd type="none" w="med" len="med"/>
                      <a:tailEnd type="none" w="med" len="med"/>
                    </a:lnB>
                  </a:tcPr>
                </a:tc>
              </a:tr>
              <a:tr h="502920">
                <a:tc>
                  <a:txBody>
                    <a:bodyPr/>
                    <a:lstStyle/>
                    <a:p>
                      <a:pPr indent="0" marL="0">
                        <a:buNone/>
                      </a:pPr>
                      <a:r>
                        <a:rPr lang="en-US" sz="1200" b="1" dirty="0">
                          <a:solidFill>
                            <a:srgbClr val="16213A"/>
                          </a:solidFill>
                          <a:latin typeface="IBM Plex Sans" pitchFamily="34" charset="0"/>
                          <a:ea typeface="IBM Plex Sans" pitchFamily="34" charset="-122"/>
                          <a:cs typeface="IBM Plex Sans" pitchFamily="34" charset="-120"/>
                        </a:rPr>
                        <a:t>Baseline</a:t>
                      </a:r>
                      <a:endParaRPr lang="en-US" sz="1200" dirty="0">
                        <a:latin typeface="IBM Plex Sans" charset="0"/>
                        <a:ea typeface="IBM Plex Sans" charset="0"/>
                        <a:cs typeface="IBM Plex Sans" charset="0"/>
                      </a:endParaRPr>
                    </a:p>
                  </a:txBody>
                  <a:tcPr marL="109728" marR="109728" marT="45720" marB="45720" anchor="ctr">
                    <a:lnL w="12700" cap="flat" cmpd="sng" algn="ctr">
                      <a:solidFill>
                        <a:srgbClr val="E2DDD0"/>
                      </a:solidFill>
                      <a:prstDash val="solid"/>
                      <a:round/>
                      <a:headEnd type="none" w="med" len="med"/>
                      <a:tailEnd type="none" w="med" len="med"/>
                    </a:lnL>
                    <a:lnR w="12700" cap="flat" cmpd="sng" algn="ctr">
                      <a:solidFill>
                        <a:srgbClr val="E2DDD0"/>
                      </a:solidFill>
                      <a:prstDash val="solid"/>
                      <a:round/>
                      <a:headEnd type="none" w="med" len="med"/>
                      <a:tailEnd type="none" w="med" len="med"/>
                    </a:lnR>
                    <a:lnT w="12700" cap="flat" cmpd="sng" algn="ctr">
                      <a:solidFill>
                        <a:srgbClr val="E2DDD0"/>
                      </a:solidFill>
                      <a:prstDash val="solid"/>
                      <a:round/>
                      <a:headEnd type="none" w="med" len="med"/>
                      <a:tailEnd type="none" w="med" len="med"/>
                    </a:lnT>
                    <a:lnB w="12700" cap="flat" cmpd="sng" algn="ctr">
                      <a:solidFill>
                        <a:srgbClr val="E2DDD0"/>
                      </a:solidFill>
                      <a:prstDash val="solid"/>
                      <a:round/>
                      <a:headEnd type="none" w="med" len="med"/>
                      <a:tailEnd type="none" w="med" len="med"/>
                    </a:lnB>
                    <a:solidFill>
                      <a:srgbClr val="ECE8DE"/>
                    </a:solidFill>
                  </a:tcPr>
                </a:tc>
                <a:tc>
                  <a:txBody>
                    <a:bodyPr/>
                    <a:lstStyle/>
                    <a:p>
                      <a:pPr indent="0" marL="0">
                        <a:buNone/>
                      </a:pPr>
                      <a:r>
                        <a:rPr lang="en-US" sz="1200" dirty="0">
                          <a:solidFill>
                            <a:srgbClr val="3E4A5C"/>
                          </a:solidFill>
                          <a:latin typeface="IBM Plex Sans" pitchFamily="34" charset="0"/>
                          <a:ea typeface="IBM Plex Sans" pitchFamily="34" charset="-122"/>
                          <a:cs typeface="IBM Plex Sans" pitchFamily="34" charset="-120"/>
                        </a:rPr>
                        <a:t>none</a:t>
                      </a:r>
                      <a:endParaRPr lang="en-US" sz="1200" dirty="0">
                        <a:latin typeface="IBM Plex Sans" charset="0"/>
                        <a:ea typeface="IBM Plex Sans" charset="0"/>
                        <a:cs typeface="IBM Plex Sans" charset="0"/>
                      </a:endParaRPr>
                    </a:p>
                  </a:txBody>
                  <a:tcPr marL="109728" marR="109728" marT="45720" marB="45720" anchor="ctr">
                    <a:lnL w="12700" cap="flat" cmpd="sng" algn="ctr">
                      <a:solidFill>
                        <a:srgbClr val="E2DDD0"/>
                      </a:solidFill>
                      <a:prstDash val="solid"/>
                      <a:round/>
                      <a:headEnd type="none" w="med" len="med"/>
                      <a:tailEnd type="none" w="med" len="med"/>
                    </a:lnL>
                    <a:lnR w="12700" cap="flat" cmpd="sng" algn="ctr">
                      <a:solidFill>
                        <a:srgbClr val="E2DDD0"/>
                      </a:solidFill>
                      <a:prstDash val="solid"/>
                      <a:round/>
                      <a:headEnd type="none" w="med" len="med"/>
                      <a:tailEnd type="none" w="med" len="med"/>
                    </a:lnR>
                    <a:lnT w="12700" cap="flat" cmpd="sng" algn="ctr">
                      <a:solidFill>
                        <a:srgbClr val="E2DDD0"/>
                      </a:solidFill>
                      <a:prstDash val="solid"/>
                      <a:round/>
                      <a:headEnd type="none" w="med" len="med"/>
                      <a:tailEnd type="none" w="med" len="med"/>
                    </a:lnT>
                    <a:lnB w="12700" cap="flat" cmpd="sng" algn="ctr">
                      <a:solidFill>
                        <a:srgbClr val="E2DDD0"/>
                      </a:solidFill>
                      <a:prstDash val="solid"/>
                      <a:round/>
                      <a:headEnd type="none" w="med" len="med"/>
                      <a:tailEnd type="none" w="med" len="med"/>
                    </a:lnB>
                    <a:solidFill>
                      <a:srgbClr val="ECE8DE"/>
                    </a:solidFill>
                  </a:tcPr>
                </a:tc>
                <a:tc>
                  <a:txBody>
                    <a:bodyPr/>
                    <a:lstStyle/>
                    <a:p>
                      <a:pPr indent="0" marL="0">
                        <a:buNone/>
                      </a:pPr>
                      <a:r>
                        <a:rPr lang="en-US" sz="1200" dirty="0">
                          <a:solidFill>
                            <a:srgbClr val="3E4A5C"/>
                          </a:solidFill>
                          <a:latin typeface="IBM Plex Sans" pitchFamily="34" charset="0"/>
                          <a:ea typeface="IBM Plex Sans" pitchFamily="34" charset="-122"/>
                          <a:cs typeface="IBM Plex Sans" pitchFamily="34" charset="-120"/>
                        </a:rPr>
                        <a:t>hand-wired crossed vehicle in the same code (about 0.2)</a:t>
                      </a:r>
                      <a:endParaRPr lang="en-US" sz="1200" dirty="0">
                        <a:latin typeface="IBM Plex Sans" charset="0"/>
                        <a:ea typeface="IBM Plex Sans" charset="0"/>
                        <a:cs typeface="IBM Plex Sans" charset="0"/>
                      </a:endParaRPr>
                    </a:p>
                  </a:txBody>
                  <a:tcPr marL="109728" marR="109728" marT="45720" marB="45720" anchor="ctr">
                    <a:lnL w="12700" cap="flat" cmpd="sng" algn="ctr">
                      <a:solidFill>
                        <a:srgbClr val="E2DDD0"/>
                      </a:solidFill>
                      <a:prstDash val="solid"/>
                      <a:round/>
                      <a:headEnd type="none" w="med" len="med"/>
                      <a:tailEnd type="none" w="med" len="med"/>
                    </a:lnL>
                    <a:lnR w="12700" cap="flat" cmpd="sng" algn="ctr">
                      <a:solidFill>
                        <a:srgbClr val="E2DDD0"/>
                      </a:solidFill>
                      <a:prstDash val="solid"/>
                      <a:round/>
                      <a:headEnd type="none" w="med" len="med"/>
                      <a:tailEnd type="none" w="med" len="med"/>
                    </a:lnR>
                    <a:lnT w="12700" cap="flat" cmpd="sng" algn="ctr">
                      <a:solidFill>
                        <a:srgbClr val="E2DDD0"/>
                      </a:solidFill>
                      <a:prstDash val="solid"/>
                      <a:round/>
                      <a:headEnd type="none" w="med" len="med"/>
                      <a:tailEnd type="none" w="med" len="med"/>
                    </a:lnT>
                    <a:lnB w="12700" cap="flat" cmpd="sng" algn="ctr">
                      <a:solidFill>
                        <a:srgbClr val="E2DDD0"/>
                      </a:solidFill>
                      <a:prstDash val="solid"/>
                      <a:round/>
                      <a:headEnd type="none" w="med" len="med"/>
                      <a:tailEnd type="none" w="med" len="med"/>
                    </a:lnB>
                    <a:solidFill>
                      <a:srgbClr val="ECE8DE"/>
                    </a:solidFill>
                  </a:tcPr>
                </a:tc>
              </a:tr>
            </a:tbl>
          </a:graphicData>
        </a:graphic>
      </p:graphicFrame>
      <p:sp>
        <p:nvSpPr>
          <p:cNvPr id="6" name="Shape 2"/>
          <p:cNvSpPr/>
          <p:nvPr/>
        </p:nvSpPr>
        <p:spPr>
          <a:xfrm>
            <a:off x="813816" y="5486400"/>
            <a:ext cx="10561320" cy="640080"/>
          </a:xfrm>
          <a:prstGeom prst="roundRect">
            <a:avLst>
              <a:gd name="adj" fmla="val 11429"/>
            </a:avLst>
          </a:prstGeom>
          <a:solidFill>
            <a:srgbClr val="F6DCCB"/>
          </a:solidFill>
          <a:ln w="12700">
            <a:solidFill>
              <a:srgbClr val="E2DDD0"/>
            </a:solidFill>
            <a:prstDash val="solid"/>
          </a:ln>
        </p:spPr>
      </p:sp>
      <p:sp>
        <p:nvSpPr>
          <p:cNvPr id="7" name="Text 3"/>
          <p:cNvSpPr txBox="1"/>
          <p:nvPr/>
        </p:nvSpPr>
        <p:spPr>
          <a:xfrm>
            <a:off x="1088136" y="5486400"/>
            <a:ext cx="10012680" cy="640080"/>
          </a:xfrm>
          <a:prstGeom prst="rect">
            <a:avLst/>
          </a:prstGeom>
          <a:noFill/>
          <a:ln/>
        </p:spPr>
        <p:txBody>
          <a:bodyPr wrap="square" lIns="0" tIns="0" rIns="0" bIns="0" rtlCol="0" anchor="ctr"/>
          <a:lstStyle/>
          <a:p>
            <a:pPr indent="0" marL="0">
              <a:buNone/>
            </a:pPr>
            <a:r>
              <a:rPr lang="en-US" sz="1400" b="1" dirty="0">
                <a:solidFill>
                  <a:srgbClr val="16213A"/>
                </a:solidFill>
                <a:latin typeface="IBM Plex Sans" pitchFamily="34" charset="0"/>
                <a:ea typeface="IBM Plex Sans" pitchFamily="34" charset="-122"/>
                <a:cs typeface="IBM Plex Sans" pitchFamily="34" charset="-120"/>
              </a:rPr>
              <a:t>Checkpoint </a:t>
            </a:r>
            <a:pPr indent="0" marL="0">
              <a:buNone/>
            </a:pPr>
            <a:r>
              <a:rPr lang="en-US" sz="1400" dirty="0">
                <a:solidFill>
                  <a:srgbClr val="3E4A5C"/>
                </a:solidFill>
                <a:latin typeface="IBM Plex Sans" pitchFamily="34" charset="0"/>
                <a:ea typeface="IBM Plex Sans" pitchFamily="34" charset="-122"/>
                <a:cs typeface="IBM Plex Sans" pitchFamily="34" charset="-120"/>
              </a:rPr>
              <a:t>Fri Oct 2, in class (Parts 1 and 2).   </a:t>
            </a:r>
            <a:pPr indent="0" marL="0">
              <a:buNone/>
            </a:pPr>
            <a:r>
              <a:rPr lang="en-US" sz="1400" b="1" dirty="0">
                <a:solidFill>
                  <a:srgbClr val="16213A"/>
                </a:solidFill>
                <a:latin typeface="IBM Plex Sans" pitchFamily="34" charset="0"/>
                <a:ea typeface="IBM Plex Sans" pitchFamily="34" charset="-122"/>
                <a:cs typeface="IBM Plex Sans" pitchFamily="34" charset="-120"/>
              </a:rPr>
              <a:t>Final </a:t>
            </a:r>
            <a:pPr indent="0" marL="0">
              <a:buNone/>
            </a:pPr>
            <a:r>
              <a:rPr lang="en-US" sz="1400" dirty="0">
                <a:solidFill>
                  <a:srgbClr val="3E4A5C"/>
                </a:solidFill>
                <a:latin typeface="IBM Plex Sans" pitchFamily="34" charset="0"/>
                <a:ea typeface="IBM Plex Sans" pitchFamily="34" charset="-122"/>
                <a:cs typeface="IBM Plex Sans" pitchFamily="34" charset="-120"/>
              </a:rPr>
              <a:t>Tue Oct 6, before class (Part 3 and report).</a:t>
            </a:r>
            <a:endParaRPr lang="en-US" sz="1400" dirty="0"/>
          </a:p>
        </p:txBody>
      </p:sp>
      <p:sp>
        <p:nvSpPr>
          <p:cNvPr id="8" name="Text 4"/>
          <p:cNvSpPr txBox="1"/>
          <p:nvPr/>
        </p:nvSpPr>
        <p:spPr>
          <a:xfrm>
            <a:off x="813816" y="6355080"/>
            <a:ext cx="10561320" cy="256032"/>
          </a:xfrm>
          <a:prstGeom prst="rect">
            <a:avLst/>
          </a:prstGeom>
          <a:noFill/>
          <a:ln/>
        </p:spPr>
        <p:txBody>
          <a:bodyPr wrap="square" lIns="0" tIns="0" rIns="0" bIns="0" rtlCol="0" anchor="ctr"/>
          <a:lstStyle/>
          <a:p>
            <a:pPr indent="0" marL="0">
              <a:buNone/>
            </a:pPr>
            <a:r>
              <a:rPr lang="en-US" sz="1000" dirty="0">
                <a:solidFill>
                  <a:srgbClr val="5E6878"/>
                </a:solidFill>
                <a:latin typeface="JetBrains Mono" pitchFamily="34" charset="0"/>
                <a:ea typeface="JetBrains Mono" pitchFamily="34" charset="-122"/>
                <a:cs typeface="JetBrains Mono" pitchFamily="34" charset="-120"/>
              </a:rPr>
              <a:t>4_EN_Braitenberg · neural_controller.py · braitenberg.py · evolve.py</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F4EE"/>
        </a:solidFill>
      </p:bgPr>
    </p:bg>
    <p:spTree>
      <p:nvGrpSpPr>
        <p:cNvPr id="1" name=""/>
        <p:cNvGrpSpPr/>
        <p:nvPr/>
      </p:nvGrpSpPr>
      <p:grpSpPr>
        <a:xfrm>
          <a:off x="0" y="0"/>
          <a:ext cx="0" cy="0"/>
          <a:chOff x="0" y="0"/>
          <a:chExt cx="0" cy="0"/>
        </a:xfrm>
      </p:grpSpPr>
      <p:sp>
        <p:nvSpPr>
          <p:cNvPr id="2" name="Text 0"/>
          <p:cNvSpPr txBox="1"/>
          <p:nvPr/>
        </p:nvSpPr>
        <p:spPr>
          <a:xfrm>
            <a:off x="813816" y="548640"/>
            <a:ext cx="10561320" cy="274320"/>
          </a:xfrm>
          <a:prstGeom prst="rect">
            <a:avLst/>
          </a:prstGeom>
          <a:noFill/>
          <a:ln/>
        </p:spPr>
        <p:txBody>
          <a:bodyPr wrap="square" lIns="0" tIns="0" rIns="0" bIns="0" rtlCol="0" anchor="ctr"/>
          <a:lstStyle/>
          <a:p>
            <a:pPr indent="0" marL="0">
              <a:buNone/>
            </a:pPr>
            <a:r>
              <a:rPr lang="en-US" sz="1200" b="1" spc="100" kern="0" dirty="0">
                <a:solidFill>
                  <a:srgbClr val="B4521C"/>
                </a:solidFill>
                <a:latin typeface="IBM Plex Sans" pitchFamily="34" charset="0"/>
                <a:ea typeface="IBM Plex Sans" pitchFamily="34" charset="-122"/>
                <a:cs typeface="IBM Plex Sans" pitchFamily="34" charset="-120"/>
              </a:rPr>
              <a:t>PROJECT 4 · THE OFFICIAL VERSION</a:t>
            </a:r>
            <a:endParaRPr lang="en-US" sz="1200" dirty="0"/>
          </a:p>
        </p:txBody>
      </p:sp>
      <p:sp>
        <p:nvSpPr>
          <p:cNvPr id="3" name="Text 1"/>
          <p:cNvSpPr txBox="1"/>
          <p:nvPr/>
        </p:nvSpPr>
        <p:spPr>
          <a:xfrm>
            <a:off x="813816" y="841248"/>
            <a:ext cx="10561320" cy="548640"/>
          </a:xfrm>
          <a:prstGeom prst="rect">
            <a:avLst/>
          </a:prstGeom>
          <a:noFill/>
          <a:ln/>
        </p:spPr>
        <p:txBody>
          <a:bodyPr wrap="square" lIns="0" tIns="0" rIns="0" bIns="0" rtlCol="0" anchor="ctr"/>
          <a:lstStyle/>
          <a:p>
            <a:pPr indent="0" marL="0">
              <a:buNone/>
            </a:pPr>
            <a:r>
              <a:rPr lang="en-US" sz="3200" b="1" dirty="0">
                <a:solidFill>
                  <a:srgbClr val="16213A"/>
                </a:solidFill>
                <a:latin typeface="IBM Plex Sans" pitchFamily="34" charset="0"/>
                <a:ea typeface="IBM Plex Sans" pitchFamily="34" charset="-122"/>
                <a:cs typeface="IBM Plex Sans" pitchFamily="34" charset="-120"/>
              </a:rPr>
              <a:t>Same pipeline, but a whole population at once</a:t>
            </a:r>
            <a:endParaRPr lang="en-US" sz="3200" dirty="0"/>
          </a:p>
        </p:txBody>
      </p:sp>
      <p:sp>
        <p:nvSpPr>
          <p:cNvPr id="5" name="Shape 2"/>
          <p:cNvSpPr/>
          <p:nvPr/>
        </p:nvSpPr>
        <p:spPr>
          <a:xfrm>
            <a:off x="813816" y="1828800"/>
            <a:ext cx="1783080" cy="1417320"/>
          </a:xfrm>
          <a:prstGeom prst="roundRect">
            <a:avLst>
              <a:gd name="adj" fmla="val 5161"/>
            </a:avLst>
          </a:prstGeom>
          <a:solidFill>
            <a:srgbClr val="16213A"/>
          </a:solidFill>
          <a:ln w="12700">
            <a:solidFill>
              <a:srgbClr val="16213A"/>
            </a:solidFill>
            <a:prstDash val="solid"/>
          </a:ln>
        </p:spPr>
      </p:sp>
      <p:sp>
        <p:nvSpPr>
          <p:cNvPr id="6" name="Text 3"/>
          <p:cNvSpPr txBox="1"/>
          <p:nvPr/>
        </p:nvSpPr>
        <p:spPr>
          <a:xfrm>
            <a:off x="950976" y="1938528"/>
            <a:ext cx="1508760" cy="411480"/>
          </a:xfrm>
          <a:prstGeom prst="rect">
            <a:avLst/>
          </a:prstGeom>
          <a:noFill/>
          <a:ln/>
        </p:spPr>
        <p:txBody>
          <a:bodyPr wrap="square" lIns="0" tIns="0" rIns="0" bIns="0" rtlCol="0" anchor="ctr"/>
          <a:lstStyle/>
          <a:p>
            <a:pPr indent="0" marL="0">
              <a:buNone/>
            </a:pPr>
            <a:r>
              <a:rPr lang="en-US" sz="1400" b="1" dirty="0">
                <a:solidFill>
                  <a:srgbClr val="F6F4EE"/>
                </a:solidFill>
                <a:latin typeface="JetBrains Mono" pitchFamily="34" charset="0"/>
                <a:ea typeface="JetBrains Mono" pitchFamily="34" charset="-122"/>
                <a:cs typeface="JetBrains Mono" pitchFamily="34" charset="-120"/>
              </a:rPr>
              <a:t>genomes</a:t>
            </a:r>
            <a:endParaRPr lang="en-US" sz="1400" dirty="0"/>
          </a:p>
        </p:txBody>
      </p:sp>
      <p:sp>
        <p:nvSpPr>
          <p:cNvPr id="7" name="Text 4"/>
          <p:cNvSpPr txBox="1"/>
          <p:nvPr/>
        </p:nvSpPr>
        <p:spPr>
          <a:xfrm>
            <a:off x="950976" y="2395728"/>
            <a:ext cx="1508760" cy="777240"/>
          </a:xfrm>
          <a:prstGeom prst="rect">
            <a:avLst/>
          </a:prstGeom>
          <a:noFill/>
          <a:ln/>
        </p:spPr>
        <p:txBody>
          <a:bodyPr wrap="square" lIns="0" tIns="0" rIns="0" bIns="0" rtlCol="0" anchor="t"/>
          <a:lstStyle/>
          <a:p>
            <a:pPr indent="0" marL="0">
              <a:buNone/>
            </a:pPr>
            <a:r>
              <a:rPr lang="en-US" sz="1200" dirty="0">
                <a:solidFill>
                  <a:srgbClr val="F6F4EE"/>
                </a:solidFill>
                <a:latin typeface="IBM Plex Sans" pitchFamily="34" charset="0"/>
                <a:ea typeface="IBM Plex Sans" pitchFamily="34" charset="-122"/>
                <a:cs typeface="IBM Plex Sans" pitchFamily="34" charset="-120"/>
              </a:rPr>
              <a:t>from EvoTorch</a:t>
            </a:r>
            <a:endParaRPr lang="en-US" sz="1200" dirty="0"/>
          </a:p>
        </p:txBody>
      </p:sp>
      <p:sp>
        <p:nvSpPr>
          <p:cNvPr id="8" name="Text 5"/>
          <p:cNvSpPr txBox="1"/>
          <p:nvPr/>
        </p:nvSpPr>
        <p:spPr>
          <a:xfrm>
            <a:off x="813816" y="3337560"/>
            <a:ext cx="1783080" cy="320040"/>
          </a:xfrm>
          <a:prstGeom prst="rect">
            <a:avLst/>
          </a:prstGeom>
          <a:noFill/>
          <a:ln/>
        </p:spPr>
        <p:txBody>
          <a:bodyPr wrap="square" lIns="0" tIns="0" rIns="0" bIns="0" rtlCol="0" anchor="ctr"/>
          <a:lstStyle/>
          <a:p>
            <a:pPr algn="ctr" indent="0" marL="0">
              <a:buNone/>
            </a:pPr>
            <a:r>
              <a:rPr lang="en-US" sz="1300" b="1" dirty="0">
                <a:solidFill>
                  <a:srgbClr val="16213A"/>
                </a:solidFill>
                <a:latin typeface="JetBrains Mono" pitchFamily="34" charset="0"/>
                <a:ea typeface="JetBrains Mono" pitchFamily="34" charset="-122"/>
                <a:cs typeface="JetBrains Mono" pitchFamily="34" charset="-120"/>
              </a:rPr>
              <a:t>(50, 42)</a:t>
            </a:r>
            <a:endParaRPr lang="en-US" sz="1300" dirty="0"/>
          </a:p>
        </p:txBody>
      </p:sp>
      <p:sp>
        <p:nvSpPr>
          <p:cNvPr id="9" name="Shape 6"/>
          <p:cNvSpPr/>
          <p:nvPr/>
        </p:nvSpPr>
        <p:spPr>
          <a:xfrm>
            <a:off x="2651760" y="2542032"/>
            <a:ext cx="301752" cy="0"/>
          </a:xfrm>
          <a:prstGeom prst="line">
            <a:avLst/>
          </a:prstGeom>
          <a:noFill/>
          <a:ln w="25400">
            <a:solidFill>
              <a:srgbClr val="5E6878"/>
            </a:solidFill>
            <a:prstDash val="solid"/>
            <a:tailEnd type="triangle"/>
          </a:ln>
        </p:spPr>
      </p:sp>
      <p:sp>
        <p:nvSpPr>
          <p:cNvPr id="10" name="Shape 7"/>
          <p:cNvSpPr/>
          <p:nvPr/>
        </p:nvSpPr>
        <p:spPr>
          <a:xfrm>
            <a:off x="3008376" y="1828800"/>
            <a:ext cx="1783080" cy="1417320"/>
          </a:xfrm>
          <a:prstGeom prst="roundRect">
            <a:avLst>
              <a:gd name="adj" fmla="val 5161"/>
            </a:avLst>
          </a:prstGeom>
          <a:solidFill>
            <a:srgbClr val="B4521C"/>
          </a:solidFill>
          <a:ln w="12700">
            <a:solidFill>
              <a:srgbClr val="B4521C"/>
            </a:solidFill>
            <a:prstDash val="solid"/>
          </a:ln>
        </p:spPr>
      </p:sp>
      <p:sp>
        <p:nvSpPr>
          <p:cNvPr id="11" name="Text 8"/>
          <p:cNvSpPr txBox="1"/>
          <p:nvPr/>
        </p:nvSpPr>
        <p:spPr>
          <a:xfrm>
            <a:off x="3145536" y="1938528"/>
            <a:ext cx="1508760" cy="411480"/>
          </a:xfrm>
          <a:prstGeom prst="rect">
            <a:avLst/>
          </a:prstGeom>
          <a:noFill/>
          <a:ln/>
        </p:spPr>
        <p:txBody>
          <a:bodyPr wrap="square" lIns="0" tIns="0" rIns="0" bIns="0" rtlCol="0" anchor="ctr"/>
          <a:lstStyle/>
          <a:p>
            <a:pPr indent="0" marL="0">
              <a:buNone/>
            </a:pPr>
            <a:r>
              <a:rPr lang="en-US" sz="1200" b="1" dirty="0">
                <a:solidFill>
                  <a:srgbClr val="F6F4EE"/>
                </a:solidFill>
                <a:latin typeface="JetBrains Mono" pitchFamily="34" charset="0"/>
                <a:ea typeface="JetBrains Mono" pitchFamily="34" charset="-122"/>
                <a:cs typeface="JetBrains Mono" pitchFamily="34" charset="-120"/>
              </a:rPr>
              <a:t>simulate_population</a:t>
            </a:r>
            <a:endParaRPr lang="en-US" sz="1200" dirty="0"/>
          </a:p>
        </p:txBody>
      </p:sp>
      <p:sp>
        <p:nvSpPr>
          <p:cNvPr id="12" name="Text 9"/>
          <p:cNvSpPr txBox="1"/>
          <p:nvPr/>
        </p:nvSpPr>
        <p:spPr>
          <a:xfrm>
            <a:off x="3145536" y="2395728"/>
            <a:ext cx="1508760" cy="777240"/>
          </a:xfrm>
          <a:prstGeom prst="rect">
            <a:avLst/>
          </a:prstGeom>
          <a:noFill/>
          <a:ln/>
        </p:spPr>
        <p:txBody>
          <a:bodyPr wrap="square" lIns="0" tIns="0" rIns="0" bIns="0" rtlCol="0" anchor="t"/>
          <a:lstStyle/>
          <a:p>
            <a:pPr indent="0" marL="0">
              <a:buNone/>
            </a:pPr>
            <a:r>
              <a:rPr lang="en-US" sz="1200" dirty="0">
                <a:solidFill>
                  <a:srgbClr val="F6F4EE"/>
                </a:solidFill>
                <a:latin typeface="IBM Plex Sans" pitchFamily="34" charset="0"/>
                <a:ea typeface="IBM Plex Sans" pitchFamily="34" charset="-122"/>
                <a:cs typeface="IBM Plex Sans" pitchFamily="34" charset="-120"/>
              </a:rPr>
              <a:t>2000 steps, all vehicles at once</a:t>
            </a:r>
            <a:endParaRPr lang="en-US" sz="1200" dirty="0"/>
          </a:p>
        </p:txBody>
      </p:sp>
      <p:sp>
        <p:nvSpPr>
          <p:cNvPr id="13" name="Shape 10"/>
          <p:cNvSpPr/>
          <p:nvPr/>
        </p:nvSpPr>
        <p:spPr>
          <a:xfrm>
            <a:off x="4846320" y="2542032"/>
            <a:ext cx="301752" cy="0"/>
          </a:xfrm>
          <a:prstGeom prst="line">
            <a:avLst/>
          </a:prstGeom>
          <a:noFill/>
          <a:ln w="25400">
            <a:solidFill>
              <a:srgbClr val="5E6878"/>
            </a:solidFill>
            <a:prstDash val="solid"/>
            <a:tailEnd type="triangle"/>
          </a:ln>
        </p:spPr>
      </p:sp>
      <p:sp>
        <p:nvSpPr>
          <p:cNvPr id="14" name="Shape 11"/>
          <p:cNvSpPr/>
          <p:nvPr/>
        </p:nvSpPr>
        <p:spPr>
          <a:xfrm>
            <a:off x="5202936" y="1828800"/>
            <a:ext cx="1783080" cy="1417320"/>
          </a:xfrm>
          <a:prstGeom prst="roundRect">
            <a:avLst>
              <a:gd name="adj" fmla="val 5161"/>
            </a:avLst>
          </a:prstGeom>
          <a:solidFill>
            <a:srgbClr val="16213A"/>
          </a:solidFill>
          <a:ln w="12700">
            <a:solidFill>
              <a:srgbClr val="16213A"/>
            </a:solidFill>
            <a:prstDash val="solid"/>
          </a:ln>
        </p:spPr>
      </p:sp>
      <p:sp>
        <p:nvSpPr>
          <p:cNvPr id="15" name="Text 12"/>
          <p:cNvSpPr txBox="1"/>
          <p:nvPr/>
        </p:nvSpPr>
        <p:spPr>
          <a:xfrm>
            <a:off x="5340096" y="1938528"/>
            <a:ext cx="1508760" cy="411480"/>
          </a:xfrm>
          <a:prstGeom prst="rect">
            <a:avLst/>
          </a:prstGeom>
          <a:noFill/>
          <a:ln/>
        </p:spPr>
        <p:txBody>
          <a:bodyPr wrap="square" lIns="0" tIns="0" rIns="0" bIns="0" rtlCol="0" anchor="ctr"/>
          <a:lstStyle/>
          <a:p>
            <a:pPr indent="0" marL="0">
              <a:buNone/>
            </a:pPr>
            <a:r>
              <a:rPr lang="en-US" sz="1400" b="1" dirty="0">
                <a:solidFill>
                  <a:srgbClr val="F6F4EE"/>
                </a:solidFill>
                <a:latin typeface="JetBrains Mono" pitchFamily="34" charset="0"/>
                <a:ea typeface="JetBrains Mono" pitchFamily="34" charset="-122"/>
                <a:cs typeface="JetBrains Mono" pitchFamily="34" charset="-120"/>
              </a:rPr>
              <a:t>dist</a:t>
            </a:r>
            <a:endParaRPr lang="en-US" sz="1400" dirty="0"/>
          </a:p>
        </p:txBody>
      </p:sp>
      <p:sp>
        <p:nvSpPr>
          <p:cNvPr id="16" name="Text 13"/>
          <p:cNvSpPr txBox="1"/>
          <p:nvPr/>
        </p:nvSpPr>
        <p:spPr>
          <a:xfrm>
            <a:off x="5340096" y="2395728"/>
            <a:ext cx="1508760" cy="777240"/>
          </a:xfrm>
          <a:prstGeom prst="rect">
            <a:avLst/>
          </a:prstGeom>
          <a:noFill/>
          <a:ln/>
        </p:spPr>
        <p:txBody>
          <a:bodyPr wrap="square" lIns="0" tIns="0" rIns="0" bIns="0" rtlCol="0" anchor="t"/>
          <a:lstStyle/>
          <a:p>
            <a:pPr indent="0" marL="0">
              <a:buNone/>
            </a:pPr>
            <a:r>
              <a:rPr lang="en-US" sz="1200" dirty="0">
                <a:solidFill>
                  <a:srgbClr val="F6F4EE"/>
                </a:solidFill>
                <a:latin typeface="IBM Plex Sans" pitchFamily="34" charset="0"/>
                <a:ea typeface="IBM Plex Sans" pitchFamily="34" charset="-122"/>
                <a:cs typeface="IBM Plex Sans" pitchFamily="34" charset="-120"/>
              </a:rPr>
              <a:t>distance to light after every step</a:t>
            </a:r>
            <a:endParaRPr lang="en-US" sz="1200" dirty="0"/>
          </a:p>
        </p:txBody>
      </p:sp>
      <p:sp>
        <p:nvSpPr>
          <p:cNvPr id="17" name="Text 14"/>
          <p:cNvSpPr txBox="1"/>
          <p:nvPr/>
        </p:nvSpPr>
        <p:spPr>
          <a:xfrm>
            <a:off x="5202936" y="3337560"/>
            <a:ext cx="1783080" cy="320040"/>
          </a:xfrm>
          <a:prstGeom prst="rect">
            <a:avLst/>
          </a:prstGeom>
          <a:noFill/>
          <a:ln/>
        </p:spPr>
        <p:txBody>
          <a:bodyPr wrap="square" lIns="0" tIns="0" rIns="0" bIns="0" rtlCol="0" anchor="ctr"/>
          <a:lstStyle/>
          <a:p>
            <a:pPr algn="ctr" indent="0" marL="0">
              <a:buNone/>
            </a:pPr>
            <a:r>
              <a:rPr lang="en-US" sz="1300" b="1" dirty="0">
                <a:solidFill>
                  <a:srgbClr val="16213A"/>
                </a:solidFill>
                <a:latin typeface="JetBrains Mono" pitchFamily="34" charset="0"/>
                <a:ea typeface="JetBrains Mono" pitchFamily="34" charset="-122"/>
                <a:cs typeface="JetBrains Mono" pitchFamily="34" charset="-120"/>
              </a:rPr>
              <a:t>(50, 5, 2000)</a:t>
            </a:r>
            <a:endParaRPr lang="en-US" sz="1300" dirty="0"/>
          </a:p>
        </p:txBody>
      </p:sp>
      <p:sp>
        <p:nvSpPr>
          <p:cNvPr id="18" name="Shape 15"/>
          <p:cNvSpPr/>
          <p:nvPr/>
        </p:nvSpPr>
        <p:spPr>
          <a:xfrm>
            <a:off x="7040880" y="2542032"/>
            <a:ext cx="301752" cy="0"/>
          </a:xfrm>
          <a:prstGeom prst="line">
            <a:avLst/>
          </a:prstGeom>
          <a:noFill/>
          <a:ln w="25400">
            <a:solidFill>
              <a:srgbClr val="5E6878"/>
            </a:solidFill>
            <a:prstDash val="solid"/>
            <a:tailEnd type="triangle"/>
          </a:ln>
        </p:spPr>
      </p:sp>
      <p:sp>
        <p:nvSpPr>
          <p:cNvPr id="19" name="Shape 16"/>
          <p:cNvSpPr/>
          <p:nvPr/>
        </p:nvSpPr>
        <p:spPr>
          <a:xfrm>
            <a:off x="7397496" y="1828800"/>
            <a:ext cx="1783080" cy="1417320"/>
          </a:xfrm>
          <a:prstGeom prst="roundRect">
            <a:avLst>
              <a:gd name="adj" fmla="val 5161"/>
            </a:avLst>
          </a:prstGeom>
          <a:solidFill>
            <a:srgbClr val="16213A"/>
          </a:solidFill>
          <a:ln w="12700">
            <a:solidFill>
              <a:srgbClr val="16213A"/>
            </a:solidFill>
            <a:prstDash val="solid"/>
          </a:ln>
        </p:spPr>
      </p:sp>
      <p:sp>
        <p:nvSpPr>
          <p:cNvPr id="20" name="Text 17"/>
          <p:cNvSpPr txBox="1"/>
          <p:nvPr/>
        </p:nvSpPr>
        <p:spPr>
          <a:xfrm>
            <a:off x="7534656" y="1938528"/>
            <a:ext cx="1508760" cy="411480"/>
          </a:xfrm>
          <a:prstGeom prst="rect">
            <a:avLst/>
          </a:prstGeom>
          <a:noFill/>
          <a:ln/>
        </p:spPr>
        <p:txBody>
          <a:bodyPr wrap="square" lIns="0" tIns="0" rIns="0" bIns="0" rtlCol="0" anchor="ctr"/>
          <a:lstStyle/>
          <a:p>
            <a:pPr indent="0" marL="0">
              <a:buNone/>
            </a:pPr>
            <a:r>
              <a:rPr lang="en-US" sz="1400" b="1" dirty="0">
                <a:solidFill>
                  <a:srgbClr val="F6F4EE"/>
                </a:solidFill>
                <a:latin typeface="JetBrains Mono" pitchFamily="34" charset="0"/>
                <a:ea typeface="JetBrains Mono" pitchFamily="34" charset="-122"/>
                <a:cs typeface="JetBrains Mono" pitchFamily="34" charset="-120"/>
              </a:rPr>
              <a:t>reward</a:t>
            </a:r>
            <a:endParaRPr lang="en-US" sz="1400" dirty="0"/>
          </a:p>
        </p:txBody>
      </p:sp>
      <p:sp>
        <p:nvSpPr>
          <p:cNvPr id="21" name="Text 18"/>
          <p:cNvSpPr txBox="1"/>
          <p:nvPr/>
        </p:nvSpPr>
        <p:spPr>
          <a:xfrm>
            <a:off x="7534656" y="2395728"/>
            <a:ext cx="1508760" cy="777240"/>
          </a:xfrm>
          <a:prstGeom prst="rect">
            <a:avLst/>
          </a:prstGeom>
          <a:noFill/>
          <a:ln/>
        </p:spPr>
        <p:txBody>
          <a:bodyPr wrap="square" lIns="0" tIns="0" rIns="0" bIns="0" rtlCol="0" anchor="t"/>
          <a:lstStyle/>
          <a:p>
            <a:pPr indent="0" marL="0">
              <a:buNone/>
            </a:pPr>
            <a:r>
              <a:rPr lang="en-US" sz="1200" dirty="0">
                <a:solidFill>
                  <a:srgbClr val="F6F4EE"/>
                </a:solidFill>
                <a:latin typeface="IBM Plex Sans" pitchFamily="34" charset="0"/>
                <a:ea typeface="IBM Plex Sans" pitchFamily="34" charset="-122"/>
                <a:cs typeface="IBM Plex Sans" pitchFamily="34" charset="-120"/>
              </a:rPr>
              <a:t>1 / (1 + dist)</a:t>
            </a:r>
            <a:endParaRPr lang="en-US" sz="1200" dirty="0"/>
          </a:p>
        </p:txBody>
      </p:sp>
      <p:sp>
        <p:nvSpPr>
          <p:cNvPr id="22" name="Text 19"/>
          <p:cNvSpPr txBox="1"/>
          <p:nvPr/>
        </p:nvSpPr>
        <p:spPr>
          <a:xfrm>
            <a:off x="7397496" y="3337560"/>
            <a:ext cx="1783080" cy="320040"/>
          </a:xfrm>
          <a:prstGeom prst="rect">
            <a:avLst/>
          </a:prstGeom>
          <a:noFill/>
          <a:ln/>
        </p:spPr>
        <p:txBody>
          <a:bodyPr wrap="square" lIns="0" tIns="0" rIns="0" bIns="0" rtlCol="0" anchor="ctr"/>
          <a:lstStyle/>
          <a:p>
            <a:pPr algn="ctr" indent="0" marL="0">
              <a:buNone/>
            </a:pPr>
            <a:r>
              <a:rPr lang="en-US" sz="1300" b="1" dirty="0">
                <a:solidFill>
                  <a:srgbClr val="16213A"/>
                </a:solidFill>
                <a:latin typeface="JetBrains Mono" pitchFamily="34" charset="0"/>
                <a:ea typeface="JetBrains Mono" pitchFamily="34" charset="-122"/>
                <a:cs typeface="JetBrains Mono" pitchFamily="34" charset="-120"/>
              </a:rPr>
              <a:t>(50, 5, 2000)</a:t>
            </a:r>
            <a:endParaRPr lang="en-US" sz="1300" dirty="0"/>
          </a:p>
        </p:txBody>
      </p:sp>
      <p:sp>
        <p:nvSpPr>
          <p:cNvPr id="23" name="Shape 20"/>
          <p:cNvSpPr/>
          <p:nvPr/>
        </p:nvSpPr>
        <p:spPr>
          <a:xfrm>
            <a:off x="9235440" y="2542032"/>
            <a:ext cx="301752" cy="0"/>
          </a:xfrm>
          <a:prstGeom prst="line">
            <a:avLst/>
          </a:prstGeom>
          <a:noFill/>
          <a:ln w="25400">
            <a:solidFill>
              <a:srgbClr val="5E6878"/>
            </a:solidFill>
            <a:prstDash val="solid"/>
            <a:tailEnd type="triangle"/>
          </a:ln>
        </p:spPr>
      </p:sp>
      <p:sp>
        <p:nvSpPr>
          <p:cNvPr id="24" name="Shape 21"/>
          <p:cNvSpPr/>
          <p:nvPr/>
        </p:nvSpPr>
        <p:spPr>
          <a:xfrm>
            <a:off x="9592056" y="1828800"/>
            <a:ext cx="1783080" cy="1417320"/>
          </a:xfrm>
          <a:prstGeom prst="roundRect">
            <a:avLst>
              <a:gd name="adj" fmla="val 5161"/>
            </a:avLst>
          </a:prstGeom>
          <a:solidFill>
            <a:srgbClr val="1D6F66"/>
          </a:solidFill>
          <a:ln w="12700">
            <a:solidFill>
              <a:srgbClr val="1D6F66"/>
            </a:solidFill>
            <a:prstDash val="solid"/>
          </a:ln>
        </p:spPr>
      </p:sp>
      <p:sp>
        <p:nvSpPr>
          <p:cNvPr id="25" name="Text 22"/>
          <p:cNvSpPr txBox="1"/>
          <p:nvPr/>
        </p:nvSpPr>
        <p:spPr>
          <a:xfrm>
            <a:off x="9729216" y="1938528"/>
            <a:ext cx="1508760" cy="411480"/>
          </a:xfrm>
          <a:prstGeom prst="rect">
            <a:avLst/>
          </a:prstGeom>
          <a:noFill/>
          <a:ln/>
        </p:spPr>
        <p:txBody>
          <a:bodyPr wrap="square" lIns="0" tIns="0" rIns="0" bIns="0" rtlCol="0" anchor="ctr"/>
          <a:lstStyle/>
          <a:p>
            <a:pPr indent="0" marL="0">
              <a:buNone/>
            </a:pPr>
            <a:r>
              <a:rPr lang="en-US" sz="1400" b="1" dirty="0">
                <a:solidFill>
                  <a:srgbClr val="F6F4EE"/>
                </a:solidFill>
                <a:latin typeface="JetBrains Mono" pitchFamily="34" charset="0"/>
                <a:ea typeface="JetBrains Mono" pitchFamily="34" charset="-122"/>
                <a:cs typeface="JetBrains Mono" pitchFamily="34" charset="-120"/>
              </a:rPr>
              <a:t>fitness</a:t>
            </a:r>
            <a:endParaRPr lang="en-US" sz="1400" dirty="0"/>
          </a:p>
        </p:txBody>
      </p:sp>
      <p:sp>
        <p:nvSpPr>
          <p:cNvPr id="26" name="Text 23"/>
          <p:cNvSpPr txBox="1"/>
          <p:nvPr/>
        </p:nvSpPr>
        <p:spPr>
          <a:xfrm>
            <a:off x="9729216" y="2395728"/>
            <a:ext cx="1508760" cy="777240"/>
          </a:xfrm>
          <a:prstGeom prst="rect">
            <a:avLst/>
          </a:prstGeom>
          <a:noFill/>
          <a:ln/>
        </p:spPr>
        <p:txBody>
          <a:bodyPr wrap="square" lIns="0" tIns="0" rIns="0" bIns="0" rtlCol="0" anchor="t"/>
          <a:lstStyle/>
          <a:p>
            <a:pPr indent="0" marL="0">
              <a:buNone/>
            </a:pPr>
            <a:r>
              <a:rPr lang="en-US" sz="1200" dirty="0">
                <a:solidFill>
                  <a:srgbClr val="F6F4EE"/>
                </a:solidFill>
                <a:latin typeface="IBM Plex Sans" pitchFamily="34" charset="0"/>
                <a:ea typeface="IBM Plex Sans" pitchFamily="34" charset="-122"/>
                <a:cs typeface="IBM Plex Sans" pitchFamily="34" charset="-120"/>
              </a:rPr>
              <a:t>.mean over episodes and steps</a:t>
            </a:r>
            <a:endParaRPr lang="en-US" sz="1200" dirty="0"/>
          </a:p>
        </p:txBody>
      </p:sp>
      <p:sp>
        <p:nvSpPr>
          <p:cNvPr id="27" name="Text 24"/>
          <p:cNvSpPr txBox="1"/>
          <p:nvPr/>
        </p:nvSpPr>
        <p:spPr>
          <a:xfrm>
            <a:off x="9592056" y="3337560"/>
            <a:ext cx="1783080" cy="320040"/>
          </a:xfrm>
          <a:prstGeom prst="rect">
            <a:avLst/>
          </a:prstGeom>
          <a:noFill/>
          <a:ln/>
        </p:spPr>
        <p:txBody>
          <a:bodyPr wrap="square" lIns="0" tIns="0" rIns="0" bIns="0" rtlCol="0" anchor="ctr"/>
          <a:lstStyle/>
          <a:p>
            <a:pPr algn="ctr" indent="0" marL="0">
              <a:buNone/>
            </a:pPr>
            <a:r>
              <a:rPr lang="en-US" sz="1300" b="1" dirty="0">
                <a:solidFill>
                  <a:srgbClr val="16213A"/>
                </a:solidFill>
                <a:latin typeface="JetBrains Mono" pitchFamily="34" charset="0"/>
                <a:ea typeface="JetBrains Mono" pitchFamily="34" charset="-122"/>
                <a:cs typeface="JetBrains Mono" pitchFamily="34" charset="-120"/>
              </a:rPr>
              <a:t>(50,)</a:t>
            </a:r>
            <a:endParaRPr lang="en-US" sz="1300" dirty="0"/>
          </a:p>
        </p:txBody>
      </p:sp>
      <p:sp>
        <p:nvSpPr>
          <p:cNvPr id="28" name="Text 25"/>
          <p:cNvSpPr txBox="1"/>
          <p:nvPr/>
        </p:nvSpPr>
        <p:spPr>
          <a:xfrm>
            <a:off x="813816" y="3703320"/>
            <a:ext cx="10561320" cy="274320"/>
          </a:xfrm>
          <a:prstGeom prst="rect">
            <a:avLst/>
          </a:prstGeom>
          <a:noFill/>
          <a:ln/>
        </p:spPr>
        <p:txBody>
          <a:bodyPr wrap="square" lIns="0" tIns="0" rIns="0" bIns="0" rtlCol="0" anchor="ctr"/>
          <a:lstStyle/>
          <a:p>
            <a:pPr indent="0" marL="0">
              <a:buNone/>
            </a:pPr>
            <a:r>
              <a:rPr lang="en-US" sz="1100" i="1" dirty="0">
                <a:solidFill>
                  <a:srgbClr val="5E6878"/>
                </a:solidFill>
                <a:latin typeface="IBM Plex Sans" pitchFamily="34" charset="0"/>
                <a:ea typeface="IBM Plex Sans" pitchFamily="34" charset="-122"/>
                <a:cs typeface="IBM Plex Sans" pitchFamily="34" charset="-120"/>
              </a:rPr>
              <a:t>shape at each stage: (pop, episodes, steps)</a:t>
            </a:r>
            <a:endParaRPr lang="en-US" sz="1100" dirty="0"/>
          </a:p>
        </p:txBody>
      </p:sp>
      <p:sp>
        <p:nvSpPr>
          <p:cNvPr id="29" name="Shape 26"/>
          <p:cNvSpPr/>
          <p:nvPr/>
        </p:nvSpPr>
        <p:spPr>
          <a:xfrm>
            <a:off x="813816" y="4114800"/>
            <a:ext cx="10561320" cy="1965960"/>
          </a:xfrm>
          <a:prstGeom prst="roundRect">
            <a:avLst>
              <a:gd name="adj" fmla="val 3721"/>
            </a:avLst>
          </a:prstGeom>
          <a:solidFill>
            <a:srgbClr val="ECE8DE"/>
          </a:solidFill>
          <a:ln w="12700">
            <a:solidFill>
              <a:srgbClr val="E2DDD0"/>
            </a:solidFill>
            <a:prstDash val="solid"/>
          </a:ln>
        </p:spPr>
      </p:sp>
      <p:sp>
        <p:nvSpPr>
          <p:cNvPr id="30" name="Text 27"/>
          <p:cNvSpPr txBox="1"/>
          <p:nvPr/>
        </p:nvSpPr>
        <p:spPr>
          <a:xfrm>
            <a:off x="1088136" y="4251960"/>
            <a:ext cx="7315200" cy="274320"/>
          </a:xfrm>
          <a:prstGeom prst="rect">
            <a:avLst/>
          </a:prstGeom>
          <a:noFill/>
          <a:ln/>
        </p:spPr>
        <p:txBody>
          <a:bodyPr wrap="square" lIns="0" tIns="0" rIns="0" bIns="0" rtlCol="0" anchor="ctr"/>
          <a:lstStyle/>
          <a:p>
            <a:pPr indent="0" marL="0">
              <a:buNone/>
            </a:pPr>
            <a:r>
              <a:rPr lang="en-US" sz="1200" b="1" spc="100" kern="0" dirty="0">
                <a:solidFill>
                  <a:srgbClr val="B4521C"/>
                </a:solidFill>
                <a:latin typeface="IBM Plex Sans" pitchFamily="34" charset="0"/>
                <a:ea typeface="IBM Plex Sans" pitchFamily="34" charset="-122"/>
                <a:cs typeface="IBM Plex Sans" pitchFamily="34" charset="-120"/>
              </a:rPr>
              <a:t>INSIDE ONE STEP OF simulate_population</a:t>
            </a:r>
            <a:endParaRPr lang="en-US" sz="1200" dirty="0"/>
          </a:p>
        </p:txBody>
      </p:sp>
      <p:sp>
        <p:nvSpPr>
          <p:cNvPr id="31" name="Text 28"/>
          <p:cNvSpPr txBox="1"/>
          <p:nvPr/>
        </p:nvSpPr>
        <p:spPr>
          <a:xfrm>
            <a:off x="1088136" y="4617720"/>
            <a:ext cx="1280160" cy="320040"/>
          </a:xfrm>
          <a:prstGeom prst="rect">
            <a:avLst/>
          </a:prstGeom>
          <a:noFill/>
          <a:ln/>
        </p:spPr>
        <p:txBody>
          <a:bodyPr wrap="square" lIns="0" tIns="0" rIns="0" bIns="0" rtlCol="0" anchor="ctr"/>
          <a:lstStyle/>
          <a:p>
            <a:pPr indent="0" marL="0">
              <a:buNone/>
            </a:pPr>
            <a:r>
              <a:rPr lang="en-US" sz="1400" b="1" dirty="0">
                <a:solidFill>
                  <a:srgbClr val="16213A"/>
                </a:solidFill>
                <a:latin typeface="JetBrains Mono" pitchFamily="34" charset="0"/>
                <a:ea typeface="JetBrains Mono" pitchFamily="34" charset="-122"/>
                <a:cs typeface="JetBrains Mono" pitchFamily="34" charset="-120"/>
              </a:rPr>
              <a:t>sensors</a:t>
            </a:r>
            <a:endParaRPr lang="en-US" sz="1400" dirty="0"/>
          </a:p>
        </p:txBody>
      </p:sp>
      <p:sp>
        <p:nvSpPr>
          <p:cNvPr id="32" name="Text 29"/>
          <p:cNvSpPr txBox="1"/>
          <p:nvPr/>
        </p:nvSpPr>
        <p:spPr>
          <a:xfrm>
            <a:off x="2139696" y="4617720"/>
            <a:ext cx="2103120" cy="320040"/>
          </a:xfrm>
          <a:prstGeom prst="rect">
            <a:avLst/>
          </a:prstGeom>
          <a:noFill/>
          <a:ln/>
        </p:spPr>
        <p:txBody>
          <a:bodyPr wrap="square" lIns="0" tIns="0" rIns="0" bIns="0" rtlCol="0" anchor="ctr"/>
          <a:lstStyle/>
          <a:p>
            <a:pPr indent="0" marL="0">
              <a:buNone/>
            </a:pPr>
            <a:r>
              <a:rPr lang="en-US" sz="1300" b="1" dirty="0">
                <a:solidFill>
                  <a:srgbClr val="1D6F66"/>
                </a:solidFill>
                <a:latin typeface="JetBrains Mono" pitchFamily="34" charset="0"/>
                <a:ea typeface="JetBrains Mono" pitchFamily="34" charset="-122"/>
                <a:cs typeface="JetBrains Mono" pitchFamily="34" charset="-120"/>
              </a:rPr>
              <a:t>(50, 5, 2)</a:t>
            </a:r>
            <a:endParaRPr lang="en-US" sz="1300" dirty="0"/>
          </a:p>
        </p:txBody>
      </p:sp>
      <p:sp>
        <p:nvSpPr>
          <p:cNvPr id="33" name="Text 30"/>
          <p:cNvSpPr txBox="1"/>
          <p:nvPr/>
        </p:nvSpPr>
        <p:spPr>
          <a:xfrm>
            <a:off x="1088136" y="4983480"/>
            <a:ext cx="3108960" cy="457200"/>
          </a:xfrm>
          <a:prstGeom prst="rect">
            <a:avLst/>
          </a:prstGeom>
          <a:noFill/>
          <a:ln/>
        </p:spPr>
        <p:txBody>
          <a:bodyPr wrap="square" lIns="0" tIns="0" rIns="0" bIns="0" rtlCol="0" anchor="t"/>
          <a:lstStyle/>
          <a:p>
            <a:pPr indent="0" marL="0">
              <a:buNone/>
            </a:pPr>
            <a:r>
              <a:rPr lang="en-US" sz="1200" dirty="0">
                <a:solidFill>
                  <a:srgbClr val="3E4A5C"/>
                </a:solidFill>
                <a:latin typeface="IBM Plex Sans" pitchFamily="34" charset="0"/>
                <a:ea typeface="IBM Plex Sans" pitchFamily="34" charset="-122"/>
                <a:cs typeface="IBM Plex Sans" pitchFamily="34" charset="-120"/>
              </a:rPr>
              <a:t>computed from x, y, orientation</a:t>
            </a:r>
            <a:endParaRPr lang="en-US" sz="1200" dirty="0"/>
          </a:p>
        </p:txBody>
      </p:sp>
      <p:sp>
        <p:nvSpPr>
          <p:cNvPr id="34" name="Text 31"/>
          <p:cNvSpPr txBox="1"/>
          <p:nvPr/>
        </p:nvSpPr>
        <p:spPr>
          <a:xfrm>
            <a:off x="4517136" y="4617720"/>
            <a:ext cx="1280160" cy="320040"/>
          </a:xfrm>
          <a:prstGeom prst="rect">
            <a:avLst/>
          </a:prstGeom>
          <a:noFill/>
          <a:ln/>
        </p:spPr>
        <p:txBody>
          <a:bodyPr wrap="square" lIns="0" tIns="0" rIns="0" bIns="0" rtlCol="0" anchor="ctr"/>
          <a:lstStyle/>
          <a:p>
            <a:pPr indent="0" marL="0">
              <a:buNone/>
            </a:pPr>
            <a:r>
              <a:rPr lang="en-US" sz="1400" b="1" dirty="0">
                <a:solidFill>
                  <a:srgbClr val="16213A"/>
                </a:solidFill>
                <a:latin typeface="JetBrains Mono" pitchFamily="34" charset="0"/>
                <a:ea typeface="JetBrains Mono" pitchFamily="34" charset="-122"/>
                <a:cs typeface="JetBrains Mono" pitchFamily="34" charset="-120"/>
              </a:rPr>
              <a:t>motors</a:t>
            </a:r>
            <a:endParaRPr lang="en-US" sz="1400" dirty="0"/>
          </a:p>
        </p:txBody>
      </p:sp>
      <p:sp>
        <p:nvSpPr>
          <p:cNvPr id="35" name="Text 32"/>
          <p:cNvSpPr txBox="1"/>
          <p:nvPr/>
        </p:nvSpPr>
        <p:spPr>
          <a:xfrm>
            <a:off x="5568696" y="4617720"/>
            <a:ext cx="2103120" cy="320040"/>
          </a:xfrm>
          <a:prstGeom prst="rect">
            <a:avLst/>
          </a:prstGeom>
          <a:noFill/>
          <a:ln/>
        </p:spPr>
        <p:txBody>
          <a:bodyPr wrap="square" lIns="0" tIns="0" rIns="0" bIns="0" rtlCol="0" anchor="ctr"/>
          <a:lstStyle/>
          <a:p>
            <a:pPr indent="0" marL="0">
              <a:buNone/>
            </a:pPr>
            <a:r>
              <a:rPr lang="en-US" sz="1300" b="1" dirty="0">
                <a:solidFill>
                  <a:srgbClr val="1D6F66"/>
                </a:solidFill>
                <a:latin typeface="JetBrains Mono" pitchFamily="34" charset="0"/>
                <a:ea typeface="JetBrains Mono" pitchFamily="34" charset="-122"/>
                <a:cs typeface="JetBrains Mono" pitchFamily="34" charset="-120"/>
              </a:rPr>
              <a:t>(50, 5, 2)</a:t>
            </a:r>
            <a:endParaRPr lang="en-US" sz="1300" dirty="0"/>
          </a:p>
        </p:txBody>
      </p:sp>
      <p:sp>
        <p:nvSpPr>
          <p:cNvPr id="36" name="Text 33"/>
          <p:cNvSpPr txBox="1"/>
          <p:nvPr/>
        </p:nvSpPr>
        <p:spPr>
          <a:xfrm>
            <a:off x="4517136" y="4983480"/>
            <a:ext cx="3108960" cy="457200"/>
          </a:xfrm>
          <a:prstGeom prst="rect">
            <a:avLst/>
          </a:prstGeom>
          <a:noFill/>
          <a:ln/>
        </p:spPr>
        <p:txBody>
          <a:bodyPr wrap="square" lIns="0" tIns="0" rIns="0" bIns="0" rtlCol="0" anchor="t"/>
          <a:lstStyle/>
          <a:p>
            <a:pPr indent="0" marL="0">
              <a:buNone/>
            </a:pPr>
            <a:r>
              <a:rPr lang="en-US" sz="1200" dirty="0">
                <a:solidFill>
                  <a:srgbClr val="3E4A5C"/>
                </a:solidFill>
                <a:latin typeface="IBM Plex Sans" pitchFamily="34" charset="0"/>
                <a:ea typeface="IBM Plex Sans" pitchFamily="34" charset="-122"/>
                <a:cs typeface="IBM Plex Sans" pitchFamily="34" charset="-120"/>
              </a:rPr>
              <a:t>returned by the think function</a:t>
            </a:r>
            <a:endParaRPr lang="en-US" sz="1200" dirty="0"/>
          </a:p>
        </p:txBody>
      </p:sp>
      <p:sp>
        <p:nvSpPr>
          <p:cNvPr id="37" name="Text 34"/>
          <p:cNvSpPr txBox="1"/>
          <p:nvPr/>
        </p:nvSpPr>
        <p:spPr>
          <a:xfrm>
            <a:off x="7946136" y="4617720"/>
            <a:ext cx="1280160" cy="320040"/>
          </a:xfrm>
          <a:prstGeom prst="rect">
            <a:avLst/>
          </a:prstGeom>
          <a:noFill/>
          <a:ln/>
        </p:spPr>
        <p:txBody>
          <a:bodyPr wrap="square" lIns="0" tIns="0" rIns="0" bIns="0" rtlCol="0" anchor="ctr"/>
          <a:lstStyle/>
          <a:p>
            <a:pPr indent="0" marL="0">
              <a:buNone/>
            </a:pPr>
            <a:r>
              <a:rPr lang="en-US" sz="1400" b="1" dirty="0">
                <a:solidFill>
                  <a:srgbClr val="16213A"/>
                </a:solidFill>
                <a:latin typeface="JetBrains Mono" pitchFamily="34" charset="0"/>
                <a:ea typeface="JetBrains Mono" pitchFamily="34" charset="-122"/>
                <a:cs typeface="JetBrains Mono" pitchFamily="34" charset="-120"/>
              </a:rPr>
              <a:t>state</a:t>
            </a:r>
            <a:endParaRPr lang="en-US" sz="1400" dirty="0"/>
          </a:p>
        </p:txBody>
      </p:sp>
      <p:sp>
        <p:nvSpPr>
          <p:cNvPr id="38" name="Text 35"/>
          <p:cNvSpPr txBox="1"/>
          <p:nvPr/>
        </p:nvSpPr>
        <p:spPr>
          <a:xfrm>
            <a:off x="8997696" y="4617720"/>
            <a:ext cx="2103120" cy="320040"/>
          </a:xfrm>
          <a:prstGeom prst="rect">
            <a:avLst/>
          </a:prstGeom>
          <a:noFill/>
          <a:ln/>
        </p:spPr>
        <p:txBody>
          <a:bodyPr wrap="square" lIns="0" tIns="0" rIns="0" bIns="0" rtlCol="0" anchor="ctr"/>
          <a:lstStyle/>
          <a:p>
            <a:pPr indent="0" marL="0">
              <a:buNone/>
            </a:pPr>
            <a:r>
              <a:rPr lang="en-US" sz="1300" b="1" dirty="0">
                <a:solidFill>
                  <a:srgbClr val="1D6F66"/>
                </a:solidFill>
                <a:latin typeface="JetBrains Mono" pitchFamily="34" charset="0"/>
                <a:ea typeface="JetBrains Mono" pitchFamily="34" charset="-122"/>
                <a:cs typeface="JetBrains Mono" pitchFamily="34" charset="-120"/>
              </a:rPr>
              <a:t>x, y, heading</a:t>
            </a:r>
            <a:endParaRPr lang="en-US" sz="1300" dirty="0"/>
          </a:p>
        </p:txBody>
      </p:sp>
      <p:sp>
        <p:nvSpPr>
          <p:cNvPr id="39" name="Text 36"/>
          <p:cNvSpPr txBox="1"/>
          <p:nvPr/>
        </p:nvSpPr>
        <p:spPr>
          <a:xfrm>
            <a:off x="7946136" y="4983480"/>
            <a:ext cx="3108960" cy="457200"/>
          </a:xfrm>
          <a:prstGeom prst="rect">
            <a:avLst/>
          </a:prstGeom>
          <a:noFill/>
          <a:ln/>
        </p:spPr>
        <p:txBody>
          <a:bodyPr wrap="square" lIns="0" tIns="0" rIns="0" bIns="0" rtlCol="0" anchor="t"/>
          <a:lstStyle/>
          <a:p>
            <a:pPr indent="0" marL="0">
              <a:buNone/>
            </a:pPr>
            <a:r>
              <a:rPr lang="en-US" sz="1200" dirty="0">
                <a:solidFill>
                  <a:srgbClr val="3E4A5C"/>
                </a:solidFill>
                <a:latin typeface="IBM Plex Sans" pitchFamily="34" charset="0"/>
                <a:ea typeface="IBM Plex Sans" pitchFamily="34" charset="-122"/>
                <a:cs typeface="IBM Plex Sans" pitchFamily="34" charset="-120"/>
              </a:rPr>
              <a:t>advanced by move + noise</a:t>
            </a:r>
            <a:endParaRPr lang="en-US" sz="1200" dirty="0"/>
          </a:p>
        </p:txBody>
      </p:sp>
      <p:sp>
        <p:nvSpPr>
          <p:cNvPr id="40" name="Text 37"/>
          <p:cNvSpPr txBox="1"/>
          <p:nvPr/>
        </p:nvSpPr>
        <p:spPr>
          <a:xfrm>
            <a:off x="1088136" y="5532120"/>
            <a:ext cx="10012680" cy="320040"/>
          </a:xfrm>
          <a:prstGeom prst="rect">
            <a:avLst/>
          </a:prstGeom>
          <a:noFill/>
          <a:ln/>
        </p:spPr>
        <p:txBody>
          <a:bodyPr wrap="square" lIns="0" tIns="0" rIns="0" bIns="0" rtlCol="0" anchor="ctr"/>
          <a:lstStyle/>
          <a:p>
            <a:pPr indent="0" marL="0">
              <a:buNone/>
            </a:pPr>
            <a:r>
              <a:rPr lang="en-US" sz="1300" b="1" dirty="0">
                <a:solidFill>
                  <a:srgbClr val="16213A"/>
                </a:solidFill>
                <a:latin typeface="IBM Plex Sans" pitchFamily="34" charset="0"/>
                <a:ea typeface="IBM Plex Sans" pitchFamily="34" charset="-122"/>
                <a:cs typeface="IBM Plex Sans" pitchFamily="34" charset="-120"/>
              </a:rPr>
              <a:t>Each individual drives 5 vehicles, and all 250 advance together.</a:t>
            </a:r>
            <a:endParaRPr lang="en-US" sz="1300" dirty="0"/>
          </a:p>
        </p:txBody>
      </p:sp>
      <p:sp>
        <p:nvSpPr>
          <p:cNvPr id="41" name="Text 38"/>
          <p:cNvSpPr txBox="1"/>
          <p:nvPr/>
        </p:nvSpPr>
        <p:spPr>
          <a:xfrm>
            <a:off x="813816" y="6355080"/>
            <a:ext cx="10561320" cy="256032"/>
          </a:xfrm>
          <a:prstGeom prst="rect">
            <a:avLst/>
          </a:prstGeom>
          <a:noFill/>
          <a:ln/>
        </p:spPr>
        <p:txBody>
          <a:bodyPr wrap="square" lIns="0" tIns="0" rIns="0" bIns="0" rtlCol="0" anchor="ctr"/>
          <a:lstStyle/>
          <a:p>
            <a:pPr indent="0" marL="0">
              <a:buNone/>
            </a:pPr>
            <a:r>
              <a:rPr lang="en-US" sz="1000" dirty="0">
                <a:solidFill>
                  <a:srgbClr val="5E6878"/>
                </a:solidFill>
                <a:latin typeface="JetBrains Mono" pitchFamily="34" charset="0"/>
                <a:ea typeface="JetBrains Mono" pitchFamily="34" charset="-122"/>
                <a:cs typeface="JetBrains Mono" pitchFamily="34" charset="-120"/>
              </a:rPr>
              <a:t>evolve.py · fitness_fn()  ·  braitenberg.py · simulate_population()</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4: Evolving a body's brain</dc:title>
  <dc:subject>PptxGenJS Presentation</dc:subject>
  <dc:creator>PptxGenJS</dc:creator>
  <cp:lastModifiedBy>PptxGenJS</cp:lastModifiedBy>
  <cp:revision>1</cp:revision>
  <dcterms:created xsi:type="dcterms:W3CDTF">2026-09-29T14:58:10Z</dcterms:created>
  <dcterms:modified xsi:type="dcterms:W3CDTF">2026-09-29T14:58:10Z</dcterms:modified>
</cp:coreProperties>
</file>