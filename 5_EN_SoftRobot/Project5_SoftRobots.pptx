
<file path=[Content_Types].xml><?xml version="1.0" encoding="utf-8"?>
<Types xmlns="http://schemas.openxmlformats.org/package/2006/content-types">
  <Default Extension="gif" ContentType="image/gif"/>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1.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86"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87" r:id="rId22"/>
    <p:sldId id="275" r:id="rId23"/>
    <p:sldId id="276" r:id="rId24"/>
    <p:sldId id="277" r:id="rId25"/>
    <p:sldId id="278" r:id="rId26"/>
    <p:sldId id="279" r:id="rId27"/>
    <p:sldId id="280" r:id="rId28"/>
    <p:sldId id="281" r:id="rId29"/>
    <p:sldId id="282" r:id="rId30"/>
    <p:sldId id="283" r:id="rId31"/>
    <p:sldId id="284" r:id="rId32"/>
    <p:sldId id="285"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5C45253-E652-5DD3-9C35-3F74868610BA}">
          <p14:sldIdLst>
            <p14:sldId id="256"/>
            <p14:sldId id="257"/>
            <p14:sldId id="258"/>
            <p14:sldId id="259"/>
          </p14:sldIdLst>
        </p14:section>
        <p14:section name="The platform" id="{40E458AD-E55E-13E7-2004-FE584B55A0D2}">
          <p14:sldIdLst>
            <p14:sldId id="260"/>
            <p14:sldId id="261"/>
            <p14:sldId id="286"/>
            <p14:sldId id="262"/>
            <p14:sldId id="263"/>
          </p14:sldIdLst>
        </p14:section>
        <p14:section name="Bodies" id="{781925C4-79D4-31B6-1FD4-C1BF5F7ABA0B}">
          <p14:sldIdLst>
            <p14:sldId id="264"/>
            <p14:sldId id="265"/>
            <p14:sldId id="266"/>
          </p14:sldIdLst>
        </p14:section>
        <p14:section name="Brains" id="{09E89045-85BE-56E8-99ED-501002F61205}">
          <p14:sldIdLst>
            <p14:sldId id="267"/>
            <p14:sldId id="268"/>
            <p14:sldId id="269"/>
            <p14:sldId id="270"/>
            <p14:sldId id="271"/>
            <p14:sldId id="272"/>
            <p14:sldId id="273"/>
            <p14:sldId id="274"/>
            <p14:sldId id="287"/>
          </p14:sldIdLst>
        </p14:section>
        <p14:section name="Evolving it" id="{1624D182-1DEB-6F4C-218A-FA2D5648897A}">
          <p14:sldIdLst>
            <p14:sldId id="275"/>
            <p14:sldId id="276"/>
            <p14:sldId id="277"/>
            <p14:sldId id="278"/>
            <p14:sldId id="279"/>
            <p14:sldId id="280"/>
          </p14:sldIdLst>
        </p14:section>
        <p14:section name="The assignment" id="{3AE52B72-D70D-4573-B355-B6CF76006673}">
          <p14:sldIdLst>
            <p14:sldId id="281"/>
            <p14:sldId id="282"/>
            <p14:sldId id="283"/>
            <p14:sldId id="284"/>
          </p14:sldIdLst>
        </p14:section>
        <p14:section name="Wrap-up" id="{C94B9084-1CDF-D4B3-6371-F33A22DE4C36}">
          <p14:sldIdLst>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6" d="100"/>
          <a:sy n="136" d="100"/>
        </p:scale>
        <p:origin x="216" y="10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zquierdo Torres, Eduardo" userId="0098cf92-29d8-4f0d-8799-86659fcc7421" providerId="ADAL" clId="{9A1E2DCC-AC6A-5999-82F6-B3128486FD35}"/>
    <pc:docChg chg="modSld">
      <pc:chgData name="Izquierdo Torres, Eduardo" userId="0098cf92-29d8-4f0d-8799-86659fcc7421" providerId="ADAL" clId="{9A1E2DCC-AC6A-5999-82F6-B3128486FD35}" dt="2026-10-12T17:08:00.109" v="121" actId="20577"/>
      <pc:docMkLst>
        <pc:docMk/>
      </pc:docMkLst>
      <pc:sldChg chg="modSp mod">
        <pc:chgData name="Izquierdo Torres, Eduardo" userId="0098cf92-29d8-4f0d-8799-86659fcc7421" providerId="ADAL" clId="{9A1E2DCC-AC6A-5999-82F6-B3128486FD35}" dt="2026-10-11T12:29:39.186" v="87" actId="20577"/>
        <pc:sldMkLst>
          <pc:docMk/>
          <pc:sldMk cId="0" sldId="256"/>
        </pc:sldMkLst>
        <pc:spChg chg="mod">
          <ac:chgData name="Izquierdo Torres, Eduardo" userId="0098cf92-29d8-4f0d-8799-86659fcc7421" providerId="ADAL" clId="{9A1E2DCC-AC6A-5999-82F6-B3128486FD35}" dt="2026-10-11T12:29:39.186" v="87" actId="20577"/>
          <ac:spMkLst>
            <pc:docMk/>
            <pc:sldMk cId="0" sldId="256"/>
            <ac:spMk id="3" creationId="{00000000-0000-0000-0000-000000000000}"/>
          </ac:spMkLst>
        </pc:spChg>
      </pc:sldChg>
      <pc:sldChg chg="modSp mod">
        <pc:chgData name="Izquierdo Torres, Eduardo" userId="0098cf92-29d8-4f0d-8799-86659fcc7421" providerId="ADAL" clId="{9A1E2DCC-AC6A-5999-82F6-B3128486FD35}" dt="2026-10-12T17:05:25.204" v="120" actId="20577"/>
        <pc:sldMkLst>
          <pc:docMk/>
          <pc:sldMk cId="0" sldId="257"/>
        </pc:sldMkLst>
        <pc:spChg chg="mod">
          <ac:chgData name="Izquierdo Torres, Eduardo" userId="0098cf92-29d8-4f0d-8799-86659fcc7421" providerId="ADAL" clId="{9A1E2DCC-AC6A-5999-82F6-B3128486FD35}" dt="2026-10-12T17:05:25.204" v="120" actId="20577"/>
          <ac:spMkLst>
            <pc:docMk/>
            <pc:sldMk cId="0" sldId="257"/>
            <ac:spMk id="2" creationId="{00000000-0000-0000-0000-000000000000}"/>
          </ac:spMkLst>
        </pc:spChg>
      </pc:sldChg>
      <pc:sldChg chg="modSp mod">
        <pc:chgData name="Izquierdo Torres, Eduardo" userId="0098cf92-29d8-4f0d-8799-86659fcc7421" providerId="ADAL" clId="{9A1E2DCC-AC6A-5999-82F6-B3128486FD35}" dt="2026-10-11T12:31:05.369" v="92" actId="207"/>
        <pc:sldMkLst>
          <pc:docMk/>
          <pc:sldMk cId="0" sldId="258"/>
        </pc:sldMkLst>
        <pc:spChg chg="mod">
          <ac:chgData name="Izquierdo Torres, Eduardo" userId="0098cf92-29d8-4f0d-8799-86659fcc7421" providerId="ADAL" clId="{9A1E2DCC-AC6A-5999-82F6-B3128486FD35}" dt="2026-10-11T12:31:05.369" v="92" actId="207"/>
          <ac:spMkLst>
            <pc:docMk/>
            <pc:sldMk cId="0" sldId="258"/>
            <ac:spMk id="7" creationId="{00000000-0000-0000-0000-000000000000}"/>
          </ac:spMkLst>
        </pc:spChg>
      </pc:sldChg>
      <pc:sldChg chg="modSp mod">
        <pc:chgData name="Izquierdo Torres, Eduardo" userId="0098cf92-29d8-4f0d-8799-86659fcc7421" providerId="ADAL" clId="{9A1E2DCC-AC6A-5999-82F6-B3128486FD35}" dt="2026-10-12T17:08:00.109" v="121" actId="20577"/>
        <pc:sldMkLst>
          <pc:docMk/>
          <pc:sldMk cId="0" sldId="259"/>
        </pc:sldMkLst>
        <pc:spChg chg="mod">
          <ac:chgData name="Izquierdo Torres, Eduardo" userId="0098cf92-29d8-4f0d-8799-86659fcc7421" providerId="ADAL" clId="{9A1E2DCC-AC6A-5999-82F6-B3128486FD35}" dt="2026-10-12T17:08:00.109" v="121" actId="20577"/>
          <ac:spMkLst>
            <pc:docMk/>
            <pc:sldMk cId="0" sldId="259"/>
            <ac:spMk id="5" creationId="{00000000-0000-0000-0000-000000000000}"/>
          </ac:spMkLst>
        </pc:spChg>
      </pc:sldChg>
      <pc:sldChg chg="modSp mod">
        <pc:chgData name="Izquierdo Torres, Eduardo" userId="0098cf92-29d8-4f0d-8799-86659fcc7421" providerId="ADAL" clId="{9A1E2DCC-AC6A-5999-82F6-B3128486FD35}" dt="2026-10-11T12:34:13.247" v="94" actId="20577"/>
        <pc:sldMkLst>
          <pc:docMk/>
          <pc:sldMk cId="0" sldId="263"/>
        </pc:sldMkLst>
        <pc:spChg chg="mod">
          <ac:chgData name="Izquierdo Torres, Eduardo" userId="0098cf92-29d8-4f0d-8799-86659fcc7421" providerId="ADAL" clId="{9A1E2DCC-AC6A-5999-82F6-B3128486FD35}" dt="2026-10-11T12:34:13.247" v="94" actId="20577"/>
          <ac:spMkLst>
            <pc:docMk/>
            <pc:sldMk cId="0" sldId="263"/>
            <ac:spMk id="1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2C"/>
                </a:solidFill>
                <a:latin typeface="+mn-lt"/>
              </a:defRPr>
            </a:pPr>
            <a:r>
              <a:rPr lang="en-US" sz="1400" b="0" i="0" u="none" strike="noStrike">
                <a:solidFill>
                  <a:srgbClr val="1E272C"/>
                </a:solidFill>
                <a:latin typeface="+mn-lt"/>
              </a:rPr>
              <a:t>Co-design run: fitness over generations</a:t>
            </a:r>
          </a:p>
        </c:rich>
      </c:tx>
      <c:overlay val="0"/>
    </c:title>
    <c:autoTitleDeleted val="0"/>
    <c:plotArea>
      <c:layout/>
      <c:lineChart>
        <c:grouping val="standard"/>
        <c:varyColors val="0"/>
        <c:ser>
          <c:idx val="0"/>
          <c:order val="0"/>
          <c:tx>
            <c:strRef>
              <c:f>Sheet1!$B$1</c:f>
              <c:strCache>
                <c:ptCount val="1"/>
                <c:pt idx="0">
                  <c:v>Best</c:v>
                </c:pt>
              </c:strCache>
            </c:strRef>
          </c:tx>
          <c:spPr>
            <a:ln w="38100" cap="flat">
              <a:solidFill>
                <a:srgbClr val="FD8E3E"/>
              </a:solidFill>
              <a:prstDash val="solid"/>
              <a:round/>
            </a:ln>
            <a:effectLst/>
          </c:spPr>
          <c:marker>
            <c:symbol val="none"/>
          </c:marker>
          <c:cat>
            <c:strRef>
              <c:f>Sheet1!$A$2:$A$51</c:f>
              <c:strCache>
                <c:ptCount val="50"/>
                <c:pt idx="0">
                  <c:v>1</c:v>
                </c:pt>
                <c:pt idx="9">
                  <c:v>10</c:v>
                </c:pt>
                <c:pt idx="19">
                  <c:v>20</c:v>
                </c:pt>
                <c:pt idx="29">
                  <c:v>30</c:v>
                </c:pt>
                <c:pt idx="39">
                  <c:v>40</c:v>
                </c:pt>
                <c:pt idx="49">
                  <c:v>50</c:v>
                </c:pt>
              </c:strCache>
            </c:strRef>
          </c:cat>
          <c:val>
            <c:numRef>
              <c:f>Sheet1!$B$2:$B$51</c:f>
              <c:numCache>
                <c:formatCode>General</c:formatCode>
                <c:ptCount val="50"/>
                <c:pt idx="0">
                  <c:v>0.872</c:v>
                </c:pt>
                <c:pt idx="1">
                  <c:v>1.4630000000000001</c:v>
                </c:pt>
                <c:pt idx="2">
                  <c:v>1.681</c:v>
                </c:pt>
                <c:pt idx="3">
                  <c:v>2.37</c:v>
                </c:pt>
                <c:pt idx="4">
                  <c:v>2.37</c:v>
                </c:pt>
                <c:pt idx="5">
                  <c:v>2.37</c:v>
                </c:pt>
                <c:pt idx="6">
                  <c:v>2.7839999999999998</c:v>
                </c:pt>
                <c:pt idx="7">
                  <c:v>3.3260000000000001</c:v>
                </c:pt>
                <c:pt idx="8">
                  <c:v>3.5379999999999998</c:v>
                </c:pt>
                <c:pt idx="9">
                  <c:v>3.5379999999999998</c:v>
                </c:pt>
                <c:pt idx="10">
                  <c:v>3.7349999999999999</c:v>
                </c:pt>
                <c:pt idx="11">
                  <c:v>3.7959999999999998</c:v>
                </c:pt>
                <c:pt idx="12">
                  <c:v>3.7959999999999998</c:v>
                </c:pt>
                <c:pt idx="13">
                  <c:v>3.7959999999999998</c:v>
                </c:pt>
                <c:pt idx="14">
                  <c:v>3.7959999999999998</c:v>
                </c:pt>
                <c:pt idx="15">
                  <c:v>3.7970000000000002</c:v>
                </c:pt>
                <c:pt idx="16">
                  <c:v>3.7970000000000002</c:v>
                </c:pt>
                <c:pt idx="17">
                  <c:v>3.798</c:v>
                </c:pt>
                <c:pt idx="18">
                  <c:v>3.798</c:v>
                </c:pt>
                <c:pt idx="19">
                  <c:v>3.798</c:v>
                </c:pt>
                <c:pt idx="20">
                  <c:v>3.798</c:v>
                </c:pt>
                <c:pt idx="21">
                  <c:v>3.863</c:v>
                </c:pt>
                <c:pt idx="22">
                  <c:v>4.4660000000000002</c:v>
                </c:pt>
                <c:pt idx="23">
                  <c:v>4.4660000000000002</c:v>
                </c:pt>
                <c:pt idx="24">
                  <c:v>4.4660000000000002</c:v>
                </c:pt>
                <c:pt idx="25">
                  <c:v>4.4660000000000002</c:v>
                </c:pt>
                <c:pt idx="26">
                  <c:v>4.4660000000000002</c:v>
                </c:pt>
                <c:pt idx="27">
                  <c:v>4.4660000000000002</c:v>
                </c:pt>
                <c:pt idx="28">
                  <c:v>4.8680000000000003</c:v>
                </c:pt>
                <c:pt idx="29">
                  <c:v>4.8680000000000003</c:v>
                </c:pt>
                <c:pt idx="30">
                  <c:v>4.8680000000000003</c:v>
                </c:pt>
                <c:pt idx="31">
                  <c:v>4.8680000000000003</c:v>
                </c:pt>
                <c:pt idx="32">
                  <c:v>4.8680000000000003</c:v>
                </c:pt>
                <c:pt idx="33">
                  <c:v>4.9249999999999998</c:v>
                </c:pt>
                <c:pt idx="34">
                  <c:v>5.1159999999999997</c:v>
                </c:pt>
                <c:pt idx="35">
                  <c:v>5.2640000000000002</c:v>
                </c:pt>
                <c:pt idx="36">
                  <c:v>5.2640000000000002</c:v>
                </c:pt>
                <c:pt idx="37">
                  <c:v>5.2640000000000002</c:v>
                </c:pt>
                <c:pt idx="38">
                  <c:v>5.2640000000000002</c:v>
                </c:pt>
                <c:pt idx="39">
                  <c:v>5.2640000000000002</c:v>
                </c:pt>
                <c:pt idx="40">
                  <c:v>5.3230000000000004</c:v>
                </c:pt>
                <c:pt idx="41">
                  <c:v>5.3230000000000004</c:v>
                </c:pt>
                <c:pt idx="42">
                  <c:v>5.3230000000000004</c:v>
                </c:pt>
                <c:pt idx="43">
                  <c:v>5.3230000000000004</c:v>
                </c:pt>
                <c:pt idx="44">
                  <c:v>5.3230000000000004</c:v>
                </c:pt>
                <c:pt idx="45">
                  <c:v>5.3230000000000004</c:v>
                </c:pt>
                <c:pt idx="46">
                  <c:v>5.3230000000000004</c:v>
                </c:pt>
                <c:pt idx="47">
                  <c:v>5.3230000000000004</c:v>
                </c:pt>
                <c:pt idx="48">
                  <c:v>5.3230000000000004</c:v>
                </c:pt>
                <c:pt idx="49">
                  <c:v>5.3230000000000004</c:v>
                </c:pt>
              </c:numCache>
            </c:numRef>
          </c:val>
          <c:smooth val="0"/>
          <c:extLst>
            <c:ext xmlns:c16="http://schemas.microsoft.com/office/drawing/2014/chart" uri="{C3380CC4-5D6E-409C-BE32-E72D297353CC}">
              <c16:uniqueId val="{00000000-CEF2-304C-87C6-AC76A95ABFF1}"/>
            </c:ext>
          </c:extLst>
        </c:ser>
        <c:ser>
          <c:idx val="1"/>
          <c:order val="1"/>
          <c:tx>
            <c:strRef>
              <c:f>Sheet1!$C$1</c:f>
              <c:strCache>
                <c:ptCount val="1"/>
                <c:pt idx="0">
                  <c:v>Population average</c:v>
                </c:pt>
              </c:strCache>
            </c:strRef>
          </c:tx>
          <c:spPr>
            <a:ln w="38100" cap="flat">
              <a:solidFill>
                <a:srgbClr val="6DAFD6"/>
              </a:solidFill>
              <a:prstDash val="solid"/>
              <a:round/>
            </a:ln>
            <a:effectLst/>
          </c:spPr>
          <c:marker>
            <c:symbol val="none"/>
          </c:marker>
          <c:cat>
            <c:strRef>
              <c:f>Sheet1!$A$2:$A$51</c:f>
              <c:strCache>
                <c:ptCount val="50"/>
                <c:pt idx="0">
                  <c:v>1</c:v>
                </c:pt>
                <c:pt idx="9">
                  <c:v>10</c:v>
                </c:pt>
                <c:pt idx="19">
                  <c:v>20</c:v>
                </c:pt>
                <c:pt idx="29">
                  <c:v>30</c:v>
                </c:pt>
                <c:pt idx="39">
                  <c:v>40</c:v>
                </c:pt>
                <c:pt idx="49">
                  <c:v>50</c:v>
                </c:pt>
              </c:strCache>
            </c:strRef>
          </c:cat>
          <c:val>
            <c:numRef>
              <c:f>Sheet1!$C$2:$C$51</c:f>
              <c:numCache>
                <c:formatCode>General</c:formatCode>
                <c:ptCount val="50"/>
                <c:pt idx="0">
                  <c:v>0.16500000000000001</c:v>
                </c:pt>
                <c:pt idx="1">
                  <c:v>0.39800000000000002</c:v>
                </c:pt>
                <c:pt idx="2">
                  <c:v>0.63200000000000001</c:v>
                </c:pt>
                <c:pt idx="3">
                  <c:v>0.88600000000000001</c:v>
                </c:pt>
                <c:pt idx="4">
                  <c:v>1.0880000000000001</c:v>
                </c:pt>
                <c:pt idx="5">
                  <c:v>1.37</c:v>
                </c:pt>
                <c:pt idx="6">
                  <c:v>1.6919999999999999</c:v>
                </c:pt>
                <c:pt idx="7">
                  <c:v>1.9179999999999999</c:v>
                </c:pt>
                <c:pt idx="8">
                  <c:v>2.1520000000000001</c:v>
                </c:pt>
                <c:pt idx="9">
                  <c:v>2.2639999999999998</c:v>
                </c:pt>
                <c:pt idx="10">
                  <c:v>2.4550000000000001</c:v>
                </c:pt>
                <c:pt idx="11">
                  <c:v>2.702</c:v>
                </c:pt>
                <c:pt idx="12">
                  <c:v>2.802</c:v>
                </c:pt>
                <c:pt idx="13">
                  <c:v>2.8660000000000001</c:v>
                </c:pt>
                <c:pt idx="14">
                  <c:v>2.952</c:v>
                </c:pt>
                <c:pt idx="15">
                  <c:v>3.07</c:v>
                </c:pt>
                <c:pt idx="16">
                  <c:v>3.133</c:v>
                </c:pt>
                <c:pt idx="17">
                  <c:v>3.1850000000000001</c:v>
                </c:pt>
                <c:pt idx="18">
                  <c:v>3.2679999999999998</c:v>
                </c:pt>
                <c:pt idx="19">
                  <c:v>3.274</c:v>
                </c:pt>
                <c:pt idx="20">
                  <c:v>3.371</c:v>
                </c:pt>
                <c:pt idx="21">
                  <c:v>3.4540000000000002</c:v>
                </c:pt>
                <c:pt idx="22">
                  <c:v>3.5430000000000001</c:v>
                </c:pt>
                <c:pt idx="23">
                  <c:v>3.5790000000000002</c:v>
                </c:pt>
                <c:pt idx="24">
                  <c:v>3.589</c:v>
                </c:pt>
                <c:pt idx="25">
                  <c:v>3.637</c:v>
                </c:pt>
                <c:pt idx="26">
                  <c:v>3.6869999999999998</c:v>
                </c:pt>
                <c:pt idx="27">
                  <c:v>3.7010000000000001</c:v>
                </c:pt>
                <c:pt idx="28">
                  <c:v>3.7879999999999998</c:v>
                </c:pt>
                <c:pt idx="29">
                  <c:v>3.827</c:v>
                </c:pt>
                <c:pt idx="30">
                  <c:v>3.8759999999999999</c:v>
                </c:pt>
                <c:pt idx="31">
                  <c:v>3.9329999999999998</c:v>
                </c:pt>
                <c:pt idx="32">
                  <c:v>3.9569999999999999</c:v>
                </c:pt>
                <c:pt idx="33">
                  <c:v>4.0119999999999996</c:v>
                </c:pt>
                <c:pt idx="34">
                  <c:v>4.1639999999999997</c:v>
                </c:pt>
                <c:pt idx="35">
                  <c:v>4.2370000000000001</c:v>
                </c:pt>
                <c:pt idx="36">
                  <c:v>4.2720000000000002</c:v>
                </c:pt>
                <c:pt idx="37">
                  <c:v>4.3029999999999999</c:v>
                </c:pt>
                <c:pt idx="38">
                  <c:v>4.3129999999999997</c:v>
                </c:pt>
                <c:pt idx="39">
                  <c:v>4.3609999999999998</c:v>
                </c:pt>
                <c:pt idx="40">
                  <c:v>4.4390000000000001</c:v>
                </c:pt>
                <c:pt idx="41">
                  <c:v>4.54</c:v>
                </c:pt>
                <c:pt idx="42">
                  <c:v>4.5860000000000003</c:v>
                </c:pt>
                <c:pt idx="43">
                  <c:v>4.6749999999999998</c:v>
                </c:pt>
                <c:pt idx="44">
                  <c:v>4.7709999999999999</c:v>
                </c:pt>
                <c:pt idx="45">
                  <c:v>4.827</c:v>
                </c:pt>
                <c:pt idx="46">
                  <c:v>4.8440000000000003</c:v>
                </c:pt>
                <c:pt idx="47">
                  <c:v>4.8959999999999999</c:v>
                </c:pt>
                <c:pt idx="48">
                  <c:v>4.9420000000000002</c:v>
                </c:pt>
                <c:pt idx="49">
                  <c:v>4.9610000000000003</c:v>
                </c:pt>
              </c:numCache>
            </c:numRef>
          </c:val>
          <c:smooth val="0"/>
          <c:extLst>
            <c:ext xmlns:c16="http://schemas.microsoft.com/office/drawing/2014/chart" uri="{C3380CC4-5D6E-409C-BE32-E72D297353CC}">
              <c16:uniqueId val="{00000001-CEF2-304C-87C6-AC76A95ABFF1}"/>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200" b="0" i="0" u="none" strike="noStrike">
                    <a:solidFill>
                      <a:srgbClr val="4A5961"/>
                    </a:solidFill>
                    <a:latin typeface="+mn-lt"/>
                  </a:defRPr>
                </a:pPr>
                <a:r>
                  <a:rPr lang="en-US" sz="1200" b="0" i="0" u="none" strike="noStrike">
                    <a:solidFill>
                      <a:srgbClr val="4A5961"/>
                    </a:solidFill>
                    <a:latin typeface="+mn-lt"/>
                  </a:rPr>
                  <a:t>Generation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961"/>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F2F4F5"/>
              </a:solidFill>
              <a:prstDash val="solid"/>
              <a:round/>
            </a:ln>
          </c:spPr>
        </c:majorGridlines>
        <c:title>
          <c:tx>
            <c:rich>
              <a:bodyPr/>
              <a:lstStyle/>
              <a:p>
                <a:pPr>
                  <a:defRPr sz="1200" b="0" i="0" u="none" strike="noStrike">
                    <a:solidFill>
                      <a:srgbClr val="4A5961"/>
                    </a:solidFill>
                    <a:latin typeface="+mn-lt"/>
                  </a:defRPr>
                </a:pPr>
                <a:r>
                  <a:rPr lang="en-US" sz="1200" b="0" i="0" u="none" strike="noStrike">
                    <a:solidFill>
                      <a:srgbClr val="4A5961"/>
                    </a:solidFill>
                    <a:latin typeface="+mn-lt"/>
                  </a:rPr>
                  <a:t>Fitness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961"/>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A596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8546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robot's body and brain were both designed by evolution, in about three and a half minutes on a laptop. Nobody drew this shape. By the end of the project, every one of you will have evolved creatures like this, and you'll be asking where its walking actually comes from: the brain, or the body.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arc. In Project 1 you designed both the brain and the body by hand. In Projects 3 and 4, evolution took over the brain, but the body was still ours. The lesson of Project 1 was that behavior emerges from body, brain, and environment together, so it's a strange choice to let evolution optimize only one of the three. In this project the body goes into the genome too. Karl Sims did this in 1994 with his Evolved Virtual Creatures; it's been an active research area ever since.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robots have exactly the same body, the biped preset. The left one has a random, unevolved brain: it twitches in place. The right one has a brain evolved for 50 generations. So the brain clearly matters. The question this project keeps returning to is the other half: how much of a good gait is really in the body? You'll answer it two ways: by designing bodies yourself, and by letting evolution design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is organized around these two problems. In (a), it's Project 4 again with a new kind of body: the body is fixed and only the brain's weights are in the genome. In (b), the genome gets a second part that describes the body. The evolutionary algorithm doesn't know or care: it still just sees a vector of numbers. What changes is how we decode that vector into a robot.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platform: what a soft robot is in EvoGym, how its muscles are driven, and the few facts about the simulator you need before running anything. The robot on this slide is the example body that ships with the project.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EvoGym is a soft-body physics simulator from MIT, used in research and published at NeurIPS 2021. A robot is a small 2D grid of voxels, each made of one of five materials. Under the hood, each voxel is four point masses at its corners connected by springs. Rigid voxels have stiff springs, soft ones compliant springs, and muscle voxels have springs whose rest length the brain controls. The colors here are the colors you'll see in every animation. The task for the whole project is Walker-v0: walk right on flat ground.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robot's whole interface with its brain. Every simulation step, each muscle voxel gets one number: its target length, as a fraction of its rest length, between 0.6 (squeeze) and 1.6 (stretch). Horizontal muscles get narrower or wider; vertical ones get shorter or taller. Everything a gait is, is the pattern of these numbers over time and across the body.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to remember. Episodes are 300 simulation steps. The brain gets a clock input, a sine and cosine that repeat every 25 steps, which gives it a built-in rhythm. So in one episode the robot gets about 12 cycles of that rhythm, roughly 12 chances to repeat a stride. Fitness is the distance the center of mass moves right, where 1.0 means ten voxel widths, about two body lengths. Bodies that fall apart or have no muscles can't be simulated, so they get minus one and selection removes them. And the physics is deterministic, which is a nice change from Project 4: no noisy fitness, no re-evaluation. The one setup trap: EvoGym only installs on Python 3.10, so you need a separate environment for this project.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bodies. Part 1 uses two kinds: one of the four presets we provide, and one you design yourself. This one is the tripod preset.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preset bodies, all 5 by 5. Biped has two legs and is entirely horizontal muscle. Worm is a two-row strip. Block is a mostly passive soft block with muscles only along the bottom. Tripod hangs three mixed-muscle legs from a rigid back. In Part 1 you'll pick one of these and evolve a brain for it. sim.py with no genome runs a body with a random brain, which is a quick way to see what a body does before evolution touches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Designing a body is just writing a text file of material codes: 0 empty, 1 rigid, 2 soft, 3 horizontal muscle, 4 vertical muscle. This one is example_body.txt in the project folder; copy it and edit. There are only two rules: the body must be one connected piece, and it needs at least one muscle. Preview it with sim.py before evolving anything. Part 1 asks you to design one and compare it against a preset, so think about what you want your body to do before you draw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brains. This is the part of the project that is genuinely new: brains designed so they keep working while evolution changes the body underneath them. We'll go from the simplest to the most complex.</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new problem co-design creates. The brain you'd naturally write, the Project 4 way, takes the whole body's observation in and gives one command per muscle out. But those sizes depend on the body. Mutate a voxel into a muscle and the network suddenly needs another output; its genome no longer fits. So it can't be evolved together with a body that keeps changing. There are two ways around this, and the project gives you both. Local: a single small network copied into every muscle. Global: one network, but wired to the grid instead of to the body.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brain in the project is a small feedforward network, and they differ along two independent choices. Rows: local, one copy per muscle, versus global, one network for the whole body. Columns: open-loop, which can't feel the body at all, versus closed-loop, which also senses how stretched the voxels are. That gives four brains, numbered here from simplest to most complex, with genome sizes from 49 to almost 1,300. All four get a shared clock as a source of rhythm. You pick one with two flags. The next four slides walk through them in order.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simplest brain, and the one from PythonBasics Unit 5. One tiny network, copied into every muscle with identical weights. Each copy gets four numbers: the clock, sine and cosine of time, and where its muscle sits in the body, x and y scaled to 0 to 1. It outputs one command for its own muscle. That's the whole brain: 49 genes, whatever the body. Add a muscle and you just add a copy. Ask students: what can't this brain do? Two muscles right next to each other will always do nearly the same thing. Where 49 comes from: 4 inputs into 8 hidden neurons is 4×8 weights plus 8 biases, 40; 8 hidden into 1 output is 8 weights plus 1 bias, 9. Total 49.</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idea, plus sensing. Strain is how stretched a voxel is compared to rest: zero at rest, positive when stretched, negative when squeezed, separately for width and height. Each copy now also sees its own voxel's strain and that of the four voxels around it, zero where there's no voxel. So muscles can react locally: to being squashed against the ground, or pulled by a neighbor. 129 genes, still independent of the body. Same 8 hidden neurons, but now 14 inputs: 14×8 + 8 = 120, plus 8 + 1 = 9 for the output, 129.</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one network for the whole body. Its only input is the clock, and it has one output per cell of the grid: 25 on a 5 by 5 grid. Each muscle takes the output for the cell it sits in; the rest are ignored. Because it's wired to the grid rather than the body, it still fits any body on that grid. And since every cell has its own output weights, it can give every muscle its own behavior, which the local brains can't. The price is a bigger genome: 473 genes. Global networks get 16 hidden neurons. 2 inputs: 2×16 + 16 = 48. But 25 outputs, one per grid cell: 16×25 + 25 = 425. Almost all of the 473 genes are output weights.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complex brain. The global network now also gets the strain of every cell in the grid, two numbers per cell, zero for empty cells: 52 inputs on a 5 by 5 grid. It sees the whole body's shape at once and can coordinate everything with everything. But it has almost 1,300 genes, and in co-design, another 125 for the body. Whether that expressiveness pays off within 50 generations is exactly the kind of question students can explore in Part 3. 52 inputs (clock plus 25 cells × 2 strains): 52×16 + 16 = 848, plus the same 425 output genes, 1,273. This is the one that grows fastest with body size.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summary to keep handy. The defaults are local and closed-loop, but for Parts 1 and 2 students can choose any brain, or compare several, as long as they justify the choice. Option B in Part 3 is a deliberate exploration of this whole grid, including what the clock is really contributing.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hidden layers aren't fixed. --hidden takes one number per hidden layer, so --hidden 32 is one wider layer and --hidden 8 8 is two layers of 8. The genome is just every weight and bias, one term per layer: the wider network is 480 + 33 = 513 genes, the deeper one 120 + 72 + 9 = 201. --activation picks tanh, relu or sigmoid for the hidden layers; the output layer is always tanh. These flags are on evolve.py; the shape is saved in the .json next to the genome, so sim.py rebuilds the right network on its own. Ask students: does a bigger brain walk better, or does evolution just have more to search?</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it together: how a body is written into a genome, how to run evolution, how long it takes, and some real results. The body on this slide was designed by evolution.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body encoding is simple. Every voxel gets five genes, one per material, and becomes whichever material's gene is largest. That's an argmax, and it has a nice property: small mutations usually don't change anything, and material flips happen only when two genes swap order. So the body evolves in occasional jumps while the brain evolves smoothly. On a 5 by 5 grid that's 125 body genes, followed by the brain's genes. There's also a third mode, morphology, which evolves only the body under a fixed brain; it's one of the Part 3 options.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commands look like Project 4's. Two habits save a lot of time: always pass --output, which also writes a json file so sim.py can rebuild the exact robot without retyping flags; and always pass --fitness_output, so you can plot curves later without re-running evolution. The GIF from sim.py is the single most useful output: watch every robot you report 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numbers from test runs: a default run, 50 robots for 50 generations, takes about three and a half minutes on a 16-core laptop, about twice that on 8 cores. On a typical Intel i7 laptop, like a 2024 ThinkPad with a low-power U-series chip, expect roughly 10 to 15 minutes per run, so 3 to 4 hours for Parts 1 and 2. That's an estimate scaled from benchmarks, not a timed run; a Core Ultra H-series chip should be closer to 6 to 9 minutes. Plug the laptop in. Best advice: time two generations on your own machine and multiply by about 25. On macOS or Linux: time python evolve.py --gens 2. On Windows, in PowerShell: Measure-Command { python evolve.py --gens 2 }, and read the TotalMinutes line. Measure-Command hides the program's output, which is fine here because we only want the time. Parts 1 and 2 need 15 runs, so budget one to two hours of computer time on a fast machine, and three to four on a typical laptop. Don't leave it to the night before the checkpoint. And note that curves are generally still climbing at generation 50.</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real co-design run, using the simplest brain: local, open-loop. Orange is the best robot in each generation, blue the population average. Notice the jumps in the best curve: those are often body mutations, a voxel flipping material, rather than smooth changes to the brain. On the right is the final robot and its body. Nobody designed that shape.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co-design runs, one with each brain, all at default settings. Look how different the bodies are: there's no single right answer, and different brains seem to favor different bodies. Which brain does best in co-design, and why, is something we deliberately leave for students to find out. Part 2 asks them to run co-design five times and compare what comes out.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what you have to do. You've run this kind of project several times now, so the required parts are deliberately open-ended: the choices of what to run and compare are mostly yours.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required parts are deliberately open-ended. Part 1: a brain for a fixed body, comparing one of our presets against a body you design, five runs each. Part 2: co-design, at least five runs, with fitness curves and an animation of every final design. Part 3: one direction in depth. The checkpoint on Friday the 16th is a demo of Parts 1 and 2; the report is due Monday the 19th at 2, and presentations are in class that day. Since PDFs can't hold animations, the report should include frames plus a link.</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Part 3 options from the README; students can also propose their own, as long as it's a genuine extension. Option B is the deepest: it's the whole grid of brains, plus the question of what the clock contributes. Its last step removes the clock entirely, replacing it with a small central network that broadcasts a signal to the local copies. When that central network has memory, evolution found a surprise: a robot that vibrates forward instead of walking, its muscles jumping between full squeeze and full stretch every few steps, with no clean rhythm. Whether that's a clever gait or a way of exploiting the simulator is a good discussion question. Encourage students to watch the animations frame by frame, because that's where results like this show up.</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required readings for this project. Sims 1994 is the classic: bodies and brains co-evolved together, and the paper meets exactly the problem students face here, a brain that has to fit whatever body evolution builds. Make sure they watch the video. Cheney et al. 2013 is the closest ancestor of this project: soft robots made of voxels of stiff, soft and muscle materials, evolved to walk in simulation. Its brain is just a global sine wave, so whatever gait evolves comes almost entirely from the body, which is a good lead-in to the morphology option in Part 3. Its other point, that a generative body encoding beats a direct voxel-by-voxel one like ours, is a good discussion question.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habits to close on. First, write down a prediction before every experiment: that's what makes surprising results visible. Second, look at the robots. Evolution finds dragging, hopping, rolling, buzzing: gaits nobody would design, and you'll only understand your fitness curves once you've watched them.</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554480"/>
            <a:ext cx="6035040" cy="20116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3749040"/>
            <a:ext cx="6035040" cy="1463040"/>
          </a:xfrm>
          <a:prstGeom prst="rect">
            <a:avLst/>
          </a:prstGeom>
          <a:noFill/>
          <a:ln/>
        </p:spPr>
        <p:txBody>
          <a:bodyPr wrap="square" rtlCol="0"/>
          <a:lstStyle>
            <a:lvl1pPr marL="0" indent="0" algn="l">
              <a:buNone/>
              <a:defRPr lang="en-US" sz="1800" dirty="0">
                <a:solidFill>
                  <a:schemeClr val="accent4"/>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377440"/>
            <a:ext cx="6766560" cy="10972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3611880"/>
            <a:ext cx="6766560" cy="1097280"/>
          </a:xfrm>
          <a:prstGeom prst="rect">
            <a:avLst/>
          </a:prstGeom>
          <a:noFill/>
          <a:ln/>
        </p:spPr>
        <p:txBody>
          <a:bodyPr wrap="square" rtlCol="0"/>
          <a:lstStyle>
            <a:lvl1pPr marL="0" indent="0" algn="l">
              <a:buNone/>
              <a:defRPr lang="en-US" sz="1800" dirty="0">
                <a:solidFill>
                  <a:schemeClr val="accent4"/>
                </a:solidFill>
              </a:defRPr>
            </a:lvl1pPr>
          </a:lstStyle>
          <a:p>
            <a:pPr marL="0" indent="0" algn="l">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rtlCol="0"/>
          <a:lstStyle>
            <a:lvl1pPr marL="0" indent="0">
              <a:buNone/>
              <a:defRPr lang="en-US" sz="3200" b="1" dirty="0">
                <a:solidFill>
                  <a:schemeClr val="tx1"/>
                </a:solidFill>
              </a:defRPr>
            </a:lvl1pPr>
          </a:lstStyle>
          <a:p>
            <a:pPr marL="0" indent="0">
              <a:buNone/>
            </a:pPr>
            <a:endParaRPr lang="en-US" sz="32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chemeClr val="tx2"/>
                </a:solidFill>
              </a:rPr>
              <a:t>ECE497 · Project 5: Soft Robots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gi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1.gif"/></Relationships>
</file>

<file path=ppt/slides/_rels/slide2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6.gif"/><Relationship Id="rId5" Type="http://schemas.openxmlformats.org/officeDocument/2006/relationships/image" Target="../media/image5.gif"/><Relationship Id="rId4" Type="http://schemas.openxmlformats.org/officeDocument/2006/relationships/image" Target="../media/image4.gi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554480"/>
            <a:ext cx="6035040" cy="2011680"/>
          </a:xfrm>
          <a:prstGeom prst="rect">
            <a:avLst/>
          </a:prstGeom>
          <a:noFill/>
          <a:ln/>
        </p:spPr>
        <p:txBody>
          <a:bodyPr wrap="square" lIns="0" tIns="0" rIns="0" bIns="0" rtlCol="0" anchor="b"/>
          <a:lstStyle/>
          <a:p>
            <a:pPr marL="0" indent="0" algn="l">
              <a:buNone/>
            </a:pPr>
            <a:r>
              <a:rPr lang="en-US" sz="4000" b="1" dirty="0">
                <a:solidFill>
                  <a:schemeClr val="bg1"/>
                </a:solidFill>
              </a:rPr>
              <a:t>Soft Robots: Evolving Bodies, Not Just Brains</a:t>
            </a:r>
            <a:endParaRPr lang="en-US" sz="4000" dirty="0"/>
          </a:p>
        </p:txBody>
      </p:sp>
      <p:sp>
        <p:nvSpPr>
          <p:cNvPr id="3" name="Text 0"/>
          <p:cNvSpPr>
            <a:spLocks noGrp="1"/>
          </p:cNvSpPr>
          <p:nvPr>
            <p:ph type="body" idx="101" hasCustomPrompt="1"/>
          </p:nvPr>
        </p:nvSpPr>
        <p:spPr>
          <a:xfrm>
            <a:off x="548640" y="3749040"/>
            <a:ext cx="6035040" cy="2418080"/>
          </a:xfrm>
          <a:prstGeom prst="rect">
            <a:avLst/>
          </a:prstGeom>
          <a:noFill/>
          <a:ln/>
        </p:spPr>
        <p:txBody>
          <a:bodyPr wrap="square" lIns="0" tIns="0" rIns="0" bIns="0" rtlCol="0" anchor="t"/>
          <a:lstStyle/>
          <a:p>
            <a:pPr marL="0" indent="0" algn="l">
              <a:buNone/>
            </a:pPr>
            <a:r>
              <a:rPr lang="en-US" sz="1800" dirty="0">
                <a:solidFill>
                  <a:schemeClr val="accent4"/>
                </a:solidFill>
              </a:rPr>
              <a:t>ECE497 Evolutionary Robotics · Project 5</a:t>
            </a:r>
            <a:endParaRPr lang="en-US" sz="1800" dirty="0"/>
          </a:p>
          <a:p>
            <a:pPr marL="0" indent="0" algn="l">
              <a:buNone/>
            </a:pPr>
            <a:endParaRPr lang="en-US" sz="1400" dirty="0"/>
          </a:p>
          <a:p>
            <a:r>
              <a:rPr lang="en-US" sz="1400" dirty="0"/>
              <a:t>Peer-review tomorrow Tuesday Oct 13 (10mins)</a:t>
            </a:r>
          </a:p>
          <a:p>
            <a:r>
              <a:rPr lang="en-US" sz="1400" dirty="0"/>
              <a:t>Select advanced topic lecture Thurs Oct 15 (10mins in class too)</a:t>
            </a:r>
          </a:p>
          <a:p>
            <a:pPr marL="0" indent="0" algn="l">
              <a:buNone/>
            </a:pPr>
            <a:r>
              <a:rPr lang="en-US" sz="1400" dirty="0">
                <a:solidFill>
                  <a:schemeClr val="accent4"/>
                </a:solidFill>
              </a:rPr>
              <a:t>Checkpoint Fri Oct 16 (10mins in class)</a:t>
            </a:r>
          </a:p>
          <a:p>
            <a:r>
              <a:rPr lang="en-US" sz="1400" dirty="0"/>
              <a:t>Reading &amp; Discussion Fri Oct 16 (rest of class)</a:t>
            </a:r>
          </a:p>
          <a:p>
            <a:r>
              <a:rPr lang="en-US" sz="1400" dirty="0"/>
              <a:t>Report and presentations Mon Oct 19 (all class)</a:t>
            </a:r>
          </a:p>
          <a:p>
            <a:pPr marL="0" indent="0" algn="l">
              <a:buNone/>
            </a:pPr>
            <a:endParaRPr lang="en-US" sz="1400" dirty="0">
              <a:solidFill>
                <a:schemeClr val="accent4"/>
              </a:solidFill>
            </a:endParaRPr>
          </a:p>
        </p:txBody>
      </p:sp>
      <p:pic>
        <p:nvPicPr>
          <p:cNvPr id="4" name="gif-1" descr="Robot animation"/>
          <p:cNvPicPr>
            <a:picLocks noChangeAspect="1"/>
          </p:cNvPicPr>
          <p:nvPr/>
        </p:nvPicPr>
        <p:blipFill>
          <a:blip r:embed="rId3"/>
          <a:stretch>
            <a:fillRect/>
          </a:stretch>
        </p:blipFill>
        <p:spPr>
          <a:xfrm>
            <a:off x="7040880" y="2103120"/>
            <a:ext cx="4572000" cy="228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So far, we have used evolution to only ever build brains..</a:t>
            </a:r>
            <a:endParaRPr lang="en-US" sz="3200" dirty="0"/>
          </a:p>
        </p:txBody>
      </p:sp>
      <p:sp>
        <p:nvSpPr>
          <p:cNvPr id="3" name="card-2"/>
          <p:cNvSpPr/>
          <p:nvPr/>
        </p:nvSpPr>
        <p:spPr>
          <a:xfrm>
            <a:off x="548640" y="1554480"/>
            <a:ext cx="3429000" cy="2743200"/>
          </a:xfrm>
          <a:prstGeom prst="roundRect">
            <a:avLst>
              <a:gd name="adj" fmla="val 2667"/>
            </a:avLst>
          </a:prstGeom>
          <a:solidFill>
            <a:schemeClr val="bg2"/>
          </a:solidFill>
          <a:ln/>
        </p:spPr>
        <p:txBody>
          <a:bodyPr/>
          <a:lstStyle/>
          <a:p>
            <a:endParaRPr lang="en-US"/>
          </a:p>
        </p:txBody>
      </p:sp>
      <p:sp>
        <p:nvSpPr>
          <p:cNvPr id="4" name="text-3"/>
          <p:cNvSpPr txBox="1"/>
          <p:nvPr/>
        </p:nvSpPr>
        <p:spPr>
          <a:xfrm>
            <a:off x="868680" y="1828800"/>
            <a:ext cx="2788920" cy="365760"/>
          </a:xfrm>
          <a:prstGeom prst="rect">
            <a:avLst/>
          </a:prstGeom>
          <a:noFill/>
          <a:ln/>
        </p:spPr>
        <p:txBody>
          <a:bodyPr wrap="square" lIns="0" tIns="0" rIns="0" bIns="0" rtlCol="0" anchor="t"/>
          <a:lstStyle/>
          <a:p>
            <a:pPr marL="0" indent="0">
              <a:buNone/>
            </a:pPr>
            <a:r>
              <a:rPr lang="en-US" sz="1400" b="1" dirty="0">
                <a:solidFill>
                  <a:schemeClr val="tx2"/>
                </a:solidFill>
              </a:rPr>
              <a:t>Project 1</a:t>
            </a:r>
            <a:endParaRPr lang="en-US" sz="1400" dirty="0"/>
          </a:p>
        </p:txBody>
      </p:sp>
      <p:sp>
        <p:nvSpPr>
          <p:cNvPr id="5" name="text-4"/>
          <p:cNvSpPr txBox="1"/>
          <p:nvPr/>
        </p:nvSpPr>
        <p:spPr>
          <a:xfrm>
            <a:off x="868680" y="2240280"/>
            <a:ext cx="2788920" cy="457200"/>
          </a:xfrm>
          <a:prstGeom prst="rect">
            <a:avLst/>
          </a:prstGeom>
          <a:noFill/>
          <a:ln/>
        </p:spPr>
        <p:txBody>
          <a:bodyPr wrap="square" lIns="0" tIns="0" rIns="0" bIns="0" rtlCol="0" anchor="t"/>
          <a:lstStyle/>
          <a:p>
            <a:pPr marL="0" indent="0">
              <a:buNone/>
            </a:pPr>
            <a:r>
              <a:rPr lang="en-US" sz="2200" b="1" dirty="0">
                <a:solidFill>
                  <a:schemeClr val="tx1"/>
                </a:solidFill>
              </a:rPr>
              <a:t>Braitenberg vehicle</a:t>
            </a:r>
            <a:endParaRPr lang="en-US" sz="2200" dirty="0"/>
          </a:p>
        </p:txBody>
      </p:sp>
      <p:sp>
        <p:nvSpPr>
          <p:cNvPr id="6" name="text-5"/>
          <p:cNvSpPr txBox="1"/>
          <p:nvPr/>
        </p:nvSpPr>
        <p:spPr>
          <a:xfrm>
            <a:off x="868680" y="2926080"/>
            <a:ext cx="2788920" cy="1097280"/>
          </a:xfrm>
          <a:prstGeom prst="rect">
            <a:avLst/>
          </a:prstGeom>
          <a:noFill/>
          <a:ln/>
        </p:spPr>
        <p:txBody>
          <a:bodyPr wrap="square" lIns="0" tIns="0" rIns="0" bIns="0" rtlCol="0" anchor="t"/>
          <a:lstStyle/>
          <a:p>
            <a:pPr marL="0" indent="0">
              <a:buNone/>
            </a:pPr>
            <a:r>
              <a:rPr lang="en-US" sz="1600" dirty="0">
                <a:solidFill>
                  <a:schemeClr val="tx1"/>
                </a:solidFill>
              </a:rPr>
              <a:t>Brain: wired by hand</a:t>
            </a:r>
            <a:endParaRPr lang="en-US" sz="1600" dirty="0"/>
          </a:p>
          <a:p>
            <a:pPr marL="0" indent="0">
              <a:buNone/>
            </a:pPr>
            <a:r>
              <a:rPr lang="en-US" sz="1600" dirty="0">
                <a:solidFill>
                  <a:schemeClr val="tx1"/>
                </a:solidFill>
              </a:rPr>
              <a:t>Body: designed by hand</a:t>
            </a:r>
            <a:endParaRPr lang="en-US" sz="1600" dirty="0"/>
          </a:p>
        </p:txBody>
      </p:sp>
      <p:sp>
        <p:nvSpPr>
          <p:cNvPr id="7" name="arrow-6"/>
          <p:cNvSpPr/>
          <p:nvPr/>
        </p:nvSpPr>
        <p:spPr>
          <a:xfrm>
            <a:off x="4023360" y="2926080"/>
            <a:ext cx="256032" cy="0"/>
          </a:xfrm>
          <a:prstGeom prst="line">
            <a:avLst/>
          </a:prstGeom>
          <a:noFill/>
          <a:ln w="25400">
            <a:solidFill>
              <a:schemeClr val="tx2"/>
            </a:solidFill>
            <a:prstDash val="solid"/>
            <a:tailEnd type="triangle"/>
          </a:ln>
        </p:spPr>
        <p:txBody>
          <a:bodyPr/>
          <a:lstStyle/>
          <a:p>
            <a:endParaRPr lang="en-US"/>
          </a:p>
        </p:txBody>
      </p:sp>
      <p:sp>
        <p:nvSpPr>
          <p:cNvPr id="8" name="card-7"/>
          <p:cNvSpPr/>
          <p:nvPr/>
        </p:nvSpPr>
        <p:spPr>
          <a:xfrm>
            <a:off x="4297680" y="1554480"/>
            <a:ext cx="3429000" cy="2743200"/>
          </a:xfrm>
          <a:prstGeom prst="roundRect">
            <a:avLst>
              <a:gd name="adj" fmla="val 2667"/>
            </a:avLst>
          </a:prstGeom>
          <a:solidFill>
            <a:schemeClr val="bg2"/>
          </a:solidFill>
          <a:ln/>
        </p:spPr>
        <p:txBody>
          <a:bodyPr/>
          <a:lstStyle/>
          <a:p>
            <a:endParaRPr lang="en-US"/>
          </a:p>
        </p:txBody>
      </p:sp>
      <p:sp>
        <p:nvSpPr>
          <p:cNvPr id="9" name="text-8"/>
          <p:cNvSpPr txBox="1"/>
          <p:nvPr/>
        </p:nvSpPr>
        <p:spPr>
          <a:xfrm>
            <a:off x="4617720" y="1828800"/>
            <a:ext cx="2788920" cy="365760"/>
          </a:xfrm>
          <a:prstGeom prst="rect">
            <a:avLst/>
          </a:prstGeom>
          <a:noFill/>
          <a:ln/>
        </p:spPr>
        <p:txBody>
          <a:bodyPr wrap="square" lIns="0" tIns="0" rIns="0" bIns="0" rtlCol="0" anchor="t"/>
          <a:lstStyle/>
          <a:p>
            <a:pPr marL="0" indent="0">
              <a:buNone/>
            </a:pPr>
            <a:r>
              <a:rPr lang="en-US" sz="1400" b="1" dirty="0">
                <a:solidFill>
                  <a:schemeClr val="tx2"/>
                </a:solidFill>
              </a:rPr>
              <a:t>Projects 3–4</a:t>
            </a:r>
            <a:endParaRPr lang="en-US" sz="1400" dirty="0"/>
          </a:p>
        </p:txBody>
      </p:sp>
      <p:sp>
        <p:nvSpPr>
          <p:cNvPr id="10" name="text-9"/>
          <p:cNvSpPr txBox="1"/>
          <p:nvPr/>
        </p:nvSpPr>
        <p:spPr>
          <a:xfrm>
            <a:off x="4617720" y="2240280"/>
            <a:ext cx="2788920" cy="457200"/>
          </a:xfrm>
          <a:prstGeom prst="rect">
            <a:avLst/>
          </a:prstGeom>
          <a:noFill/>
          <a:ln/>
        </p:spPr>
        <p:txBody>
          <a:bodyPr wrap="square" lIns="0" tIns="0" rIns="0" bIns="0" rtlCol="0" anchor="t"/>
          <a:lstStyle/>
          <a:p>
            <a:pPr marL="0" indent="0">
              <a:buNone/>
            </a:pPr>
            <a:r>
              <a:rPr lang="en-US" sz="2200" b="1" dirty="0">
                <a:solidFill>
                  <a:schemeClr val="tx1"/>
                </a:solidFill>
              </a:rPr>
              <a:t>Neuroevolution</a:t>
            </a:r>
            <a:endParaRPr lang="en-US" sz="2200" dirty="0"/>
          </a:p>
        </p:txBody>
      </p:sp>
      <p:sp>
        <p:nvSpPr>
          <p:cNvPr id="11" name="text-10"/>
          <p:cNvSpPr txBox="1"/>
          <p:nvPr/>
        </p:nvSpPr>
        <p:spPr>
          <a:xfrm>
            <a:off x="4617720" y="2926080"/>
            <a:ext cx="2788920" cy="1097280"/>
          </a:xfrm>
          <a:prstGeom prst="rect">
            <a:avLst/>
          </a:prstGeom>
          <a:noFill/>
          <a:ln/>
        </p:spPr>
        <p:txBody>
          <a:bodyPr wrap="square" lIns="0" tIns="0" rIns="0" bIns="0" rtlCol="0" anchor="t"/>
          <a:lstStyle/>
          <a:p>
            <a:pPr marL="0" indent="0">
              <a:buNone/>
            </a:pPr>
            <a:r>
              <a:rPr lang="en-US" sz="1600" dirty="0">
                <a:solidFill>
                  <a:schemeClr val="tx1"/>
                </a:solidFill>
              </a:rPr>
              <a:t>Brain: evolved</a:t>
            </a:r>
            <a:endParaRPr lang="en-US" sz="1600" dirty="0"/>
          </a:p>
          <a:p>
            <a:pPr marL="0" indent="0">
              <a:buNone/>
            </a:pPr>
            <a:r>
              <a:rPr lang="en-US" sz="1600" dirty="0">
                <a:solidFill>
                  <a:schemeClr val="tx1"/>
                </a:solidFill>
              </a:rPr>
              <a:t>Body: designed by hand</a:t>
            </a:r>
            <a:endParaRPr lang="en-US" sz="1600" dirty="0"/>
          </a:p>
        </p:txBody>
      </p:sp>
      <p:sp>
        <p:nvSpPr>
          <p:cNvPr id="12" name="arrow-11"/>
          <p:cNvSpPr/>
          <p:nvPr/>
        </p:nvSpPr>
        <p:spPr>
          <a:xfrm>
            <a:off x="7772400" y="2926080"/>
            <a:ext cx="256032" cy="0"/>
          </a:xfrm>
          <a:prstGeom prst="line">
            <a:avLst/>
          </a:prstGeom>
          <a:noFill/>
          <a:ln w="25400">
            <a:solidFill>
              <a:schemeClr val="tx2"/>
            </a:solidFill>
            <a:prstDash val="solid"/>
            <a:tailEnd type="triangle"/>
          </a:ln>
        </p:spPr>
        <p:txBody>
          <a:bodyPr/>
          <a:lstStyle/>
          <a:p>
            <a:endParaRPr lang="en-US"/>
          </a:p>
        </p:txBody>
      </p:sp>
      <p:sp>
        <p:nvSpPr>
          <p:cNvPr id="13" name="card-12"/>
          <p:cNvSpPr/>
          <p:nvPr/>
        </p:nvSpPr>
        <p:spPr>
          <a:xfrm>
            <a:off x="8046720" y="1554480"/>
            <a:ext cx="3429000" cy="2743200"/>
          </a:xfrm>
          <a:prstGeom prst="roundRect">
            <a:avLst>
              <a:gd name="adj" fmla="val 2667"/>
            </a:avLst>
          </a:prstGeom>
          <a:solidFill>
            <a:schemeClr val="tx1"/>
          </a:solidFill>
          <a:ln/>
        </p:spPr>
        <p:txBody>
          <a:bodyPr/>
          <a:lstStyle/>
          <a:p>
            <a:endParaRPr lang="en-US"/>
          </a:p>
        </p:txBody>
      </p:sp>
      <p:sp>
        <p:nvSpPr>
          <p:cNvPr id="14" name="text-13"/>
          <p:cNvSpPr txBox="1"/>
          <p:nvPr/>
        </p:nvSpPr>
        <p:spPr>
          <a:xfrm>
            <a:off x="8366760" y="1828800"/>
            <a:ext cx="2788920" cy="365760"/>
          </a:xfrm>
          <a:prstGeom prst="rect">
            <a:avLst/>
          </a:prstGeom>
          <a:noFill/>
          <a:ln/>
        </p:spPr>
        <p:txBody>
          <a:bodyPr wrap="square" lIns="0" tIns="0" rIns="0" bIns="0" rtlCol="0" anchor="t"/>
          <a:lstStyle/>
          <a:p>
            <a:pPr marL="0" indent="0">
              <a:buNone/>
            </a:pPr>
            <a:r>
              <a:rPr lang="en-US" sz="1400" b="1" dirty="0">
                <a:solidFill>
                  <a:schemeClr val="accent1"/>
                </a:solidFill>
              </a:rPr>
              <a:t>Project 5</a:t>
            </a:r>
            <a:endParaRPr lang="en-US" sz="1400" dirty="0"/>
          </a:p>
        </p:txBody>
      </p:sp>
      <p:sp>
        <p:nvSpPr>
          <p:cNvPr id="15" name="text-14"/>
          <p:cNvSpPr txBox="1"/>
          <p:nvPr/>
        </p:nvSpPr>
        <p:spPr>
          <a:xfrm>
            <a:off x="8366760" y="2240280"/>
            <a:ext cx="2788920" cy="457200"/>
          </a:xfrm>
          <a:prstGeom prst="rect">
            <a:avLst/>
          </a:prstGeom>
          <a:noFill/>
          <a:ln/>
        </p:spPr>
        <p:txBody>
          <a:bodyPr wrap="square" lIns="0" tIns="0" rIns="0" bIns="0" rtlCol="0" anchor="t"/>
          <a:lstStyle/>
          <a:p>
            <a:pPr marL="0" indent="0">
              <a:buNone/>
            </a:pPr>
            <a:r>
              <a:rPr lang="en-US" sz="2200" b="1" dirty="0">
                <a:solidFill>
                  <a:schemeClr val="bg1"/>
                </a:solidFill>
              </a:rPr>
              <a:t>Soft robots</a:t>
            </a:r>
            <a:endParaRPr lang="en-US" sz="2200" dirty="0"/>
          </a:p>
        </p:txBody>
      </p:sp>
      <p:sp>
        <p:nvSpPr>
          <p:cNvPr id="16" name="text-15"/>
          <p:cNvSpPr txBox="1"/>
          <p:nvPr/>
        </p:nvSpPr>
        <p:spPr>
          <a:xfrm>
            <a:off x="8366760" y="2926080"/>
            <a:ext cx="2788920" cy="1097280"/>
          </a:xfrm>
          <a:prstGeom prst="rect">
            <a:avLst/>
          </a:prstGeom>
          <a:noFill/>
          <a:ln/>
        </p:spPr>
        <p:txBody>
          <a:bodyPr wrap="square" lIns="0" tIns="0" rIns="0" bIns="0" rtlCol="0" anchor="t"/>
          <a:lstStyle/>
          <a:p>
            <a:pPr marL="0" indent="0">
              <a:buNone/>
            </a:pPr>
            <a:r>
              <a:rPr lang="en-US" sz="1600" dirty="0">
                <a:solidFill>
                  <a:schemeClr val="bg1"/>
                </a:solidFill>
              </a:rPr>
              <a:t>Brain: evolved</a:t>
            </a:r>
            <a:endParaRPr lang="en-US" sz="1600" dirty="0"/>
          </a:p>
          <a:p>
            <a:pPr marL="0" indent="0">
              <a:buNone/>
            </a:pPr>
            <a:r>
              <a:rPr lang="en-US" sz="1600" dirty="0">
                <a:solidFill>
                  <a:schemeClr val="bg1"/>
                </a:solidFill>
              </a:rPr>
              <a:t>Body: evolved</a:t>
            </a:r>
            <a:endParaRPr lang="en-US" sz="1600" dirty="0"/>
          </a:p>
        </p:txBody>
      </p:sp>
      <p:sp>
        <p:nvSpPr>
          <p:cNvPr id="17" name="text-16"/>
          <p:cNvSpPr txBox="1"/>
          <p:nvPr/>
        </p:nvSpPr>
        <p:spPr>
          <a:xfrm>
            <a:off x="548640" y="4800600"/>
            <a:ext cx="11094415" cy="822960"/>
          </a:xfrm>
          <a:prstGeom prst="rect">
            <a:avLst/>
          </a:prstGeom>
          <a:noFill/>
          <a:ln/>
        </p:spPr>
        <p:txBody>
          <a:bodyPr wrap="square" lIns="0" tIns="0" rIns="0" bIns="0" rtlCol="0" anchor="t"/>
          <a:lstStyle/>
          <a:p>
            <a:pPr marL="0" indent="0">
              <a:buNone/>
            </a:pPr>
            <a:r>
              <a:rPr lang="en-US" sz="2000" i="1" dirty="0">
                <a:solidFill>
                  <a:schemeClr val="tx1"/>
                </a:solidFill>
              </a:rPr>
              <a:t>If behavior comes from body, brain, and environment together, why keep the body fixed?</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Same body, different brain</a:t>
            </a:r>
            <a:endParaRPr lang="en-US" sz="3200" dirty="0"/>
          </a:p>
        </p:txBody>
      </p:sp>
      <p:pic>
        <p:nvPicPr>
          <p:cNvPr id="3" name="gif-17" descr="Random brain: goes nowhere (fitness 0.0)"/>
          <p:cNvPicPr>
            <a:picLocks noChangeAspect="1"/>
          </p:cNvPicPr>
          <p:nvPr/>
        </p:nvPicPr>
        <p:blipFill>
          <a:blip r:embed="rId3"/>
          <a:stretch>
            <a:fillRect/>
          </a:stretch>
        </p:blipFill>
        <p:spPr>
          <a:xfrm>
            <a:off x="548640" y="1463040"/>
            <a:ext cx="5303520" cy="2651760"/>
          </a:xfrm>
          <a:prstGeom prst="rect">
            <a:avLst/>
          </a:prstGeom>
        </p:spPr>
      </p:pic>
      <p:sp>
        <p:nvSpPr>
          <p:cNvPr id="4" name="text-18"/>
          <p:cNvSpPr txBox="1"/>
          <p:nvPr/>
        </p:nvSpPr>
        <p:spPr>
          <a:xfrm>
            <a:off x="548640" y="4206240"/>
            <a:ext cx="5303520" cy="320040"/>
          </a:xfrm>
          <a:prstGeom prst="rect">
            <a:avLst/>
          </a:prstGeom>
          <a:noFill/>
          <a:ln/>
        </p:spPr>
        <p:txBody>
          <a:bodyPr wrap="square" lIns="0" tIns="0" rIns="0" bIns="0" rtlCol="0" anchor="t"/>
          <a:lstStyle/>
          <a:p>
            <a:pPr marL="0" indent="0" algn="ctr">
              <a:buNone/>
            </a:pPr>
            <a:r>
              <a:rPr lang="en-US" sz="1200" dirty="0">
                <a:solidFill>
                  <a:schemeClr val="tx2"/>
                </a:solidFill>
              </a:rPr>
              <a:t>Random brain: goes nowhere (fitness 0.0)</a:t>
            </a:r>
            <a:endParaRPr lang="en-US" sz="1200" dirty="0"/>
          </a:p>
        </p:txBody>
      </p:sp>
      <p:pic>
        <p:nvPicPr>
          <p:cNvPr id="5" name="gif-19" descr="Evolved brain: walks 70 voxels in 300 steps (fitness 7.2)"/>
          <p:cNvPicPr>
            <a:picLocks noChangeAspect="1"/>
          </p:cNvPicPr>
          <p:nvPr/>
        </p:nvPicPr>
        <p:blipFill>
          <a:blip r:embed="rId4"/>
          <a:stretch>
            <a:fillRect/>
          </a:stretch>
        </p:blipFill>
        <p:spPr>
          <a:xfrm>
            <a:off x="6339535" y="1463040"/>
            <a:ext cx="5303520" cy="2651760"/>
          </a:xfrm>
          <a:prstGeom prst="rect">
            <a:avLst/>
          </a:prstGeom>
        </p:spPr>
      </p:pic>
      <p:sp>
        <p:nvSpPr>
          <p:cNvPr id="6" name="text-20"/>
          <p:cNvSpPr txBox="1"/>
          <p:nvPr/>
        </p:nvSpPr>
        <p:spPr>
          <a:xfrm>
            <a:off x="6339535" y="4206240"/>
            <a:ext cx="5303520" cy="320040"/>
          </a:xfrm>
          <a:prstGeom prst="rect">
            <a:avLst/>
          </a:prstGeom>
          <a:noFill/>
          <a:ln/>
        </p:spPr>
        <p:txBody>
          <a:bodyPr wrap="square" lIns="0" tIns="0" rIns="0" bIns="0" rtlCol="0" anchor="t"/>
          <a:lstStyle/>
          <a:p>
            <a:pPr marL="0" indent="0" algn="ctr">
              <a:buNone/>
            </a:pPr>
            <a:r>
              <a:rPr lang="en-US" sz="1200" dirty="0">
                <a:solidFill>
                  <a:schemeClr val="tx2"/>
                </a:solidFill>
              </a:rPr>
              <a:t>Evolved brain: walks 70 voxels in 300 steps (fitness 7.2)</a:t>
            </a:r>
            <a:endParaRPr lang="en-US" sz="1200" dirty="0"/>
          </a:p>
        </p:txBody>
      </p:sp>
      <p:sp>
        <p:nvSpPr>
          <p:cNvPr id="7" name="text-21"/>
          <p:cNvSpPr txBox="1"/>
          <p:nvPr/>
        </p:nvSpPr>
        <p:spPr>
          <a:xfrm>
            <a:off x="548641" y="4892040"/>
            <a:ext cx="6675120" cy="1097280"/>
          </a:xfrm>
          <a:prstGeom prst="rect">
            <a:avLst/>
          </a:prstGeom>
          <a:noFill/>
          <a:ln/>
        </p:spPr>
        <p:txBody>
          <a:bodyPr wrap="square" lIns="0" tIns="0" rIns="0" bIns="0" rtlCol="0" anchor="t"/>
          <a:lstStyle/>
          <a:p>
            <a:pPr marL="0" indent="0">
              <a:buNone/>
            </a:pPr>
            <a:r>
              <a:rPr lang="en-US" sz="1800" dirty="0">
                <a:solidFill>
                  <a:schemeClr val="tx1"/>
                </a:solidFill>
              </a:rPr>
              <a:t>The brain matters. </a:t>
            </a:r>
          </a:p>
          <a:p>
            <a:pPr marL="0" indent="0">
              <a:buNone/>
            </a:pPr>
            <a:r>
              <a:rPr lang="en-US" sz="1800" dirty="0">
                <a:solidFill>
                  <a:schemeClr val="tx1"/>
                </a:solidFill>
              </a:rPr>
              <a:t>This project asks </a:t>
            </a:r>
            <a:r>
              <a:rPr lang="en-US" sz="1800" b="1" dirty="0">
                <a:solidFill>
                  <a:schemeClr val="accent1"/>
                </a:solidFill>
              </a:rPr>
              <a:t>how much the body matters too</a:t>
            </a:r>
            <a:r>
              <a:rPr lang="en-US" sz="1800" dirty="0">
                <a:solidFill>
                  <a:schemeClr val="tx1"/>
                </a:solidFill>
              </a:rPr>
              <a:t>, and what happens when evolution gets to design both.</a:t>
            </a:r>
            <a:endParaRPr lang="en-US" sz="1800" dirty="0"/>
          </a:p>
        </p:txBody>
      </p:sp>
      <p:sp>
        <p:nvSpPr>
          <p:cNvPr id="101" name="nn-title"/>
          <p:cNvSpPr txBox="1"/>
          <p:nvPr/>
        </p:nvSpPr>
        <p:spPr>
          <a:xfrm>
            <a:off x="7680960" y="4572000"/>
            <a:ext cx="3962095" cy="274320"/>
          </a:xfrm>
          <a:prstGeom prst="rect">
            <a:avLst/>
          </a:prstGeom>
          <a:noFill/>
          <a:ln/>
        </p:spPr>
        <p:txBody>
          <a:bodyPr wrap="square" lIns="0" tIns="0" rIns="0" bIns="0" rtlCol="0" anchor="t"/>
          <a:lstStyle/>
          <a:p>
            <a:pPr marL="0" indent="0" algn="ctr">
              <a:buNone/>
            </a:pPr>
            <a:r>
              <a:rPr lang="en-US" sz="1400" b="1" dirty="0">
                <a:solidFill>
                  <a:schemeClr val="tx1"/>
                </a:solidFill>
              </a:rPr>
              <a:t>Neural controller (the brain)</a:t>
            </a:r>
          </a:p>
        </p:txBody>
      </p:sp>
      <p:cxnSp>
        <p:nvCxnSpPr>
          <p:cNvPr id="102" name="nn-weight"/>
          <p:cNvCxnSpPr/>
          <p:nvPr/>
        </p:nvCxnSpPr>
        <p:spPr>
          <a:xfrm flipV="1">
            <a:off x="8686800" y="5126355"/>
            <a:ext cx="1005840" cy="142875"/>
          </a:xfrm>
          <a:prstGeom prst="line">
            <a:avLst/>
          </a:prstGeom>
          <a:ln w="9525" cap="rnd">
            <a:solidFill>
              <a:schemeClr val="tx2">
                <a:alpha val="55000"/>
              </a:schemeClr>
            </a:solidFill>
          </a:ln>
        </p:spPr>
      </p:cxnSp>
      <p:cxnSp>
        <p:nvCxnSpPr>
          <p:cNvPr id="103" name="nn-weight"/>
          <p:cNvCxnSpPr/>
          <p:nvPr/>
        </p:nvCxnSpPr>
        <p:spPr>
          <a:xfrm>
            <a:off x="8686800" y="5269230"/>
            <a:ext cx="1005840" cy="142875"/>
          </a:xfrm>
          <a:prstGeom prst="line">
            <a:avLst/>
          </a:prstGeom>
          <a:ln w="9525" cap="rnd">
            <a:solidFill>
              <a:schemeClr val="tx2">
                <a:alpha val="55000"/>
              </a:schemeClr>
            </a:solidFill>
          </a:ln>
        </p:spPr>
      </p:cxnSp>
      <p:cxnSp>
        <p:nvCxnSpPr>
          <p:cNvPr id="104" name="nn-weight"/>
          <p:cNvCxnSpPr/>
          <p:nvPr/>
        </p:nvCxnSpPr>
        <p:spPr>
          <a:xfrm>
            <a:off x="8686800" y="5269230"/>
            <a:ext cx="1005840" cy="428625"/>
          </a:xfrm>
          <a:prstGeom prst="line">
            <a:avLst/>
          </a:prstGeom>
          <a:ln w="9525" cap="rnd">
            <a:solidFill>
              <a:schemeClr val="tx2">
                <a:alpha val="55000"/>
              </a:schemeClr>
            </a:solidFill>
          </a:ln>
        </p:spPr>
      </p:cxnSp>
      <p:cxnSp>
        <p:nvCxnSpPr>
          <p:cNvPr id="105" name="nn-weight"/>
          <p:cNvCxnSpPr/>
          <p:nvPr/>
        </p:nvCxnSpPr>
        <p:spPr>
          <a:xfrm>
            <a:off x="8686800" y="5269230"/>
            <a:ext cx="1005840" cy="714375"/>
          </a:xfrm>
          <a:prstGeom prst="line">
            <a:avLst/>
          </a:prstGeom>
          <a:ln w="9525" cap="rnd">
            <a:solidFill>
              <a:schemeClr val="tx2">
                <a:alpha val="55000"/>
              </a:schemeClr>
            </a:solidFill>
          </a:ln>
        </p:spPr>
      </p:cxnSp>
      <p:cxnSp>
        <p:nvCxnSpPr>
          <p:cNvPr id="106" name="nn-weight"/>
          <p:cNvCxnSpPr/>
          <p:nvPr/>
        </p:nvCxnSpPr>
        <p:spPr>
          <a:xfrm flipV="1">
            <a:off x="8686800" y="5126355"/>
            <a:ext cx="1005840" cy="428625"/>
          </a:xfrm>
          <a:prstGeom prst="line">
            <a:avLst/>
          </a:prstGeom>
          <a:ln w="9525" cap="rnd">
            <a:solidFill>
              <a:schemeClr val="tx2">
                <a:alpha val="55000"/>
              </a:schemeClr>
            </a:solidFill>
          </a:ln>
        </p:spPr>
      </p:cxnSp>
      <p:cxnSp>
        <p:nvCxnSpPr>
          <p:cNvPr id="107" name="nn-weight"/>
          <p:cNvCxnSpPr/>
          <p:nvPr/>
        </p:nvCxnSpPr>
        <p:spPr>
          <a:xfrm flipV="1">
            <a:off x="8686800" y="5412105"/>
            <a:ext cx="1005840" cy="142875"/>
          </a:xfrm>
          <a:prstGeom prst="line">
            <a:avLst/>
          </a:prstGeom>
          <a:ln w="9525" cap="rnd">
            <a:solidFill>
              <a:schemeClr val="tx2">
                <a:alpha val="55000"/>
              </a:schemeClr>
            </a:solidFill>
          </a:ln>
        </p:spPr>
      </p:cxnSp>
      <p:cxnSp>
        <p:nvCxnSpPr>
          <p:cNvPr id="108" name="nn-weight"/>
          <p:cNvCxnSpPr/>
          <p:nvPr/>
        </p:nvCxnSpPr>
        <p:spPr>
          <a:xfrm>
            <a:off x="8686800" y="5554980"/>
            <a:ext cx="1005840" cy="142875"/>
          </a:xfrm>
          <a:prstGeom prst="line">
            <a:avLst/>
          </a:prstGeom>
          <a:ln w="9525" cap="rnd">
            <a:solidFill>
              <a:schemeClr val="tx2">
                <a:alpha val="55000"/>
              </a:schemeClr>
            </a:solidFill>
          </a:ln>
        </p:spPr>
      </p:cxnSp>
      <p:cxnSp>
        <p:nvCxnSpPr>
          <p:cNvPr id="109" name="nn-weight"/>
          <p:cNvCxnSpPr/>
          <p:nvPr/>
        </p:nvCxnSpPr>
        <p:spPr>
          <a:xfrm>
            <a:off x="8686800" y="5554980"/>
            <a:ext cx="1005840" cy="428625"/>
          </a:xfrm>
          <a:prstGeom prst="line">
            <a:avLst/>
          </a:prstGeom>
          <a:ln w="9525" cap="rnd">
            <a:solidFill>
              <a:schemeClr val="tx2">
                <a:alpha val="55000"/>
              </a:schemeClr>
            </a:solidFill>
          </a:ln>
        </p:spPr>
      </p:cxnSp>
      <p:cxnSp>
        <p:nvCxnSpPr>
          <p:cNvPr id="110" name="nn-weight"/>
          <p:cNvCxnSpPr/>
          <p:nvPr/>
        </p:nvCxnSpPr>
        <p:spPr>
          <a:xfrm flipV="1">
            <a:off x="8686800" y="5126355"/>
            <a:ext cx="1005840" cy="714375"/>
          </a:xfrm>
          <a:prstGeom prst="line">
            <a:avLst/>
          </a:prstGeom>
          <a:ln w="9525" cap="rnd">
            <a:solidFill>
              <a:schemeClr val="tx2">
                <a:alpha val="55000"/>
              </a:schemeClr>
            </a:solidFill>
          </a:ln>
        </p:spPr>
      </p:cxnSp>
      <p:cxnSp>
        <p:nvCxnSpPr>
          <p:cNvPr id="111" name="nn-weight"/>
          <p:cNvCxnSpPr/>
          <p:nvPr/>
        </p:nvCxnSpPr>
        <p:spPr>
          <a:xfrm flipV="1">
            <a:off x="8686800" y="5412105"/>
            <a:ext cx="1005840" cy="428625"/>
          </a:xfrm>
          <a:prstGeom prst="line">
            <a:avLst/>
          </a:prstGeom>
          <a:ln w="9525" cap="rnd">
            <a:solidFill>
              <a:schemeClr val="tx2">
                <a:alpha val="55000"/>
              </a:schemeClr>
            </a:solidFill>
          </a:ln>
        </p:spPr>
      </p:cxnSp>
      <p:cxnSp>
        <p:nvCxnSpPr>
          <p:cNvPr id="112" name="nn-weight"/>
          <p:cNvCxnSpPr/>
          <p:nvPr/>
        </p:nvCxnSpPr>
        <p:spPr>
          <a:xfrm flipV="1">
            <a:off x="8686800" y="5697855"/>
            <a:ext cx="1005840" cy="142875"/>
          </a:xfrm>
          <a:prstGeom prst="line">
            <a:avLst/>
          </a:prstGeom>
          <a:ln w="9525" cap="rnd">
            <a:solidFill>
              <a:schemeClr val="tx2">
                <a:alpha val="55000"/>
              </a:schemeClr>
            </a:solidFill>
          </a:ln>
        </p:spPr>
      </p:cxnSp>
      <p:cxnSp>
        <p:nvCxnSpPr>
          <p:cNvPr id="113" name="nn-weight"/>
          <p:cNvCxnSpPr/>
          <p:nvPr/>
        </p:nvCxnSpPr>
        <p:spPr>
          <a:xfrm>
            <a:off x="8686800" y="5840730"/>
            <a:ext cx="1005840" cy="142875"/>
          </a:xfrm>
          <a:prstGeom prst="line">
            <a:avLst/>
          </a:prstGeom>
          <a:ln w="9525" cap="rnd">
            <a:solidFill>
              <a:schemeClr val="tx2">
                <a:alpha val="55000"/>
              </a:schemeClr>
            </a:solidFill>
          </a:ln>
        </p:spPr>
      </p:cxnSp>
      <p:cxnSp>
        <p:nvCxnSpPr>
          <p:cNvPr id="114" name="nn-weight"/>
          <p:cNvCxnSpPr/>
          <p:nvPr/>
        </p:nvCxnSpPr>
        <p:spPr>
          <a:xfrm>
            <a:off x="9692640" y="5126355"/>
            <a:ext cx="1005840" cy="285750"/>
          </a:xfrm>
          <a:prstGeom prst="line">
            <a:avLst/>
          </a:prstGeom>
          <a:ln w="9525" cap="rnd">
            <a:solidFill>
              <a:schemeClr val="tx2">
                <a:alpha val="55000"/>
              </a:schemeClr>
            </a:solidFill>
          </a:ln>
        </p:spPr>
      </p:cxnSp>
      <p:cxnSp>
        <p:nvCxnSpPr>
          <p:cNvPr id="115" name="nn-weight"/>
          <p:cNvCxnSpPr/>
          <p:nvPr/>
        </p:nvCxnSpPr>
        <p:spPr>
          <a:xfrm>
            <a:off x="9692640" y="5126355"/>
            <a:ext cx="1005840" cy="571500"/>
          </a:xfrm>
          <a:prstGeom prst="line">
            <a:avLst/>
          </a:prstGeom>
          <a:ln w="9525" cap="rnd">
            <a:solidFill>
              <a:schemeClr val="tx2">
                <a:alpha val="55000"/>
              </a:schemeClr>
            </a:solidFill>
          </a:ln>
        </p:spPr>
      </p:cxnSp>
      <p:cxnSp>
        <p:nvCxnSpPr>
          <p:cNvPr id="116" name="nn-weight"/>
          <p:cNvCxnSpPr/>
          <p:nvPr/>
        </p:nvCxnSpPr>
        <p:spPr>
          <a:xfrm>
            <a:off x="9692640" y="5412105"/>
            <a:ext cx="1005840" cy="0"/>
          </a:xfrm>
          <a:prstGeom prst="line">
            <a:avLst/>
          </a:prstGeom>
          <a:ln w="9525" cap="rnd">
            <a:solidFill>
              <a:schemeClr val="tx2">
                <a:alpha val="55000"/>
              </a:schemeClr>
            </a:solidFill>
          </a:ln>
        </p:spPr>
      </p:cxnSp>
      <p:cxnSp>
        <p:nvCxnSpPr>
          <p:cNvPr id="117" name="nn-weight"/>
          <p:cNvCxnSpPr/>
          <p:nvPr/>
        </p:nvCxnSpPr>
        <p:spPr>
          <a:xfrm>
            <a:off x="9692640" y="5412105"/>
            <a:ext cx="1005840" cy="285750"/>
          </a:xfrm>
          <a:prstGeom prst="line">
            <a:avLst/>
          </a:prstGeom>
          <a:ln w="9525" cap="rnd">
            <a:solidFill>
              <a:schemeClr val="tx2">
                <a:alpha val="55000"/>
              </a:schemeClr>
            </a:solidFill>
          </a:ln>
        </p:spPr>
      </p:cxnSp>
      <p:cxnSp>
        <p:nvCxnSpPr>
          <p:cNvPr id="118" name="nn-weight"/>
          <p:cNvCxnSpPr/>
          <p:nvPr/>
        </p:nvCxnSpPr>
        <p:spPr>
          <a:xfrm flipV="1">
            <a:off x="9692640" y="5412105"/>
            <a:ext cx="1005840" cy="285750"/>
          </a:xfrm>
          <a:prstGeom prst="line">
            <a:avLst/>
          </a:prstGeom>
          <a:ln w="9525" cap="rnd">
            <a:solidFill>
              <a:schemeClr val="tx2">
                <a:alpha val="55000"/>
              </a:schemeClr>
            </a:solidFill>
          </a:ln>
        </p:spPr>
      </p:cxnSp>
      <p:cxnSp>
        <p:nvCxnSpPr>
          <p:cNvPr id="119" name="nn-weight"/>
          <p:cNvCxnSpPr/>
          <p:nvPr/>
        </p:nvCxnSpPr>
        <p:spPr>
          <a:xfrm>
            <a:off x="9692640" y="5697855"/>
            <a:ext cx="1005840" cy="0"/>
          </a:xfrm>
          <a:prstGeom prst="line">
            <a:avLst/>
          </a:prstGeom>
          <a:ln w="9525" cap="rnd">
            <a:solidFill>
              <a:schemeClr val="tx2">
                <a:alpha val="55000"/>
              </a:schemeClr>
            </a:solidFill>
          </a:ln>
        </p:spPr>
      </p:cxnSp>
      <p:cxnSp>
        <p:nvCxnSpPr>
          <p:cNvPr id="120" name="nn-weight"/>
          <p:cNvCxnSpPr/>
          <p:nvPr/>
        </p:nvCxnSpPr>
        <p:spPr>
          <a:xfrm flipV="1">
            <a:off x="9692640" y="5412105"/>
            <a:ext cx="1005840" cy="571500"/>
          </a:xfrm>
          <a:prstGeom prst="line">
            <a:avLst/>
          </a:prstGeom>
          <a:ln w="9525" cap="rnd">
            <a:solidFill>
              <a:schemeClr val="tx2">
                <a:alpha val="55000"/>
              </a:schemeClr>
            </a:solidFill>
          </a:ln>
        </p:spPr>
      </p:cxnSp>
      <p:cxnSp>
        <p:nvCxnSpPr>
          <p:cNvPr id="121" name="nn-weight"/>
          <p:cNvCxnSpPr/>
          <p:nvPr/>
        </p:nvCxnSpPr>
        <p:spPr>
          <a:xfrm flipV="1">
            <a:off x="9692640" y="5697855"/>
            <a:ext cx="1005840" cy="285750"/>
          </a:xfrm>
          <a:prstGeom prst="line">
            <a:avLst/>
          </a:prstGeom>
          <a:ln w="9525" cap="rnd">
            <a:solidFill>
              <a:schemeClr val="tx2">
                <a:alpha val="55000"/>
              </a:schemeClr>
            </a:solidFill>
          </a:ln>
        </p:spPr>
      </p:cxnSp>
      <p:sp>
        <p:nvSpPr>
          <p:cNvPr id="122" name="nn-neuron"/>
          <p:cNvSpPr/>
          <p:nvPr/>
        </p:nvSpPr>
        <p:spPr>
          <a:xfrm>
            <a:off x="8586216" y="5168646"/>
            <a:ext cx="201168" cy="201168"/>
          </a:xfrm>
          <a:prstGeom prst="ellipse">
            <a:avLst/>
          </a:prstGeom>
          <a:solidFill>
            <a:schemeClr val="bg1"/>
          </a:solidFill>
          <a:ln w="19050">
            <a:solidFill>
              <a:schemeClr val="tx1"/>
            </a:solidFill>
          </a:ln>
        </p:spPr>
        <p:txBody>
          <a:bodyPr/>
          <a:lstStyle/>
          <a:p>
            <a:endParaRPr lang="en-US"/>
          </a:p>
        </p:txBody>
      </p:sp>
      <p:sp>
        <p:nvSpPr>
          <p:cNvPr id="123" name="nn-neuron"/>
          <p:cNvSpPr/>
          <p:nvPr/>
        </p:nvSpPr>
        <p:spPr>
          <a:xfrm>
            <a:off x="8586216" y="5454396"/>
            <a:ext cx="201168" cy="201168"/>
          </a:xfrm>
          <a:prstGeom prst="ellipse">
            <a:avLst/>
          </a:prstGeom>
          <a:solidFill>
            <a:schemeClr val="bg1"/>
          </a:solidFill>
          <a:ln w="19050">
            <a:solidFill>
              <a:schemeClr val="tx1"/>
            </a:solidFill>
          </a:ln>
        </p:spPr>
        <p:txBody>
          <a:bodyPr/>
          <a:lstStyle/>
          <a:p>
            <a:endParaRPr lang="en-US"/>
          </a:p>
        </p:txBody>
      </p:sp>
      <p:sp>
        <p:nvSpPr>
          <p:cNvPr id="124" name="nn-neuron"/>
          <p:cNvSpPr/>
          <p:nvPr/>
        </p:nvSpPr>
        <p:spPr>
          <a:xfrm>
            <a:off x="8586216" y="5740146"/>
            <a:ext cx="201168" cy="201168"/>
          </a:xfrm>
          <a:prstGeom prst="ellipse">
            <a:avLst/>
          </a:prstGeom>
          <a:solidFill>
            <a:schemeClr val="bg1"/>
          </a:solidFill>
          <a:ln w="19050">
            <a:solidFill>
              <a:schemeClr val="tx1"/>
            </a:solidFill>
          </a:ln>
        </p:spPr>
        <p:txBody>
          <a:bodyPr/>
          <a:lstStyle/>
          <a:p>
            <a:endParaRPr lang="en-US"/>
          </a:p>
        </p:txBody>
      </p:sp>
      <p:sp>
        <p:nvSpPr>
          <p:cNvPr id="125" name="nn-neuron"/>
          <p:cNvSpPr/>
          <p:nvPr/>
        </p:nvSpPr>
        <p:spPr>
          <a:xfrm>
            <a:off x="9592056" y="5025771"/>
            <a:ext cx="201168" cy="201168"/>
          </a:xfrm>
          <a:prstGeom prst="ellipse">
            <a:avLst/>
          </a:prstGeom>
          <a:solidFill>
            <a:schemeClr val="bg1"/>
          </a:solidFill>
          <a:ln w="19050">
            <a:solidFill>
              <a:schemeClr val="tx1"/>
            </a:solidFill>
          </a:ln>
        </p:spPr>
        <p:txBody>
          <a:bodyPr/>
          <a:lstStyle/>
          <a:p>
            <a:endParaRPr lang="en-US"/>
          </a:p>
        </p:txBody>
      </p:sp>
      <p:sp>
        <p:nvSpPr>
          <p:cNvPr id="126" name="nn-neuron"/>
          <p:cNvSpPr/>
          <p:nvPr/>
        </p:nvSpPr>
        <p:spPr>
          <a:xfrm>
            <a:off x="9592056" y="5311521"/>
            <a:ext cx="201168" cy="201168"/>
          </a:xfrm>
          <a:prstGeom prst="ellipse">
            <a:avLst/>
          </a:prstGeom>
          <a:solidFill>
            <a:schemeClr val="bg1"/>
          </a:solidFill>
          <a:ln w="19050">
            <a:solidFill>
              <a:schemeClr val="tx1"/>
            </a:solidFill>
          </a:ln>
        </p:spPr>
        <p:txBody>
          <a:bodyPr/>
          <a:lstStyle/>
          <a:p>
            <a:endParaRPr lang="en-US"/>
          </a:p>
        </p:txBody>
      </p:sp>
      <p:sp>
        <p:nvSpPr>
          <p:cNvPr id="127" name="nn-neuron"/>
          <p:cNvSpPr/>
          <p:nvPr/>
        </p:nvSpPr>
        <p:spPr>
          <a:xfrm>
            <a:off x="9592056" y="5597271"/>
            <a:ext cx="201168" cy="201168"/>
          </a:xfrm>
          <a:prstGeom prst="ellipse">
            <a:avLst/>
          </a:prstGeom>
          <a:solidFill>
            <a:schemeClr val="bg1"/>
          </a:solidFill>
          <a:ln w="19050">
            <a:solidFill>
              <a:schemeClr val="tx1"/>
            </a:solidFill>
          </a:ln>
        </p:spPr>
        <p:txBody>
          <a:bodyPr/>
          <a:lstStyle/>
          <a:p>
            <a:endParaRPr lang="en-US"/>
          </a:p>
        </p:txBody>
      </p:sp>
      <p:sp>
        <p:nvSpPr>
          <p:cNvPr id="128" name="nn-neuron"/>
          <p:cNvSpPr/>
          <p:nvPr/>
        </p:nvSpPr>
        <p:spPr>
          <a:xfrm>
            <a:off x="9592056" y="5883021"/>
            <a:ext cx="201168" cy="201168"/>
          </a:xfrm>
          <a:prstGeom prst="ellipse">
            <a:avLst/>
          </a:prstGeom>
          <a:solidFill>
            <a:schemeClr val="bg1"/>
          </a:solidFill>
          <a:ln w="19050">
            <a:solidFill>
              <a:schemeClr val="tx1"/>
            </a:solidFill>
          </a:ln>
        </p:spPr>
        <p:txBody>
          <a:bodyPr/>
          <a:lstStyle/>
          <a:p>
            <a:endParaRPr lang="en-US"/>
          </a:p>
        </p:txBody>
      </p:sp>
      <p:sp>
        <p:nvSpPr>
          <p:cNvPr id="129" name="nn-neuron"/>
          <p:cNvSpPr/>
          <p:nvPr/>
        </p:nvSpPr>
        <p:spPr>
          <a:xfrm>
            <a:off x="10597896" y="5311521"/>
            <a:ext cx="201168" cy="201168"/>
          </a:xfrm>
          <a:prstGeom prst="ellipse">
            <a:avLst/>
          </a:prstGeom>
          <a:solidFill>
            <a:schemeClr val="accent1"/>
          </a:solidFill>
          <a:ln w="19050">
            <a:solidFill>
              <a:schemeClr val="accent1"/>
            </a:solidFill>
          </a:ln>
        </p:spPr>
        <p:txBody>
          <a:bodyPr/>
          <a:lstStyle/>
          <a:p>
            <a:endParaRPr lang="en-US"/>
          </a:p>
        </p:txBody>
      </p:sp>
      <p:sp>
        <p:nvSpPr>
          <p:cNvPr id="130" name="nn-neuron"/>
          <p:cNvSpPr/>
          <p:nvPr/>
        </p:nvSpPr>
        <p:spPr>
          <a:xfrm>
            <a:off x="10597896" y="5597271"/>
            <a:ext cx="201168" cy="201168"/>
          </a:xfrm>
          <a:prstGeom prst="ellipse">
            <a:avLst/>
          </a:prstGeom>
          <a:solidFill>
            <a:schemeClr val="accent1"/>
          </a:solidFill>
          <a:ln w="19050">
            <a:solidFill>
              <a:schemeClr val="accent1"/>
            </a:solidFill>
          </a:ln>
        </p:spPr>
        <p:txBody>
          <a:bodyPr/>
          <a:lstStyle/>
          <a:p>
            <a:endParaRPr lang="en-US"/>
          </a:p>
        </p:txBody>
      </p:sp>
      <p:sp>
        <p:nvSpPr>
          <p:cNvPr id="131" name="nn-in-label"/>
          <p:cNvSpPr txBox="1"/>
          <p:nvPr/>
        </p:nvSpPr>
        <p:spPr>
          <a:xfrm>
            <a:off x="7680960" y="4983480"/>
            <a:ext cx="868680" cy="1143000"/>
          </a:xfrm>
          <a:prstGeom prst="rect">
            <a:avLst/>
          </a:prstGeom>
          <a:noFill/>
          <a:ln/>
        </p:spPr>
        <p:txBody>
          <a:bodyPr wrap="square" lIns="0" tIns="0" rIns="0" bIns="0" rtlCol="0" anchor="ctr"/>
          <a:lstStyle/>
          <a:p>
            <a:pPr marL="0" indent="0" algn="r">
              <a:buNone/>
            </a:pPr>
            <a:r>
              <a:rPr lang="en-US" sz="1100" dirty="0">
                <a:solidFill>
                  <a:schemeClr val="tx2"/>
                </a:solidFill>
              </a:rPr>
              <a:t>clock +</a:t>
            </a:r>
          </a:p>
          <a:p>
            <a:pPr marL="0" indent="0" algn="r">
              <a:buNone/>
            </a:pPr>
            <a:r>
              <a:rPr lang="en-US" sz="1100" dirty="0">
                <a:solidFill>
                  <a:schemeClr val="tx2"/>
                </a:solidFill>
              </a:rPr>
              <a:t>sensing</a:t>
            </a:r>
          </a:p>
        </p:txBody>
      </p:sp>
      <p:sp>
        <p:nvSpPr>
          <p:cNvPr id="132" name="nn-out-label"/>
          <p:cNvSpPr txBox="1"/>
          <p:nvPr/>
        </p:nvSpPr>
        <p:spPr>
          <a:xfrm>
            <a:off x="10871200" y="4983480"/>
            <a:ext cx="771855" cy="1143000"/>
          </a:xfrm>
          <a:prstGeom prst="rect">
            <a:avLst/>
          </a:prstGeom>
          <a:noFill/>
          <a:ln/>
        </p:spPr>
        <p:txBody>
          <a:bodyPr wrap="square" lIns="0" tIns="0" rIns="0" bIns="0" rtlCol="0" anchor="ctr"/>
          <a:lstStyle/>
          <a:p>
            <a:pPr marL="0" indent="0" algn="l">
              <a:buNone/>
            </a:pPr>
            <a:r>
              <a:rPr lang="en-US" sz="1100" dirty="0">
                <a:solidFill>
                  <a:schemeClr val="tx2"/>
                </a:solidFill>
              </a:rPr>
              <a:t>muscles</a:t>
            </a:r>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Two problems, one pipeline</a:t>
            </a:r>
            <a:endParaRPr lang="en-US" sz="3200" dirty="0"/>
          </a:p>
        </p:txBody>
      </p:sp>
      <p:sp>
        <p:nvSpPr>
          <p:cNvPr id="3" name="card-22"/>
          <p:cNvSpPr/>
          <p:nvPr/>
        </p:nvSpPr>
        <p:spPr>
          <a:xfrm>
            <a:off x="548640" y="1463040"/>
            <a:ext cx="5349240" cy="3566160"/>
          </a:xfrm>
          <a:prstGeom prst="roundRect">
            <a:avLst>
              <a:gd name="adj" fmla="val 2051"/>
            </a:avLst>
          </a:prstGeom>
          <a:solidFill>
            <a:schemeClr val="bg2"/>
          </a:solidFill>
          <a:ln/>
        </p:spPr>
        <p:txBody>
          <a:bodyPr/>
          <a:lstStyle/>
          <a:p>
            <a:endParaRPr lang="en-US"/>
          </a:p>
        </p:txBody>
      </p:sp>
      <p:sp>
        <p:nvSpPr>
          <p:cNvPr id="4" name="text-23"/>
          <p:cNvSpPr txBox="1"/>
          <p:nvPr/>
        </p:nvSpPr>
        <p:spPr>
          <a:xfrm>
            <a:off x="868680" y="1737360"/>
            <a:ext cx="4709160" cy="731520"/>
          </a:xfrm>
          <a:prstGeom prst="rect">
            <a:avLst/>
          </a:prstGeom>
          <a:noFill/>
          <a:ln/>
        </p:spPr>
        <p:txBody>
          <a:bodyPr wrap="square" lIns="0" tIns="0" rIns="0" bIns="0" rtlCol="0" anchor="t"/>
          <a:lstStyle/>
          <a:p>
            <a:pPr marL="0" indent="0">
              <a:buNone/>
            </a:pPr>
            <a:r>
              <a:rPr lang="en-US" sz="2000" b="1" dirty="0">
                <a:solidFill>
                  <a:schemeClr val="tx1"/>
                </a:solidFill>
              </a:rPr>
              <a:t>(a) Evolve the brain for a fixed body</a:t>
            </a:r>
            <a:endParaRPr lang="en-US" sz="2000" dirty="0"/>
          </a:p>
        </p:txBody>
      </p:sp>
      <p:sp>
        <p:nvSpPr>
          <p:cNvPr id="5" name="text-24"/>
          <p:cNvSpPr txBox="1"/>
          <p:nvPr/>
        </p:nvSpPr>
        <p:spPr>
          <a:xfrm>
            <a:off x="868680" y="2514600"/>
            <a:ext cx="4709160" cy="914400"/>
          </a:xfrm>
          <a:prstGeom prst="rect">
            <a:avLst/>
          </a:prstGeom>
          <a:noFill/>
          <a:ln/>
        </p:spPr>
        <p:txBody>
          <a:bodyPr wrap="square" lIns="0" tIns="0" rIns="0" bIns="0" rtlCol="0" anchor="t"/>
          <a:lstStyle/>
          <a:p>
            <a:pPr marL="0" indent="0">
              <a:buNone/>
            </a:pPr>
            <a:r>
              <a:rPr lang="en-US" sz="1600" dirty="0">
                <a:solidFill>
                  <a:schemeClr val="tx1"/>
                </a:solidFill>
              </a:rPr>
              <a:t>The body is given: one of ours, one you design by hand. Evolution searches only for the brain.</a:t>
            </a:r>
            <a:endParaRPr lang="en-US" sz="1600" dirty="0"/>
          </a:p>
        </p:txBody>
      </p:sp>
      <p:sp>
        <p:nvSpPr>
          <p:cNvPr id="6" name="text-25"/>
          <p:cNvSpPr txBox="1"/>
          <p:nvPr/>
        </p:nvSpPr>
        <p:spPr>
          <a:xfrm>
            <a:off x="868680" y="3611880"/>
            <a:ext cx="1828800" cy="274320"/>
          </a:xfrm>
          <a:prstGeom prst="rect">
            <a:avLst/>
          </a:prstGeom>
          <a:noFill/>
          <a:ln/>
        </p:spPr>
        <p:txBody>
          <a:bodyPr wrap="square" lIns="0" tIns="0" rIns="0" bIns="0" rtlCol="0" anchor="t"/>
          <a:lstStyle/>
          <a:p>
            <a:pPr marL="0" indent="0">
              <a:buNone/>
            </a:pPr>
            <a:r>
              <a:rPr lang="en-US" sz="1200" dirty="0">
                <a:solidFill>
                  <a:schemeClr val="tx2"/>
                </a:solidFill>
              </a:rPr>
              <a:t>Genome</a:t>
            </a:r>
            <a:endParaRPr lang="en-US" sz="1200" dirty="0"/>
          </a:p>
        </p:txBody>
      </p:sp>
      <p:sp>
        <p:nvSpPr>
          <p:cNvPr id="7" name="genome-26"/>
          <p:cNvSpPr/>
          <p:nvPr/>
        </p:nvSpPr>
        <p:spPr>
          <a:xfrm>
            <a:off x="868680" y="3931920"/>
            <a:ext cx="3143636" cy="502920"/>
          </a:xfrm>
          <a:prstGeom prst="rect">
            <a:avLst/>
          </a:prstGeom>
          <a:solidFill>
            <a:schemeClr val="accent2"/>
          </a:solidFill>
          <a:ln/>
        </p:spPr>
        <p:txBody>
          <a:bodyPr/>
          <a:lstStyle/>
          <a:p>
            <a:endParaRPr lang="en-US"/>
          </a:p>
        </p:txBody>
      </p:sp>
      <p:sp>
        <p:nvSpPr>
          <p:cNvPr id="8" name="genome-label-27"/>
          <p:cNvSpPr txBox="1"/>
          <p:nvPr/>
        </p:nvSpPr>
        <p:spPr>
          <a:xfrm>
            <a:off x="868680" y="3931920"/>
            <a:ext cx="3143636" cy="502920"/>
          </a:xfrm>
          <a:prstGeom prst="rect">
            <a:avLst/>
          </a:prstGeom>
          <a:noFill/>
          <a:ln/>
        </p:spPr>
        <p:txBody>
          <a:bodyPr wrap="square" lIns="0" tIns="0" rIns="0" bIns="0" rtlCol="0" anchor="ctr"/>
          <a:lstStyle/>
          <a:p>
            <a:pPr marL="0" indent="0" algn="ctr">
              <a:buNone/>
            </a:pPr>
            <a:r>
              <a:rPr lang="en-US" sz="1400" b="1" dirty="0">
                <a:solidFill>
                  <a:schemeClr val="tx1"/>
                </a:solidFill>
              </a:rPr>
              <a:t>brain</a:t>
            </a:r>
            <a:endParaRPr lang="en-US" sz="1400" dirty="0"/>
          </a:p>
        </p:txBody>
      </p:sp>
      <p:sp>
        <p:nvSpPr>
          <p:cNvPr id="9" name="card-28"/>
          <p:cNvSpPr/>
          <p:nvPr/>
        </p:nvSpPr>
        <p:spPr>
          <a:xfrm>
            <a:off x="6172200" y="1463040"/>
            <a:ext cx="5349240" cy="3566160"/>
          </a:xfrm>
          <a:prstGeom prst="roundRect">
            <a:avLst>
              <a:gd name="adj" fmla="val 2051"/>
            </a:avLst>
          </a:prstGeom>
          <a:solidFill>
            <a:schemeClr val="bg2"/>
          </a:solidFill>
          <a:ln/>
        </p:spPr>
        <p:txBody>
          <a:bodyPr/>
          <a:lstStyle/>
          <a:p>
            <a:endParaRPr lang="en-US"/>
          </a:p>
        </p:txBody>
      </p:sp>
      <p:sp>
        <p:nvSpPr>
          <p:cNvPr id="10" name="text-29"/>
          <p:cNvSpPr txBox="1"/>
          <p:nvPr/>
        </p:nvSpPr>
        <p:spPr>
          <a:xfrm>
            <a:off x="6492240" y="1737360"/>
            <a:ext cx="4709160" cy="731520"/>
          </a:xfrm>
          <a:prstGeom prst="rect">
            <a:avLst/>
          </a:prstGeom>
          <a:noFill/>
          <a:ln/>
        </p:spPr>
        <p:txBody>
          <a:bodyPr wrap="square" lIns="0" tIns="0" rIns="0" bIns="0" rtlCol="0" anchor="t"/>
          <a:lstStyle/>
          <a:p>
            <a:pPr marL="0" indent="0">
              <a:buNone/>
            </a:pPr>
            <a:r>
              <a:rPr lang="en-US" sz="2000" b="1" dirty="0">
                <a:solidFill>
                  <a:schemeClr val="tx1"/>
                </a:solidFill>
              </a:rPr>
              <a:t>(b) Co-design: evolve body and brain together</a:t>
            </a:r>
            <a:endParaRPr lang="en-US" sz="2000" dirty="0"/>
          </a:p>
        </p:txBody>
      </p:sp>
      <p:sp>
        <p:nvSpPr>
          <p:cNvPr id="11" name="text-30"/>
          <p:cNvSpPr txBox="1"/>
          <p:nvPr/>
        </p:nvSpPr>
        <p:spPr>
          <a:xfrm>
            <a:off x="6492240" y="2514600"/>
            <a:ext cx="4709160" cy="914400"/>
          </a:xfrm>
          <a:prstGeom prst="rect">
            <a:avLst/>
          </a:prstGeom>
          <a:noFill/>
          <a:ln/>
        </p:spPr>
        <p:txBody>
          <a:bodyPr wrap="square" lIns="0" tIns="0" rIns="0" bIns="0" rtlCol="0" anchor="t"/>
          <a:lstStyle/>
          <a:p>
            <a:pPr marL="0" indent="0">
              <a:buNone/>
            </a:pPr>
            <a:r>
              <a:rPr lang="en-US" sz="1600" dirty="0">
                <a:solidFill>
                  <a:schemeClr val="tx1"/>
                </a:solidFill>
              </a:rPr>
              <a:t>Evolution searches for a body and the brain that drives it, in a single genome.</a:t>
            </a:r>
            <a:endParaRPr lang="en-US" sz="1600" dirty="0"/>
          </a:p>
        </p:txBody>
      </p:sp>
      <p:sp>
        <p:nvSpPr>
          <p:cNvPr id="12" name="text-31"/>
          <p:cNvSpPr txBox="1"/>
          <p:nvPr/>
        </p:nvSpPr>
        <p:spPr>
          <a:xfrm>
            <a:off x="6492240" y="3611880"/>
            <a:ext cx="1828800" cy="274320"/>
          </a:xfrm>
          <a:prstGeom prst="rect">
            <a:avLst/>
          </a:prstGeom>
          <a:noFill/>
          <a:ln/>
        </p:spPr>
        <p:txBody>
          <a:bodyPr wrap="square" lIns="0" tIns="0" rIns="0" bIns="0" rtlCol="0" anchor="t"/>
          <a:lstStyle/>
          <a:p>
            <a:pPr marL="0" indent="0">
              <a:buNone/>
            </a:pPr>
            <a:r>
              <a:rPr lang="en-US" sz="1200" dirty="0">
                <a:solidFill>
                  <a:schemeClr val="tx2"/>
                </a:solidFill>
              </a:rPr>
              <a:t>Genome</a:t>
            </a:r>
            <a:endParaRPr lang="en-US" sz="1200" dirty="0"/>
          </a:p>
        </p:txBody>
      </p:sp>
      <p:sp>
        <p:nvSpPr>
          <p:cNvPr id="13" name="genome-32"/>
          <p:cNvSpPr/>
          <p:nvPr/>
        </p:nvSpPr>
        <p:spPr>
          <a:xfrm>
            <a:off x="6492240" y="3931920"/>
            <a:ext cx="1492372" cy="502920"/>
          </a:xfrm>
          <a:prstGeom prst="rect">
            <a:avLst/>
          </a:prstGeom>
          <a:solidFill>
            <a:schemeClr val="accent1"/>
          </a:solidFill>
          <a:ln/>
        </p:spPr>
        <p:txBody>
          <a:bodyPr/>
          <a:lstStyle/>
          <a:p>
            <a:endParaRPr lang="en-US"/>
          </a:p>
        </p:txBody>
      </p:sp>
      <p:sp>
        <p:nvSpPr>
          <p:cNvPr id="14" name="genome-label-33"/>
          <p:cNvSpPr txBox="1"/>
          <p:nvPr/>
        </p:nvSpPr>
        <p:spPr>
          <a:xfrm>
            <a:off x="6492240" y="3931920"/>
            <a:ext cx="1492372" cy="502920"/>
          </a:xfrm>
          <a:prstGeom prst="rect">
            <a:avLst/>
          </a:prstGeom>
          <a:noFill/>
          <a:ln/>
        </p:spPr>
        <p:txBody>
          <a:bodyPr wrap="square" lIns="0" tIns="0" rIns="0" bIns="0" rtlCol="0" anchor="ctr"/>
          <a:lstStyle/>
          <a:p>
            <a:pPr marL="0" indent="0" algn="ctr">
              <a:buNone/>
            </a:pPr>
            <a:r>
              <a:rPr lang="en-US" sz="1400" b="1" dirty="0">
                <a:solidFill>
                  <a:schemeClr val="tx1"/>
                </a:solidFill>
              </a:rPr>
              <a:t>body</a:t>
            </a:r>
            <a:endParaRPr lang="en-US" sz="1400" dirty="0"/>
          </a:p>
        </p:txBody>
      </p:sp>
      <p:sp>
        <p:nvSpPr>
          <p:cNvPr id="15" name="genome-34"/>
          <p:cNvSpPr/>
          <p:nvPr/>
        </p:nvSpPr>
        <p:spPr>
          <a:xfrm>
            <a:off x="8021188" y="3931920"/>
            <a:ext cx="3143636" cy="502920"/>
          </a:xfrm>
          <a:prstGeom prst="rect">
            <a:avLst/>
          </a:prstGeom>
          <a:solidFill>
            <a:schemeClr val="accent2"/>
          </a:solidFill>
          <a:ln/>
        </p:spPr>
        <p:txBody>
          <a:bodyPr/>
          <a:lstStyle/>
          <a:p>
            <a:endParaRPr lang="en-US"/>
          </a:p>
        </p:txBody>
      </p:sp>
      <p:sp>
        <p:nvSpPr>
          <p:cNvPr id="16" name="genome-label-35"/>
          <p:cNvSpPr txBox="1"/>
          <p:nvPr/>
        </p:nvSpPr>
        <p:spPr>
          <a:xfrm>
            <a:off x="8021188" y="3931920"/>
            <a:ext cx="3143636" cy="502920"/>
          </a:xfrm>
          <a:prstGeom prst="rect">
            <a:avLst/>
          </a:prstGeom>
          <a:noFill/>
          <a:ln/>
        </p:spPr>
        <p:txBody>
          <a:bodyPr wrap="square" lIns="0" tIns="0" rIns="0" bIns="0" rtlCol="0" anchor="ctr"/>
          <a:lstStyle/>
          <a:p>
            <a:pPr marL="0" indent="0" algn="ctr">
              <a:buNone/>
            </a:pPr>
            <a:r>
              <a:rPr lang="en-US" sz="1400" b="1" dirty="0">
                <a:solidFill>
                  <a:schemeClr val="tx1"/>
                </a:solidFill>
              </a:rPr>
              <a:t>brain</a:t>
            </a:r>
            <a:endParaRPr lang="en-US" sz="1400" dirty="0"/>
          </a:p>
        </p:txBody>
      </p:sp>
      <p:sp>
        <p:nvSpPr>
          <p:cNvPr id="17" name="text-36"/>
          <p:cNvSpPr txBox="1"/>
          <p:nvPr/>
        </p:nvSpPr>
        <p:spPr>
          <a:xfrm>
            <a:off x="548640" y="5303520"/>
            <a:ext cx="11094415" cy="548640"/>
          </a:xfrm>
          <a:prstGeom prst="rect">
            <a:avLst/>
          </a:prstGeom>
          <a:noFill/>
          <a:ln/>
        </p:spPr>
        <p:txBody>
          <a:bodyPr wrap="square" lIns="0" tIns="0" rIns="0" bIns="0" rtlCol="0" anchor="t"/>
          <a:lstStyle/>
          <a:p>
            <a:pPr marL="0" indent="0">
              <a:buNone/>
            </a:pPr>
            <a:r>
              <a:rPr lang="en-US" sz="1600" dirty="0">
                <a:solidFill>
                  <a:schemeClr val="tx2"/>
                </a:solidFill>
              </a:rPr>
              <a:t>Everything else is what you already know: a flat genome, EvoTorch's GeneticAlgorithm, evolve → simulate → analyze.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377440"/>
            <a:ext cx="6766560" cy="1097280"/>
          </a:xfrm>
          <a:prstGeom prst="rect">
            <a:avLst/>
          </a:prstGeom>
          <a:noFill/>
          <a:ln/>
        </p:spPr>
        <p:txBody>
          <a:bodyPr wrap="square" lIns="0" tIns="0" rIns="0" bIns="0" rtlCol="0" anchor="b"/>
          <a:lstStyle/>
          <a:p>
            <a:pPr marL="0" indent="0" algn="l">
              <a:buNone/>
            </a:pPr>
            <a:r>
              <a:rPr lang="en-US" sz="4000" b="1" dirty="0">
                <a:solidFill>
                  <a:schemeClr val="bg1"/>
                </a:solidFill>
              </a:rPr>
              <a:t>The soft robot platform</a:t>
            </a:r>
            <a:endParaRPr lang="en-US" sz="4000" dirty="0"/>
          </a:p>
        </p:txBody>
      </p:sp>
      <p:sp>
        <p:nvSpPr>
          <p:cNvPr id="3" name="Text 0"/>
          <p:cNvSpPr>
            <a:spLocks noGrp="1"/>
          </p:cNvSpPr>
          <p:nvPr>
            <p:ph type="body" idx="101" hasCustomPrompt="1"/>
          </p:nvPr>
        </p:nvSpPr>
        <p:spPr>
          <a:xfrm>
            <a:off x="548640" y="3611880"/>
            <a:ext cx="6766560" cy="1097280"/>
          </a:xfrm>
          <a:prstGeom prst="rect">
            <a:avLst/>
          </a:prstGeom>
          <a:noFill/>
          <a:ln/>
        </p:spPr>
        <p:txBody>
          <a:bodyPr wrap="square" lIns="0" tIns="0" rIns="0" bIns="0" rtlCol="0" anchor="t"/>
          <a:lstStyle/>
          <a:p>
            <a:pPr marL="0" indent="0" algn="l">
              <a:buNone/>
            </a:pPr>
            <a:r>
              <a:rPr lang="en-US" sz="1800" dirty="0">
                <a:solidFill>
                  <a:schemeClr val="accent4"/>
                </a:solidFill>
              </a:rPr>
              <a:t>Evolution Gym: robots made of voxels</a:t>
            </a:r>
            <a:endParaRPr lang="en-US" sz="1800" dirty="0"/>
          </a:p>
        </p:txBody>
      </p:sp>
      <p:sp>
        <p:nvSpPr>
          <p:cNvPr id="4" name="voxel-37"/>
          <p:cNvSpPr/>
          <p:nvPr/>
        </p:nvSpPr>
        <p:spPr>
          <a:xfrm>
            <a:off x="8164495" y="1809415"/>
            <a:ext cx="605699" cy="605699"/>
          </a:xfrm>
          <a:prstGeom prst="rect">
            <a:avLst/>
          </a:prstGeom>
          <a:solidFill>
            <a:schemeClr val="tx2"/>
          </a:solidFill>
          <a:ln/>
        </p:spPr>
        <p:txBody>
          <a:bodyPr/>
          <a:lstStyle/>
          <a:p>
            <a:endParaRPr lang="en-US"/>
          </a:p>
        </p:txBody>
      </p:sp>
      <p:sp>
        <p:nvSpPr>
          <p:cNvPr id="5" name="voxel-38"/>
          <p:cNvSpPr/>
          <p:nvPr/>
        </p:nvSpPr>
        <p:spPr>
          <a:xfrm>
            <a:off x="8822863" y="1809415"/>
            <a:ext cx="605699" cy="605699"/>
          </a:xfrm>
          <a:prstGeom prst="rect">
            <a:avLst/>
          </a:prstGeom>
          <a:solidFill>
            <a:schemeClr val="tx2"/>
          </a:solidFill>
          <a:ln/>
        </p:spPr>
        <p:txBody>
          <a:bodyPr/>
          <a:lstStyle/>
          <a:p>
            <a:endParaRPr lang="en-US"/>
          </a:p>
        </p:txBody>
      </p:sp>
      <p:sp>
        <p:nvSpPr>
          <p:cNvPr id="6" name="voxel-39"/>
          <p:cNvSpPr/>
          <p:nvPr/>
        </p:nvSpPr>
        <p:spPr>
          <a:xfrm>
            <a:off x="9481231" y="1809415"/>
            <a:ext cx="605699" cy="605699"/>
          </a:xfrm>
          <a:prstGeom prst="rect">
            <a:avLst/>
          </a:prstGeom>
          <a:solidFill>
            <a:schemeClr val="tx2"/>
          </a:solidFill>
          <a:ln/>
        </p:spPr>
        <p:txBody>
          <a:bodyPr/>
          <a:lstStyle/>
          <a:p>
            <a:endParaRPr lang="en-US"/>
          </a:p>
        </p:txBody>
      </p:sp>
      <p:sp>
        <p:nvSpPr>
          <p:cNvPr id="7" name="voxel-40"/>
          <p:cNvSpPr/>
          <p:nvPr/>
        </p:nvSpPr>
        <p:spPr>
          <a:xfrm>
            <a:off x="10139599" y="1809415"/>
            <a:ext cx="605699" cy="605699"/>
          </a:xfrm>
          <a:prstGeom prst="rect">
            <a:avLst/>
          </a:prstGeom>
          <a:solidFill>
            <a:schemeClr val="tx2"/>
          </a:solidFill>
          <a:ln/>
        </p:spPr>
        <p:txBody>
          <a:bodyPr/>
          <a:lstStyle/>
          <a:p>
            <a:endParaRPr lang="en-US"/>
          </a:p>
        </p:txBody>
      </p:sp>
      <p:sp>
        <p:nvSpPr>
          <p:cNvPr id="8" name="voxel-41"/>
          <p:cNvSpPr/>
          <p:nvPr/>
        </p:nvSpPr>
        <p:spPr>
          <a:xfrm>
            <a:off x="10797967" y="1809415"/>
            <a:ext cx="605699" cy="605699"/>
          </a:xfrm>
          <a:prstGeom prst="rect">
            <a:avLst/>
          </a:prstGeom>
          <a:solidFill>
            <a:schemeClr val="tx2"/>
          </a:solidFill>
          <a:ln/>
        </p:spPr>
        <p:txBody>
          <a:bodyPr/>
          <a:lstStyle/>
          <a:p>
            <a:endParaRPr lang="en-US"/>
          </a:p>
        </p:txBody>
      </p:sp>
      <p:sp>
        <p:nvSpPr>
          <p:cNvPr id="9" name="voxel-42"/>
          <p:cNvSpPr/>
          <p:nvPr/>
        </p:nvSpPr>
        <p:spPr>
          <a:xfrm>
            <a:off x="8164495" y="2467783"/>
            <a:ext cx="605699" cy="605699"/>
          </a:xfrm>
          <a:prstGeom prst="rect">
            <a:avLst/>
          </a:prstGeom>
          <a:solidFill>
            <a:schemeClr val="accent4"/>
          </a:solidFill>
          <a:ln/>
        </p:spPr>
        <p:txBody>
          <a:bodyPr/>
          <a:lstStyle/>
          <a:p>
            <a:endParaRPr lang="en-US"/>
          </a:p>
        </p:txBody>
      </p:sp>
      <p:sp>
        <p:nvSpPr>
          <p:cNvPr id="10" name="voxel-43"/>
          <p:cNvSpPr/>
          <p:nvPr/>
        </p:nvSpPr>
        <p:spPr>
          <a:xfrm>
            <a:off x="8822863" y="2467783"/>
            <a:ext cx="605699" cy="605699"/>
          </a:xfrm>
          <a:prstGeom prst="rect">
            <a:avLst/>
          </a:prstGeom>
          <a:solidFill>
            <a:schemeClr val="accent1"/>
          </a:solidFill>
          <a:ln/>
        </p:spPr>
        <p:txBody>
          <a:bodyPr/>
          <a:lstStyle/>
          <a:p>
            <a:endParaRPr lang="en-US"/>
          </a:p>
        </p:txBody>
      </p:sp>
      <p:sp>
        <p:nvSpPr>
          <p:cNvPr id="11" name="voxel-44"/>
          <p:cNvSpPr/>
          <p:nvPr/>
        </p:nvSpPr>
        <p:spPr>
          <a:xfrm>
            <a:off x="9481231" y="2467783"/>
            <a:ext cx="605699" cy="605699"/>
          </a:xfrm>
          <a:prstGeom prst="rect">
            <a:avLst/>
          </a:prstGeom>
          <a:solidFill>
            <a:schemeClr val="accent1"/>
          </a:solidFill>
          <a:ln/>
        </p:spPr>
        <p:txBody>
          <a:bodyPr/>
          <a:lstStyle/>
          <a:p>
            <a:endParaRPr lang="en-US"/>
          </a:p>
        </p:txBody>
      </p:sp>
      <p:sp>
        <p:nvSpPr>
          <p:cNvPr id="12" name="voxel-45"/>
          <p:cNvSpPr/>
          <p:nvPr/>
        </p:nvSpPr>
        <p:spPr>
          <a:xfrm>
            <a:off x="10139599" y="2467783"/>
            <a:ext cx="605699" cy="605699"/>
          </a:xfrm>
          <a:prstGeom prst="rect">
            <a:avLst/>
          </a:prstGeom>
          <a:solidFill>
            <a:schemeClr val="accent1"/>
          </a:solidFill>
          <a:ln/>
        </p:spPr>
        <p:txBody>
          <a:bodyPr/>
          <a:lstStyle/>
          <a:p>
            <a:endParaRPr lang="en-US"/>
          </a:p>
        </p:txBody>
      </p:sp>
      <p:sp>
        <p:nvSpPr>
          <p:cNvPr id="13" name="voxel-46"/>
          <p:cNvSpPr/>
          <p:nvPr/>
        </p:nvSpPr>
        <p:spPr>
          <a:xfrm>
            <a:off x="10797967" y="2467783"/>
            <a:ext cx="605699" cy="605699"/>
          </a:xfrm>
          <a:prstGeom prst="rect">
            <a:avLst/>
          </a:prstGeom>
          <a:solidFill>
            <a:schemeClr val="accent4"/>
          </a:solidFill>
          <a:ln/>
        </p:spPr>
        <p:txBody>
          <a:bodyPr/>
          <a:lstStyle/>
          <a:p>
            <a:endParaRPr lang="en-US"/>
          </a:p>
        </p:txBody>
      </p:sp>
      <p:sp>
        <p:nvSpPr>
          <p:cNvPr id="14" name="voxel-47"/>
          <p:cNvSpPr/>
          <p:nvPr/>
        </p:nvSpPr>
        <p:spPr>
          <a:xfrm>
            <a:off x="8164495" y="3126151"/>
            <a:ext cx="605699" cy="605699"/>
          </a:xfrm>
          <a:prstGeom prst="rect">
            <a:avLst/>
          </a:prstGeom>
          <a:solidFill>
            <a:schemeClr val="accent4"/>
          </a:solidFill>
          <a:ln/>
        </p:spPr>
        <p:txBody>
          <a:bodyPr/>
          <a:lstStyle/>
          <a:p>
            <a:endParaRPr lang="en-US"/>
          </a:p>
        </p:txBody>
      </p:sp>
      <p:sp>
        <p:nvSpPr>
          <p:cNvPr id="15" name="voxel-48"/>
          <p:cNvSpPr/>
          <p:nvPr/>
        </p:nvSpPr>
        <p:spPr>
          <a:xfrm>
            <a:off x="8822863" y="3126151"/>
            <a:ext cx="605699" cy="605699"/>
          </a:xfrm>
          <a:prstGeom prst="rect">
            <a:avLst/>
          </a:prstGeom>
          <a:solidFill>
            <a:schemeClr val="accent2"/>
          </a:solidFill>
          <a:ln/>
        </p:spPr>
        <p:txBody>
          <a:bodyPr/>
          <a:lstStyle/>
          <a:p>
            <a:endParaRPr lang="en-US"/>
          </a:p>
        </p:txBody>
      </p:sp>
      <p:sp>
        <p:nvSpPr>
          <p:cNvPr id="16" name="voxel-49"/>
          <p:cNvSpPr/>
          <p:nvPr/>
        </p:nvSpPr>
        <p:spPr>
          <a:xfrm>
            <a:off x="10139599" y="3126151"/>
            <a:ext cx="605699" cy="605699"/>
          </a:xfrm>
          <a:prstGeom prst="rect">
            <a:avLst/>
          </a:prstGeom>
          <a:solidFill>
            <a:schemeClr val="accent2"/>
          </a:solidFill>
          <a:ln/>
        </p:spPr>
        <p:txBody>
          <a:bodyPr/>
          <a:lstStyle/>
          <a:p>
            <a:endParaRPr lang="en-US"/>
          </a:p>
        </p:txBody>
      </p:sp>
      <p:sp>
        <p:nvSpPr>
          <p:cNvPr id="17" name="voxel-50"/>
          <p:cNvSpPr/>
          <p:nvPr/>
        </p:nvSpPr>
        <p:spPr>
          <a:xfrm>
            <a:off x="10797967" y="3126151"/>
            <a:ext cx="605699" cy="605699"/>
          </a:xfrm>
          <a:prstGeom prst="rect">
            <a:avLst/>
          </a:prstGeom>
          <a:solidFill>
            <a:schemeClr val="accent4"/>
          </a:solidFill>
          <a:ln/>
        </p:spPr>
        <p:txBody>
          <a:bodyPr/>
          <a:lstStyle/>
          <a:p>
            <a:endParaRPr lang="en-US"/>
          </a:p>
        </p:txBody>
      </p:sp>
      <p:sp>
        <p:nvSpPr>
          <p:cNvPr id="18" name="voxel-51"/>
          <p:cNvSpPr/>
          <p:nvPr/>
        </p:nvSpPr>
        <p:spPr>
          <a:xfrm>
            <a:off x="8164495" y="3784519"/>
            <a:ext cx="605699" cy="605699"/>
          </a:xfrm>
          <a:prstGeom prst="rect">
            <a:avLst/>
          </a:prstGeom>
          <a:solidFill>
            <a:schemeClr val="accent4"/>
          </a:solidFill>
          <a:ln/>
        </p:spPr>
        <p:txBody>
          <a:bodyPr/>
          <a:lstStyle/>
          <a:p>
            <a:endParaRPr lang="en-US"/>
          </a:p>
        </p:txBody>
      </p:sp>
      <p:sp>
        <p:nvSpPr>
          <p:cNvPr id="19" name="voxel-52"/>
          <p:cNvSpPr/>
          <p:nvPr/>
        </p:nvSpPr>
        <p:spPr>
          <a:xfrm>
            <a:off x="8822863" y="3784519"/>
            <a:ext cx="605699" cy="605699"/>
          </a:xfrm>
          <a:prstGeom prst="rect">
            <a:avLst/>
          </a:prstGeom>
          <a:solidFill>
            <a:schemeClr val="accent2"/>
          </a:solidFill>
          <a:ln/>
        </p:spPr>
        <p:txBody>
          <a:bodyPr/>
          <a:lstStyle/>
          <a:p>
            <a:endParaRPr lang="en-US"/>
          </a:p>
        </p:txBody>
      </p:sp>
      <p:sp>
        <p:nvSpPr>
          <p:cNvPr id="20" name="voxel-53"/>
          <p:cNvSpPr/>
          <p:nvPr/>
        </p:nvSpPr>
        <p:spPr>
          <a:xfrm>
            <a:off x="10139599" y="3784519"/>
            <a:ext cx="605699" cy="605699"/>
          </a:xfrm>
          <a:prstGeom prst="rect">
            <a:avLst/>
          </a:prstGeom>
          <a:solidFill>
            <a:schemeClr val="accent2"/>
          </a:solidFill>
          <a:ln/>
        </p:spPr>
        <p:txBody>
          <a:bodyPr/>
          <a:lstStyle/>
          <a:p>
            <a:endParaRPr lang="en-US"/>
          </a:p>
        </p:txBody>
      </p:sp>
      <p:sp>
        <p:nvSpPr>
          <p:cNvPr id="21" name="voxel-54"/>
          <p:cNvSpPr/>
          <p:nvPr/>
        </p:nvSpPr>
        <p:spPr>
          <a:xfrm>
            <a:off x="10797967" y="3784519"/>
            <a:ext cx="605699" cy="605699"/>
          </a:xfrm>
          <a:prstGeom prst="rect">
            <a:avLst/>
          </a:prstGeom>
          <a:solidFill>
            <a:schemeClr val="accent4"/>
          </a:solidFill>
          <a:ln/>
        </p:spPr>
        <p:txBody>
          <a:bodyPr/>
          <a:lstStyle/>
          <a:p>
            <a:endParaRPr lang="en-US"/>
          </a:p>
        </p:txBody>
      </p:sp>
      <p:sp>
        <p:nvSpPr>
          <p:cNvPr id="22" name="voxel-55"/>
          <p:cNvSpPr/>
          <p:nvPr/>
        </p:nvSpPr>
        <p:spPr>
          <a:xfrm>
            <a:off x="8164495" y="4442887"/>
            <a:ext cx="605699" cy="605699"/>
          </a:xfrm>
          <a:prstGeom prst="rect">
            <a:avLst/>
          </a:prstGeom>
          <a:solidFill>
            <a:schemeClr val="accent1"/>
          </a:solidFill>
          <a:ln/>
        </p:spPr>
        <p:txBody>
          <a:bodyPr/>
          <a:lstStyle/>
          <a:p>
            <a:endParaRPr lang="en-US"/>
          </a:p>
        </p:txBody>
      </p:sp>
      <p:sp>
        <p:nvSpPr>
          <p:cNvPr id="23" name="voxel-56"/>
          <p:cNvSpPr/>
          <p:nvPr/>
        </p:nvSpPr>
        <p:spPr>
          <a:xfrm>
            <a:off x="8822863" y="4442887"/>
            <a:ext cx="605699" cy="605699"/>
          </a:xfrm>
          <a:prstGeom prst="rect">
            <a:avLst/>
          </a:prstGeom>
          <a:solidFill>
            <a:schemeClr val="accent1"/>
          </a:solidFill>
          <a:ln/>
        </p:spPr>
        <p:txBody>
          <a:bodyPr/>
          <a:lstStyle/>
          <a:p>
            <a:endParaRPr lang="en-US"/>
          </a:p>
        </p:txBody>
      </p:sp>
      <p:sp>
        <p:nvSpPr>
          <p:cNvPr id="24" name="voxel-57"/>
          <p:cNvSpPr/>
          <p:nvPr/>
        </p:nvSpPr>
        <p:spPr>
          <a:xfrm>
            <a:off x="10139599" y="4442887"/>
            <a:ext cx="605699" cy="605699"/>
          </a:xfrm>
          <a:prstGeom prst="rect">
            <a:avLst/>
          </a:prstGeom>
          <a:solidFill>
            <a:schemeClr val="accent1"/>
          </a:solidFill>
          <a:ln/>
        </p:spPr>
        <p:txBody>
          <a:bodyPr/>
          <a:lstStyle/>
          <a:p>
            <a:endParaRPr lang="en-US"/>
          </a:p>
        </p:txBody>
      </p:sp>
      <p:sp>
        <p:nvSpPr>
          <p:cNvPr id="25" name="voxel-58"/>
          <p:cNvSpPr/>
          <p:nvPr/>
        </p:nvSpPr>
        <p:spPr>
          <a:xfrm>
            <a:off x="10797967" y="4442887"/>
            <a:ext cx="605699" cy="605699"/>
          </a:xfrm>
          <a:prstGeom prst="rect">
            <a:avLst/>
          </a:prstGeom>
          <a:solidFill>
            <a:schemeClr val="accent1"/>
          </a:solid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A robot is a grid of voxels</a:t>
            </a:r>
            <a:endParaRPr lang="en-US" sz="3200" dirty="0"/>
          </a:p>
        </p:txBody>
      </p:sp>
      <p:sp>
        <p:nvSpPr>
          <p:cNvPr id="3" name="legend-59"/>
          <p:cNvSpPr/>
          <p:nvPr/>
        </p:nvSpPr>
        <p:spPr>
          <a:xfrm>
            <a:off x="548640" y="1508760"/>
            <a:ext cx="502920" cy="502920"/>
          </a:xfrm>
          <a:prstGeom prst="rect">
            <a:avLst/>
          </a:prstGeom>
          <a:solidFill>
            <a:schemeClr val="accent3"/>
          </a:solidFill>
          <a:ln/>
        </p:spPr>
        <p:txBody>
          <a:bodyPr/>
          <a:lstStyle/>
          <a:p>
            <a:endParaRPr lang="en-US"/>
          </a:p>
        </p:txBody>
      </p:sp>
      <p:sp>
        <p:nvSpPr>
          <p:cNvPr id="4" name="text-60"/>
          <p:cNvSpPr txBox="1"/>
          <p:nvPr/>
        </p:nvSpPr>
        <p:spPr>
          <a:xfrm>
            <a:off x="1280160" y="1490472"/>
            <a:ext cx="4114800" cy="274320"/>
          </a:xfrm>
          <a:prstGeom prst="rect">
            <a:avLst/>
          </a:prstGeom>
          <a:noFill/>
          <a:ln/>
        </p:spPr>
        <p:txBody>
          <a:bodyPr wrap="square" lIns="0" tIns="0" rIns="0" bIns="0" rtlCol="0" anchor="t"/>
          <a:lstStyle/>
          <a:p>
            <a:pPr marL="0" indent="0">
              <a:buNone/>
            </a:pPr>
            <a:r>
              <a:rPr lang="en-US" sz="1600" dirty="0">
                <a:solidFill>
                  <a:schemeClr val="tx2"/>
                </a:solidFill>
                <a:latin typeface="Courier New" pitchFamily="34" charset="0"/>
                <a:ea typeface="Courier New" pitchFamily="34" charset="-122"/>
                <a:cs typeface="Courier New" pitchFamily="34" charset="-120"/>
              </a:rPr>
              <a:t>1  </a:t>
            </a:r>
            <a:r>
              <a:rPr lang="en-US" sz="1600" b="1" dirty="0">
                <a:solidFill>
                  <a:schemeClr val="tx1"/>
                </a:solidFill>
              </a:rPr>
              <a:t>Rigid</a:t>
            </a:r>
            <a:endParaRPr lang="en-US" sz="1600" dirty="0"/>
          </a:p>
        </p:txBody>
      </p:sp>
      <p:sp>
        <p:nvSpPr>
          <p:cNvPr id="5" name="text-61"/>
          <p:cNvSpPr txBox="1"/>
          <p:nvPr/>
        </p:nvSpPr>
        <p:spPr>
          <a:xfrm>
            <a:off x="1280160" y="1764792"/>
            <a:ext cx="4114800" cy="274320"/>
          </a:xfrm>
          <a:prstGeom prst="rect">
            <a:avLst/>
          </a:prstGeom>
          <a:noFill/>
          <a:ln/>
        </p:spPr>
        <p:txBody>
          <a:bodyPr wrap="square" lIns="0" tIns="0" rIns="0" bIns="0" rtlCol="0" anchor="t"/>
          <a:lstStyle/>
          <a:p>
            <a:pPr marL="0" indent="0">
              <a:buNone/>
            </a:pPr>
            <a:r>
              <a:rPr lang="en-US" sz="1300" dirty="0">
                <a:solidFill>
                  <a:schemeClr val="tx2"/>
                </a:solidFill>
              </a:rPr>
              <a:t>stiff, passive</a:t>
            </a:r>
            <a:endParaRPr lang="en-US" sz="1300" dirty="0"/>
          </a:p>
        </p:txBody>
      </p:sp>
      <p:sp>
        <p:nvSpPr>
          <p:cNvPr id="6" name="legend-62"/>
          <p:cNvSpPr/>
          <p:nvPr/>
        </p:nvSpPr>
        <p:spPr>
          <a:xfrm>
            <a:off x="548640" y="2286000"/>
            <a:ext cx="502920" cy="502920"/>
          </a:xfrm>
          <a:prstGeom prst="rect">
            <a:avLst/>
          </a:prstGeom>
          <a:solidFill>
            <a:schemeClr val="accent4"/>
          </a:solidFill>
          <a:ln/>
        </p:spPr>
        <p:txBody>
          <a:bodyPr/>
          <a:lstStyle/>
          <a:p>
            <a:endParaRPr lang="en-US"/>
          </a:p>
        </p:txBody>
      </p:sp>
      <p:sp>
        <p:nvSpPr>
          <p:cNvPr id="7" name="text-63"/>
          <p:cNvSpPr txBox="1"/>
          <p:nvPr/>
        </p:nvSpPr>
        <p:spPr>
          <a:xfrm>
            <a:off x="1280160" y="2267712"/>
            <a:ext cx="4114800" cy="274320"/>
          </a:xfrm>
          <a:prstGeom prst="rect">
            <a:avLst/>
          </a:prstGeom>
          <a:noFill/>
          <a:ln/>
        </p:spPr>
        <p:txBody>
          <a:bodyPr wrap="square" lIns="0" tIns="0" rIns="0" bIns="0" rtlCol="0" anchor="t"/>
          <a:lstStyle/>
          <a:p>
            <a:pPr marL="0" indent="0">
              <a:buNone/>
            </a:pPr>
            <a:r>
              <a:rPr lang="en-US" sz="1600" dirty="0">
                <a:solidFill>
                  <a:schemeClr val="tx2"/>
                </a:solidFill>
                <a:latin typeface="Courier New" pitchFamily="34" charset="0"/>
                <a:ea typeface="Courier New" pitchFamily="34" charset="-122"/>
                <a:cs typeface="Courier New" pitchFamily="34" charset="-120"/>
              </a:rPr>
              <a:t>2  </a:t>
            </a:r>
            <a:r>
              <a:rPr lang="en-US" sz="1600" b="1" dirty="0">
                <a:solidFill>
                  <a:schemeClr val="tx1"/>
                </a:solidFill>
              </a:rPr>
              <a:t>Soft</a:t>
            </a:r>
            <a:endParaRPr lang="en-US" sz="1600" dirty="0"/>
          </a:p>
        </p:txBody>
      </p:sp>
      <p:sp>
        <p:nvSpPr>
          <p:cNvPr id="8" name="text-64"/>
          <p:cNvSpPr txBox="1"/>
          <p:nvPr/>
        </p:nvSpPr>
        <p:spPr>
          <a:xfrm>
            <a:off x="1280160" y="2542032"/>
            <a:ext cx="4114800" cy="274320"/>
          </a:xfrm>
          <a:prstGeom prst="rect">
            <a:avLst/>
          </a:prstGeom>
          <a:noFill/>
          <a:ln/>
        </p:spPr>
        <p:txBody>
          <a:bodyPr wrap="square" lIns="0" tIns="0" rIns="0" bIns="0" rtlCol="0" anchor="t"/>
          <a:lstStyle/>
          <a:p>
            <a:pPr marL="0" indent="0">
              <a:buNone/>
            </a:pPr>
            <a:r>
              <a:rPr lang="en-US" sz="1300" dirty="0">
                <a:solidFill>
                  <a:schemeClr val="tx2"/>
                </a:solidFill>
              </a:rPr>
              <a:t>squishy, passive</a:t>
            </a:r>
            <a:endParaRPr lang="en-US" sz="1300" dirty="0"/>
          </a:p>
        </p:txBody>
      </p:sp>
      <p:sp>
        <p:nvSpPr>
          <p:cNvPr id="9" name="legend-65"/>
          <p:cNvSpPr/>
          <p:nvPr/>
        </p:nvSpPr>
        <p:spPr>
          <a:xfrm>
            <a:off x="548640" y="3063240"/>
            <a:ext cx="502920" cy="502920"/>
          </a:xfrm>
          <a:prstGeom prst="rect">
            <a:avLst/>
          </a:prstGeom>
          <a:solidFill>
            <a:schemeClr val="accent1"/>
          </a:solidFill>
          <a:ln/>
        </p:spPr>
        <p:txBody>
          <a:bodyPr/>
          <a:lstStyle/>
          <a:p>
            <a:endParaRPr lang="en-US"/>
          </a:p>
        </p:txBody>
      </p:sp>
      <p:sp>
        <p:nvSpPr>
          <p:cNvPr id="10" name="text-66"/>
          <p:cNvSpPr txBox="1"/>
          <p:nvPr/>
        </p:nvSpPr>
        <p:spPr>
          <a:xfrm>
            <a:off x="1280160" y="3044952"/>
            <a:ext cx="4114800" cy="274320"/>
          </a:xfrm>
          <a:prstGeom prst="rect">
            <a:avLst/>
          </a:prstGeom>
          <a:noFill/>
          <a:ln/>
        </p:spPr>
        <p:txBody>
          <a:bodyPr wrap="square" lIns="0" tIns="0" rIns="0" bIns="0" rtlCol="0" anchor="t"/>
          <a:lstStyle/>
          <a:p>
            <a:pPr marL="0" indent="0">
              <a:buNone/>
            </a:pPr>
            <a:r>
              <a:rPr lang="en-US" sz="1600" dirty="0">
                <a:solidFill>
                  <a:schemeClr val="tx2"/>
                </a:solidFill>
                <a:latin typeface="Courier New" pitchFamily="34" charset="0"/>
                <a:ea typeface="Courier New" pitchFamily="34" charset="-122"/>
                <a:cs typeface="Courier New" pitchFamily="34" charset="-120"/>
              </a:rPr>
              <a:t>3  </a:t>
            </a:r>
            <a:r>
              <a:rPr lang="en-US" sz="1600" b="1" dirty="0">
                <a:solidFill>
                  <a:schemeClr val="tx1"/>
                </a:solidFill>
              </a:rPr>
              <a:t>Horizontal muscle</a:t>
            </a:r>
            <a:endParaRPr lang="en-US" sz="1600" dirty="0"/>
          </a:p>
        </p:txBody>
      </p:sp>
      <p:sp>
        <p:nvSpPr>
          <p:cNvPr id="11" name="text-67"/>
          <p:cNvSpPr txBox="1"/>
          <p:nvPr/>
        </p:nvSpPr>
        <p:spPr>
          <a:xfrm>
            <a:off x="1280160" y="3319272"/>
            <a:ext cx="4114800" cy="274320"/>
          </a:xfrm>
          <a:prstGeom prst="rect">
            <a:avLst/>
          </a:prstGeom>
          <a:noFill/>
          <a:ln/>
        </p:spPr>
        <p:txBody>
          <a:bodyPr wrap="square" lIns="0" tIns="0" rIns="0" bIns="0" rtlCol="0" anchor="t"/>
          <a:lstStyle/>
          <a:p>
            <a:pPr marL="0" indent="0">
              <a:buNone/>
            </a:pPr>
            <a:r>
              <a:rPr lang="en-US" sz="1300" dirty="0">
                <a:solidFill>
                  <a:schemeClr val="tx2"/>
                </a:solidFill>
              </a:rPr>
              <a:t>stretches and squeezes left–right</a:t>
            </a:r>
            <a:endParaRPr lang="en-US" sz="1300" dirty="0"/>
          </a:p>
        </p:txBody>
      </p:sp>
      <p:sp>
        <p:nvSpPr>
          <p:cNvPr id="12" name="legend-68"/>
          <p:cNvSpPr/>
          <p:nvPr/>
        </p:nvSpPr>
        <p:spPr>
          <a:xfrm>
            <a:off x="548640" y="3840480"/>
            <a:ext cx="502920" cy="502920"/>
          </a:xfrm>
          <a:prstGeom prst="rect">
            <a:avLst/>
          </a:prstGeom>
          <a:solidFill>
            <a:schemeClr val="accent2"/>
          </a:solidFill>
          <a:ln/>
        </p:spPr>
        <p:txBody>
          <a:bodyPr/>
          <a:lstStyle/>
          <a:p>
            <a:endParaRPr lang="en-US"/>
          </a:p>
        </p:txBody>
      </p:sp>
      <p:sp>
        <p:nvSpPr>
          <p:cNvPr id="13" name="text-69"/>
          <p:cNvSpPr txBox="1"/>
          <p:nvPr/>
        </p:nvSpPr>
        <p:spPr>
          <a:xfrm>
            <a:off x="1280160" y="3822192"/>
            <a:ext cx="4114800" cy="274320"/>
          </a:xfrm>
          <a:prstGeom prst="rect">
            <a:avLst/>
          </a:prstGeom>
          <a:noFill/>
          <a:ln/>
        </p:spPr>
        <p:txBody>
          <a:bodyPr wrap="square" lIns="0" tIns="0" rIns="0" bIns="0" rtlCol="0" anchor="t"/>
          <a:lstStyle/>
          <a:p>
            <a:pPr marL="0" indent="0">
              <a:buNone/>
            </a:pPr>
            <a:r>
              <a:rPr lang="en-US" sz="1600" dirty="0">
                <a:solidFill>
                  <a:schemeClr val="tx2"/>
                </a:solidFill>
                <a:latin typeface="Courier New" pitchFamily="34" charset="0"/>
                <a:ea typeface="Courier New" pitchFamily="34" charset="-122"/>
                <a:cs typeface="Courier New" pitchFamily="34" charset="-120"/>
              </a:rPr>
              <a:t>4  </a:t>
            </a:r>
            <a:r>
              <a:rPr lang="en-US" sz="1600" b="1" dirty="0">
                <a:solidFill>
                  <a:schemeClr val="tx1"/>
                </a:solidFill>
              </a:rPr>
              <a:t>Vertical muscle</a:t>
            </a:r>
            <a:endParaRPr lang="en-US" sz="1600" dirty="0"/>
          </a:p>
        </p:txBody>
      </p:sp>
      <p:sp>
        <p:nvSpPr>
          <p:cNvPr id="14" name="text-70"/>
          <p:cNvSpPr txBox="1"/>
          <p:nvPr/>
        </p:nvSpPr>
        <p:spPr>
          <a:xfrm>
            <a:off x="1280160" y="4096512"/>
            <a:ext cx="4114800" cy="274320"/>
          </a:xfrm>
          <a:prstGeom prst="rect">
            <a:avLst/>
          </a:prstGeom>
          <a:noFill/>
          <a:ln/>
        </p:spPr>
        <p:txBody>
          <a:bodyPr wrap="square" lIns="0" tIns="0" rIns="0" bIns="0" rtlCol="0" anchor="t"/>
          <a:lstStyle/>
          <a:p>
            <a:pPr marL="0" indent="0">
              <a:buNone/>
            </a:pPr>
            <a:r>
              <a:rPr lang="en-US" sz="1300" dirty="0">
                <a:solidFill>
                  <a:schemeClr val="tx2"/>
                </a:solidFill>
              </a:rPr>
              <a:t>stretches and squeezes up–down</a:t>
            </a:r>
            <a:endParaRPr lang="en-US" sz="1300" dirty="0"/>
          </a:p>
        </p:txBody>
      </p:sp>
      <p:sp>
        <p:nvSpPr>
          <p:cNvPr id="15" name="legend-71"/>
          <p:cNvSpPr/>
          <p:nvPr/>
        </p:nvSpPr>
        <p:spPr>
          <a:xfrm>
            <a:off x="548640" y="4617720"/>
            <a:ext cx="502920" cy="502920"/>
          </a:xfrm>
          <a:prstGeom prst="rect">
            <a:avLst/>
          </a:prstGeom>
          <a:ln w="12700">
            <a:solidFill>
              <a:schemeClr val="accent4"/>
            </a:solidFill>
            <a:prstDash val="dash"/>
          </a:ln>
        </p:spPr>
        <p:txBody>
          <a:bodyPr/>
          <a:lstStyle/>
          <a:p>
            <a:endParaRPr lang="en-US"/>
          </a:p>
        </p:txBody>
      </p:sp>
      <p:sp>
        <p:nvSpPr>
          <p:cNvPr id="16" name="text-72"/>
          <p:cNvSpPr txBox="1"/>
          <p:nvPr/>
        </p:nvSpPr>
        <p:spPr>
          <a:xfrm>
            <a:off x="1280160" y="4599432"/>
            <a:ext cx="4114800" cy="274320"/>
          </a:xfrm>
          <a:prstGeom prst="rect">
            <a:avLst/>
          </a:prstGeom>
          <a:noFill/>
          <a:ln/>
        </p:spPr>
        <p:txBody>
          <a:bodyPr wrap="square" lIns="0" tIns="0" rIns="0" bIns="0" rtlCol="0" anchor="t"/>
          <a:lstStyle/>
          <a:p>
            <a:pPr marL="0" indent="0">
              <a:buNone/>
            </a:pPr>
            <a:r>
              <a:rPr lang="en-US" sz="1600" dirty="0">
                <a:solidFill>
                  <a:schemeClr val="tx2"/>
                </a:solidFill>
                <a:latin typeface="Courier New" pitchFamily="34" charset="0"/>
                <a:ea typeface="Courier New" pitchFamily="34" charset="-122"/>
                <a:cs typeface="Courier New" pitchFamily="34" charset="-120"/>
              </a:rPr>
              <a:t>0  </a:t>
            </a:r>
            <a:r>
              <a:rPr lang="en-US" sz="1600" b="1" dirty="0">
                <a:solidFill>
                  <a:schemeClr val="tx1"/>
                </a:solidFill>
              </a:rPr>
              <a:t>Empty</a:t>
            </a:r>
            <a:endParaRPr lang="en-US" sz="1600" dirty="0"/>
          </a:p>
        </p:txBody>
      </p:sp>
      <p:sp>
        <p:nvSpPr>
          <p:cNvPr id="17" name="text-73"/>
          <p:cNvSpPr txBox="1"/>
          <p:nvPr/>
        </p:nvSpPr>
        <p:spPr>
          <a:xfrm>
            <a:off x="1280160" y="4873752"/>
            <a:ext cx="4114800" cy="274320"/>
          </a:xfrm>
          <a:prstGeom prst="rect">
            <a:avLst/>
          </a:prstGeom>
          <a:noFill/>
          <a:ln/>
        </p:spPr>
        <p:txBody>
          <a:bodyPr wrap="square" lIns="0" tIns="0" rIns="0" bIns="0" rtlCol="0" anchor="t"/>
          <a:lstStyle/>
          <a:p>
            <a:pPr marL="0" indent="0">
              <a:buNone/>
            </a:pPr>
            <a:r>
              <a:rPr lang="en-US" sz="1300" dirty="0">
                <a:solidFill>
                  <a:schemeClr val="tx2"/>
                </a:solidFill>
              </a:rPr>
              <a:t>no voxel</a:t>
            </a:r>
            <a:endParaRPr lang="en-US" sz="1300" dirty="0"/>
          </a:p>
        </p:txBody>
      </p:sp>
      <p:sp>
        <p:nvSpPr>
          <p:cNvPr id="18" name="voxel-74"/>
          <p:cNvSpPr/>
          <p:nvPr/>
        </p:nvSpPr>
        <p:spPr>
          <a:xfrm>
            <a:off x="5874837" y="1531437"/>
            <a:ext cx="521574" cy="521574"/>
          </a:xfrm>
          <a:prstGeom prst="rect">
            <a:avLst/>
          </a:prstGeom>
          <a:solidFill>
            <a:schemeClr val="accent3"/>
          </a:solidFill>
          <a:ln/>
        </p:spPr>
        <p:txBody>
          <a:bodyPr/>
          <a:lstStyle/>
          <a:p>
            <a:endParaRPr lang="en-US"/>
          </a:p>
        </p:txBody>
      </p:sp>
      <p:sp>
        <p:nvSpPr>
          <p:cNvPr id="19" name="voxel-75"/>
          <p:cNvSpPr/>
          <p:nvPr/>
        </p:nvSpPr>
        <p:spPr>
          <a:xfrm>
            <a:off x="6441765" y="1531437"/>
            <a:ext cx="521574" cy="521574"/>
          </a:xfrm>
          <a:prstGeom prst="rect">
            <a:avLst/>
          </a:prstGeom>
          <a:solidFill>
            <a:schemeClr val="accent3"/>
          </a:solidFill>
          <a:ln/>
        </p:spPr>
        <p:txBody>
          <a:bodyPr/>
          <a:lstStyle/>
          <a:p>
            <a:endParaRPr lang="en-US"/>
          </a:p>
        </p:txBody>
      </p:sp>
      <p:sp>
        <p:nvSpPr>
          <p:cNvPr id="20" name="voxel-76"/>
          <p:cNvSpPr/>
          <p:nvPr/>
        </p:nvSpPr>
        <p:spPr>
          <a:xfrm>
            <a:off x="7008693" y="1531437"/>
            <a:ext cx="521574" cy="521574"/>
          </a:xfrm>
          <a:prstGeom prst="rect">
            <a:avLst/>
          </a:prstGeom>
          <a:solidFill>
            <a:schemeClr val="accent3"/>
          </a:solidFill>
          <a:ln/>
        </p:spPr>
        <p:txBody>
          <a:bodyPr/>
          <a:lstStyle/>
          <a:p>
            <a:endParaRPr lang="en-US"/>
          </a:p>
        </p:txBody>
      </p:sp>
      <p:sp>
        <p:nvSpPr>
          <p:cNvPr id="21" name="voxel-77"/>
          <p:cNvSpPr/>
          <p:nvPr/>
        </p:nvSpPr>
        <p:spPr>
          <a:xfrm>
            <a:off x="7575621" y="1531437"/>
            <a:ext cx="521574" cy="521574"/>
          </a:xfrm>
          <a:prstGeom prst="rect">
            <a:avLst/>
          </a:prstGeom>
          <a:solidFill>
            <a:schemeClr val="accent3"/>
          </a:solidFill>
          <a:ln/>
        </p:spPr>
        <p:txBody>
          <a:bodyPr/>
          <a:lstStyle/>
          <a:p>
            <a:endParaRPr lang="en-US"/>
          </a:p>
        </p:txBody>
      </p:sp>
      <p:sp>
        <p:nvSpPr>
          <p:cNvPr id="22" name="voxel-78"/>
          <p:cNvSpPr/>
          <p:nvPr/>
        </p:nvSpPr>
        <p:spPr>
          <a:xfrm>
            <a:off x="8142549" y="1531437"/>
            <a:ext cx="521574" cy="521574"/>
          </a:xfrm>
          <a:prstGeom prst="rect">
            <a:avLst/>
          </a:prstGeom>
          <a:solidFill>
            <a:schemeClr val="accent3"/>
          </a:solidFill>
          <a:ln/>
        </p:spPr>
        <p:txBody>
          <a:bodyPr/>
          <a:lstStyle/>
          <a:p>
            <a:endParaRPr lang="en-US"/>
          </a:p>
        </p:txBody>
      </p:sp>
      <p:sp>
        <p:nvSpPr>
          <p:cNvPr id="23" name="voxel-79"/>
          <p:cNvSpPr/>
          <p:nvPr/>
        </p:nvSpPr>
        <p:spPr>
          <a:xfrm>
            <a:off x="5874837" y="2098365"/>
            <a:ext cx="521574" cy="521574"/>
          </a:xfrm>
          <a:prstGeom prst="rect">
            <a:avLst/>
          </a:prstGeom>
          <a:solidFill>
            <a:schemeClr val="accent4"/>
          </a:solidFill>
          <a:ln/>
        </p:spPr>
        <p:txBody>
          <a:bodyPr/>
          <a:lstStyle/>
          <a:p>
            <a:endParaRPr lang="en-US"/>
          </a:p>
        </p:txBody>
      </p:sp>
      <p:sp>
        <p:nvSpPr>
          <p:cNvPr id="24" name="voxel-80"/>
          <p:cNvSpPr/>
          <p:nvPr/>
        </p:nvSpPr>
        <p:spPr>
          <a:xfrm>
            <a:off x="6441765" y="2098365"/>
            <a:ext cx="521574" cy="521574"/>
          </a:xfrm>
          <a:prstGeom prst="rect">
            <a:avLst/>
          </a:prstGeom>
          <a:solidFill>
            <a:schemeClr val="accent1"/>
          </a:solidFill>
          <a:ln/>
        </p:spPr>
        <p:txBody>
          <a:bodyPr/>
          <a:lstStyle/>
          <a:p>
            <a:endParaRPr lang="en-US"/>
          </a:p>
        </p:txBody>
      </p:sp>
      <p:sp>
        <p:nvSpPr>
          <p:cNvPr id="25" name="voxel-81"/>
          <p:cNvSpPr/>
          <p:nvPr/>
        </p:nvSpPr>
        <p:spPr>
          <a:xfrm>
            <a:off x="7008693" y="2098365"/>
            <a:ext cx="521574" cy="521574"/>
          </a:xfrm>
          <a:prstGeom prst="rect">
            <a:avLst/>
          </a:prstGeom>
          <a:solidFill>
            <a:schemeClr val="accent1"/>
          </a:solidFill>
          <a:ln/>
        </p:spPr>
        <p:txBody>
          <a:bodyPr/>
          <a:lstStyle/>
          <a:p>
            <a:endParaRPr lang="en-US"/>
          </a:p>
        </p:txBody>
      </p:sp>
      <p:sp>
        <p:nvSpPr>
          <p:cNvPr id="26" name="voxel-82"/>
          <p:cNvSpPr/>
          <p:nvPr/>
        </p:nvSpPr>
        <p:spPr>
          <a:xfrm>
            <a:off x="7575621" y="2098365"/>
            <a:ext cx="521574" cy="521574"/>
          </a:xfrm>
          <a:prstGeom prst="rect">
            <a:avLst/>
          </a:prstGeom>
          <a:solidFill>
            <a:schemeClr val="accent1"/>
          </a:solidFill>
          <a:ln/>
        </p:spPr>
        <p:txBody>
          <a:bodyPr/>
          <a:lstStyle/>
          <a:p>
            <a:endParaRPr lang="en-US"/>
          </a:p>
        </p:txBody>
      </p:sp>
      <p:sp>
        <p:nvSpPr>
          <p:cNvPr id="27" name="voxel-83"/>
          <p:cNvSpPr/>
          <p:nvPr/>
        </p:nvSpPr>
        <p:spPr>
          <a:xfrm>
            <a:off x="8142549" y="2098365"/>
            <a:ext cx="521574" cy="521574"/>
          </a:xfrm>
          <a:prstGeom prst="rect">
            <a:avLst/>
          </a:prstGeom>
          <a:solidFill>
            <a:schemeClr val="accent4"/>
          </a:solidFill>
          <a:ln/>
        </p:spPr>
        <p:txBody>
          <a:bodyPr/>
          <a:lstStyle/>
          <a:p>
            <a:endParaRPr lang="en-US"/>
          </a:p>
        </p:txBody>
      </p:sp>
      <p:sp>
        <p:nvSpPr>
          <p:cNvPr id="28" name="voxel-84"/>
          <p:cNvSpPr/>
          <p:nvPr/>
        </p:nvSpPr>
        <p:spPr>
          <a:xfrm>
            <a:off x="5874837" y="2665293"/>
            <a:ext cx="521574" cy="521574"/>
          </a:xfrm>
          <a:prstGeom prst="rect">
            <a:avLst/>
          </a:prstGeom>
          <a:solidFill>
            <a:schemeClr val="accent4"/>
          </a:solidFill>
          <a:ln/>
        </p:spPr>
        <p:txBody>
          <a:bodyPr/>
          <a:lstStyle/>
          <a:p>
            <a:endParaRPr lang="en-US"/>
          </a:p>
        </p:txBody>
      </p:sp>
      <p:sp>
        <p:nvSpPr>
          <p:cNvPr id="29" name="voxel-85"/>
          <p:cNvSpPr/>
          <p:nvPr/>
        </p:nvSpPr>
        <p:spPr>
          <a:xfrm>
            <a:off x="6441765" y="2665293"/>
            <a:ext cx="521574" cy="521574"/>
          </a:xfrm>
          <a:prstGeom prst="rect">
            <a:avLst/>
          </a:prstGeom>
          <a:solidFill>
            <a:schemeClr val="accent2"/>
          </a:solidFill>
          <a:ln/>
        </p:spPr>
        <p:txBody>
          <a:bodyPr/>
          <a:lstStyle/>
          <a:p>
            <a:endParaRPr lang="en-US"/>
          </a:p>
        </p:txBody>
      </p:sp>
      <p:sp>
        <p:nvSpPr>
          <p:cNvPr id="30" name="voxel-empty-86"/>
          <p:cNvSpPr/>
          <p:nvPr/>
        </p:nvSpPr>
        <p:spPr>
          <a:xfrm>
            <a:off x="7008693" y="2665293"/>
            <a:ext cx="521574" cy="521574"/>
          </a:xfrm>
          <a:prstGeom prst="rect">
            <a:avLst/>
          </a:prstGeom>
          <a:ln w="9525">
            <a:solidFill>
              <a:schemeClr val="accent4"/>
            </a:solidFill>
            <a:prstDash val="dash"/>
          </a:ln>
        </p:spPr>
        <p:txBody>
          <a:bodyPr/>
          <a:lstStyle/>
          <a:p>
            <a:endParaRPr lang="en-US"/>
          </a:p>
        </p:txBody>
      </p:sp>
      <p:sp>
        <p:nvSpPr>
          <p:cNvPr id="31" name="voxel-87"/>
          <p:cNvSpPr/>
          <p:nvPr/>
        </p:nvSpPr>
        <p:spPr>
          <a:xfrm>
            <a:off x="7575621" y="2665293"/>
            <a:ext cx="521574" cy="521574"/>
          </a:xfrm>
          <a:prstGeom prst="rect">
            <a:avLst/>
          </a:prstGeom>
          <a:solidFill>
            <a:schemeClr val="accent2"/>
          </a:solidFill>
          <a:ln/>
        </p:spPr>
        <p:txBody>
          <a:bodyPr/>
          <a:lstStyle/>
          <a:p>
            <a:endParaRPr lang="en-US"/>
          </a:p>
        </p:txBody>
      </p:sp>
      <p:sp>
        <p:nvSpPr>
          <p:cNvPr id="32" name="voxel-88"/>
          <p:cNvSpPr/>
          <p:nvPr/>
        </p:nvSpPr>
        <p:spPr>
          <a:xfrm>
            <a:off x="8142549" y="2665293"/>
            <a:ext cx="521574" cy="521574"/>
          </a:xfrm>
          <a:prstGeom prst="rect">
            <a:avLst/>
          </a:prstGeom>
          <a:solidFill>
            <a:schemeClr val="accent4"/>
          </a:solidFill>
          <a:ln/>
        </p:spPr>
        <p:txBody>
          <a:bodyPr/>
          <a:lstStyle/>
          <a:p>
            <a:endParaRPr lang="en-US"/>
          </a:p>
        </p:txBody>
      </p:sp>
      <p:sp>
        <p:nvSpPr>
          <p:cNvPr id="33" name="voxel-89"/>
          <p:cNvSpPr/>
          <p:nvPr/>
        </p:nvSpPr>
        <p:spPr>
          <a:xfrm>
            <a:off x="5874837" y="3232221"/>
            <a:ext cx="521574" cy="521574"/>
          </a:xfrm>
          <a:prstGeom prst="rect">
            <a:avLst/>
          </a:prstGeom>
          <a:solidFill>
            <a:schemeClr val="accent4"/>
          </a:solidFill>
          <a:ln/>
        </p:spPr>
        <p:txBody>
          <a:bodyPr/>
          <a:lstStyle/>
          <a:p>
            <a:endParaRPr lang="en-US"/>
          </a:p>
        </p:txBody>
      </p:sp>
      <p:sp>
        <p:nvSpPr>
          <p:cNvPr id="34" name="voxel-90"/>
          <p:cNvSpPr/>
          <p:nvPr/>
        </p:nvSpPr>
        <p:spPr>
          <a:xfrm>
            <a:off x="6441765" y="3232221"/>
            <a:ext cx="521574" cy="521574"/>
          </a:xfrm>
          <a:prstGeom prst="rect">
            <a:avLst/>
          </a:prstGeom>
          <a:solidFill>
            <a:schemeClr val="accent2"/>
          </a:solidFill>
          <a:ln/>
        </p:spPr>
        <p:txBody>
          <a:bodyPr/>
          <a:lstStyle/>
          <a:p>
            <a:endParaRPr lang="en-US"/>
          </a:p>
        </p:txBody>
      </p:sp>
      <p:sp>
        <p:nvSpPr>
          <p:cNvPr id="35" name="voxel-empty-91"/>
          <p:cNvSpPr/>
          <p:nvPr/>
        </p:nvSpPr>
        <p:spPr>
          <a:xfrm>
            <a:off x="7008693" y="3232221"/>
            <a:ext cx="521574" cy="521574"/>
          </a:xfrm>
          <a:prstGeom prst="rect">
            <a:avLst/>
          </a:prstGeom>
          <a:ln w="9525">
            <a:solidFill>
              <a:schemeClr val="accent4"/>
            </a:solidFill>
            <a:prstDash val="dash"/>
          </a:ln>
        </p:spPr>
        <p:txBody>
          <a:bodyPr/>
          <a:lstStyle/>
          <a:p>
            <a:endParaRPr lang="en-US"/>
          </a:p>
        </p:txBody>
      </p:sp>
      <p:sp>
        <p:nvSpPr>
          <p:cNvPr id="36" name="voxel-92"/>
          <p:cNvSpPr/>
          <p:nvPr/>
        </p:nvSpPr>
        <p:spPr>
          <a:xfrm>
            <a:off x="7575621" y="3232221"/>
            <a:ext cx="521574" cy="521574"/>
          </a:xfrm>
          <a:prstGeom prst="rect">
            <a:avLst/>
          </a:prstGeom>
          <a:solidFill>
            <a:schemeClr val="accent2"/>
          </a:solidFill>
          <a:ln/>
        </p:spPr>
        <p:txBody>
          <a:bodyPr/>
          <a:lstStyle/>
          <a:p>
            <a:endParaRPr lang="en-US"/>
          </a:p>
        </p:txBody>
      </p:sp>
      <p:sp>
        <p:nvSpPr>
          <p:cNvPr id="37" name="voxel-93"/>
          <p:cNvSpPr/>
          <p:nvPr/>
        </p:nvSpPr>
        <p:spPr>
          <a:xfrm>
            <a:off x="8142549" y="3232221"/>
            <a:ext cx="521574" cy="521574"/>
          </a:xfrm>
          <a:prstGeom prst="rect">
            <a:avLst/>
          </a:prstGeom>
          <a:solidFill>
            <a:schemeClr val="accent4"/>
          </a:solidFill>
          <a:ln/>
        </p:spPr>
        <p:txBody>
          <a:bodyPr/>
          <a:lstStyle/>
          <a:p>
            <a:endParaRPr lang="en-US"/>
          </a:p>
        </p:txBody>
      </p:sp>
      <p:sp>
        <p:nvSpPr>
          <p:cNvPr id="38" name="voxel-94"/>
          <p:cNvSpPr/>
          <p:nvPr/>
        </p:nvSpPr>
        <p:spPr>
          <a:xfrm>
            <a:off x="5874837" y="3799149"/>
            <a:ext cx="521574" cy="521574"/>
          </a:xfrm>
          <a:prstGeom prst="rect">
            <a:avLst/>
          </a:prstGeom>
          <a:solidFill>
            <a:schemeClr val="accent1"/>
          </a:solidFill>
          <a:ln/>
        </p:spPr>
        <p:txBody>
          <a:bodyPr/>
          <a:lstStyle/>
          <a:p>
            <a:endParaRPr lang="en-US"/>
          </a:p>
        </p:txBody>
      </p:sp>
      <p:sp>
        <p:nvSpPr>
          <p:cNvPr id="39" name="voxel-95"/>
          <p:cNvSpPr/>
          <p:nvPr/>
        </p:nvSpPr>
        <p:spPr>
          <a:xfrm>
            <a:off x="6441765" y="3799149"/>
            <a:ext cx="521574" cy="521574"/>
          </a:xfrm>
          <a:prstGeom prst="rect">
            <a:avLst/>
          </a:prstGeom>
          <a:solidFill>
            <a:schemeClr val="accent1"/>
          </a:solidFill>
          <a:ln/>
        </p:spPr>
        <p:txBody>
          <a:bodyPr/>
          <a:lstStyle/>
          <a:p>
            <a:endParaRPr lang="en-US"/>
          </a:p>
        </p:txBody>
      </p:sp>
      <p:sp>
        <p:nvSpPr>
          <p:cNvPr id="40" name="voxel-empty-96"/>
          <p:cNvSpPr/>
          <p:nvPr/>
        </p:nvSpPr>
        <p:spPr>
          <a:xfrm>
            <a:off x="7008693" y="3799149"/>
            <a:ext cx="521574" cy="521574"/>
          </a:xfrm>
          <a:prstGeom prst="rect">
            <a:avLst/>
          </a:prstGeom>
          <a:ln w="9525">
            <a:solidFill>
              <a:schemeClr val="accent4"/>
            </a:solidFill>
            <a:prstDash val="dash"/>
          </a:ln>
        </p:spPr>
        <p:txBody>
          <a:bodyPr/>
          <a:lstStyle/>
          <a:p>
            <a:endParaRPr lang="en-US"/>
          </a:p>
        </p:txBody>
      </p:sp>
      <p:sp>
        <p:nvSpPr>
          <p:cNvPr id="41" name="voxel-97"/>
          <p:cNvSpPr/>
          <p:nvPr/>
        </p:nvSpPr>
        <p:spPr>
          <a:xfrm>
            <a:off x="7575621" y="3799149"/>
            <a:ext cx="521574" cy="521574"/>
          </a:xfrm>
          <a:prstGeom prst="rect">
            <a:avLst/>
          </a:prstGeom>
          <a:solidFill>
            <a:schemeClr val="accent1"/>
          </a:solidFill>
          <a:ln/>
        </p:spPr>
        <p:txBody>
          <a:bodyPr/>
          <a:lstStyle/>
          <a:p>
            <a:endParaRPr lang="en-US"/>
          </a:p>
        </p:txBody>
      </p:sp>
      <p:sp>
        <p:nvSpPr>
          <p:cNvPr id="42" name="voxel-98"/>
          <p:cNvSpPr/>
          <p:nvPr/>
        </p:nvSpPr>
        <p:spPr>
          <a:xfrm>
            <a:off x="8142549" y="3799149"/>
            <a:ext cx="521574" cy="521574"/>
          </a:xfrm>
          <a:prstGeom prst="rect">
            <a:avLst/>
          </a:prstGeom>
          <a:solidFill>
            <a:schemeClr val="accent1"/>
          </a:solidFill>
          <a:ln/>
        </p:spPr>
        <p:txBody>
          <a:bodyPr/>
          <a:lstStyle/>
          <a:p>
            <a:endParaRPr lang="en-US"/>
          </a:p>
        </p:txBody>
      </p:sp>
      <p:sp>
        <p:nvSpPr>
          <p:cNvPr id="43" name="bullets-99"/>
          <p:cNvSpPr txBox="1"/>
          <p:nvPr/>
        </p:nvSpPr>
        <p:spPr>
          <a:xfrm>
            <a:off x="9006840" y="1508760"/>
            <a:ext cx="2651760" cy="29260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Each voxel is point masses at its corners, joined by springs</a:t>
            </a:r>
            <a:endParaRPr lang="en-US" sz="1500" dirty="0"/>
          </a:p>
          <a:p>
            <a:pPr marL="228600" indent="-228600">
              <a:spcAft>
                <a:spcPts val="800"/>
              </a:spcAft>
              <a:buSzPct val="100000"/>
              <a:buChar char="•"/>
            </a:pPr>
            <a:r>
              <a:rPr lang="en-US" sz="1500" dirty="0">
                <a:solidFill>
                  <a:schemeClr val="tx1"/>
                </a:solidFill>
              </a:rPr>
              <a:t>Muscles are springs whose rest length the brain sets</a:t>
            </a:r>
            <a:endParaRPr lang="en-US" sz="1500" dirty="0"/>
          </a:p>
          <a:p>
            <a:pPr marL="228600" indent="-228600">
              <a:spcAft>
                <a:spcPts val="800"/>
              </a:spcAft>
              <a:buSzPct val="100000"/>
              <a:buChar char="•"/>
            </a:pPr>
            <a:r>
              <a:rPr lang="en-US" sz="1500" dirty="0">
                <a:solidFill>
                  <a:schemeClr val="tx1"/>
                </a:solidFill>
              </a:rPr>
              <a:t>Row 0 is the top; the last row rests on the ground</a:t>
            </a:r>
            <a:endParaRPr lang="en-US" sz="1500" dirty="0"/>
          </a:p>
        </p:txBody>
      </p:sp>
      <p:sp>
        <p:nvSpPr>
          <p:cNvPr id="44" name="text-100"/>
          <p:cNvSpPr txBox="1"/>
          <p:nvPr/>
        </p:nvSpPr>
        <p:spPr>
          <a:xfrm>
            <a:off x="548640" y="5623560"/>
            <a:ext cx="11094415" cy="365760"/>
          </a:xfrm>
          <a:prstGeom prst="rect">
            <a:avLst/>
          </a:prstGeom>
          <a:noFill/>
          <a:ln/>
        </p:spPr>
        <p:txBody>
          <a:bodyPr wrap="square" lIns="0" tIns="0" rIns="0" bIns="0" rtlCol="0" anchor="t"/>
          <a:lstStyle/>
          <a:p>
            <a:pPr marL="0" indent="0">
              <a:buNone/>
            </a:pPr>
            <a:r>
              <a:rPr lang="en-US" sz="1600" b="1" dirty="0">
                <a:solidFill>
                  <a:schemeClr val="tx1"/>
                </a:solidFill>
              </a:rPr>
              <a:t>The task (Walker-v0): walk to the right, as far as possible.</a:t>
            </a:r>
            <a:endParaRPr lang="en-US" sz="1600" dirty="0"/>
          </a:p>
        </p:txBody>
      </p:sp>
      <p:sp>
        <p:nvSpPr>
          <p:cNvPr id="4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A robot is a grid of voxels</a:t>
            </a:r>
            <a:endParaRPr lang="en-US" sz="3200" dirty="0"/>
          </a:p>
        </p:txBody>
      </p:sp>
      <p:sp>
        <p:nvSpPr>
          <p:cNvPr id="3" name="legend-59"/>
          <p:cNvSpPr/>
          <p:nvPr/>
        </p:nvSpPr>
        <p:spPr>
          <a:xfrm>
            <a:off x="548640" y="1508760"/>
            <a:ext cx="502920" cy="502920"/>
          </a:xfrm>
          <a:prstGeom prst="rect">
            <a:avLst/>
          </a:prstGeom>
          <a:solidFill>
            <a:schemeClr val="accent3"/>
          </a:solidFill>
          <a:ln/>
        </p:spPr>
        <p:txBody>
          <a:bodyPr/>
          <a:lstStyle/>
          <a:p>
            <a:endParaRPr lang="en-US"/>
          </a:p>
        </p:txBody>
      </p:sp>
      <p:sp>
        <p:nvSpPr>
          <p:cNvPr id="4" name="text-60"/>
          <p:cNvSpPr txBox="1"/>
          <p:nvPr/>
        </p:nvSpPr>
        <p:spPr>
          <a:xfrm>
            <a:off x="1280160" y="1490472"/>
            <a:ext cx="4114800" cy="274320"/>
          </a:xfrm>
          <a:prstGeom prst="rect">
            <a:avLst/>
          </a:prstGeom>
          <a:noFill/>
          <a:ln/>
        </p:spPr>
        <p:txBody>
          <a:bodyPr wrap="square" lIns="0" tIns="0" rIns="0" bIns="0" rtlCol="0" anchor="t"/>
          <a:lstStyle/>
          <a:p>
            <a:pPr marL="0" indent="0">
              <a:buNone/>
            </a:pPr>
            <a:r>
              <a:rPr lang="en-US" sz="1600" dirty="0">
                <a:solidFill>
                  <a:schemeClr val="tx2"/>
                </a:solidFill>
                <a:latin typeface="Courier New" pitchFamily="34" charset="0"/>
                <a:ea typeface="Courier New" pitchFamily="34" charset="-122"/>
                <a:cs typeface="Courier New" pitchFamily="34" charset="-120"/>
              </a:rPr>
              <a:t>1  </a:t>
            </a:r>
            <a:r>
              <a:rPr lang="en-US" sz="1600" b="1" dirty="0">
                <a:solidFill>
                  <a:schemeClr val="tx1"/>
                </a:solidFill>
              </a:rPr>
              <a:t>Rigid</a:t>
            </a:r>
            <a:endParaRPr lang="en-US" sz="1600" dirty="0"/>
          </a:p>
        </p:txBody>
      </p:sp>
      <p:sp>
        <p:nvSpPr>
          <p:cNvPr id="5" name="text-61"/>
          <p:cNvSpPr txBox="1"/>
          <p:nvPr/>
        </p:nvSpPr>
        <p:spPr>
          <a:xfrm>
            <a:off x="1280160" y="1764792"/>
            <a:ext cx="4114800" cy="274320"/>
          </a:xfrm>
          <a:prstGeom prst="rect">
            <a:avLst/>
          </a:prstGeom>
          <a:noFill/>
          <a:ln/>
        </p:spPr>
        <p:txBody>
          <a:bodyPr wrap="square" lIns="0" tIns="0" rIns="0" bIns="0" rtlCol="0" anchor="t"/>
          <a:lstStyle/>
          <a:p>
            <a:pPr marL="0" indent="0">
              <a:buNone/>
            </a:pPr>
            <a:r>
              <a:rPr lang="en-US" sz="1300" dirty="0">
                <a:solidFill>
                  <a:schemeClr val="tx2"/>
                </a:solidFill>
              </a:rPr>
              <a:t>stiff, passive</a:t>
            </a:r>
            <a:endParaRPr lang="en-US" sz="1300" dirty="0"/>
          </a:p>
        </p:txBody>
      </p:sp>
      <p:sp>
        <p:nvSpPr>
          <p:cNvPr id="6" name="legend-62"/>
          <p:cNvSpPr/>
          <p:nvPr/>
        </p:nvSpPr>
        <p:spPr>
          <a:xfrm>
            <a:off x="548640" y="2286000"/>
            <a:ext cx="502920" cy="502920"/>
          </a:xfrm>
          <a:prstGeom prst="rect">
            <a:avLst/>
          </a:prstGeom>
          <a:solidFill>
            <a:schemeClr val="accent4"/>
          </a:solidFill>
          <a:ln/>
        </p:spPr>
        <p:txBody>
          <a:bodyPr/>
          <a:lstStyle/>
          <a:p>
            <a:endParaRPr lang="en-US"/>
          </a:p>
        </p:txBody>
      </p:sp>
      <p:sp>
        <p:nvSpPr>
          <p:cNvPr id="7" name="text-63"/>
          <p:cNvSpPr txBox="1"/>
          <p:nvPr/>
        </p:nvSpPr>
        <p:spPr>
          <a:xfrm>
            <a:off x="1280160" y="2267712"/>
            <a:ext cx="4114800" cy="274320"/>
          </a:xfrm>
          <a:prstGeom prst="rect">
            <a:avLst/>
          </a:prstGeom>
          <a:noFill/>
          <a:ln/>
        </p:spPr>
        <p:txBody>
          <a:bodyPr wrap="square" lIns="0" tIns="0" rIns="0" bIns="0" rtlCol="0" anchor="t"/>
          <a:lstStyle/>
          <a:p>
            <a:pPr marL="0" indent="0">
              <a:buNone/>
            </a:pPr>
            <a:r>
              <a:rPr lang="en-US" sz="1600" dirty="0">
                <a:solidFill>
                  <a:schemeClr val="tx2"/>
                </a:solidFill>
                <a:latin typeface="Courier New" pitchFamily="34" charset="0"/>
                <a:ea typeface="Courier New" pitchFamily="34" charset="-122"/>
                <a:cs typeface="Courier New" pitchFamily="34" charset="-120"/>
              </a:rPr>
              <a:t>2  </a:t>
            </a:r>
            <a:r>
              <a:rPr lang="en-US" sz="1600" b="1" dirty="0">
                <a:solidFill>
                  <a:schemeClr val="tx1"/>
                </a:solidFill>
              </a:rPr>
              <a:t>Soft</a:t>
            </a:r>
            <a:endParaRPr lang="en-US" sz="1600" dirty="0"/>
          </a:p>
        </p:txBody>
      </p:sp>
      <p:sp>
        <p:nvSpPr>
          <p:cNvPr id="8" name="text-64"/>
          <p:cNvSpPr txBox="1"/>
          <p:nvPr/>
        </p:nvSpPr>
        <p:spPr>
          <a:xfrm>
            <a:off x="1280160" y="2542032"/>
            <a:ext cx="4114800" cy="274320"/>
          </a:xfrm>
          <a:prstGeom prst="rect">
            <a:avLst/>
          </a:prstGeom>
          <a:noFill/>
          <a:ln/>
        </p:spPr>
        <p:txBody>
          <a:bodyPr wrap="square" lIns="0" tIns="0" rIns="0" bIns="0" rtlCol="0" anchor="t"/>
          <a:lstStyle/>
          <a:p>
            <a:pPr marL="0" indent="0">
              <a:buNone/>
            </a:pPr>
            <a:r>
              <a:rPr lang="en-US" sz="1300" dirty="0">
                <a:solidFill>
                  <a:schemeClr val="tx2"/>
                </a:solidFill>
              </a:rPr>
              <a:t>squishy, passive</a:t>
            </a:r>
            <a:endParaRPr lang="en-US" sz="1300" dirty="0"/>
          </a:p>
        </p:txBody>
      </p:sp>
      <p:sp>
        <p:nvSpPr>
          <p:cNvPr id="9" name="legend-65"/>
          <p:cNvSpPr/>
          <p:nvPr/>
        </p:nvSpPr>
        <p:spPr>
          <a:xfrm>
            <a:off x="548640" y="3063240"/>
            <a:ext cx="502920" cy="502920"/>
          </a:xfrm>
          <a:prstGeom prst="rect">
            <a:avLst/>
          </a:prstGeom>
          <a:solidFill>
            <a:schemeClr val="accent1"/>
          </a:solidFill>
          <a:ln/>
        </p:spPr>
        <p:txBody>
          <a:bodyPr/>
          <a:lstStyle/>
          <a:p>
            <a:endParaRPr lang="en-US"/>
          </a:p>
        </p:txBody>
      </p:sp>
      <p:sp>
        <p:nvSpPr>
          <p:cNvPr id="10" name="text-66"/>
          <p:cNvSpPr txBox="1"/>
          <p:nvPr/>
        </p:nvSpPr>
        <p:spPr>
          <a:xfrm>
            <a:off x="1280160" y="3044952"/>
            <a:ext cx="4114800" cy="274320"/>
          </a:xfrm>
          <a:prstGeom prst="rect">
            <a:avLst/>
          </a:prstGeom>
          <a:noFill/>
          <a:ln/>
        </p:spPr>
        <p:txBody>
          <a:bodyPr wrap="square" lIns="0" tIns="0" rIns="0" bIns="0" rtlCol="0" anchor="t"/>
          <a:lstStyle/>
          <a:p>
            <a:pPr marL="0" indent="0">
              <a:buNone/>
            </a:pPr>
            <a:r>
              <a:rPr lang="en-US" sz="1600" dirty="0">
                <a:solidFill>
                  <a:schemeClr val="tx2"/>
                </a:solidFill>
                <a:latin typeface="Courier New" pitchFamily="34" charset="0"/>
                <a:ea typeface="Courier New" pitchFamily="34" charset="-122"/>
                <a:cs typeface="Courier New" pitchFamily="34" charset="-120"/>
              </a:rPr>
              <a:t>3  </a:t>
            </a:r>
            <a:r>
              <a:rPr lang="en-US" sz="1600" b="1" dirty="0">
                <a:solidFill>
                  <a:schemeClr val="tx1"/>
                </a:solidFill>
              </a:rPr>
              <a:t>Horizontal muscle</a:t>
            </a:r>
            <a:endParaRPr lang="en-US" sz="1600" dirty="0"/>
          </a:p>
        </p:txBody>
      </p:sp>
      <p:sp>
        <p:nvSpPr>
          <p:cNvPr id="11" name="text-67"/>
          <p:cNvSpPr txBox="1"/>
          <p:nvPr/>
        </p:nvSpPr>
        <p:spPr>
          <a:xfrm>
            <a:off x="1280160" y="3319272"/>
            <a:ext cx="4114800" cy="274320"/>
          </a:xfrm>
          <a:prstGeom prst="rect">
            <a:avLst/>
          </a:prstGeom>
          <a:noFill/>
          <a:ln/>
        </p:spPr>
        <p:txBody>
          <a:bodyPr wrap="square" lIns="0" tIns="0" rIns="0" bIns="0" rtlCol="0" anchor="t"/>
          <a:lstStyle/>
          <a:p>
            <a:pPr marL="0" indent="0">
              <a:buNone/>
            </a:pPr>
            <a:r>
              <a:rPr lang="en-US" sz="1300" dirty="0">
                <a:solidFill>
                  <a:schemeClr val="tx2"/>
                </a:solidFill>
              </a:rPr>
              <a:t>stretches and squeezes left–right</a:t>
            </a:r>
            <a:endParaRPr lang="en-US" sz="1300" dirty="0"/>
          </a:p>
        </p:txBody>
      </p:sp>
      <p:sp>
        <p:nvSpPr>
          <p:cNvPr id="12" name="legend-68"/>
          <p:cNvSpPr/>
          <p:nvPr/>
        </p:nvSpPr>
        <p:spPr>
          <a:xfrm>
            <a:off x="548640" y="3840480"/>
            <a:ext cx="502920" cy="502920"/>
          </a:xfrm>
          <a:prstGeom prst="rect">
            <a:avLst/>
          </a:prstGeom>
          <a:solidFill>
            <a:schemeClr val="accent2"/>
          </a:solidFill>
          <a:ln/>
        </p:spPr>
        <p:txBody>
          <a:bodyPr/>
          <a:lstStyle/>
          <a:p>
            <a:endParaRPr lang="en-US"/>
          </a:p>
        </p:txBody>
      </p:sp>
      <p:sp>
        <p:nvSpPr>
          <p:cNvPr id="13" name="text-69"/>
          <p:cNvSpPr txBox="1"/>
          <p:nvPr/>
        </p:nvSpPr>
        <p:spPr>
          <a:xfrm>
            <a:off x="1280160" y="3822192"/>
            <a:ext cx="4114800" cy="274320"/>
          </a:xfrm>
          <a:prstGeom prst="rect">
            <a:avLst/>
          </a:prstGeom>
          <a:noFill/>
          <a:ln/>
        </p:spPr>
        <p:txBody>
          <a:bodyPr wrap="square" lIns="0" tIns="0" rIns="0" bIns="0" rtlCol="0" anchor="t"/>
          <a:lstStyle/>
          <a:p>
            <a:pPr marL="0" indent="0">
              <a:buNone/>
            </a:pPr>
            <a:r>
              <a:rPr lang="en-US" sz="1600" dirty="0">
                <a:solidFill>
                  <a:schemeClr val="tx2"/>
                </a:solidFill>
                <a:latin typeface="Courier New" pitchFamily="34" charset="0"/>
                <a:ea typeface="Courier New" pitchFamily="34" charset="-122"/>
                <a:cs typeface="Courier New" pitchFamily="34" charset="-120"/>
              </a:rPr>
              <a:t>4  </a:t>
            </a:r>
            <a:r>
              <a:rPr lang="en-US" sz="1600" b="1" dirty="0">
                <a:solidFill>
                  <a:schemeClr val="tx1"/>
                </a:solidFill>
              </a:rPr>
              <a:t>Vertical muscle</a:t>
            </a:r>
            <a:endParaRPr lang="en-US" sz="1600" dirty="0"/>
          </a:p>
        </p:txBody>
      </p:sp>
      <p:sp>
        <p:nvSpPr>
          <p:cNvPr id="14" name="text-70"/>
          <p:cNvSpPr txBox="1"/>
          <p:nvPr/>
        </p:nvSpPr>
        <p:spPr>
          <a:xfrm>
            <a:off x="1280160" y="4096512"/>
            <a:ext cx="4114800" cy="274320"/>
          </a:xfrm>
          <a:prstGeom prst="rect">
            <a:avLst/>
          </a:prstGeom>
          <a:noFill/>
          <a:ln/>
        </p:spPr>
        <p:txBody>
          <a:bodyPr wrap="square" lIns="0" tIns="0" rIns="0" bIns="0" rtlCol="0" anchor="t"/>
          <a:lstStyle/>
          <a:p>
            <a:pPr marL="0" indent="0">
              <a:buNone/>
            </a:pPr>
            <a:r>
              <a:rPr lang="en-US" sz="1300" dirty="0">
                <a:solidFill>
                  <a:schemeClr val="tx2"/>
                </a:solidFill>
              </a:rPr>
              <a:t>stretches and squeezes up–down</a:t>
            </a:r>
            <a:endParaRPr lang="en-US" sz="1300" dirty="0"/>
          </a:p>
        </p:txBody>
      </p:sp>
      <p:sp>
        <p:nvSpPr>
          <p:cNvPr id="15" name="legend-71"/>
          <p:cNvSpPr/>
          <p:nvPr/>
        </p:nvSpPr>
        <p:spPr>
          <a:xfrm>
            <a:off x="548640" y="4617720"/>
            <a:ext cx="502920" cy="502920"/>
          </a:xfrm>
          <a:prstGeom prst="rect">
            <a:avLst/>
          </a:prstGeom>
          <a:ln w="12700">
            <a:solidFill>
              <a:schemeClr val="accent4"/>
            </a:solidFill>
            <a:prstDash val="dash"/>
          </a:ln>
        </p:spPr>
        <p:txBody>
          <a:bodyPr/>
          <a:lstStyle/>
          <a:p>
            <a:endParaRPr lang="en-US"/>
          </a:p>
        </p:txBody>
      </p:sp>
      <p:sp>
        <p:nvSpPr>
          <p:cNvPr id="16" name="text-72"/>
          <p:cNvSpPr txBox="1"/>
          <p:nvPr/>
        </p:nvSpPr>
        <p:spPr>
          <a:xfrm>
            <a:off x="1280160" y="4599432"/>
            <a:ext cx="4114800" cy="274320"/>
          </a:xfrm>
          <a:prstGeom prst="rect">
            <a:avLst/>
          </a:prstGeom>
          <a:noFill/>
          <a:ln/>
        </p:spPr>
        <p:txBody>
          <a:bodyPr wrap="square" lIns="0" tIns="0" rIns="0" bIns="0" rtlCol="0" anchor="t"/>
          <a:lstStyle/>
          <a:p>
            <a:pPr marL="0" indent="0">
              <a:buNone/>
            </a:pPr>
            <a:r>
              <a:rPr lang="en-US" sz="1600" dirty="0">
                <a:solidFill>
                  <a:schemeClr val="tx2"/>
                </a:solidFill>
                <a:latin typeface="Courier New" pitchFamily="34" charset="0"/>
                <a:ea typeface="Courier New" pitchFamily="34" charset="-122"/>
                <a:cs typeface="Courier New" pitchFamily="34" charset="-120"/>
              </a:rPr>
              <a:t>0  </a:t>
            </a:r>
            <a:r>
              <a:rPr lang="en-US" sz="1600" b="1" dirty="0">
                <a:solidFill>
                  <a:schemeClr val="tx1"/>
                </a:solidFill>
              </a:rPr>
              <a:t>Empty</a:t>
            </a:r>
            <a:endParaRPr lang="en-US" sz="1600" dirty="0"/>
          </a:p>
        </p:txBody>
      </p:sp>
      <p:sp>
        <p:nvSpPr>
          <p:cNvPr id="17" name="text-73"/>
          <p:cNvSpPr txBox="1"/>
          <p:nvPr/>
        </p:nvSpPr>
        <p:spPr>
          <a:xfrm>
            <a:off x="1280160" y="4873752"/>
            <a:ext cx="4114800" cy="274320"/>
          </a:xfrm>
          <a:prstGeom prst="rect">
            <a:avLst/>
          </a:prstGeom>
          <a:noFill/>
          <a:ln/>
        </p:spPr>
        <p:txBody>
          <a:bodyPr wrap="square" lIns="0" tIns="0" rIns="0" bIns="0" rtlCol="0" anchor="t"/>
          <a:lstStyle/>
          <a:p>
            <a:pPr marL="0" indent="0">
              <a:buNone/>
            </a:pPr>
            <a:r>
              <a:rPr lang="en-US" sz="1300" dirty="0">
                <a:solidFill>
                  <a:schemeClr val="tx2"/>
                </a:solidFill>
              </a:rPr>
              <a:t>no voxel</a:t>
            </a:r>
            <a:endParaRPr lang="en-US" sz="1300" dirty="0"/>
          </a:p>
        </p:txBody>
      </p:sp>
      <p:sp>
        <p:nvSpPr>
          <p:cNvPr id="201" name="voxel-tint"/>
          <p:cNvSpPr/>
          <p:nvPr/>
        </p:nvSpPr>
        <p:spPr>
          <a:xfrm>
            <a:off x="5874837" y="1531437"/>
            <a:ext cx="566928" cy="566928"/>
          </a:xfrm>
          <a:prstGeom prst="rect">
            <a:avLst/>
          </a:prstGeom>
          <a:solidFill>
            <a:schemeClr val="accent3">
              <a:alpha val="22000"/>
            </a:schemeClr>
          </a:solidFill>
          <a:ln>
            <a:noFill/>
          </a:ln>
        </p:spPr>
        <p:txBody>
          <a:bodyPr/>
          <a:lstStyle/>
          <a:p>
            <a:endParaRPr lang="en-US"/>
          </a:p>
        </p:txBody>
      </p:sp>
      <p:sp>
        <p:nvSpPr>
          <p:cNvPr id="202" name="voxel-tint"/>
          <p:cNvSpPr/>
          <p:nvPr/>
        </p:nvSpPr>
        <p:spPr>
          <a:xfrm>
            <a:off x="6441765" y="1531437"/>
            <a:ext cx="566928" cy="566928"/>
          </a:xfrm>
          <a:prstGeom prst="rect">
            <a:avLst/>
          </a:prstGeom>
          <a:solidFill>
            <a:schemeClr val="accent3">
              <a:alpha val="22000"/>
            </a:schemeClr>
          </a:solidFill>
          <a:ln>
            <a:noFill/>
          </a:ln>
        </p:spPr>
        <p:txBody>
          <a:bodyPr/>
          <a:lstStyle/>
          <a:p>
            <a:endParaRPr lang="en-US"/>
          </a:p>
        </p:txBody>
      </p:sp>
      <p:sp>
        <p:nvSpPr>
          <p:cNvPr id="203" name="voxel-tint"/>
          <p:cNvSpPr/>
          <p:nvPr/>
        </p:nvSpPr>
        <p:spPr>
          <a:xfrm>
            <a:off x="7008693" y="1531437"/>
            <a:ext cx="566928" cy="566928"/>
          </a:xfrm>
          <a:prstGeom prst="rect">
            <a:avLst/>
          </a:prstGeom>
          <a:solidFill>
            <a:schemeClr val="accent3">
              <a:alpha val="22000"/>
            </a:schemeClr>
          </a:solidFill>
          <a:ln>
            <a:noFill/>
          </a:ln>
        </p:spPr>
        <p:txBody>
          <a:bodyPr/>
          <a:lstStyle/>
          <a:p>
            <a:endParaRPr lang="en-US"/>
          </a:p>
        </p:txBody>
      </p:sp>
      <p:sp>
        <p:nvSpPr>
          <p:cNvPr id="204" name="voxel-tint"/>
          <p:cNvSpPr/>
          <p:nvPr/>
        </p:nvSpPr>
        <p:spPr>
          <a:xfrm>
            <a:off x="7575621" y="1531437"/>
            <a:ext cx="566928" cy="566928"/>
          </a:xfrm>
          <a:prstGeom prst="rect">
            <a:avLst/>
          </a:prstGeom>
          <a:solidFill>
            <a:schemeClr val="accent3">
              <a:alpha val="22000"/>
            </a:schemeClr>
          </a:solidFill>
          <a:ln>
            <a:noFill/>
          </a:ln>
        </p:spPr>
        <p:txBody>
          <a:bodyPr/>
          <a:lstStyle/>
          <a:p>
            <a:endParaRPr lang="en-US"/>
          </a:p>
        </p:txBody>
      </p:sp>
      <p:sp>
        <p:nvSpPr>
          <p:cNvPr id="205" name="voxel-tint"/>
          <p:cNvSpPr/>
          <p:nvPr/>
        </p:nvSpPr>
        <p:spPr>
          <a:xfrm>
            <a:off x="8142549" y="1531437"/>
            <a:ext cx="566928" cy="566928"/>
          </a:xfrm>
          <a:prstGeom prst="rect">
            <a:avLst/>
          </a:prstGeom>
          <a:solidFill>
            <a:schemeClr val="accent3">
              <a:alpha val="22000"/>
            </a:schemeClr>
          </a:solidFill>
          <a:ln>
            <a:noFill/>
          </a:ln>
        </p:spPr>
        <p:txBody>
          <a:bodyPr/>
          <a:lstStyle/>
          <a:p>
            <a:endParaRPr lang="en-US"/>
          </a:p>
        </p:txBody>
      </p:sp>
      <p:sp>
        <p:nvSpPr>
          <p:cNvPr id="206" name="voxel-tint"/>
          <p:cNvSpPr/>
          <p:nvPr/>
        </p:nvSpPr>
        <p:spPr>
          <a:xfrm>
            <a:off x="5874837" y="2098365"/>
            <a:ext cx="566928" cy="566928"/>
          </a:xfrm>
          <a:prstGeom prst="rect">
            <a:avLst/>
          </a:prstGeom>
          <a:solidFill>
            <a:schemeClr val="accent4">
              <a:alpha val="22000"/>
            </a:schemeClr>
          </a:solidFill>
          <a:ln>
            <a:noFill/>
          </a:ln>
        </p:spPr>
        <p:txBody>
          <a:bodyPr/>
          <a:lstStyle/>
          <a:p>
            <a:endParaRPr lang="en-US"/>
          </a:p>
        </p:txBody>
      </p:sp>
      <p:sp>
        <p:nvSpPr>
          <p:cNvPr id="207" name="voxel-tint"/>
          <p:cNvSpPr/>
          <p:nvPr/>
        </p:nvSpPr>
        <p:spPr>
          <a:xfrm>
            <a:off x="6441765" y="2098365"/>
            <a:ext cx="566928" cy="566928"/>
          </a:xfrm>
          <a:prstGeom prst="rect">
            <a:avLst/>
          </a:prstGeom>
          <a:solidFill>
            <a:schemeClr val="accent1">
              <a:alpha val="22000"/>
            </a:schemeClr>
          </a:solidFill>
          <a:ln>
            <a:noFill/>
          </a:ln>
        </p:spPr>
        <p:txBody>
          <a:bodyPr/>
          <a:lstStyle/>
          <a:p>
            <a:endParaRPr lang="en-US"/>
          </a:p>
        </p:txBody>
      </p:sp>
      <p:sp>
        <p:nvSpPr>
          <p:cNvPr id="208" name="voxel-tint"/>
          <p:cNvSpPr/>
          <p:nvPr/>
        </p:nvSpPr>
        <p:spPr>
          <a:xfrm>
            <a:off x="7008693" y="2098365"/>
            <a:ext cx="566928" cy="566928"/>
          </a:xfrm>
          <a:prstGeom prst="rect">
            <a:avLst/>
          </a:prstGeom>
          <a:solidFill>
            <a:schemeClr val="accent1">
              <a:alpha val="22000"/>
            </a:schemeClr>
          </a:solidFill>
          <a:ln>
            <a:noFill/>
          </a:ln>
        </p:spPr>
        <p:txBody>
          <a:bodyPr/>
          <a:lstStyle/>
          <a:p>
            <a:endParaRPr lang="en-US"/>
          </a:p>
        </p:txBody>
      </p:sp>
      <p:sp>
        <p:nvSpPr>
          <p:cNvPr id="209" name="voxel-tint"/>
          <p:cNvSpPr/>
          <p:nvPr/>
        </p:nvSpPr>
        <p:spPr>
          <a:xfrm>
            <a:off x="7575621" y="2098365"/>
            <a:ext cx="566928" cy="566928"/>
          </a:xfrm>
          <a:prstGeom prst="rect">
            <a:avLst/>
          </a:prstGeom>
          <a:solidFill>
            <a:schemeClr val="accent1">
              <a:alpha val="22000"/>
            </a:schemeClr>
          </a:solidFill>
          <a:ln>
            <a:noFill/>
          </a:ln>
        </p:spPr>
        <p:txBody>
          <a:bodyPr/>
          <a:lstStyle/>
          <a:p>
            <a:endParaRPr lang="en-US"/>
          </a:p>
        </p:txBody>
      </p:sp>
      <p:sp>
        <p:nvSpPr>
          <p:cNvPr id="210" name="voxel-tint"/>
          <p:cNvSpPr/>
          <p:nvPr/>
        </p:nvSpPr>
        <p:spPr>
          <a:xfrm>
            <a:off x="8142549" y="2098365"/>
            <a:ext cx="566928" cy="566928"/>
          </a:xfrm>
          <a:prstGeom prst="rect">
            <a:avLst/>
          </a:prstGeom>
          <a:solidFill>
            <a:schemeClr val="accent4">
              <a:alpha val="22000"/>
            </a:schemeClr>
          </a:solidFill>
          <a:ln>
            <a:noFill/>
          </a:ln>
        </p:spPr>
        <p:txBody>
          <a:bodyPr/>
          <a:lstStyle/>
          <a:p>
            <a:endParaRPr lang="en-US"/>
          </a:p>
        </p:txBody>
      </p:sp>
      <p:sp>
        <p:nvSpPr>
          <p:cNvPr id="211" name="voxel-tint"/>
          <p:cNvSpPr/>
          <p:nvPr/>
        </p:nvSpPr>
        <p:spPr>
          <a:xfrm>
            <a:off x="5874837" y="2665293"/>
            <a:ext cx="566928" cy="566928"/>
          </a:xfrm>
          <a:prstGeom prst="rect">
            <a:avLst/>
          </a:prstGeom>
          <a:solidFill>
            <a:schemeClr val="accent4">
              <a:alpha val="22000"/>
            </a:schemeClr>
          </a:solidFill>
          <a:ln>
            <a:noFill/>
          </a:ln>
        </p:spPr>
        <p:txBody>
          <a:bodyPr/>
          <a:lstStyle/>
          <a:p>
            <a:endParaRPr lang="en-US"/>
          </a:p>
        </p:txBody>
      </p:sp>
      <p:sp>
        <p:nvSpPr>
          <p:cNvPr id="212" name="voxel-tint"/>
          <p:cNvSpPr/>
          <p:nvPr/>
        </p:nvSpPr>
        <p:spPr>
          <a:xfrm>
            <a:off x="6441765" y="2665293"/>
            <a:ext cx="566928" cy="566928"/>
          </a:xfrm>
          <a:prstGeom prst="rect">
            <a:avLst/>
          </a:prstGeom>
          <a:solidFill>
            <a:schemeClr val="accent2">
              <a:alpha val="22000"/>
            </a:schemeClr>
          </a:solidFill>
          <a:ln>
            <a:noFill/>
          </a:ln>
        </p:spPr>
        <p:txBody>
          <a:bodyPr/>
          <a:lstStyle/>
          <a:p>
            <a:endParaRPr lang="en-US"/>
          </a:p>
        </p:txBody>
      </p:sp>
      <p:sp>
        <p:nvSpPr>
          <p:cNvPr id="213" name="voxel-tint"/>
          <p:cNvSpPr/>
          <p:nvPr/>
        </p:nvSpPr>
        <p:spPr>
          <a:xfrm>
            <a:off x="7575621" y="2665293"/>
            <a:ext cx="566928" cy="566928"/>
          </a:xfrm>
          <a:prstGeom prst="rect">
            <a:avLst/>
          </a:prstGeom>
          <a:solidFill>
            <a:schemeClr val="accent2">
              <a:alpha val="22000"/>
            </a:schemeClr>
          </a:solidFill>
          <a:ln>
            <a:noFill/>
          </a:ln>
        </p:spPr>
        <p:txBody>
          <a:bodyPr/>
          <a:lstStyle/>
          <a:p>
            <a:endParaRPr lang="en-US"/>
          </a:p>
        </p:txBody>
      </p:sp>
      <p:sp>
        <p:nvSpPr>
          <p:cNvPr id="214" name="voxel-tint"/>
          <p:cNvSpPr/>
          <p:nvPr/>
        </p:nvSpPr>
        <p:spPr>
          <a:xfrm>
            <a:off x="8142549" y="2665293"/>
            <a:ext cx="566928" cy="566928"/>
          </a:xfrm>
          <a:prstGeom prst="rect">
            <a:avLst/>
          </a:prstGeom>
          <a:solidFill>
            <a:schemeClr val="accent4">
              <a:alpha val="22000"/>
            </a:schemeClr>
          </a:solidFill>
          <a:ln>
            <a:noFill/>
          </a:ln>
        </p:spPr>
        <p:txBody>
          <a:bodyPr/>
          <a:lstStyle/>
          <a:p>
            <a:endParaRPr lang="en-US"/>
          </a:p>
        </p:txBody>
      </p:sp>
      <p:sp>
        <p:nvSpPr>
          <p:cNvPr id="215" name="voxel-tint"/>
          <p:cNvSpPr/>
          <p:nvPr/>
        </p:nvSpPr>
        <p:spPr>
          <a:xfrm>
            <a:off x="5874837" y="3232221"/>
            <a:ext cx="566928" cy="566928"/>
          </a:xfrm>
          <a:prstGeom prst="rect">
            <a:avLst/>
          </a:prstGeom>
          <a:solidFill>
            <a:schemeClr val="accent4">
              <a:alpha val="22000"/>
            </a:schemeClr>
          </a:solidFill>
          <a:ln>
            <a:noFill/>
          </a:ln>
        </p:spPr>
        <p:txBody>
          <a:bodyPr/>
          <a:lstStyle/>
          <a:p>
            <a:endParaRPr lang="en-US"/>
          </a:p>
        </p:txBody>
      </p:sp>
      <p:sp>
        <p:nvSpPr>
          <p:cNvPr id="216" name="voxel-tint"/>
          <p:cNvSpPr/>
          <p:nvPr/>
        </p:nvSpPr>
        <p:spPr>
          <a:xfrm>
            <a:off x="6441765" y="3232221"/>
            <a:ext cx="566928" cy="566928"/>
          </a:xfrm>
          <a:prstGeom prst="rect">
            <a:avLst/>
          </a:prstGeom>
          <a:solidFill>
            <a:schemeClr val="accent2">
              <a:alpha val="22000"/>
            </a:schemeClr>
          </a:solidFill>
          <a:ln>
            <a:noFill/>
          </a:ln>
        </p:spPr>
        <p:txBody>
          <a:bodyPr/>
          <a:lstStyle/>
          <a:p>
            <a:endParaRPr lang="en-US"/>
          </a:p>
        </p:txBody>
      </p:sp>
      <p:sp>
        <p:nvSpPr>
          <p:cNvPr id="217" name="voxel-tint"/>
          <p:cNvSpPr/>
          <p:nvPr/>
        </p:nvSpPr>
        <p:spPr>
          <a:xfrm>
            <a:off x="7575621" y="3232221"/>
            <a:ext cx="566928" cy="566928"/>
          </a:xfrm>
          <a:prstGeom prst="rect">
            <a:avLst/>
          </a:prstGeom>
          <a:solidFill>
            <a:schemeClr val="accent2">
              <a:alpha val="22000"/>
            </a:schemeClr>
          </a:solidFill>
          <a:ln>
            <a:noFill/>
          </a:ln>
        </p:spPr>
        <p:txBody>
          <a:bodyPr/>
          <a:lstStyle/>
          <a:p>
            <a:endParaRPr lang="en-US"/>
          </a:p>
        </p:txBody>
      </p:sp>
      <p:sp>
        <p:nvSpPr>
          <p:cNvPr id="218" name="voxel-tint"/>
          <p:cNvSpPr/>
          <p:nvPr/>
        </p:nvSpPr>
        <p:spPr>
          <a:xfrm>
            <a:off x="8142549" y="3232221"/>
            <a:ext cx="566928" cy="566928"/>
          </a:xfrm>
          <a:prstGeom prst="rect">
            <a:avLst/>
          </a:prstGeom>
          <a:solidFill>
            <a:schemeClr val="accent4">
              <a:alpha val="22000"/>
            </a:schemeClr>
          </a:solidFill>
          <a:ln>
            <a:noFill/>
          </a:ln>
        </p:spPr>
        <p:txBody>
          <a:bodyPr/>
          <a:lstStyle/>
          <a:p>
            <a:endParaRPr lang="en-US"/>
          </a:p>
        </p:txBody>
      </p:sp>
      <p:sp>
        <p:nvSpPr>
          <p:cNvPr id="219" name="voxel-tint"/>
          <p:cNvSpPr/>
          <p:nvPr/>
        </p:nvSpPr>
        <p:spPr>
          <a:xfrm>
            <a:off x="5874837" y="3799149"/>
            <a:ext cx="566928" cy="566928"/>
          </a:xfrm>
          <a:prstGeom prst="rect">
            <a:avLst/>
          </a:prstGeom>
          <a:solidFill>
            <a:schemeClr val="accent1">
              <a:alpha val="22000"/>
            </a:schemeClr>
          </a:solidFill>
          <a:ln>
            <a:noFill/>
          </a:ln>
        </p:spPr>
        <p:txBody>
          <a:bodyPr/>
          <a:lstStyle/>
          <a:p>
            <a:endParaRPr lang="en-US"/>
          </a:p>
        </p:txBody>
      </p:sp>
      <p:sp>
        <p:nvSpPr>
          <p:cNvPr id="220" name="voxel-tint"/>
          <p:cNvSpPr/>
          <p:nvPr/>
        </p:nvSpPr>
        <p:spPr>
          <a:xfrm>
            <a:off x="6441765" y="3799149"/>
            <a:ext cx="566928" cy="566928"/>
          </a:xfrm>
          <a:prstGeom prst="rect">
            <a:avLst/>
          </a:prstGeom>
          <a:solidFill>
            <a:schemeClr val="accent1">
              <a:alpha val="22000"/>
            </a:schemeClr>
          </a:solidFill>
          <a:ln>
            <a:noFill/>
          </a:ln>
        </p:spPr>
        <p:txBody>
          <a:bodyPr/>
          <a:lstStyle/>
          <a:p>
            <a:endParaRPr lang="en-US"/>
          </a:p>
        </p:txBody>
      </p:sp>
      <p:sp>
        <p:nvSpPr>
          <p:cNvPr id="221" name="voxel-tint"/>
          <p:cNvSpPr/>
          <p:nvPr/>
        </p:nvSpPr>
        <p:spPr>
          <a:xfrm>
            <a:off x="7575621" y="3799149"/>
            <a:ext cx="566928" cy="566928"/>
          </a:xfrm>
          <a:prstGeom prst="rect">
            <a:avLst/>
          </a:prstGeom>
          <a:solidFill>
            <a:schemeClr val="accent1">
              <a:alpha val="22000"/>
            </a:schemeClr>
          </a:solidFill>
          <a:ln>
            <a:noFill/>
          </a:ln>
        </p:spPr>
        <p:txBody>
          <a:bodyPr/>
          <a:lstStyle/>
          <a:p>
            <a:endParaRPr lang="en-US"/>
          </a:p>
        </p:txBody>
      </p:sp>
      <p:sp>
        <p:nvSpPr>
          <p:cNvPr id="222" name="voxel-tint"/>
          <p:cNvSpPr/>
          <p:nvPr/>
        </p:nvSpPr>
        <p:spPr>
          <a:xfrm>
            <a:off x="8142549" y="3799149"/>
            <a:ext cx="566928" cy="566928"/>
          </a:xfrm>
          <a:prstGeom prst="rect">
            <a:avLst/>
          </a:prstGeom>
          <a:solidFill>
            <a:schemeClr val="accent1">
              <a:alpha val="22000"/>
            </a:schemeClr>
          </a:solidFill>
          <a:ln>
            <a:noFill/>
          </a:ln>
        </p:spPr>
        <p:txBody>
          <a:bodyPr/>
          <a:lstStyle/>
          <a:p>
            <a:endParaRPr lang="en-US"/>
          </a:p>
        </p:txBody>
      </p:sp>
      <p:cxnSp>
        <p:nvCxnSpPr>
          <p:cNvPr id="223" name="spring-diag"/>
          <p:cNvCxnSpPr/>
          <p:nvPr/>
        </p:nvCxnSpPr>
        <p:spPr>
          <a:xfrm>
            <a:off x="5874837" y="1531437"/>
            <a:ext cx="566928" cy="566928"/>
          </a:xfrm>
          <a:prstGeom prst="line">
            <a:avLst/>
          </a:prstGeom>
          <a:ln w="9525" cap="rnd">
            <a:solidFill>
              <a:schemeClr val="tx2">
                <a:alpha val="45000"/>
              </a:schemeClr>
            </a:solidFill>
          </a:ln>
        </p:spPr>
      </p:cxnSp>
      <p:cxnSp>
        <p:nvCxnSpPr>
          <p:cNvPr id="224" name="spring-diag"/>
          <p:cNvCxnSpPr/>
          <p:nvPr/>
        </p:nvCxnSpPr>
        <p:spPr>
          <a:xfrm flipV="1">
            <a:off x="5874837" y="1531437"/>
            <a:ext cx="566928" cy="566928"/>
          </a:xfrm>
          <a:prstGeom prst="line">
            <a:avLst/>
          </a:prstGeom>
          <a:ln w="9525" cap="rnd">
            <a:solidFill>
              <a:schemeClr val="tx2">
                <a:alpha val="45000"/>
              </a:schemeClr>
            </a:solidFill>
          </a:ln>
        </p:spPr>
      </p:cxnSp>
      <p:cxnSp>
        <p:nvCxnSpPr>
          <p:cNvPr id="225" name="spring-diag"/>
          <p:cNvCxnSpPr/>
          <p:nvPr/>
        </p:nvCxnSpPr>
        <p:spPr>
          <a:xfrm>
            <a:off x="6441765" y="1531437"/>
            <a:ext cx="566928" cy="566928"/>
          </a:xfrm>
          <a:prstGeom prst="line">
            <a:avLst/>
          </a:prstGeom>
          <a:ln w="9525" cap="rnd">
            <a:solidFill>
              <a:schemeClr val="tx2">
                <a:alpha val="45000"/>
              </a:schemeClr>
            </a:solidFill>
          </a:ln>
        </p:spPr>
      </p:cxnSp>
      <p:cxnSp>
        <p:nvCxnSpPr>
          <p:cNvPr id="226" name="spring-diag"/>
          <p:cNvCxnSpPr/>
          <p:nvPr/>
        </p:nvCxnSpPr>
        <p:spPr>
          <a:xfrm flipV="1">
            <a:off x="6441765" y="1531437"/>
            <a:ext cx="566928" cy="566928"/>
          </a:xfrm>
          <a:prstGeom prst="line">
            <a:avLst/>
          </a:prstGeom>
          <a:ln w="9525" cap="rnd">
            <a:solidFill>
              <a:schemeClr val="tx2">
                <a:alpha val="45000"/>
              </a:schemeClr>
            </a:solidFill>
          </a:ln>
        </p:spPr>
      </p:cxnSp>
      <p:cxnSp>
        <p:nvCxnSpPr>
          <p:cNvPr id="227" name="spring-diag"/>
          <p:cNvCxnSpPr/>
          <p:nvPr/>
        </p:nvCxnSpPr>
        <p:spPr>
          <a:xfrm>
            <a:off x="7008693" y="1531437"/>
            <a:ext cx="566928" cy="566928"/>
          </a:xfrm>
          <a:prstGeom prst="line">
            <a:avLst/>
          </a:prstGeom>
          <a:ln w="9525" cap="rnd">
            <a:solidFill>
              <a:schemeClr val="tx2">
                <a:alpha val="45000"/>
              </a:schemeClr>
            </a:solidFill>
          </a:ln>
        </p:spPr>
      </p:cxnSp>
      <p:cxnSp>
        <p:nvCxnSpPr>
          <p:cNvPr id="228" name="spring-diag"/>
          <p:cNvCxnSpPr/>
          <p:nvPr/>
        </p:nvCxnSpPr>
        <p:spPr>
          <a:xfrm flipV="1">
            <a:off x="7008693" y="1531437"/>
            <a:ext cx="566928" cy="566928"/>
          </a:xfrm>
          <a:prstGeom prst="line">
            <a:avLst/>
          </a:prstGeom>
          <a:ln w="9525" cap="rnd">
            <a:solidFill>
              <a:schemeClr val="tx2">
                <a:alpha val="45000"/>
              </a:schemeClr>
            </a:solidFill>
          </a:ln>
        </p:spPr>
      </p:cxnSp>
      <p:cxnSp>
        <p:nvCxnSpPr>
          <p:cNvPr id="229" name="spring-diag"/>
          <p:cNvCxnSpPr/>
          <p:nvPr/>
        </p:nvCxnSpPr>
        <p:spPr>
          <a:xfrm>
            <a:off x="7575621" y="1531437"/>
            <a:ext cx="566928" cy="566928"/>
          </a:xfrm>
          <a:prstGeom prst="line">
            <a:avLst/>
          </a:prstGeom>
          <a:ln w="9525" cap="rnd">
            <a:solidFill>
              <a:schemeClr val="tx2">
                <a:alpha val="45000"/>
              </a:schemeClr>
            </a:solidFill>
          </a:ln>
        </p:spPr>
      </p:cxnSp>
      <p:cxnSp>
        <p:nvCxnSpPr>
          <p:cNvPr id="230" name="spring-diag"/>
          <p:cNvCxnSpPr/>
          <p:nvPr/>
        </p:nvCxnSpPr>
        <p:spPr>
          <a:xfrm flipV="1">
            <a:off x="7575621" y="1531437"/>
            <a:ext cx="566928" cy="566928"/>
          </a:xfrm>
          <a:prstGeom prst="line">
            <a:avLst/>
          </a:prstGeom>
          <a:ln w="9525" cap="rnd">
            <a:solidFill>
              <a:schemeClr val="tx2">
                <a:alpha val="45000"/>
              </a:schemeClr>
            </a:solidFill>
          </a:ln>
        </p:spPr>
      </p:cxnSp>
      <p:cxnSp>
        <p:nvCxnSpPr>
          <p:cNvPr id="231" name="spring-diag"/>
          <p:cNvCxnSpPr/>
          <p:nvPr/>
        </p:nvCxnSpPr>
        <p:spPr>
          <a:xfrm>
            <a:off x="8142549" y="1531437"/>
            <a:ext cx="566928" cy="566928"/>
          </a:xfrm>
          <a:prstGeom prst="line">
            <a:avLst/>
          </a:prstGeom>
          <a:ln w="9525" cap="rnd">
            <a:solidFill>
              <a:schemeClr val="tx2">
                <a:alpha val="45000"/>
              </a:schemeClr>
            </a:solidFill>
          </a:ln>
        </p:spPr>
      </p:cxnSp>
      <p:cxnSp>
        <p:nvCxnSpPr>
          <p:cNvPr id="232" name="spring-diag"/>
          <p:cNvCxnSpPr/>
          <p:nvPr/>
        </p:nvCxnSpPr>
        <p:spPr>
          <a:xfrm flipV="1">
            <a:off x="8142549" y="1531437"/>
            <a:ext cx="566928" cy="566928"/>
          </a:xfrm>
          <a:prstGeom prst="line">
            <a:avLst/>
          </a:prstGeom>
          <a:ln w="9525" cap="rnd">
            <a:solidFill>
              <a:schemeClr val="tx2">
                <a:alpha val="45000"/>
              </a:schemeClr>
            </a:solidFill>
          </a:ln>
        </p:spPr>
      </p:cxnSp>
      <p:cxnSp>
        <p:nvCxnSpPr>
          <p:cNvPr id="233" name="spring-diag"/>
          <p:cNvCxnSpPr/>
          <p:nvPr/>
        </p:nvCxnSpPr>
        <p:spPr>
          <a:xfrm>
            <a:off x="5874837" y="2098365"/>
            <a:ext cx="566928" cy="566928"/>
          </a:xfrm>
          <a:prstGeom prst="line">
            <a:avLst/>
          </a:prstGeom>
          <a:ln w="9525" cap="rnd">
            <a:solidFill>
              <a:schemeClr val="tx2">
                <a:alpha val="45000"/>
              </a:schemeClr>
            </a:solidFill>
          </a:ln>
        </p:spPr>
      </p:cxnSp>
      <p:cxnSp>
        <p:nvCxnSpPr>
          <p:cNvPr id="234" name="spring-diag"/>
          <p:cNvCxnSpPr/>
          <p:nvPr/>
        </p:nvCxnSpPr>
        <p:spPr>
          <a:xfrm flipV="1">
            <a:off x="5874837" y="2098365"/>
            <a:ext cx="566928" cy="566928"/>
          </a:xfrm>
          <a:prstGeom prst="line">
            <a:avLst/>
          </a:prstGeom>
          <a:ln w="9525" cap="rnd">
            <a:solidFill>
              <a:schemeClr val="tx2">
                <a:alpha val="45000"/>
              </a:schemeClr>
            </a:solidFill>
          </a:ln>
        </p:spPr>
      </p:cxnSp>
      <p:cxnSp>
        <p:nvCxnSpPr>
          <p:cNvPr id="235" name="spring-diag"/>
          <p:cNvCxnSpPr/>
          <p:nvPr/>
        </p:nvCxnSpPr>
        <p:spPr>
          <a:xfrm>
            <a:off x="6441765" y="2098365"/>
            <a:ext cx="566928" cy="566928"/>
          </a:xfrm>
          <a:prstGeom prst="line">
            <a:avLst/>
          </a:prstGeom>
          <a:ln w="9525" cap="rnd">
            <a:solidFill>
              <a:schemeClr val="tx2">
                <a:alpha val="45000"/>
              </a:schemeClr>
            </a:solidFill>
          </a:ln>
        </p:spPr>
      </p:cxnSp>
      <p:cxnSp>
        <p:nvCxnSpPr>
          <p:cNvPr id="236" name="spring-diag"/>
          <p:cNvCxnSpPr/>
          <p:nvPr/>
        </p:nvCxnSpPr>
        <p:spPr>
          <a:xfrm flipV="1">
            <a:off x="6441765" y="2098365"/>
            <a:ext cx="566928" cy="566928"/>
          </a:xfrm>
          <a:prstGeom prst="line">
            <a:avLst/>
          </a:prstGeom>
          <a:ln w="9525" cap="rnd">
            <a:solidFill>
              <a:schemeClr val="tx2">
                <a:alpha val="45000"/>
              </a:schemeClr>
            </a:solidFill>
          </a:ln>
        </p:spPr>
      </p:cxnSp>
      <p:cxnSp>
        <p:nvCxnSpPr>
          <p:cNvPr id="237" name="spring-diag"/>
          <p:cNvCxnSpPr/>
          <p:nvPr/>
        </p:nvCxnSpPr>
        <p:spPr>
          <a:xfrm>
            <a:off x="7008693" y="2098365"/>
            <a:ext cx="566928" cy="566928"/>
          </a:xfrm>
          <a:prstGeom prst="line">
            <a:avLst/>
          </a:prstGeom>
          <a:ln w="9525" cap="rnd">
            <a:solidFill>
              <a:schemeClr val="tx2">
                <a:alpha val="45000"/>
              </a:schemeClr>
            </a:solidFill>
          </a:ln>
        </p:spPr>
      </p:cxnSp>
      <p:cxnSp>
        <p:nvCxnSpPr>
          <p:cNvPr id="238" name="spring-diag"/>
          <p:cNvCxnSpPr/>
          <p:nvPr/>
        </p:nvCxnSpPr>
        <p:spPr>
          <a:xfrm flipV="1">
            <a:off x="7008693" y="2098365"/>
            <a:ext cx="566928" cy="566928"/>
          </a:xfrm>
          <a:prstGeom prst="line">
            <a:avLst/>
          </a:prstGeom>
          <a:ln w="9525" cap="rnd">
            <a:solidFill>
              <a:schemeClr val="tx2">
                <a:alpha val="45000"/>
              </a:schemeClr>
            </a:solidFill>
          </a:ln>
        </p:spPr>
      </p:cxnSp>
      <p:cxnSp>
        <p:nvCxnSpPr>
          <p:cNvPr id="239" name="spring-diag"/>
          <p:cNvCxnSpPr/>
          <p:nvPr/>
        </p:nvCxnSpPr>
        <p:spPr>
          <a:xfrm>
            <a:off x="7575621" y="2098365"/>
            <a:ext cx="566928" cy="566928"/>
          </a:xfrm>
          <a:prstGeom prst="line">
            <a:avLst/>
          </a:prstGeom>
          <a:ln w="9525" cap="rnd">
            <a:solidFill>
              <a:schemeClr val="tx2">
                <a:alpha val="45000"/>
              </a:schemeClr>
            </a:solidFill>
          </a:ln>
        </p:spPr>
      </p:cxnSp>
      <p:cxnSp>
        <p:nvCxnSpPr>
          <p:cNvPr id="240" name="spring-diag"/>
          <p:cNvCxnSpPr/>
          <p:nvPr/>
        </p:nvCxnSpPr>
        <p:spPr>
          <a:xfrm flipV="1">
            <a:off x="7575621" y="2098365"/>
            <a:ext cx="566928" cy="566928"/>
          </a:xfrm>
          <a:prstGeom prst="line">
            <a:avLst/>
          </a:prstGeom>
          <a:ln w="9525" cap="rnd">
            <a:solidFill>
              <a:schemeClr val="tx2">
                <a:alpha val="45000"/>
              </a:schemeClr>
            </a:solidFill>
          </a:ln>
        </p:spPr>
      </p:cxnSp>
      <p:cxnSp>
        <p:nvCxnSpPr>
          <p:cNvPr id="241" name="spring-diag"/>
          <p:cNvCxnSpPr/>
          <p:nvPr/>
        </p:nvCxnSpPr>
        <p:spPr>
          <a:xfrm>
            <a:off x="8142549" y="2098365"/>
            <a:ext cx="566928" cy="566928"/>
          </a:xfrm>
          <a:prstGeom prst="line">
            <a:avLst/>
          </a:prstGeom>
          <a:ln w="9525" cap="rnd">
            <a:solidFill>
              <a:schemeClr val="tx2">
                <a:alpha val="45000"/>
              </a:schemeClr>
            </a:solidFill>
          </a:ln>
        </p:spPr>
      </p:cxnSp>
      <p:cxnSp>
        <p:nvCxnSpPr>
          <p:cNvPr id="242" name="spring-diag"/>
          <p:cNvCxnSpPr/>
          <p:nvPr/>
        </p:nvCxnSpPr>
        <p:spPr>
          <a:xfrm flipV="1">
            <a:off x="8142549" y="2098365"/>
            <a:ext cx="566928" cy="566928"/>
          </a:xfrm>
          <a:prstGeom prst="line">
            <a:avLst/>
          </a:prstGeom>
          <a:ln w="9525" cap="rnd">
            <a:solidFill>
              <a:schemeClr val="tx2">
                <a:alpha val="45000"/>
              </a:schemeClr>
            </a:solidFill>
          </a:ln>
        </p:spPr>
      </p:cxnSp>
      <p:cxnSp>
        <p:nvCxnSpPr>
          <p:cNvPr id="243" name="spring-diag"/>
          <p:cNvCxnSpPr/>
          <p:nvPr/>
        </p:nvCxnSpPr>
        <p:spPr>
          <a:xfrm>
            <a:off x="5874837" y="2665293"/>
            <a:ext cx="566928" cy="566928"/>
          </a:xfrm>
          <a:prstGeom prst="line">
            <a:avLst/>
          </a:prstGeom>
          <a:ln w="9525" cap="rnd">
            <a:solidFill>
              <a:schemeClr val="tx2">
                <a:alpha val="45000"/>
              </a:schemeClr>
            </a:solidFill>
          </a:ln>
        </p:spPr>
      </p:cxnSp>
      <p:cxnSp>
        <p:nvCxnSpPr>
          <p:cNvPr id="244" name="spring-diag"/>
          <p:cNvCxnSpPr/>
          <p:nvPr/>
        </p:nvCxnSpPr>
        <p:spPr>
          <a:xfrm flipV="1">
            <a:off x="5874837" y="2665293"/>
            <a:ext cx="566928" cy="566928"/>
          </a:xfrm>
          <a:prstGeom prst="line">
            <a:avLst/>
          </a:prstGeom>
          <a:ln w="9525" cap="rnd">
            <a:solidFill>
              <a:schemeClr val="tx2">
                <a:alpha val="45000"/>
              </a:schemeClr>
            </a:solidFill>
          </a:ln>
        </p:spPr>
      </p:cxnSp>
      <p:cxnSp>
        <p:nvCxnSpPr>
          <p:cNvPr id="245" name="spring-diag"/>
          <p:cNvCxnSpPr/>
          <p:nvPr/>
        </p:nvCxnSpPr>
        <p:spPr>
          <a:xfrm>
            <a:off x="6441765" y="2665293"/>
            <a:ext cx="566928" cy="566928"/>
          </a:xfrm>
          <a:prstGeom prst="line">
            <a:avLst/>
          </a:prstGeom>
          <a:ln w="9525" cap="rnd">
            <a:solidFill>
              <a:schemeClr val="tx2">
                <a:alpha val="45000"/>
              </a:schemeClr>
            </a:solidFill>
          </a:ln>
        </p:spPr>
      </p:cxnSp>
      <p:cxnSp>
        <p:nvCxnSpPr>
          <p:cNvPr id="246" name="spring-diag"/>
          <p:cNvCxnSpPr/>
          <p:nvPr/>
        </p:nvCxnSpPr>
        <p:spPr>
          <a:xfrm flipV="1">
            <a:off x="6441765" y="2665293"/>
            <a:ext cx="566928" cy="566928"/>
          </a:xfrm>
          <a:prstGeom prst="line">
            <a:avLst/>
          </a:prstGeom>
          <a:ln w="9525" cap="rnd">
            <a:solidFill>
              <a:schemeClr val="tx2">
                <a:alpha val="45000"/>
              </a:schemeClr>
            </a:solidFill>
          </a:ln>
        </p:spPr>
      </p:cxnSp>
      <p:cxnSp>
        <p:nvCxnSpPr>
          <p:cNvPr id="247" name="spring-diag"/>
          <p:cNvCxnSpPr/>
          <p:nvPr/>
        </p:nvCxnSpPr>
        <p:spPr>
          <a:xfrm>
            <a:off x="7575621" y="2665293"/>
            <a:ext cx="566928" cy="566928"/>
          </a:xfrm>
          <a:prstGeom prst="line">
            <a:avLst/>
          </a:prstGeom>
          <a:ln w="9525" cap="rnd">
            <a:solidFill>
              <a:schemeClr val="tx2">
                <a:alpha val="45000"/>
              </a:schemeClr>
            </a:solidFill>
          </a:ln>
        </p:spPr>
      </p:cxnSp>
      <p:cxnSp>
        <p:nvCxnSpPr>
          <p:cNvPr id="248" name="spring-diag"/>
          <p:cNvCxnSpPr/>
          <p:nvPr/>
        </p:nvCxnSpPr>
        <p:spPr>
          <a:xfrm flipV="1">
            <a:off x="7575621" y="2665293"/>
            <a:ext cx="566928" cy="566928"/>
          </a:xfrm>
          <a:prstGeom prst="line">
            <a:avLst/>
          </a:prstGeom>
          <a:ln w="9525" cap="rnd">
            <a:solidFill>
              <a:schemeClr val="tx2">
                <a:alpha val="45000"/>
              </a:schemeClr>
            </a:solidFill>
          </a:ln>
        </p:spPr>
      </p:cxnSp>
      <p:cxnSp>
        <p:nvCxnSpPr>
          <p:cNvPr id="249" name="spring-diag"/>
          <p:cNvCxnSpPr/>
          <p:nvPr/>
        </p:nvCxnSpPr>
        <p:spPr>
          <a:xfrm>
            <a:off x="8142549" y="2665293"/>
            <a:ext cx="566928" cy="566928"/>
          </a:xfrm>
          <a:prstGeom prst="line">
            <a:avLst/>
          </a:prstGeom>
          <a:ln w="9525" cap="rnd">
            <a:solidFill>
              <a:schemeClr val="tx2">
                <a:alpha val="45000"/>
              </a:schemeClr>
            </a:solidFill>
          </a:ln>
        </p:spPr>
      </p:cxnSp>
      <p:cxnSp>
        <p:nvCxnSpPr>
          <p:cNvPr id="250" name="spring-diag"/>
          <p:cNvCxnSpPr/>
          <p:nvPr/>
        </p:nvCxnSpPr>
        <p:spPr>
          <a:xfrm flipV="1">
            <a:off x="8142549" y="2665293"/>
            <a:ext cx="566928" cy="566928"/>
          </a:xfrm>
          <a:prstGeom prst="line">
            <a:avLst/>
          </a:prstGeom>
          <a:ln w="9525" cap="rnd">
            <a:solidFill>
              <a:schemeClr val="tx2">
                <a:alpha val="45000"/>
              </a:schemeClr>
            </a:solidFill>
          </a:ln>
        </p:spPr>
      </p:cxnSp>
      <p:cxnSp>
        <p:nvCxnSpPr>
          <p:cNvPr id="251" name="spring-diag"/>
          <p:cNvCxnSpPr/>
          <p:nvPr/>
        </p:nvCxnSpPr>
        <p:spPr>
          <a:xfrm>
            <a:off x="5874837" y="3232221"/>
            <a:ext cx="566928" cy="566928"/>
          </a:xfrm>
          <a:prstGeom prst="line">
            <a:avLst/>
          </a:prstGeom>
          <a:ln w="9525" cap="rnd">
            <a:solidFill>
              <a:schemeClr val="tx2">
                <a:alpha val="45000"/>
              </a:schemeClr>
            </a:solidFill>
          </a:ln>
        </p:spPr>
      </p:cxnSp>
      <p:cxnSp>
        <p:nvCxnSpPr>
          <p:cNvPr id="252" name="spring-diag"/>
          <p:cNvCxnSpPr/>
          <p:nvPr/>
        </p:nvCxnSpPr>
        <p:spPr>
          <a:xfrm flipV="1">
            <a:off x="5874837" y="3232221"/>
            <a:ext cx="566928" cy="566928"/>
          </a:xfrm>
          <a:prstGeom prst="line">
            <a:avLst/>
          </a:prstGeom>
          <a:ln w="9525" cap="rnd">
            <a:solidFill>
              <a:schemeClr val="tx2">
                <a:alpha val="45000"/>
              </a:schemeClr>
            </a:solidFill>
          </a:ln>
        </p:spPr>
      </p:cxnSp>
      <p:cxnSp>
        <p:nvCxnSpPr>
          <p:cNvPr id="253" name="spring-diag"/>
          <p:cNvCxnSpPr/>
          <p:nvPr/>
        </p:nvCxnSpPr>
        <p:spPr>
          <a:xfrm>
            <a:off x="6441765" y="3232221"/>
            <a:ext cx="566928" cy="566928"/>
          </a:xfrm>
          <a:prstGeom prst="line">
            <a:avLst/>
          </a:prstGeom>
          <a:ln w="9525" cap="rnd">
            <a:solidFill>
              <a:schemeClr val="tx2">
                <a:alpha val="45000"/>
              </a:schemeClr>
            </a:solidFill>
          </a:ln>
        </p:spPr>
      </p:cxnSp>
      <p:cxnSp>
        <p:nvCxnSpPr>
          <p:cNvPr id="254" name="spring-diag"/>
          <p:cNvCxnSpPr/>
          <p:nvPr/>
        </p:nvCxnSpPr>
        <p:spPr>
          <a:xfrm flipV="1">
            <a:off x="6441765" y="3232221"/>
            <a:ext cx="566928" cy="566928"/>
          </a:xfrm>
          <a:prstGeom prst="line">
            <a:avLst/>
          </a:prstGeom>
          <a:ln w="9525" cap="rnd">
            <a:solidFill>
              <a:schemeClr val="tx2">
                <a:alpha val="45000"/>
              </a:schemeClr>
            </a:solidFill>
          </a:ln>
        </p:spPr>
      </p:cxnSp>
      <p:cxnSp>
        <p:nvCxnSpPr>
          <p:cNvPr id="255" name="spring-diag"/>
          <p:cNvCxnSpPr/>
          <p:nvPr/>
        </p:nvCxnSpPr>
        <p:spPr>
          <a:xfrm>
            <a:off x="7575621" y="3232221"/>
            <a:ext cx="566928" cy="566928"/>
          </a:xfrm>
          <a:prstGeom prst="line">
            <a:avLst/>
          </a:prstGeom>
          <a:ln w="9525" cap="rnd">
            <a:solidFill>
              <a:schemeClr val="tx2">
                <a:alpha val="45000"/>
              </a:schemeClr>
            </a:solidFill>
          </a:ln>
        </p:spPr>
      </p:cxnSp>
      <p:cxnSp>
        <p:nvCxnSpPr>
          <p:cNvPr id="256" name="spring-diag"/>
          <p:cNvCxnSpPr/>
          <p:nvPr/>
        </p:nvCxnSpPr>
        <p:spPr>
          <a:xfrm flipV="1">
            <a:off x="7575621" y="3232221"/>
            <a:ext cx="566928" cy="566928"/>
          </a:xfrm>
          <a:prstGeom prst="line">
            <a:avLst/>
          </a:prstGeom>
          <a:ln w="9525" cap="rnd">
            <a:solidFill>
              <a:schemeClr val="tx2">
                <a:alpha val="45000"/>
              </a:schemeClr>
            </a:solidFill>
          </a:ln>
        </p:spPr>
      </p:cxnSp>
      <p:cxnSp>
        <p:nvCxnSpPr>
          <p:cNvPr id="257" name="spring-diag"/>
          <p:cNvCxnSpPr/>
          <p:nvPr/>
        </p:nvCxnSpPr>
        <p:spPr>
          <a:xfrm>
            <a:off x="8142549" y="3232221"/>
            <a:ext cx="566928" cy="566928"/>
          </a:xfrm>
          <a:prstGeom prst="line">
            <a:avLst/>
          </a:prstGeom>
          <a:ln w="9525" cap="rnd">
            <a:solidFill>
              <a:schemeClr val="tx2">
                <a:alpha val="45000"/>
              </a:schemeClr>
            </a:solidFill>
          </a:ln>
        </p:spPr>
      </p:cxnSp>
      <p:cxnSp>
        <p:nvCxnSpPr>
          <p:cNvPr id="258" name="spring-diag"/>
          <p:cNvCxnSpPr/>
          <p:nvPr/>
        </p:nvCxnSpPr>
        <p:spPr>
          <a:xfrm flipV="1">
            <a:off x="8142549" y="3232221"/>
            <a:ext cx="566928" cy="566928"/>
          </a:xfrm>
          <a:prstGeom prst="line">
            <a:avLst/>
          </a:prstGeom>
          <a:ln w="9525" cap="rnd">
            <a:solidFill>
              <a:schemeClr val="tx2">
                <a:alpha val="45000"/>
              </a:schemeClr>
            </a:solidFill>
          </a:ln>
        </p:spPr>
      </p:cxnSp>
      <p:cxnSp>
        <p:nvCxnSpPr>
          <p:cNvPr id="259" name="spring-diag"/>
          <p:cNvCxnSpPr/>
          <p:nvPr/>
        </p:nvCxnSpPr>
        <p:spPr>
          <a:xfrm>
            <a:off x="5874837" y="3799149"/>
            <a:ext cx="566928" cy="566928"/>
          </a:xfrm>
          <a:prstGeom prst="line">
            <a:avLst/>
          </a:prstGeom>
          <a:ln w="9525" cap="rnd">
            <a:solidFill>
              <a:schemeClr val="tx2">
                <a:alpha val="45000"/>
              </a:schemeClr>
            </a:solidFill>
          </a:ln>
        </p:spPr>
      </p:cxnSp>
      <p:cxnSp>
        <p:nvCxnSpPr>
          <p:cNvPr id="260" name="spring-diag"/>
          <p:cNvCxnSpPr/>
          <p:nvPr/>
        </p:nvCxnSpPr>
        <p:spPr>
          <a:xfrm flipV="1">
            <a:off x="5874837" y="3799149"/>
            <a:ext cx="566928" cy="566928"/>
          </a:xfrm>
          <a:prstGeom prst="line">
            <a:avLst/>
          </a:prstGeom>
          <a:ln w="9525" cap="rnd">
            <a:solidFill>
              <a:schemeClr val="tx2">
                <a:alpha val="45000"/>
              </a:schemeClr>
            </a:solidFill>
          </a:ln>
        </p:spPr>
      </p:cxnSp>
      <p:cxnSp>
        <p:nvCxnSpPr>
          <p:cNvPr id="261" name="spring-diag"/>
          <p:cNvCxnSpPr/>
          <p:nvPr/>
        </p:nvCxnSpPr>
        <p:spPr>
          <a:xfrm>
            <a:off x="6441765" y="3799149"/>
            <a:ext cx="566928" cy="566928"/>
          </a:xfrm>
          <a:prstGeom prst="line">
            <a:avLst/>
          </a:prstGeom>
          <a:ln w="9525" cap="rnd">
            <a:solidFill>
              <a:schemeClr val="tx2">
                <a:alpha val="45000"/>
              </a:schemeClr>
            </a:solidFill>
          </a:ln>
        </p:spPr>
      </p:cxnSp>
      <p:cxnSp>
        <p:nvCxnSpPr>
          <p:cNvPr id="262" name="spring-diag"/>
          <p:cNvCxnSpPr/>
          <p:nvPr/>
        </p:nvCxnSpPr>
        <p:spPr>
          <a:xfrm flipV="1">
            <a:off x="6441765" y="3799149"/>
            <a:ext cx="566928" cy="566928"/>
          </a:xfrm>
          <a:prstGeom prst="line">
            <a:avLst/>
          </a:prstGeom>
          <a:ln w="9525" cap="rnd">
            <a:solidFill>
              <a:schemeClr val="tx2">
                <a:alpha val="45000"/>
              </a:schemeClr>
            </a:solidFill>
          </a:ln>
        </p:spPr>
      </p:cxnSp>
      <p:cxnSp>
        <p:nvCxnSpPr>
          <p:cNvPr id="263" name="spring-diag"/>
          <p:cNvCxnSpPr/>
          <p:nvPr/>
        </p:nvCxnSpPr>
        <p:spPr>
          <a:xfrm>
            <a:off x="7575621" y="3799149"/>
            <a:ext cx="566928" cy="566928"/>
          </a:xfrm>
          <a:prstGeom prst="line">
            <a:avLst/>
          </a:prstGeom>
          <a:ln w="9525" cap="rnd">
            <a:solidFill>
              <a:schemeClr val="tx2">
                <a:alpha val="45000"/>
              </a:schemeClr>
            </a:solidFill>
          </a:ln>
        </p:spPr>
      </p:cxnSp>
      <p:cxnSp>
        <p:nvCxnSpPr>
          <p:cNvPr id="264" name="spring-diag"/>
          <p:cNvCxnSpPr/>
          <p:nvPr/>
        </p:nvCxnSpPr>
        <p:spPr>
          <a:xfrm flipV="1">
            <a:off x="7575621" y="3799149"/>
            <a:ext cx="566928" cy="566928"/>
          </a:xfrm>
          <a:prstGeom prst="line">
            <a:avLst/>
          </a:prstGeom>
          <a:ln w="9525" cap="rnd">
            <a:solidFill>
              <a:schemeClr val="tx2">
                <a:alpha val="45000"/>
              </a:schemeClr>
            </a:solidFill>
          </a:ln>
        </p:spPr>
      </p:cxnSp>
      <p:cxnSp>
        <p:nvCxnSpPr>
          <p:cNvPr id="265" name="spring-diag"/>
          <p:cNvCxnSpPr/>
          <p:nvPr/>
        </p:nvCxnSpPr>
        <p:spPr>
          <a:xfrm>
            <a:off x="8142549" y="3799149"/>
            <a:ext cx="566928" cy="566928"/>
          </a:xfrm>
          <a:prstGeom prst="line">
            <a:avLst/>
          </a:prstGeom>
          <a:ln w="9525" cap="rnd">
            <a:solidFill>
              <a:schemeClr val="tx2">
                <a:alpha val="45000"/>
              </a:schemeClr>
            </a:solidFill>
          </a:ln>
        </p:spPr>
      </p:cxnSp>
      <p:cxnSp>
        <p:nvCxnSpPr>
          <p:cNvPr id="266" name="spring-diag"/>
          <p:cNvCxnSpPr/>
          <p:nvPr/>
        </p:nvCxnSpPr>
        <p:spPr>
          <a:xfrm flipV="1">
            <a:off x="8142549" y="3799149"/>
            <a:ext cx="566928" cy="566928"/>
          </a:xfrm>
          <a:prstGeom prst="line">
            <a:avLst/>
          </a:prstGeom>
          <a:ln w="9525" cap="rnd">
            <a:solidFill>
              <a:schemeClr val="tx2">
                <a:alpha val="45000"/>
              </a:schemeClr>
            </a:solidFill>
          </a:ln>
        </p:spPr>
      </p:cxnSp>
      <p:sp>
        <p:nvSpPr>
          <p:cNvPr id="267" name="spring-soft"/>
          <p:cNvSpPr/>
          <p:nvPr/>
        </p:nvSpPr>
        <p:spPr>
          <a:xfrm>
            <a:off x="5874837" y="2620293"/>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19050" cap="rnd">
            <a:solidFill>
              <a:schemeClr val="accent4"/>
            </a:solidFill>
            <a:round/>
          </a:ln>
        </p:spPr>
        <p:txBody>
          <a:bodyPr/>
          <a:lstStyle/>
          <a:p>
            <a:endParaRPr lang="en-US"/>
          </a:p>
        </p:txBody>
      </p:sp>
      <p:sp>
        <p:nvSpPr>
          <p:cNvPr id="268" name="spring-soft"/>
          <p:cNvSpPr/>
          <p:nvPr/>
        </p:nvSpPr>
        <p:spPr>
          <a:xfrm>
            <a:off x="5829837" y="2098365"/>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19050" cap="rnd">
            <a:solidFill>
              <a:schemeClr val="accent4"/>
            </a:solidFill>
            <a:round/>
          </a:ln>
        </p:spPr>
        <p:txBody>
          <a:bodyPr/>
          <a:lstStyle/>
          <a:p>
            <a:endParaRPr lang="en-US"/>
          </a:p>
        </p:txBody>
      </p:sp>
      <p:sp>
        <p:nvSpPr>
          <p:cNvPr id="269" name="spring-soft"/>
          <p:cNvSpPr/>
          <p:nvPr/>
        </p:nvSpPr>
        <p:spPr>
          <a:xfrm>
            <a:off x="6396765" y="2098365"/>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19050" cap="rnd">
            <a:solidFill>
              <a:schemeClr val="accent4"/>
            </a:solidFill>
            <a:round/>
          </a:ln>
        </p:spPr>
        <p:txBody>
          <a:bodyPr/>
          <a:lstStyle/>
          <a:p>
            <a:endParaRPr lang="en-US"/>
          </a:p>
        </p:txBody>
      </p:sp>
      <p:sp>
        <p:nvSpPr>
          <p:cNvPr id="270" name="spring-soft"/>
          <p:cNvSpPr/>
          <p:nvPr/>
        </p:nvSpPr>
        <p:spPr>
          <a:xfrm>
            <a:off x="6963693" y="2098365"/>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19050" cap="rnd">
            <a:solidFill>
              <a:schemeClr val="accent4"/>
            </a:solidFill>
            <a:round/>
          </a:ln>
        </p:spPr>
        <p:txBody>
          <a:bodyPr/>
          <a:lstStyle/>
          <a:p>
            <a:endParaRPr lang="en-US"/>
          </a:p>
        </p:txBody>
      </p:sp>
      <p:sp>
        <p:nvSpPr>
          <p:cNvPr id="271" name="spring-soft"/>
          <p:cNvSpPr/>
          <p:nvPr/>
        </p:nvSpPr>
        <p:spPr>
          <a:xfrm>
            <a:off x="7530621" y="2098365"/>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19050" cap="rnd">
            <a:solidFill>
              <a:schemeClr val="accent4"/>
            </a:solidFill>
            <a:round/>
          </a:ln>
        </p:spPr>
        <p:txBody>
          <a:bodyPr/>
          <a:lstStyle/>
          <a:p>
            <a:endParaRPr lang="en-US"/>
          </a:p>
        </p:txBody>
      </p:sp>
      <p:sp>
        <p:nvSpPr>
          <p:cNvPr id="272" name="spring-soft"/>
          <p:cNvSpPr/>
          <p:nvPr/>
        </p:nvSpPr>
        <p:spPr>
          <a:xfrm>
            <a:off x="8097549" y="2098365"/>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19050" cap="rnd">
            <a:solidFill>
              <a:schemeClr val="accent4"/>
            </a:solidFill>
            <a:round/>
          </a:ln>
        </p:spPr>
        <p:txBody>
          <a:bodyPr/>
          <a:lstStyle/>
          <a:p>
            <a:endParaRPr lang="en-US"/>
          </a:p>
        </p:txBody>
      </p:sp>
      <p:sp>
        <p:nvSpPr>
          <p:cNvPr id="273" name="spring-soft"/>
          <p:cNvSpPr/>
          <p:nvPr/>
        </p:nvSpPr>
        <p:spPr>
          <a:xfrm>
            <a:off x="8142549" y="2620293"/>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19050" cap="rnd">
            <a:solidFill>
              <a:schemeClr val="accent4"/>
            </a:solidFill>
            <a:round/>
          </a:ln>
        </p:spPr>
        <p:txBody>
          <a:bodyPr/>
          <a:lstStyle/>
          <a:p>
            <a:endParaRPr lang="en-US"/>
          </a:p>
        </p:txBody>
      </p:sp>
      <p:sp>
        <p:nvSpPr>
          <p:cNvPr id="274" name="spring-soft"/>
          <p:cNvSpPr/>
          <p:nvPr/>
        </p:nvSpPr>
        <p:spPr>
          <a:xfrm>
            <a:off x="8664477" y="2098365"/>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19050" cap="rnd">
            <a:solidFill>
              <a:schemeClr val="accent4"/>
            </a:solidFill>
            <a:round/>
          </a:ln>
        </p:spPr>
        <p:txBody>
          <a:bodyPr/>
          <a:lstStyle/>
          <a:p>
            <a:endParaRPr lang="en-US"/>
          </a:p>
        </p:txBody>
      </p:sp>
      <p:sp>
        <p:nvSpPr>
          <p:cNvPr id="275" name="spring-soft"/>
          <p:cNvSpPr/>
          <p:nvPr/>
        </p:nvSpPr>
        <p:spPr>
          <a:xfrm>
            <a:off x="5874837" y="3187221"/>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19050" cap="rnd">
            <a:solidFill>
              <a:schemeClr val="accent4"/>
            </a:solidFill>
            <a:round/>
          </a:ln>
        </p:spPr>
        <p:txBody>
          <a:bodyPr/>
          <a:lstStyle/>
          <a:p>
            <a:endParaRPr lang="en-US"/>
          </a:p>
        </p:txBody>
      </p:sp>
      <p:sp>
        <p:nvSpPr>
          <p:cNvPr id="276" name="spring-soft"/>
          <p:cNvSpPr/>
          <p:nvPr/>
        </p:nvSpPr>
        <p:spPr>
          <a:xfrm>
            <a:off x="5829837" y="2665293"/>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19050" cap="rnd">
            <a:solidFill>
              <a:schemeClr val="accent4"/>
            </a:solidFill>
            <a:round/>
          </a:ln>
        </p:spPr>
        <p:txBody>
          <a:bodyPr/>
          <a:lstStyle/>
          <a:p>
            <a:endParaRPr lang="en-US"/>
          </a:p>
        </p:txBody>
      </p:sp>
      <p:sp>
        <p:nvSpPr>
          <p:cNvPr id="277" name="spring-soft"/>
          <p:cNvSpPr/>
          <p:nvPr/>
        </p:nvSpPr>
        <p:spPr>
          <a:xfrm>
            <a:off x="6441765" y="3187221"/>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19050" cap="rnd">
            <a:solidFill>
              <a:schemeClr val="accent4"/>
            </a:solidFill>
            <a:round/>
          </a:ln>
        </p:spPr>
        <p:txBody>
          <a:bodyPr/>
          <a:lstStyle/>
          <a:p>
            <a:endParaRPr lang="en-US"/>
          </a:p>
        </p:txBody>
      </p:sp>
      <p:sp>
        <p:nvSpPr>
          <p:cNvPr id="278" name="spring-soft"/>
          <p:cNvSpPr/>
          <p:nvPr/>
        </p:nvSpPr>
        <p:spPr>
          <a:xfrm>
            <a:off x="7575621" y="3187221"/>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19050" cap="rnd">
            <a:solidFill>
              <a:schemeClr val="accent4"/>
            </a:solidFill>
            <a:round/>
          </a:ln>
        </p:spPr>
        <p:txBody>
          <a:bodyPr/>
          <a:lstStyle/>
          <a:p>
            <a:endParaRPr lang="en-US"/>
          </a:p>
        </p:txBody>
      </p:sp>
      <p:sp>
        <p:nvSpPr>
          <p:cNvPr id="279" name="spring-soft"/>
          <p:cNvSpPr/>
          <p:nvPr/>
        </p:nvSpPr>
        <p:spPr>
          <a:xfrm>
            <a:off x="8142549" y="3187221"/>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19050" cap="rnd">
            <a:solidFill>
              <a:schemeClr val="accent4"/>
            </a:solidFill>
            <a:round/>
          </a:ln>
        </p:spPr>
        <p:txBody>
          <a:bodyPr/>
          <a:lstStyle/>
          <a:p>
            <a:endParaRPr lang="en-US"/>
          </a:p>
        </p:txBody>
      </p:sp>
      <p:sp>
        <p:nvSpPr>
          <p:cNvPr id="280" name="spring-soft"/>
          <p:cNvSpPr/>
          <p:nvPr/>
        </p:nvSpPr>
        <p:spPr>
          <a:xfrm>
            <a:off x="8664477" y="2665293"/>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19050" cap="rnd">
            <a:solidFill>
              <a:schemeClr val="accent4"/>
            </a:solidFill>
            <a:round/>
          </a:ln>
        </p:spPr>
        <p:txBody>
          <a:bodyPr/>
          <a:lstStyle/>
          <a:p>
            <a:endParaRPr lang="en-US"/>
          </a:p>
        </p:txBody>
      </p:sp>
      <p:sp>
        <p:nvSpPr>
          <p:cNvPr id="281" name="spring-soft"/>
          <p:cNvSpPr/>
          <p:nvPr/>
        </p:nvSpPr>
        <p:spPr>
          <a:xfrm>
            <a:off x="5829837" y="3232221"/>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19050" cap="rnd">
            <a:solidFill>
              <a:schemeClr val="accent4"/>
            </a:solidFill>
            <a:round/>
          </a:ln>
        </p:spPr>
        <p:txBody>
          <a:bodyPr/>
          <a:lstStyle/>
          <a:p>
            <a:endParaRPr lang="en-US"/>
          </a:p>
        </p:txBody>
      </p:sp>
      <p:sp>
        <p:nvSpPr>
          <p:cNvPr id="282" name="spring-soft"/>
          <p:cNvSpPr/>
          <p:nvPr/>
        </p:nvSpPr>
        <p:spPr>
          <a:xfrm>
            <a:off x="8664477" y="3232221"/>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19050" cap="rnd">
            <a:solidFill>
              <a:schemeClr val="accent4"/>
            </a:solidFill>
            <a:round/>
          </a:ln>
        </p:spPr>
        <p:txBody>
          <a:bodyPr/>
          <a:lstStyle/>
          <a:p>
            <a:endParaRPr lang="en-US"/>
          </a:p>
        </p:txBody>
      </p:sp>
      <p:sp>
        <p:nvSpPr>
          <p:cNvPr id="283" name="spring-soft"/>
          <p:cNvSpPr/>
          <p:nvPr/>
        </p:nvSpPr>
        <p:spPr>
          <a:xfrm>
            <a:off x="5829837" y="3799149"/>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19050" cap="rnd">
            <a:solidFill>
              <a:schemeClr val="accent4"/>
            </a:solidFill>
            <a:round/>
          </a:ln>
        </p:spPr>
        <p:txBody>
          <a:bodyPr/>
          <a:lstStyle/>
          <a:p>
            <a:endParaRPr lang="en-US"/>
          </a:p>
        </p:txBody>
      </p:sp>
      <p:sp>
        <p:nvSpPr>
          <p:cNvPr id="284" name="spring-soft"/>
          <p:cNvSpPr/>
          <p:nvPr/>
        </p:nvSpPr>
        <p:spPr>
          <a:xfrm>
            <a:off x="6396765" y="3799149"/>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19050" cap="rnd">
            <a:solidFill>
              <a:schemeClr val="accent4"/>
            </a:solidFill>
            <a:round/>
          </a:ln>
        </p:spPr>
        <p:txBody>
          <a:bodyPr/>
          <a:lstStyle/>
          <a:p>
            <a:endParaRPr lang="en-US"/>
          </a:p>
        </p:txBody>
      </p:sp>
      <p:sp>
        <p:nvSpPr>
          <p:cNvPr id="285" name="spring-soft"/>
          <p:cNvSpPr/>
          <p:nvPr/>
        </p:nvSpPr>
        <p:spPr>
          <a:xfrm>
            <a:off x="6963693" y="3799149"/>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19050" cap="rnd">
            <a:solidFill>
              <a:schemeClr val="accent4"/>
            </a:solidFill>
            <a:round/>
          </a:ln>
        </p:spPr>
        <p:txBody>
          <a:bodyPr/>
          <a:lstStyle/>
          <a:p>
            <a:endParaRPr lang="en-US"/>
          </a:p>
        </p:txBody>
      </p:sp>
      <p:sp>
        <p:nvSpPr>
          <p:cNvPr id="286" name="spring-soft"/>
          <p:cNvSpPr/>
          <p:nvPr/>
        </p:nvSpPr>
        <p:spPr>
          <a:xfrm>
            <a:off x="7530621" y="3799149"/>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19050" cap="rnd">
            <a:solidFill>
              <a:schemeClr val="accent4"/>
            </a:solidFill>
            <a:round/>
          </a:ln>
        </p:spPr>
        <p:txBody>
          <a:bodyPr/>
          <a:lstStyle/>
          <a:p>
            <a:endParaRPr lang="en-US"/>
          </a:p>
        </p:txBody>
      </p:sp>
      <p:sp>
        <p:nvSpPr>
          <p:cNvPr id="287" name="spring-soft"/>
          <p:cNvSpPr/>
          <p:nvPr/>
        </p:nvSpPr>
        <p:spPr>
          <a:xfrm>
            <a:off x="8097549" y="3799149"/>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19050" cap="rnd">
            <a:solidFill>
              <a:schemeClr val="accent4"/>
            </a:solidFill>
            <a:round/>
          </a:ln>
        </p:spPr>
        <p:txBody>
          <a:bodyPr/>
          <a:lstStyle/>
          <a:p>
            <a:endParaRPr lang="en-US"/>
          </a:p>
        </p:txBody>
      </p:sp>
      <p:sp>
        <p:nvSpPr>
          <p:cNvPr id="288" name="spring-soft"/>
          <p:cNvSpPr/>
          <p:nvPr/>
        </p:nvSpPr>
        <p:spPr>
          <a:xfrm>
            <a:off x="8664477" y="3799149"/>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19050" cap="rnd">
            <a:solidFill>
              <a:schemeClr val="accent4"/>
            </a:solidFill>
            <a:round/>
          </a:ln>
        </p:spPr>
        <p:txBody>
          <a:bodyPr/>
          <a:lstStyle/>
          <a:p>
            <a:endParaRPr lang="en-US"/>
          </a:p>
        </p:txBody>
      </p:sp>
      <p:cxnSp>
        <p:nvCxnSpPr>
          <p:cNvPr id="289" name="spring-rigid"/>
          <p:cNvCxnSpPr/>
          <p:nvPr/>
        </p:nvCxnSpPr>
        <p:spPr>
          <a:xfrm>
            <a:off x="5874837" y="1531437"/>
            <a:ext cx="566928" cy="0"/>
          </a:xfrm>
          <a:prstGeom prst="line">
            <a:avLst/>
          </a:prstGeom>
          <a:ln w="34925" cap="rnd">
            <a:solidFill>
              <a:schemeClr val="accent3"/>
            </a:solidFill>
          </a:ln>
        </p:spPr>
      </p:cxnSp>
      <p:cxnSp>
        <p:nvCxnSpPr>
          <p:cNvPr id="290" name="spring-rigid"/>
          <p:cNvCxnSpPr/>
          <p:nvPr/>
        </p:nvCxnSpPr>
        <p:spPr>
          <a:xfrm>
            <a:off x="5874837" y="2098365"/>
            <a:ext cx="566928" cy="0"/>
          </a:xfrm>
          <a:prstGeom prst="line">
            <a:avLst/>
          </a:prstGeom>
          <a:ln w="34925" cap="rnd">
            <a:solidFill>
              <a:schemeClr val="accent3"/>
            </a:solidFill>
          </a:ln>
        </p:spPr>
      </p:cxnSp>
      <p:cxnSp>
        <p:nvCxnSpPr>
          <p:cNvPr id="291" name="spring-rigid"/>
          <p:cNvCxnSpPr/>
          <p:nvPr/>
        </p:nvCxnSpPr>
        <p:spPr>
          <a:xfrm>
            <a:off x="5874837" y="1531437"/>
            <a:ext cx="0" cy="566928"/>
          </a:xfrm>
          <a:prstGeom prst="line">
            <a:avLst/>
          </a:prstGeom>
          <a:ln w="34925" cap="rnd">
            <a:solidFill>
              <a:schemeClr val="accent3"/>
            </a:solidFill>
          </a:ln>
        </p:spPr>
      </p:cxnSp>
      <p:cxnSp>
        <p:nvCxnSpPr>
          <p:cNvPr id="292" name="spring-rigid"/>
          <p:cNvCxnSpPr/>
          <p:nvPr/>
        </p:nvCxnSpPr>
        <p:spPr>
          <a:xfrm>
            <a:off x="6441765" y="1531437"/>
            <a:ext cx="0" cy="566928"/>
          </a:xfrm>
          <a:prstGeom prst="line">
            <a:avLst/>
          </a:prstGeom>
          <a:ln w="34925" cap="rnd">
            <a:solidFill>
              <a:schemeClr val="accent3"/>
            </a:solidFill>
          </a:ln>
        </p:spPr>
      </p:cxnSp>
      <p:cxnSp>
        <p:nvCxnSpPr>
          <p:cNvPr id="293" name="spring-rigid"/>
          <p:cNvCxnSpPr/>
          <p:nvPr/>
        </p:nvCxnSpPr>
        <p:spPr>
          <a:xfrm>
            <a:off x="6441765" y="1531437"/>
            <a:ext cx="566928" cy="0"/>
          </a:xfrm>
          <a:prstGeom prst="line">
            <a:avLst/>
          </a:prstGeom>
          <a:ln w="34925" cap="rnd">
            <a:solidFill>
              <a:schemeClr val="accent3"/>
            </a:solidFill>
          </a:ln>
        </p:spPr>
      </p:cxnSp>
      <p:cxnSp>
        <p:nvCxnSpPr>
          <p:cNvPr id="294" name="spring-rigid"/>
          <p:cNvCxnSpPr/>
          <p:nvPr/>
        </p:nvCxnSpPr>
        <p:spPr>
          <a:xfrm>
            <a:off x="7008693" y="1531437"/>
            <a:ext cx="0" cy="566928"/>
          </a:xfrm>
          <a:prstGeom prst="line">
            <a:avLst/>
          </a:prstGeom>
          <a:ln w="34925" cap="rnd">
            <a:solidFill>
              <a:schemeClr val="accent3"/>
            </a:solidFill>
          </a:ln>
        </p:spPr>
      </p:cxnSp>
      <p:cxnSp>
        <p:nvCxnSpPr>
          <p:cNvPr id="295" name="spring-rigid"/>
          <p:cNvCxnSpPr/>
          <p:nvPr/>
        </p:nvCxnSpPr>
        <p:spPr>
          <a:xfrm>
            <a:off x="7008693" y="1531437"/>
            <a:ext cx="566928" cy="0"/>
          </a:xfrm>
          <a:prstGeom prst="line">
            <a:avLst/>
          </a:prstGeom>
          <a:ln w="34925" cap="rnd">
            <a:solidFill>
              <a:schemeClr val="accent3"/>
            </a:solidFill>
          </a:ln>
        </p:spPr>
      </p:cxnSp>
      <p:cxnSp>
        <p:nvCxnSpPr>
          <p:cNvPr id="296" name="spring-rigid"/>
          <p:cNvCxnSpPr/>
          <p:nvPr/>
        </p:nvCxnSpPr>
        <p:spPr>
          <a:xfrm>
            <a:off x="7575621" y="1531437"/>
            <a:ext cx="0" cy="566928"/>
          </a:xfrm>
          <a:prstGeom prst="line">
            <a:avLst/>
          </a:prstGeom>
          <a:ln w="34925" cap="rnd">
            <a:solidFill>
              <a:schemeClr val="accent3"/>
            </a:solidFill>
          </a:ln>
        </p:spPr>
      </p:cxnSp>
      <p:cxnSp>
        <p:nvCxnSpPr>
          <p:cNvPr id="297" name="spring-rigid"/>
          <p:cNvCxnSpPr/>
          <p:nvPr/>
        </p:nvCxnSpPr>
        <p:spPr>
          <a:xfrm>
            <a:off x="7575621" y="1531437"/>
            <a:ext cx="566928" cy="0"/>
          </a:xfrm>
          <a:prstGeom prst="line">
            <a:avLst/>
          </a:prstGeom>
          <a:ln w="34925" cap="rnd">
            <a:solidFill>
              <a:schemeClr val="accent3"/>
            </a:solidFill>
          </a:ln>
        </p:spPr>
      </p:cxnSp>
      <p:cxnSp>
        <p:nvCxnSpPr>
          <p:cNvPr id="298" name="spring-rigid"/>
          <p:cNvCxnSpPr/>
          <p:nvPr/>
        </p:nvCxnSpPr>
        <p:spPr>
          <a:xfrm>
            <a:off x="8142549" y="1531437"/>
            <a:ext cx="0" cy="566928"/>
          </a:xfrm>
          <a:prstGeom prst="line">
            <a:avLst/>
          </a:prstGeom>
          <a:ln w="34925" cap="rnd">
            <a:solidFill>
              <a:schemeClr val="accent3"/>
            </a:solidFill>
          </a:ln>
        </p:spPr>
      </p:cxnSp>
      <p:cxnSp>
        <p:nvCxnSpPr>
          <p:cNvPr id="299" name="spring-rigid"/>
          <p:cNvCxnSpPr/>
          <p:nvPr/>
        </p:nvCxnSpPr>
        <p:spPr>
          <a:xfrm>
            <a:off x="8142549" y="1531437"/>
            <a:ext cx="566928" cy="0"/>
          </a:xfrm>
          <a:prstGeom prst="line">
            <a:avLst/>
          </a:prstGeom>
          <a:ln w="34925" cap="rnd">
            <a:solidFill>
              <a:schemeClr val="accent3"/>
            </a:solidFill>
          </a:ln>
        </p:spPr>
      </p:cxnSp>
      <p:cxnSp>
        <p:nvCxnSpPr>
          <p:cNvPr id="300" name="spring-rigid"/>
          <p:cNvCxnSpPr/>
          <p:nvPr/>
        </p:nvCxnSpPr>
        <p:spPr>
          <a:xfrm>
            <a:off x="8142549" y="2098365"/>
            <a:ext cx="566928" cy="0"/>
          </a:xfrm>
          <a:prstGeom prst="line">
            <a:avLst/>
          </a:prstGeom>
          <a:ln w="34925" cap="rnd">
            <a:solidFill>
              <a:schemeClr val="accent3"/>
            </a:solidFill>
          </a:ln>
        </p:spPr>
      </p:cxnSp>
      <p:cxnSp>
        <p:nvCxnSpPr>
          <p:cNvPr id="301" name="spring-rigid"/>
          <p:cNvCxnSpPr/>
          <p:nvPr/>
        </p:nvCxnSpPr>
        <p:spPr>
          <a:xfrm>
            <a:off x="8709477" y="1531437"/>
            <a:ext cx="0" cy="566928"/>
          </a:xfrm>
          <a:prstGeom prst="line">
            <a:avLst/>
          </a:prstGeom>
          <a:ln w="34925" cap="rnd">
            <a:solidFill>
              <a:schemeClr val="accent3"/>
            </a:solidFill>
          </a:ln>
        </p:spPr>
      </p:cxnSp>
      <p:sp>
        <p:nvSpPr>
          <p:cNvPr id="302" name="spring-muscle"/>
          <p:cNvSpPr/>
          <p:nvPr/>
        </p:nvSpPr>
        <p:spPr>
          <a:xfrm>
            <a:off x="6441765" y="2053365"/>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28575" cap="rnd">
            <a:solidFill>
              <a:schemeClr val="accent1"/>
            </a:solidFill>
            <a:round/>
          </a:ln>
        </p:spPr>
        <p:txBody>
          <a:bodyPr/>
          <a:lstStyle/>
          <a:p>
            <a:endParaRPr lang="en-US"/>
          </a:p>
        </p:txBody>
      </p:sp>
      <p:sp>
        <p:nvSpPr>
          <p:cNvPr id="303" name="spring-muscle"/>
          <p:cNvSpPr/>
          <p:nvPr/>
        </p:nvSpPr>
        <p:spPr>
          <a:xfrm>
            <a:off x="7008693" y="2053365"/>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28575" cap="rnd">
            <a:solidFill>
              <a:schemeClr val="accent1"/>
            </a:solidFill>
            <a:round/>
          </a:ln>
        </p:spPr>
        <p:txBody>
          <a:bodyPr/>
          <a:lstStyle/>
          <a:p>
            <a:endParaRPr lang="en-US"/>
          </a:p>
        </p:txBody>
      </p:sp>
      <p:sp>
        <p:nvSpPr>
          <p:cNvPr id="304" name="spring-muscle"/>
          <p:cNvSpPr/>
          <p:nvPr/>
        </p:nvSpPr>
        <p:spPr>
          <a:xfrm>
            <a:off x="7575621" y="2053365"/>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28575" cap="rnd">
            <a:solidFill>
              <a:schemeClr val="accent1"/>
            </a:solidFill>
            <a:round/>
          </a:ln>
        </p:spPr>
        <p:txBody>
          <a:bodyPr/>
          <a:lstStyle/>
          <a:p>
            <a:endParaRPr lang="en-US"/>
          </a:p>
        </p:txBody>
      </p:sp>
      <p:sp>
        <p:nvSpPr>
          <p:cNvPr id="305" name="spring-muscle"/>
          <p:cNvSpPr/>
          <p:nvPr/>
        </p:nvSpPr>
        <p:spPr>
          <a:xfrm>
            <a:off x="6441765" y="2620293"/>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28575" cap="rnd">
            <a:solidFill>
              <a:schemeClr val="accent1"/>
            </a:solidFill>
            <a:round/>
          </a:ln>
        </p:spPr>
        <p:txBody>
          <a:bodyPr/>
          <a:lstStyle/>
          <a:p>
            <a:endParaRPr lang="en-US"/>
          </a:p>
        </p:txBody>
      </p:sp>
      <p:sp>
        <p:nvSpPr>
          <p:cNvPr id="306" name="spring-muscle"/>
          <p:cNvSpPr/>
          <p:nvPr/>
        </p:nvSpPr>
        <p:spPr>
          <a:xfrm>
            <a:off x="7008693" y="2620293"/>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28575" cap="rnd">
            <a:solidFill>
              <a:schemeClr val="accent1"/>
            </a:solidFill>
            <a:round/>
          </a:ln>
        </p:spPr>
        <p:txBody>
          <a:bodyPr/>
          <a:lstStyle/>
          <a:p>
            <a:endParaRPr lang="en-US"/>
          </a:p>
        </p:txBody>
      </p:sp>
      <p:sp>
        <p:nvSpPr>
          <p:cNvPr id="307" name="spring-muscle"/>
          <p:cNvSpPr/>
          <p:nvPr/>
        </p:nvSpPr>
        <p:spPr>
          <a:xfrm>
            <a:off x="7575621" y="2620293"/>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28575" cap="rnd">
            <a:solidFill>
              <a:schemeClr val="accent1"/>
            </a:solidFill>
            <a:round/>
          </a:ln>
        </p:spPr>
        <p:txBody>
          <a:bodyPr/>
          <a:lstStyle/>
          <a:p>
            <a:endParaRPr lang="en-US"/>
          </a:p>
        </p:txBody>
      </p:sp>
      <p:sp>
        <p:nvSpPr>
          <p:cNvPr id="308" name="spring-muscle"/>
          <p:cNvSpPr/>
          <p:nvPr/>
        </p:nvSpPr>
        <p:spPr>
          <a:xfrm>
            <a:off x="6396765" y="2665293"/>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28575" cap="rnd">
            <a:solidFill>
              <a:schemeClr val="accent2"/>
            </a:solidFill>
            <a:round/>
          </a:ln>
        </p:spPr>
        <p:txBody>
          <a:bodyPr/>
          <a:lstStyle/>
          <a:p>
            <a:endParaRPr lang="en-US"/>
          </a:p>
        </p:txBody>
      </p:sp>
      <p:sp>
        <p:nvSpPr>
          <p:cNvPr id="309" name="spring-muscle"/>
          <p:cNvSpPr/>
          <p:nvPr/>
        </p:nvSpPr>
        <p:spPr>
          <a:xfrm>
            <a:off x="6963693" y="2665293"/>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28575" cap="rnd">
            <a:solidFill>
              <a:schemeClr val="accent2"/>
            </a:solidFill>
            <a:round/>
          </a:ln>
        </p:spPr>
        <p:txBody>
          <a:bodyPr/>
          <a:lstStyle/>
          <a:p>
            <a:endParaRPr lang="en-US"/>
          </a:p>
        </p:txBody>
      </p:sp>
      <p:sp>
        <p:nvSpPr>
          <p:cNvPr id="310" name="spring-muscle"/>
          <p:cNvSpPr/>
          <p:nvPr/>
        </p:nvSpPr>
        <p:spPr>
          <a:xfrm>
            <a:off x="7530621" y="2665293"/>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28575" cap="rnd">
            <a:solidFill>
              <a:schemeClr val="accent2"/>
            </a:solidFill>
            <a:round/>
          </a:ln>
        </p:spPr>
        <p:txBody>
          <a:bodyPr/>
          <a:lstStyle/>
          <a:p>
            <a:endParaRPr lang="en-US"/>
          </a:p>
        </p:txBody>
      </p:sp>
      <p:sp>
        <p:nvSpPr>
          <p:cNvPr id="311" name="spring-muscle"/>
          <p:cNvSpPr/>
          <p:nvPr/>
        </p:nvSpPr>
        <p:spPr>
          <a:xfrm>
            <a:off x="8097549" y="2665293"/>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28575" cap="rnd">
            <a:solidFill>
              <a:schemeClr val="accent2"/>
            </a:solidFill>
            <a:round/>
          </a:ln>
        </p:spPr>
        <p:txBody>
          <a:bodyPr/>
          <a:lstStyle/>
          <a:p>
            <a:endParaRPr lang="en-US"/>
          </a:p>
        </p:txBody>
      </p:sp>
      <p:sp>
        <p:nvSpPr>
          <p:cNvPr id="312" name="spring-muscle"/>
          <p:cNvSpPr/>
          <p:nvPr/>
        </p:nvSpPr>
        <p:spPr>
          <a:xfrm>
            <a:off x="5874837" y="3754149"/>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28575" cap="rnd">
            <a:solidFill>
              <a:schemeClr val="accent1"/>
            </a:solidFill>
            <a:round/>
          </a:ln>
        </p:spPr>
        <p:txBody>
          <a:bodyPr/>
          <a:lstStyle/>
          <a:p>
            <a:endParaRPr lang="en-US"/>
          </a:p>
        </p:txBody>
      </p:sp>
      <p:sp>
        <p:nvSpPr>
          <p:cNvPr id="313" name="spring-muscle"/>
          <p:cNvSpPr/>
          <p:nvPr/>
        </p:nvSpPr>
        <p:spPr>
          <a:xfrm>
            <a:off x="6396765" y="3232221"/>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28575" cap="rnd">
            <a:solidFill>
              <a:schemeClr val="accent2"/>
            </a:solidFill>
            <a:round/>
          </a:ln>
        </p:spPr>
        <p:txBody>
          <a:bodyPr/>
          <a:lstStyle/>
          <a:p>
            <a:endParaRPr lang="en-US"/>
          </a:p>
        </p:txBody>
      </p:sp>
      <p:sp>
        <p:nvSpPr>
          <p:cNvPr id="314" name="spring-muscle"/>
          <p:cNvSpPr/>
          <p:nvPr/>
        </p:nvSpPr>
        <p:spPr>
          <a:xfrm>
            <a:off x="6441765" y="3754149"/>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28575" cap="rnd">
            <a:solidFill>
              <a:schemeClr val="accent1"/>
            </a:solidFill>
            <a:round/>
          </a:ln>
        </p:spPr>
        <p:txBody>
          <a:bodyPr/>
          <a:lstStyle/>
          <a:p>
            <a:endParaRPr lang="en-US"/>
          </a:p>
        </p:txBody>
      </p:sp>
      <p:sp>
        <p:nvSpPr>
          <p:cNvPr id="315" name="spring-muscle"/>
          <p:cNvSpPr/>
          <p:nvPr/>
        </p:nvSpPr>
        <p:spPr>
          <a:xfrm>
            <a:off x="6963693" y="3232221"/>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28575" cap="rnd">
            <a:solidFill>
              <a:schemeClr val="accent2"/>
            </a:solidFill>
            <a:round/>
          </a:ln>
        </p:spPr>
        <p:txBody>
          <a:bodyPr/>
          <a:lstStyle/>
          <a:p>
            <a:endParaRPr lang="en-US"/>
          </a:p>
        </p:txBody>
      </p:sp>
      <p:sp>
        <p:nvSpPr>
          <p:cNvPr id="316" name="spring-muscle"/>
          <p:cNvSpPr/>
          <p:nvPr/>
        </p:nvSpPr>
        <p:spPr>
          <a:xfrm>
            <a:off x="7575621" y="3754149"/>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28575" cap="rnd">
            <a:solidFill>
              <a:schemeClr val="accent1"/>
            </a:solidFill>
            <a:round/>
          </a:ln>
        </p:spPr>
        <p:txBody>
          <a:bodyPr/>
          <a:lstStyle/>
          <a:p>
            <a:endParaRPr lang="en-US"/>
          </a:p>
        </p:txBody>
      </p:sp>
      <p:sp>
        <p:nvSpPr>
          <p:cNvPr id="317" name="spring-muscle"/>
          <p:cNvSpPr/>
          <p:nvPr/>
        </p:nvSpPr>
        <p:spPr>
          <a:xfrm>
            <a:off x="7530621" y="3232221"/>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28575" cap="rnd">
            <a:solidFill>
              <a:schemeClr val="accent2"/>
            </a:solidFill>
            <a:round/>
          </a:ln>
        </p:spPr>
        <p:txBody>
          <a:bodyPr/>
          <a:lstStyle/>
          <a:p>
            <a:endParaRPr lang="en-US"/>
          </a:p>
        </p:txBody>
      </p:sp>
      <p:sp>
        <p:nvSpPr>
          <p:cNvPr id="318" name="spring-muscle"/>
          <p:cNvSpPr/>
          <p:nvPr/>
        </p:nvSpPr>
        <p:spPr>
          <a:xfrm>
            <a:off x="8097549" y="3232221"/>
            <a:ext cx="90000" cy="566928"/>
          </a:xfrm>
          <a:custGeom>
            <a:avLst/>
            <a:gdLst/>
            <a:ahLst/>
            <a:cxnLst/>
            <a:rect l="0" t="0" r="r" b="b"/>
            <a:pathLst>
              <a:path w="100" h="1000" fill="none">
                <a:moveTo>
                  <a:pt x="50" y="0"/>
                </a:moveTo>
                <a:lnTo>
                  <a:pt x="50" y="180"/>
                </a:lnTo>
                <a:lnTo>
                  <a:pt x="0" y="226"/>
                </a:lnTo>
                <a:lnTo>
                  <a:pt x="100" y="317"/>
                </a:lnTo>
                <a:lnTo>
                  <a:pt x="0" y="409"/>
                </a:lnTo>
                <a:lnTo>
                  <a:pt x="100" y="500"/>
                </a:lnTo>
                <a:lnTo>
                  <a:pt x="0" y="591"/>
                </a:lnTo>
                <a:lnTo>
                  <a:pt x="100" y="683"/>
                </a:lnTo>
                <a:lnTo>
                  <a:pt x="0" y="774"/>
                </a:lnTo>
                <a:lnTo>
                  <a:pt x="50" y="820"/>
                </a:lnTo>
                <a:lnTo>
                  <a:pt x="50" y="1000"/>
                </a:lnTo>
              </a:path>
            </a:pathLst>
          </a:custGeom>
          <a:noFill/>
          <a:ln w="28575" cap="rnd">
            <a:solidFill>
              <a:schemeClr val="accent2"/>
            </a:solidFill>
            <a:round/>
          </a:ln>
        </p:spPr>
        <p:txBody>
          <a:bodyPr/>
          <a:lstStyle/>
          <a:p>
            <a:endParaRPr lang="en-US"/>
          </a:p>
        </p:txBody>
      </p:sp>
      <p:sp>
        <p:nvSpPr>
          <p:cNvPr id="319" name="spring-muscle"/>
          <p:cNvSpPr/>
          <p:nvPr/>
        </p:nvSpPr>
        <p:spPr>
          <a:xfrm>
            <a:off x="8142549" y="3754149"/>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28575" cap="rnd">
            <a:solidFill>
              <a:schemeClr val="accent1"/>
            </a:solidFill>
            <a:round/>
          </a:ln>
        </p:spPr>
        <p:txBody>
          <a:bodyPr/>
          <a:lstStyle/>
          <a:p>
            <a:endParaRPr lang="en-US"/>
          </a:p>
        </p:txBody>
      </p:sp>
      <p:sp>
        <p:nvSpPr>
          <p:cNvPr id="320" name="spring-muscle"/>
          <p:cNvSpPr/>
          <p:nvPr/>
        </p:nvSpPr>
        <p:spPr>
          <a:xfrm>
            <a:off x="5874837" y="4321077"/>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28575" cap="rnd">
            <a:solidFill>
              <a:schemeClr val="accent1"/>
            </a:solidFill>
            <a:round/>
          </a:ln>
        </p:spPr>
        <p:txBody>
          <a:bodyPr/>
          <a:lstStyle/>
          <a:p>
            <a:endParaRPr lang="en-US"/>
          </a:p>
        </p:txBody>
      </p:sp>
      <p:sp>
        <p:nvSpPr>
          <p:cNvPr id="321" name="spring-muscle"/>
          <p:cNvSpPr/>
          <p:nvPr/>
        </p:nvSpPr>
        <p:spPr>
          <a:xfrm>
            <a:off x="6441765" y="4321077"/>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28575" cap="rnd">
            <a:solidFill>
              <a:schemeClr val="accent1"/>
            </a:solidFill>
            <a:round/>
          </a:ln>
        </p:spPr>
        <p:txBody>
          <a:bodyPr/>
          <a:lstStyle/>
          <a:p>
            <a:endParaRPr lang="en-US"/>
          </a:p>
        </p:txBody>
      </p:sp>
      <p:sp>
        <p:nvSpPr>
          <p:cNvPr id="322" name="spring-muscle"/>
          <p:cNvSpPr/>
          <p:nvPr/>
        </p:nvSpPr>
        <p:spPr>
          <a:xfrm>
            <a:off x="7575621" y="4321077"/>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28575" cap="rnd">
            <a:solidFill>
              <a:schemeClr val="accent1"/>
            </a:solidFill>
            <a:round/>
          </a:ln>
        </p:spPr>
        <p:txBody>
          <a:bodyPr/>
          <a:lstStyle/>
          <a:p>
            <a:endParaRPr lang="en-US"/>
          </a:p>
        </p:txBody>
      </p:sp>
      <p:sp>
        <p:nvSpPr>
          <p:cNvPr id="323" name="spring-muscle"/>
          <p:cNvSpPr/>
          <p:nvPr/>
        </p:nvSpPr>
        <p:spPr>
          <a:xfrm>
            <a:off x="8142549" y="4321077"/>
            <a:ext cx="566928"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28575" cap="rnd">
            <a:solidFill>
              <a:schemeClr val="accent1"/>
            </a:solidFill>
            <a:round/>
          </a:ln>
        </p:spPr>
        <p:txBody>
          <a:bodyPr/>
          <a:lstStyle/>
          <a:p>
            <a:endParaRPr lang="en-US"/>
          </a:p>
        </p:txBody>
      </p:sp>
      <p:sp>
        <p:nvSpPr>
          <p:cNvPr id="324" name="point-mass"/>
          <p:cNvSpPr/>
          <p:nvPr/>
        </p:nvSpPr>
        <p:spPr>
          <a:xfrm>
            <a:off x="5815401" y="1472001"/>
            <a:ext cx="118872" cy="118872"/>
          </a:xfrm>
          <a:prstGeom prst="ellipse">
            <a:avLst/>
          </a:prstGeom>
          <a:solidFill>
            <a:schemeClr val="tx1"/>
          </a:solidFill>
          <a:ln w="12700">
            <a:solidFill>
              <a:schemeClr val="bg1"/>
            </a:solidFill>
          </a:ln>
        </p:spPr>
        <p:txBody>
          <a:bodyPr/>
          <a:lstStyle/>
          <a:p>
            <a:endParaRPr lang="en-US"/>
          </a:p>
        </p:txBody>
      </p:sp>
      <p:sp>
        <p:nvSpPr>
          <p:cNvPr id="325" name="point-mass"/>
          <p:cNvSpPr/>
          <p:nvPr/>
        </p:nvSpPr>
        <p:spPr>
          <a:xfrm>
            <a:off x="6382329" y="1472001"/>
            <a:ext cx="118872" cy="118872"/>
          </a:xfrm>
          <a:prstGeom prst="ellipse">
            <a:avLst/>
          </a:prstGeom>
          <a:solidFill>
            <a:schemeClr val="tx1"/>
          </a:solidFill>
          <a:ln w="12700">
            <a:solidFill>
              <a:schemeClr val="bg1"/>
            </a:solidFill>
          </a:ln>
        </p:spPr>
        <p:txBody>
          <a:bodyPr/>
          <a:lstStyle/>
          <a:p>
            <a:endParaRPr lang="en-US"/>
          </a:p>
        </p:txBody>
      </p:sp>
      <p:sp>
        <p:nvSpPr>
          <p:cNvPr id="326" name="point-mass"/>
          <p:cNvSpPr/>
          <p:nvPr/>
        </p:nvSpPr>
        <p:spPr>
          <a:xfrm>
            <a:off x="6949257" y="1472001"/>
            <a:ext cx="118872" cy="118872"/>
          </a:xfrm>
          <a:prstGeom prst="ellipse">
            <a:avLst/>
          </a:prstGeom>
          <a:solidFill>
            <a:schemeClr val="tx1"/>
          </a:solidFill>
          <a:ln w="12700">
            <a:solidFill>
              <a:schemeClr val="bg1"/>
            </a:solidFill>
          </a:ln>
        </p:spPr>
        <p:txBody>
          <a:bodyPr/>
          <a:lstStyle/>
          <a:p>
            <a:endParaRPr lang="en-US"/>
          </a:p>
        </p:txBody>
      </p:sp>
      <p:sp>
        <p:nvSpPr>
          <p:cNvPr id="327" name="point-mass"/>
          <p:cNvSpPr/>
          <p:nvPr/>
        </p:nvSpPr>
        <p:spPr>
          <a:xfrm>
            <a:off x="7516185" y="1472001"/>
            <a:ext cx="118872" cy="118872"/>
          </a:xfrm>
          <a:prstGeom prst="ellipse">
            <a:avLst/>
          </a:prstGeom>
          <a:solidFill>
            <a:schemeClr val="tx1"/>
          </a:solidFill>
          <a:ln w="12700">
            <a:solidFill>
              <a:schemeClr val="bg1"/>
            </a:solidFill>
          </a:ln>
        </p:spPr>
        <p:txBody>
          <a:bodyPr/>
          <a:lstStyle/>
          <a:p>
            <a:endParaRPr lang="en-US"/>
          </a:p>
        </p:txBody>
      </p:sp>
      <p:sp>
        <p:nvSpPr>
          <p:cNvPr id="328" name="point-mass"/>
          <p:cNvSpPr/>
          <p:nvPr/>
        </p:nvSpPr>
        <p:spPr>
          <a:xfrm>
            <a:off x="8083113" y="1472001"/>
            <a:ext cx="118872" cy="118872"/>
          </a:xfrm>
          <a:prstGeom prst="ellipse">
            <a:avLst/>
          </a:prstGeom>
          <a:solidFill>
            <a:schemeClr val="tx1"/>
          </a:solidFill>
          <a:ln w="12700">
            <a:solidFill>
              <a:schemeClr val="bg1"/>
            </a:solidFill>
          </a:ln>
        </p:spPr>
        <p:txBody>
          <a:bodyPr/>
          <a:lstStyle/>
          <a:p>
            <a:endParaRPr lang="en-US"/>
          </a:p>
        </p:txBody>
      </p:sp>
      <p:sp>
        <p:nvSpPr>
          <p:cNvPr id="329" name="point-mass"/>
          <p:cNvSpPr/>
          <p:nvPr/>
        </p:nvSpPr>
        <p:spPr>
          <a:xfrm>
            <a:off x="8650041" y="1472001"/>
            <a:ext cx="118872" cy="118872"/>
          </a:xfrm>
          <a:prstGeom prst="ellipse">
            <a:avLst/>
          </a:prstGeom>
          <a:solidFill>
            <a:schemeClr val="tx1"/>
          </a:solidFill>
          <a:ln w="12700">
            <a:solidFill>
              <a:schemeClr val="bg1"/>
            </a:solidFill>
          </a:ln>
        </p:spPr>
        <p:txBody>
          <a:bodyPr/>
          <a:lstStyle/>
          <a:p>
            <a:endParaRPr lang="en-US"/>
          </a:p>
        </p:txBody>
      </p:sp>
      <p:sp>
        <p:nvSpPr>
          <p:cNvPr id="330" name="point-mass"/>
          <p:cNvSpPr/>
          <p:nvPr/>
        </p:nvSpPr>
        <p:spPr>
          <a:xfrm>
            <a:off x="5815401" y="2038929"/>
            <a:ext cx="118872" cy="118872"/>
          </a:xfrm>
          <a:prstGeom prst="ellipse">
            <a:avLst/>
          </a:prstGeom>
          <a:solidFill>
            <a:schemeClr val="tx1"/>
          </a:solidFill>
          <a:ln w="12700">
            <a:solidFill>
              <a:schemeClr val="bg1"/>
            </a:solidFill>
          </a:ln>
        </p:spPr>
        <p:txBody>
          <a:bodyPr/>
          <a:lstStyle/>
          <a:p>
            <a:endParaRPr lang="en-US"/>
          </a:p>
        </p:txBody>
      </p:sp>
      <p:sp>
        <p:nvSpPr>
          <p:cNvPr id="331" name="point-mass"/>
          <p:cNvSpPr/>
          <p:nvPr/>
        </p:nvSpPr>
        <p:spPr>
          <a:xfrm>
            <a:off x="6382329" y="2038929"/>
            <a:ext cx="118872" cy="118872"/>
          </a:xfrm>
          <a:prstGeom prst="ellipse">
            <a:avLst/>
          </a:prstGeom>
          <a:solidFill>
            <a:schemeClr val="tx1"/>
          </a:solidFill>
          <a:ln w="12700">
            <a:solidFill>
              <a:schemeClr val="bg1"/>
            </a:solidFill>
          </a:ln>
        </p:spPr>
        <p:txBody>
          <a:bodyPr/>
          <a:lstStyle/>
          <a:p>
            <a:endParaRPr lang="en-US"/>
          </a:p>
        </p:txBody>
      </p:sp>
      <p:sp>
        <p:nvSpPr>
          <p:cNvPr id="332" name="point-mass"/>
          <p:cNvSpPr/>
          <p:nvPr/>
        </p:nvSpPr>
        <p:spPr>
          <a:xfrm>
            <a:off x="6949257" y="2038929"/>
            <a:ext cx="118872" cy="118872"/>
          </a:xfrm>
          <a:prstGeom prst="ellipse">
            <a:avLst/>
          </a:prstGeom>
          <a:solidFill>
            <a:schemeClr val="tx1"/>
          </a:solidFill>
          <a:ln w="12700">
            <a:solidFill>
              <a:schemeClr val="bg1"/>
            </a:solidFill>
          </a:ln>
        </p:spPr>
        <p:txBody>
          <a:bodyPr/>
          <a:lstStyle/>
          <a:p>
            <a:endParaRPr lang="en-US"/>
          </a:p>
        </p:txBody>
      </p:sp>
      <p:sp>
        <p:nvSpPr>
          <p:cNvPr id="333" name="point-mass"/>
          <p:cNvSpPr/>
          <p:nvPr/>
        </p:nvSpPr>
        <p:spPr>
          <a:xfrm>
            <a:off x="7516185" y="2038929"/>
            <a:ext cx="118872" cy="118872"/>
          </a:xfrm>
          <a:prstGeom prst="ellipse">
            <a:avLst/>
          </a:prstGeom>
          <a:solidFill>
            <a:schemeClr val="tx1"/>
          </a:solidFill>
          <a:ln w="12700">
            <a:solidFill>
              <a:schemeClr val="bg1"/>
            </a:solidFill>
          </a:ln>
        </p:spPr>
        <p:txBody>
          <a:bodyPr/>
          <a:lstStyle/>
          <a:p>
            <a:endParaRPr lang="en-US"/>
          </a:p>
        </p:txBody>
      </p:sp>
      <p:sp>
        <p:nvSpPr>
          <p:cNvPr id="334" name="point-mass"/>
          <p:cNvSpPr/>
          <p:nvPr/>
        </p:nvSpPr>
        <p:spPr>
          <a:xfrm>
            <a:off x="8083113" y="2038929"/>
            <a:ext cx="118872" cy="118872"/>
          </a:xfrm>
          <a:prstGeom prst="ellipse">
            <a:avLst/>
          </a:prstGeom>
          <a:solidFill>
            <a:schemeClr val="tx1"/>
          </a:solidFill>
          <a:ln w="12700">
            <a:solidFill>
              <a:schemeClr val="bg1"/>
            </a:solidFill>
          </a:ln>
        </p:spPr>
        <p:txBody>
          <a:bodyPr/>
          <a:lstStyle/>
          <a:p>
            <a:endParaRPr lang="en-US"/>
          </a:p>
        </p:txBody>
      </p:sp>
      <p:sp>
        <p:nvSpPr>
          <p:cNvPr id="335" name="point-mass"/>
          <p:cNvSpPr/>
          <p:nvPr/>
        </p:nvSpPr>
        <p:spPr>
          <a:xfrm>
            <a:off x="8650041" y="2038929"/>
            <a:ext cx="118872" cy="118872"/>
          </a:xfrm>
          <a:prstGeom prst="ellipse">
            <a:avLst/>
          </a:prstGeom>
          <a:solidFill>
            <a:schemeClr val="tx1"/>
          </a:solidFill>
          <a:ln w="12700">
            <a:solidFill>
              <a:schemeClr val="bg1"/>
            </a:solidFill>
          </a:ln>
        </p:spPr>
        <p:txBody>
          <a:bodyPr/>
          <a:lstStyle/>
          <a:p>
            <a:endParaRPr lang="en-US"/>
          </a:p>
        </p:txBody>
      </p:sp>
      <p:sp>
        <p:nvSpPr>
          <p:cNvPr id="336" name="point-mass"/>
          <p:cNvSpPr/>
          <p:nvPr/>
        </p:nvSpPr>
        <p:spPr>
          <a:xfrm>
            <a:off x="5815401" y="2605857"/>
            <a:ext cx="118872" cy="118872"/>
          </a:xfrm>
          <a:prstGeom prst="ellipse">
            <a:avLst/>
          </a:prstGeom>
          <a:solidFill>
            <a:schemeClr val="tx1"/>
          </a:solidFill>
          <a:ln w="12700">
            <a:solidFill>
              <a:schemeClr val="bg1"/>
            </a:solidFill>
          </a:ln>
        </p:spPr>
        <p:txBody>
          <a:bodyPr/>
          <a:lstStyle/>
          <a:p>
            <a:endParaRPr lang="en-US"/>
          </a:p>
        </p:txBody>
      </p:sp>
      <p:sp>
        <p:nvSpPr>
          <p:cNvPr id="337" name="point-mass"/>
          <p:cNvSpPr/>
          <p:nvPr/>
        </p:nvSpPr>
        <p:spPr>
          <a:xfrm>
            <a:off x="6382329" y="2605857"/>
            <a:ext cx="118872" cy="118872"/>
          </a:xfrm>
          <a:prstGeom prst="ellipse">
            <a:avLst/>
          </a:prstGeom>
          <a:solidFill>
            <a:schemeClr val="tx1"/>
          </a:solidFill>
          <a:ln w="12700">
            <a:solidFill>
              <a:schemeClr val="bg1"/>
            </a:solidFill>
          </a:ln>
        </p:spPr>
        <p:txBody>
          <a:bodyPr/>
          <a:lstStyle/>
          <a:p>
            <a:endParaRPr lang="en-US"/>
          </a:p>
        </p:txBody>
      </p:sp>
      <p:sp>
        <p:nvSpPr>
          <p:cNvPr id="338" name="point-mass"/>
          <p:cNvSpPr/>
          <p:nvPr/>
        </p:nvSpPr>
        <p:spPr>
          <a:xfrm>
            <a:off x="6949257" y="2605857"/>
            <a:ext cx="118872" cy="118872"/>
          </a:xfrm>
          <a:prstGeom prst="ellipse">
            <a:avLst/>
          </a:prstGeom>
          <a:solidFill>
            <a:schemeClr val="tx1"/>
          </a:solidFill>
          <a:ln w="12700">
            <a:solidFill>
              <a:schemeClr val="bg1"/>
            </a:solidFill>
          </a:ln>
        </p:spPr>
        <p:txBody>
          <a:bodyPr/>
          <a:lstStyle/>
          <a:p>
            <a:endParaRPr lang="en-US"/>
          </a:p>
        </p:txBody>
      </p:sp>
      <p:sp>
        <p:nvSpPr>
          <p:cNvPr id="339" name="point-mass"/>
          <p:cNvSpPr/>
          <p:nvPr/>
        </p:nvSpPr>
        <p:spPr>
          <a:xfrm>
            <a:off x="7516185" y="2605857"/>
            <a:ext cx="118872" cy="118872"/>
          </a:xfrm>
          <a:prstGeom prst="ellipse">
            <a:avLst/>
          </a:prstGeom>
          <a:solidFill>
            <a:schemeClr val="tx1"/>
          </a:solidFill>
          <a:ln w="12700">
            <a:solidFill>
              <a:schemeClr val="bg1"/>
            </a:solidFill>
          </a:ln>
        </p:spPr>
        <p:txBody>
          <a:bodyPr/>
          <a:lstStyle/>
          <a:p>
            <a:endParaRPr lang="en-US"/>
          </a:p>
        </p:txBody>
      </p:sp>
      <p:sp>
        <p:nvSpPr>
          <p:cNvPr id="340" name="point-mass"/>
          <p:cNvSpPr/>
          <p:nvPr/>
        </p:nvSpPr>
        <p:spPr>
          <a:xfrm>
            <a:off x="8083113" y="2605857"/>
            <a:ext cx="118872" cy="118872"/>
          </a:xfrm>
          <a:prstGeom prst="ellipse">
            <a:avLst/>
          </a:prstGeom>
          <a:solidFill>
            <a:schemeClr val="tx1"/>
          </a:solidFill>
          <a:ln w="12700">
            <a:solidFill>
              <a:schemeClr val="bg1"/>
            </a:solidFill>
          </a:ln>
        </p:spPr>
        <p:txBody>
          <a:bodyPr/>
          <a:lstStyle/>
          <a:p>
            <a:endParaRPr lang="en-US"/>
          </a:p>
        </p:txBody>
      </p:sp>
      <p:sp>
        <p:nvSpPr>
          <p:cNvPr id="341" name="point-mass"/>
          <p:cNvSpPr/>
          <p:nvPr/>
        </p:nvSpPr>
        <p:spPr>
          <a:xfrm>
            <a:off x="8650041" y="2605857"/>
            <a:ext cx="118872" cy="118872"/>
          </a:xfrm>
          <a:prstGeom prst="ellipse">
            <a:avLst/>
          </a:prstGeom>
          <a:solidFill>
            <a:schemeClr val="tx1"/>
          </a:solidFill>
          <a:ln w="12700">
            <a:solidFill>
              <a:schemeClr val="bg1"/>
            </a:solidFill>
          </a:ln>
        </p:spPr>
        <p:txBody>
          <a:bodyPr/>
          <a:lstStyle/>
          <a:p>
            <a:endParaRPr lang="en-US"/>
          </a:p>
        </p:txBody>
      </p:sp>
      <p:sp>
        <p:nvSpPr>
          <p:cNvPr id="342" name="point-mass"/>
          <p:cNvSpPr/>
          <p:nvPr/>
        </p:nvSpPr>
        <p:spPr>
          <a:xfrm>
            <a:off x="5815401" y="3172785"/>
            <a:ext cx="118872" cy="118872"/>
          </a:xfrm>
          <a:prstGeom prst="ellipse">
            <a:avLst/>
          </a:prstGeom>
          <a:solidFill>
            <a:schemeClr val="tx1"/>
          </a:solidFill>
          <a:ln w="12700">
            <a:solidFill>
              <a:schemeClr val="bg1"/>
            </a:solidFill>
          </a:ln>
        </p:spPr>
        <p:txBody>
          <a:bodyPr/>
          <a:lstStyle/>
          <a:p>
            <a:endParaRPr lang="en-US"/>
          </a:p>
        </p:txBody>
      </p:sp>
      <p:sp>
        <p:nvSpPr>
          <p:cNvPr id="343" name="point-mass"/>
          <p:cNvSpPr/>
          <p:nvPr/>
        </p:nvSpPr>
        <p:spPr>
          <a:xfrm>
            <a:off x="6382329" y="3172785"/>
            <a:ext cx="118872" cy="118872"/>
          </a:xfrm>
          <a:prstGeom prst="ellipse">
            <a:avLst/>
          </a:prstGeom>
          <a:solidFill>
            <a:schemeClr val="tx1"/>
          </a:solidFill>
          <a:ln w="12700">
            <a:solidFill>
              <a:schemeClr val="bg1"/>
            </a:solidFill>
          </a:ln>
        </p:spPr>
        <p:txBody>
          <a:bodyPr/>
          <a:lstStyle/>
          <a:p>
            <a:endParaRPr lang="en-US"/>
          </a:p>
        </p:txBody>
      </p:sp>
      <p:sp>
        <p:nvSpPr>
          <p:cNvPr id="344" name="point-mass"/>
          <p:cNvSpPr/>
          <p:nvPr/>
        </p:nvSpPr>
        <p:spPr>
          <a:xfrm>
            <a:off x="6949257" y="3172785"/>
            <a:ext cx="118872" cy="118872"/>
          </a:xfrm>
          <a:prstGeom prst="ellipse">
            <a:avLst/>
          </a:prstGeom>
          <a:solidFill>
            <a:schemeClr val="tx1"/>
          </a:solidFill>
          <a:ln w="12700">
            <a:solidFill>
              <a:schemeClr val="bg1"/>
            </a:solidFill>
          </a:ln>
        </p:spPr>
        <p:txBody>
          <a:bodyPr/>
          <a:lstStyle/>
          <a:p>
            <a:endParaRPr lang="en-US"/>
          </a:p>
        </p:txBody>
      </p:sp>
      <p:sp>
        <p:nvSpPr>
          <p:cNvPr id="345" name="point-mass"/>
          <p:cNvSpPr/>
          <p:nvPr/>
        </p:nvSpPr>
        <p:spPr>
          <a:xfrm>
            <a:off x="7516185" y="3172785"/>
            <a:ext cx="118872" cy="118872"/>
          </a:xfrm>
          <a:prstGeom prst="ellipse">
            <a:avLst/>
          </a:prstGeom>
          <a:solidFill>
            <a:schemeClr val="tx1"/>
          </a:solidFill>
          <a:ln w="12700">
            <a:solidFill>
              <a:schemeClr val="bg1"/>
            </a:solidFill>
          </a:ln>
        </p:spPr>
        <p:txBody>
          <a:bodyPr/>
          <a:lstStyle/>
          <a:p>
            <a:endParaRPr lang="en-US"/>
          </a:p>
        </p:txBody>
      </p:sp>
      <p:sp>
        <p:nvSpPr>
          <p:cNvPr id="346" name="point-mass"/>
          <p:cNvSpPr/>
          <p:nvPr/>
        </p:nvSpPr>
        <p:spPr>
          <a:xfrm>
            <a:off x="8083113" y="3172785"/>
            <a:ext cx="118872" cy="118872"/>
          </a:xfrm>
          <a:prstGeom prst="ellipse">
            <a:avLst/>
          </a:prstGeom>
          <a:solidFill>
            <a:schemeClr val="tx1"/>
          </a:solidFill>
          <a:ln w="12700">
            <a:solidFill>
              <a:schemeClr val="bg1"/>
            </a:solidFill>
          </a:ln>
        </p:spPr>
        <p:txBody>
          <a:bodyPr/>
          <a:lstStyle/>
          <a:p>
            <a:endParaRPr lang="en-US"/>
          </a:p>
        </p:txBody>
      </p:sp>
      <p:sp>
        <p:nvSpPr>
          <p:cNvPr id="347" name="point-mass"/>
          <p:cNvSpPr/>
          <p:nvPr/>
        </p:nvSpPr>
        <p:spPr>
          <a:xfrm>
            <a:off x="8650041" y="3172785"/>
            <a:ext cx="118872" cy="118872"/>
          </a:xfrm>
          <a:prstGeom prst="ellipse">
            <a:avLst/>
          </a:prstGeom>
          <a:solidFill>
            <a:schemeClr val="tx1"/>
          </a:solidFill>
          <a:ln w="12700">
            <a:solidFill>
              <a:schemeClr val="bg1"/>
            </a:solidFill>
          </a:ln>
        </p:spPr>
        <p:txBody>
          <a:bodyPr/>
          <a:lstStyle/>
          <a:p>
            <a:endParaRPr lang="en-US"/>
          </a:p>
        </p:txBody>
      </p:sp>
      <p:sp>
        <p:nvSpPr>
          <p:cNvPr id="348" name="point-mass"/>
          <p:cNvSpPr/>
          <p:nvPr/>
        </p:nvSpPr>
        <p:spPr>
          <a:xfrm>
            <a:off x="5815401" y="3739713"/>
            <a:ext cx="118872" cy="118872"/>
          </a:xfrm>
          <a:prstGeom prst="ellipse">
            <a:avLst/>
          </a:prstGeom>
          <a:solidFill>
            <a:schemeClr val="tx1"/>
          </a:solidFill>
          <a:ln w="12700">
            <a:solidFill>
              <a:schemeClr val="bg1"/>
            </a:solidFill>
          </a:ln>
        </p:spPr>
        <p:txBody>
          <a:bodyPr/>
          <a:lstStyle/>
          <a:p>
            <a:endParaRPr lang="en-US"/>
          </a:p>
        </p:txBody>
      </p:sp>
      <p:sp>
        <p:nvSpPr>
          <p:cNvPr id="349" name="point-mass"/>
          <p:cNvSpPr/>
          <p:nvPr/>
        </p:nvSpPr>
        <p:spPr>
          <a:xfrm>
            <a:off x="6382329" y="3739713"/>
            <a:ext cx="118872" cy="118872"/>
          </a:xfrm>
          <a:prstGeom prst="ellipse">
            <a:avLst/>
          </a:prstGeom>
          <a:solidFill>
            <a:schemeClr val="tx1"/>
          </a:solidFill>
          <a:ln w="12700">
            <a:solidFill>
              <a:schemeClr val="bg1"/>
            </a:solidFill>
          </a:ln>
        </p:spPr>
        <p:txBody>
          <a:bodyPr/>
          <a:lstStyle/>
          <a:p>
            <a:endParaRPr lang="en-US"/>
          </a:p>
        </p:txBody>
      </p:sp>
      <p:sp>
        <p:nvSpPr>
          <p:cNvPr id="350" name="point-mass"/>
          <p:cNvSpPr/>
          <p:nvPr/>
        </p:nvSpPr>
        <p:spPr>
          <a:xfrm>
            <a:off x="6949257" y="3739713"/>
            <a:ext cx="118872" cy="118872"/>
          </a:xfrm>
          <a:prstGeom prst="ellipse">
            <a:avLst/>
          </a:prstGeom>
          <a:solidFill>
            <a:schemeClr val="tx1"/>
          </a:solidFill>
          <a:ln w="12700">
            <a:solidFill>
              <a:schemeClr val="bg1"/>
            </a:solidFill>
          </a:ln>
        </p:spPr>
        <p:txBody>
          <a:bodyPr/>
          <a:lstStyle/>
          <a:p>
            <a:endParaRPr lang="en-US"/>
          </a:p>
        </p:txBody>
      </p:sp>
      <p:sp>
        <p:nvSpPr>
          <p:cNvPr id="351" name="point-mass"/>
          <p:cNvSpPr/>
          <p:nvPr/>
        </p:nvSpPr>
        <p:spPr>
          <a:xfrm>
            <a:off x="7516185" y="3739713"/>
            <a:ext cx="118872" cy="118872"/>
          </a:xfrm>
          <a:prstGeom prst="ellipse">
            <a:avLst/>
          </a:prstGeom>
          <a:solidFill>
            <a:schemeClr val="tx1"/>
          </a:solidFill>
          <a:ln w="12700">
            <a:solidFill>
              <a:schemeClr val="bg1"/>
            </a:solidFill>
          </a:ln>
        </p:spPr>
        <p:txBody>
          <a:bodyPr/>
          <a:lstStyle/>
          <a:p>
            <a:endParaRPr lang="en-US"/>
          </a:p>
        </p:txBody>
      </p:sp>
      <p:sp>
        <p:nvSpPr>
          <p:cNvPr id="352" name="point-mass"/>
          <p:cNvSpPr/>
          <p:nvPr/>
        </p:nvSpPr>
        <p:spPr>
          <a:xfrm>
            <a:off x="8083113" y="3739713"/>
            <a:ext cx="118872" cy="118872"/>
          </a:xfrm>
          <a:prstGeom prst="ellipse">
            <a:avLst/>
          </a:prstGeom>
          <a:solidFill>
            <a:schemeClr val="tx1"/>
          </a:solidFill>
          <a:ln w="12700">
            <a:solidFill>
              <a:schemeClr val="bg1"/>
            </a:solidFill>
          </a:ln>
        </p:spPr>
        <p:txBody>
          <a:bodyPr/>
          <a:lstStyle/>
          <a:p>
            <a:endParaRPr lang="en-US"/>
          </a:p>
        </p:txBody>
      </p:sp>
      <p:sp>
        <p:nvSpPr>
          <p:cNvPr id="353" name="point-mass"/>
          <p:cNvSpPr/>
          <p:nvPr/>
        </p:nvSpPr>
        <p:spPr>
          <a:xfrm>
            <a:off x="8650041" y="3739713"/>
            <a:ext cx="118872" cy="118872"/>
          </a:xfrm>
          <a:prstGeom prst="ellipse">
            <a:avLst/>
          </a:prstGeom>
          <a:solidFill>
            <a:schemeClr val="tx1"/>
          </a:solidFill>
          <a:ln w="12700">
            <a:solidFill>
              <a:schemeClr val="bg1"/>
            </a:solidFill>
          </a:ln>
        </p:spPr>
        <p:txBody>
          <a:bodyPr/>
          <a:lstStyle/>
          <a:p>
            <a:endParaRPr lang="en-US"/>
          </a:p>
        </p:txBody>
      </p:sp>
      <p:sp>
        <p:nvSpPr>
          <p:cNvPr id="354" name="point-mass"/>
          <p:cNvSpPr/>
          <p:nvPr/>
        </p:nvSpPr>
        <p:spPr>
          <a:xfrm>
            <a:off x="5815401" y="4306641"/>
            <a:ext cx="118872" cy="118872"/>
          </a:xfrm>
          <a:prstGeom prst="ellipse">
            <a:avLst/>
          </a:prstGeom>
          <a:solidFill>
            <a:schemeClr val="tx1"/>
          </a:solidFill>
          <a:ln w="12700">
            <a:solidFill>
              <a:schemeClr val="bg1"/>
            </a:solidFill>
          </a:ln>
        </p:spPr>
        <p:txBody>
          <a:bodyPr/>
          <a:lstStyle/>
          <a:p>
            <a:endParaRPr lang="en-US"/>
          </a:p>
        </p:txBody>
      </p:sp>
      <p:sp>
        <p:nvSpPr>
          <p:cNvPr id="355" name="point-mass"/>
          <p:cNvSpPr/>
          <p:nvPr/>
        </p:nvSpPr>
        <p:spPr>
          <a:xfrm>
            <a:off x="6382329" y="4306641"/>
            <a:ext cx="118872" cy="118872"/>
          </a:xfrm>
          <a:prstGeom prst="ellipse">
            <a:avLst/>
          </a:prstGeom>
          <a:solidFill>
            <a:schemeClr val="tx1"/>
          </a:solidFill>
          <a:ln w="12700">
            <a:solidFill>
              <a:schemeClr val="bg1"/>
            </a:solidFill>
          </a:ln>
        </p:spPr>
        <p:txBody>
          <a:bodyPr/>
          <a:lstStyle/>
          <a:p>
            <a:endParaRPr lang="en-US"/>
          </a:p>
        </p:txBody>
      </p:sp>
      <p:sp>
        <p:nvSpPr>
          <p:cNvPr id="356" name="point-mass"/>
          <p:cNvSpPr/>
          <p:nvPr/>
        </p:nvSpPr>
        <p:spPr>
          <a:xfrm>
            <a:off x="6949257" y="4306641"/>
            <a:ext cx="118872" cy="118872"/>
          </a:xfrm>
          <a:prstGeom prst="ellipse">
            <a:avLst/>
          </a:prstGeom>
          <a:solidFill>
            <a:schemeClr val="tx1"/>
          </a:solidFill>
          <a:ln w="12700">
            <a:solidFill>
              <a:schemeClr val="bg1"/>
            </a:solidFill>
          </a:ln>
        </p:spPr>
        <p:txBody>
          <a:bodyPr/>
          <a:lstStyle/>
          <a:p>
            <a:endParaRPr lang="en-US"/>
          </a:p>
        </p:txBody>
      </p:sp>
      <p:sp>
        <p:nvSpPr>
          <p:cNvPr id="357" name="point-mass"/>
          <p:cNvSpPr/>
          <p:nvPr/>
        </p:nvSpPr>
        <p:spPr>
          <a:xfrm>
            <a:off x="7516185" y="4306641"/>
            <a:ext cx="118872" cy="118872"/>
          </a:xfrm>
          <a:prstGeom prst="ellipse">
            <a:avLst/>
          </a:prstGeom>
          <a:solidFill>
            <a:schemeClr val="tx1"/>
          </a:solidFill>
          <a:ln w="12700">
            <a:solidFill>
              <a:schemeClr val="bg1"/>
            </a:solidFill>
          </a:ln>
        </p:spPr>
        <p:txBody>
          <a:bodyPr/>
          <a:lstStyle/>
          <a:p>
            <a:endParaRPr lang="en-US"/>
          </a:p>
        </p:txBody>
      </p:sp>
      <p:sp>
        <p:nvSpPr>
          <p:cNvPr id="358" name="point-mass"/>
          <p:cNvSpPr/>
          <p:nvPr/>
        </p:nvSpPr>
        <p:spPr>
          <a:xfrm>
            <a:off x="8083113" y="4306641"/>
            <a:ext cx="118872" cy="118872"/>
          </a:xfrm>
          <a:prstGeom prst="ellipse">
            <a:avLst/>
          </a:prstGeom>
          <a:solidFill>
            <a:schemeClr val="tx1"/>
          </a:solidFill>
          <a:ln w="12700">
            <a:solidFill>
              <a:schemeClr val="bg1"/>
            </a:solidFill>
          </a:ln>
        </p:spPr>
        <p:txBody>
          <a:bodyPr/>
          <a:lstStyle/>
          <a:p>
            <a:endParaRPr lang="en-US"/>
          </a:p>
        </p:txBody>
      </p:sp>
      <p:sp>
        <p:nvSpPr>
          <p:cNvPr id="359" name="point-mass"/>
          <p:cNvSpPr/>
          <p:nvPr/>
        </p:nvSpPr>
        <p:spPr>
          <a:xfrm>
            <a:off x="8650041" y="4306641"/>
            <a:ext cx="118872" cy="118872"/>
          </a:xfrm>
          <a:prstGeom prst="ellipse">
            <a:avLst/>
          </a:prstGeom>
          <a:solidFill>
            <a:schemeClr val="tx1"/>
          </a:solidFill>
          <a:ln w="12700">
            <a:solidFill>
              <a:schemeClr val="bg1"/>
            </a:solidFill>
          </a:ln>
        </p:spPr>
        <p:txBody>
          <a:bodyPr/>
          <a:lstStyle/>
          <a:p>
            <a:endParaRPr lang="en-US"/>
          </a:p>
        </p:txBody>
      </p:sp>
      <p:sp>
        <p:nvSpPr>
          <p:cNvPr id="360" name="key-mass"/>
          <p:cNvSpPr/>
          <p:nvPr/>
        </p:nvSpPr>
        <p:spPr>
          <a:xfrm>
            <a:off x="5875401" y="4626681"/>
            <a:ext cx="118872" cy="118872"/>
          </a:xfrm>
          <a:prstGeom prst="ellipse">
            <a:avLst/>
          </a:prstGeom>
          <a:solidFill>
            <a:schemeClr val="tx1"/>
          </a:solidFill>
          <a:ln w="12700">
            <a:solidFill>
              <a:schemeClr val="bg1"/>
            </a:solidFill>
          </a:ln>
        </p:spPr>
        <p:txBody>
          <a:bodyPr/>
          <a:lstStyle/>
          <a:p>
            <a:endParaRPr lang="en-US"/>
          </a:p>
        </p:txBody>
      </p:sp>
      <p:sp>
        <p:nvSpPr>
          <p:cNvPr id="361" name="key-mass-label"/>
          <p:cNvSpPr txBox="1"/>
          <p:nvPr/>
        </p:nvSpPr>
        <p:spPr>
          <a:xfrm>
            <a:off x="6057717" y="4594677"/>
            <a:ext cx="1000000" cy="182880"/>
          </a:xfrm>
          <a:prstGeom prst="rect">
            <a:avLst/>
          </a:prstGeom>
          <a:noFill/>
          <a:ln/>
        </p:spPr>
        <p:txBody>
          <a:bodyPr wrap="square" lIns="0" tIns="0" rIns="0" bIns="0" rtlCol="0" anchor="t"/>
          <a:lstStyle/>
          <a:p>
            <a:pPr marL="0" indent="0" algn="l">
              <a:buNone/>
            </a:pPr>
            <a:r>
              <a:rPr lang="en-US" sz="1100" dirty="0">
                <a:solidFill>
                  <a:schemeClr val="tx2"/>
                </a:solidFill>
              </a:rPr>
              <a:t>point mass</a:t>
            </a:r>
          </a:p>
        </p:txBody>
      </p:sp>
      <p:sp>
        <p:nvSpPr>
          <p:cNvPr id="362" name="key-spring"/>
          <p:cNvSpPr/>
          <p:nvPr/>
        </p:nvSpPr>
        <p:spPr>
          <a:xfrm>
            <a:off x="7100133" y="4641117"/>
            <a:ext cx="365760" cy="90000"/>
          </a:xfrm>
          <a:custGeom>
            <a:avLst/>
            <a:gdLst/>
            <a:ahLst/>
            <a:cxnLst/>
            <a:rect l="0" t="0" r="r" b="b"/>
            <a:pathLst>
              <a:path w="1000" h="100" fill="none">
                <a:moveTo>
                  <a:pt x="0" y="50"/>
                </a:moveTo>
                <a:lnTo>
                  <a:pt x="180" y="50"/>
                </a:lnTo>
                <a:lnTo>
                  <a:pt x="226" y="0"/>
                </a:lnTo>
                <a:lnTo>
                  <a:pt x="317" y="100"/>
                </a:lnTo>
                <a:lnTo>
                  <a:pt x="409" y="0"/>
                </a:lnTo>
                <a:lnTo>
                  <a:pt x="500" y="100"/>
                </a:lnTo>
                <a:lnTo>
                  <a:pt x="591" y="0"/>
                </a:lnTo>
                <a:lnTo>
                  <a:pt x="683" y="100"/>
                </a:lnTo>
                <a:lnTo>
                  <a:pt x="774" y="0"/>
                </a:lnTo>
                <a:lnTo>
                  <a:pt x="820" y="50"/>
                </a:lnTo>
                <a:lnTo>
                  <a:pt x="1000" y="50"/>
                </a:lnTo>
              </a:path>
            </a:pathLst>
          </a:custGeom>
          <a:noFill/>
          <a:ln w="19050" cap="rnd">
            <a:solidFill>
              <a:schemeClr val="accent4"/>
            </a:solidFill>
            <a:round/>
          </a:ln>
        </p:spPr>
        <p:txBody>
          <a:bodyPr/>
          <a:lstStyle/>
          <a:p>
            <a:endParaRPr lang="en-US"/>
          </a:p>
        </p:txBody>
      </p:sp>
      <p:sp>
        <p:nvSpPr>
          <p:cNvPr id="363" name="key-spring-label"/>
          <p:cNvSpPr txBox="1"/>
          <p:nvPr/>
        </p:nvSpPr>
        <p:spPr>
          <a:xfrm>
            <a:off x="7557333" y="4594677"/>
            <a:ext cx="1000000" cy="182880"/>
          </a:xfrm>
          <a:prstGeom prst="rect">
            <a:avLst/>
          </a:prstGeom>
          <a:noFill/>
          <a:ln/>
        </p:spPr>
        <p:txBody>
          <a:bodyPr wrap="square" lIns="0" tIns="0" rIns="0" bIns="0" rtlCol="0" anchor="t"/>
          <a:lstStyle/>
          <a:p>
            <a:pPr marL="0" indent="0" algn="l">
              <a:buNone/>
            </a:pPr>
            <a:r>
              <a:rPr lang="en-US" sz="1100" dirty="0">
                <a:solidFill>
                  <a:schemeClr val="tx2"/>
                </a:solidFill>
              </a:rPr>
              <a:t>spring</a:t>
            </a:r>
          </a:p>
        </p:txBody>
      </p:sp>
      <p:sp>
        <p:nvSpPr>
          <p:cNvPr id="43" name="bullets-99"/>
          <p:cNvSpPr txBox="1"/>
          <p:nvPr/>
        </p:nvSpPr>
        <p:spPr>
          <a:xfrm>
            <a:off x="9006840" y="1508760"/>
            <a:ext cx="2651760" cy="29260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Each voxel is point masses at its corners, joined by springs</a:t>
            </a:r>
            <a:endParaRPr lang="en-US" sz="1500" dirty="0"/>
          </a:p>
          <a:p>
            <a:pPr marL="228600" indent="-228600">
              <a:spcAft>
                <a:spcPts val="800"/>
              </a:spcAft>
              <a:buSzPct val="100000"/>
              <a:buChar char="•"/>
            </a:pPr>
            <a:r>
              <a:rPr lang="en-US" sz="1500" dirty="0">
                <a:solidFill>
                  <a:schemeClr val="tx1"/>
                </a:solidFill>
              </a:rPr>
              <a:t>Muscles are springs whose rest length the brain sets</a:t>
            </a:r>
            <a:endParaRPr lang="en-US" sz="1500" dirty="0"/>
          </a:p>
          <a:p>
            <a:pPr marL="228600" indent="-228600">
              <a:spcAft>
                <a:spcPts val="800"/>
              </a:spcAft>
              <a:buSzPct val="100000"/>
              <a:buChar char="•"/>
            </a:pPr>
            <a:r>
              <a:rPr lang="en-US" sz="1500" dirty="0">
                <a:solidFill>
                  <a:schemeClr val="tx1"/>
                </a:solidFill>
              </a:rPr>
              <a:t>Row 0 is the top; the last row rests on the ground</a:t>
            </a:r>
            <a:endParaRPr lang="en-US" sz="1500" dirty="0"/>
          </a:p>
        </p:txBody>
      </p:sp>
      <p:sp>
        <p:nvSpPr>
          <p:cNvPr id="44" name="text-100"/>
          <p:cNvSpPr txBox="1"/>
          <p:nvPr/>
        </p:nvSpPr>
        <p:spPr>
          <a:xfrm>
            <a:off x="548640" y="5623560"/>
            <a:ext cx="11094415" cy="365760"/>
          </a:xfrm>
          <a:prstGeom prst="rect">
            <a:avLst/>
          </a:prstGeom>
          <a:noFill/>
          <a:ln/>
        </p:spPr>
        <p:txBody>
          <a:bodyPr wrap="square" lIns="0" tIns="0" rIns="0" bIns="0" rtlCol="0" anchor="t"/>
          <a:lstStyle/>
          <a:p>
            <a:pPr marL="0" indent="0">
              <a:buNone/>
            </a:pPr>
            <a:r>
              <a:rPr lang="en-US" sz="1600" b="1" dirty="0">
                <a:solidFill>
                  <a:schemeClr val="tx1"/>
                </a:solidFill>
              </a:rPr>
              <a:t>The task (Walker-v0): walk to the right, as far as possible.</a:t>
            </a:r>
            <a:endParaRPr lang="en-US" sz="1600" dirty="0"/>
          </a:p>
        </p:txBody>
      </p:sp>
      <p:sp>
        <p:nvSpPr>
          <p:cNvPr id="4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A muscle gets a target length every step</a:t>
            </a:r>
            <a:endParaRPr lang="en-US" sz="3200" dirty="0"/>
          </a:p>
        </p:txBody>
      </p:sp>
      <p:sp>
        <p:nvSpPr>
          <p:cNvPr id="3" name="muscle-h-101"/>
          <p:cNvSpPr/>
          <p:nvPr/>
        </p:nvSpPr>
        <p:spPr>
          <a:xfrm>
            <a:off x="1371600" y="1737360"/>
            <a:ext cx="548640" cy="914400"/>
          </a:xfrm>
          <a:prstGeom prst="rect">
            <a:avLst/>
          </a:prstGeom>
          <a:solidFill>
            <a:schemeClr val="accent1"/>
          </a:solidFill>
          <a:ln/>
        </p:spPr>
        <p:txBody>
          <a:bodyPr/>
          <a:lstStyle/>
          <a:p>
            <a:endParaRPr lang="en-US"/>
          </a:p>
        </p:txBody>
      </p:sp>
      <p:sp>
        <p:nvSpPr>
          <p:cNvPr id="4" name="text-102"/>
          <p:cNvSpPr txBox="1"/>
          <p:nvPr/>
        </p:nvSpPr>
        <p:spPr>
          <a:xfrm>
            <a:off x="731520" y="2743200"/>
            <a:ext cx="1828800" cy="320040"/>
          </a:xfrm>
          <a:prstGeom prst="rect">
            <a:avLst/>
          </a:prstGeom>
          <a:noFill/>
          <a:ln/>
        </p:spPr>
        <p:txBody>
          <a:bodyPr wrap="square" lIns="0" tIns="0" rIns="0" bIns="0" rtlCol="0" anchor="t"/>
          <a:lstStyle/>
          <a:p>
            <a:pPr marL="0" indent="0" algn="ctr">
              <a:buNone/>
            </a:pPr>
            <a:r>
              <a:rPr lang="en-US" sz="1400" dirty="0">
                <a:solidFill>
                  <a:schemeClr val="tx2"/>
                </a:solidFill>
              </a:rPr>
              <a:t>0.6 squeeze</a:t>
            </a:r>
            <a:endParaRPr lang="en-US" sz="1400" dirty="0"/>
          </a:p>
        </p:txBody>
      </p:sp>
      <p:sp>
        <p:nvSpPr>
          <p:cNvPr id="5" name="muscle-v-103"/>
          <p:cNvSpPr/>
          <p:nvPr/>
        </p:nvSpPr>
        <p:spPr>
          <a:xfrm>
            <a:off x="1188720" y="4480560"/>
            <a:ext cx="914400" cy="548640"/>
          </a:xfrm>
          <a:prstGeom prst="rect">
            <a:avLst/>
          </a:prstGeom>
          <a:solidFill>
            <a:schemeClr val="accent2"/>
          </a:solidFill>
          <a:ln/>
        </p:spPr>
        <p:txBody>
          <a:bodyPr/>
          <a:lstStyle/>
          <a:p>
            <a:endParaRPr lang="en-US"/>
          </a:p>
        </p:txBody>
      </p:sp>
      <p:sp>
        <p:nvSpPr>
          <p:cNvPr id="6" name="text-104"/>
          <p:cNvSpPr txBox="1"/>
          <p:nvPr/>
        </p:nvSpPr>
        <p:spPr>
          <a:xfrm>
            <a:off x="731520" y="5120640"/>
            <a:ext cx="1828800" cy="320040"/>
          </a:xfrm>
          <a:prstGeom prst="rect">
            <a:avLst/>
          </a:prstGeom>
          <a:noFill/>
          <a:ln/>
        </p:spPr>
        <p:txBody>
          <a:bodyPr wrap="square" lIns="0" tIns="0" rIns="0" bIns="0" rtlCol="0" anchor="t"/>
          <a:lstStyle/>
          <a:p>
            <a:pPr marL="0" indent="0" algn="ctr">
              <a:buNone/>
            </a:pPr>
            <a:r>
              <a:rPr lang="en-US" sz="1400" dirty="0">
                <a:solidFill>
                  <a:schemeClr val="tx2"/>
                </a:solidFill>
              </a:rPr>
              <a:t>0.6 squeeze</a:t>
            </a:r>
            <a:endParaRPr lang="en-US" sz="1400" dirty="0"/>
          </a:p>
        </p:txBody>
      </p:sp>
      <p:sp>
        <p:nvSpPr>
          <p:cNvPr id="7" name="muscle-h-105"/>
          <p:cNvSpPr/>
          <p:nvPr/>
        </p:nvSpPr>
        <p:spPr>
          <a:xfrm>
            <a:off x="3337560" y="1737360"/>
            <a:ext cx="914400" cy="914400"/>
          </a:xfrm>
          <a:prstGeom prst="rect">
            <a:avLst/>
          </a:prstGeom>
          <a:solidFill>
            <a:schemeClr val="accent1"/>
          </a:solidFill>
          <a:ln/>
        </p:spPr>
        <p:txBody>
          <a:bodyPr/>
          <a:lstStyle/>
          <a:p>
            <a:endParaRPr lang="en-US"/>
          </a:p>
        </p:txBody>
      </p:sp>
      <p:sp>
        <p:nvSpPr>
          <p:cNvPr id="8" name="text-106"/>
          <p:cNvSpPr txBox="1"/>
          <p:nvPr/>
        </p:nvSpPr>
        <p:spPr>
          <a:xfrm>
            <a:off x="2880360" y="2743200"/>
            <a:ext cx="1828800" cy="320040"/>
          </a:xfrm>
          <a:prstGeom prst="rect">
            <a:avLst/>
          </a:prstGeom>
          <a:noFill/>
          <a:ln/>
        </p:spPr>
        <p:txBody>
          <a:bodyPr wrap="square" lIns="0" tIns="0" rIns="0" bIns="0" rtlCol="0" anchor="t"/>
          <a:lstStyle/>
          <a:p>
            <a:pPr marL="0" indent="0" algn="ctr">
              <a:buNone/>
            </a:pPr>
            <a:r>
              <a:rPr lang="en-US" sz="1400" dirty="0">
                <a:solidFill>
                  <a:schemeClr val="tx2"/>
                </a:solidFill>
              </a:rPr>
              <a:t>1.0 rest</a:t>
            </a:r>
            <a:endParaRPr lang="en-US" sz="1400" dirty="0"/>
          </a:p>
        </p:txBody>
      </p:sp>
      <p:sp>
        <p:nvSpPr>
          <p:cNvPr id="9" name="muscle-v-107"/>
          <p:cNvSpPr/>
          <p:nvPr/>
        </p:nvSpPr>
        <p:spPr>
          <a:xfrm>
            <a:off x="3337560" y="4114800"/>
            <a:ext cx="914400" cy="914400"/>
          </a:xfrm>
          <a:prstGeom prst="rect">
            <a:avLst/>
          </a:prstGeom>
          <a:solidFill>
            <a:schemeClr val="accent2"/>
          </a:solidFill>
          <a:ln/>
        </p:spPr>
        <p:txBody>
          <a:bodyPr/>
          <a:lstStyle/>
          <a:p>
            <a:endParaRPr lang="en-US"/>
          </a:p>
        </p:txBody>
      </p:sp>
      <p:sp>
        <p:nvSpPr>
          <p:cNvPr id="10" name="text-108"/>
          <p:cNvSpPr txBox="1"/>
          <p:nvPr/>
        </p:nvSpPr>
        <p:spPr>
          <a:xfrm>
            <a:off x="2880360" y="5120640"/>
            <a:ext cx="1828800" cy="320040"/>
          </a:xfrm>
          <a:prstGeom prst="rect">
            <a:avLst/>
          </a:prstGeom>
          <a:noFill/>
          <a:ln/>
        </p:spPr>
        <p:txBody>
          <a:bodyPr wrap="square" lIns="0" tIns="0" rIns="0" bIns="0" rtlCol="0" anchor="t"/>
          <a:lstStyle/>
          <a:p>
            <a:pPr marL="0" indent="0" algn="ctr">
              <a:buNone/>
            </a:pPr>
            <a:r>
              <a:rPr lang="en-US" sz="1400" dirty="0">
                <a:solidFill>
                  <a:schemeClr val="tx2"/>
                </a:solidFill>
              </a:rPr>
              <a:t>1.0 rest</a:t>
            </a:r>
            <a:endParaRPr lang="en-US" sz="1400" dirty="0"/>
          </a:p>
        </p:txBody>
      </p:sp>
      <p:sp>
        <p:nvSpPr>
          <p:cNvPr id="11" name="muscle-h-109"/>
          <p:cNvSpPr/>
          <p:nvPr/>
        </p:nvSpPr>
        <p:spPr>
          <a:xfrm>
            <a:off x="5212080" y="1737360"/>
            <a:ext cx="1463040" cy="914400"/>
          </a:xfrm>
          <a:prstGeom prst="rect">
            <a:avLst/>
          </a:prstGeom>
          <a:solidFill>
            <a:schemeClr val="accent1"/>
          </a:solidFill>
          <a:ln/>
        </p:spPr>
        <p:txBody>
          <a:bodyPr/>
          <a:lstStyle/>
          <a:p>
            <a:endParaRPr lang="en-US"/>
          </a:p>
        </p:txBody>
      </p:sp>
      <p:sp>
        <p:nvSpPr>
          <p:cNvPr id="12" name="text-110"/>
          <p:cNvSpPr txBox="1"/>
          <p:nvPr/>
        </p:nvSpPr>
        <p:spPr>
          <a:xfrm>
            <a:off x="5029200" y="2743200"/>
            <a:ext cx="1828800" cy="320040"/>
          </a:xfrm>
          <a:prstGeom prst="rect">
            <a:avLst/>
          </a:prstGeom>
          <a:noFill/>
          <a:ln/>
        </p:spPr>
        <p:txBody>
          <a:bodyPr wrap="square" lIns="0" tIns="0" rIns="0" bIns="0" rtlCol="0" anchor="t"/>
          <a:lstStyle/>
          <a:p>
            <a:pPr marL="0" indent="0" algn="ctr">
              <a:buNone/>
            </a:pPr>
            <a:r>
              <a:rPr lang="en-US" sz="1400" dirty="0">
                <a:solidFill>
                  <a:schemeClr val="tx2"/>
                </a:solidFill>
              </a:rPr>
              <a:t>1.6 stretch</a:t>
            </a:r>
            <a:endParaRPr lang="en-US" sz="1400" dirty="0"/>
          </a:p>
        </p:txBody>
      </p:sp>
      <p:sp>
        <p:nvSpPr>
          <p:cNvPr id="13" name="muscle-v-111"/>
          <p:cNvSpPr/>
          <p:nvPr/>
        </p:nvSpPr>
        <p:spPr>
          <a:xfrm>
            <a:off x="5486400" y="3566160"/>
            <a:ext cx="914400" cy="1463040"/>
          </a:xfrm>
          <a:prstGeom prst="rect">
            <a:avLst/>
          </a:prstGeom>
          <a:solidFill>
            <a:schemeClr val="accent2"/>
          </a:solidFill>
          <a:ln/>
        </p:spPr>
        <p:txBody>
          <a:bodyPr/>
          <a:lstStyle/>
          <a:p>
            <a:endParaRPr lang="en-US"/>
          </a:p>
        </p:txBody>
      </p:sp>
      <p:sp>
        <p:nvSpPr>
          <p:cNvPr id="14" name="text-112"/>
          <p:cNvSpPr txBox="1"/>
          <p:nvPr/>
        </p:nvSpPr>
        <p:spPr>
          <a:xfrm>
            <a:off x="5029200" y="5120640"/>
            <a:ext cx="1828800" cy="320040"/>
          </a:xfrm>
          <a:prstGeom prst="rect">
            <a:avLst/>
          </a:prstGeom>
          <a:noFill/>
          <a:ln/>
        </p:spPr>
        <p:txBody>
          <a:bodyPr wrap="square" lIns="0" tIns="0" rIns="0" bIns="0" rtlCol="0" anchor="t"/>
          <a:lstStyle/>
          <a:p>
            <a:pPr marL="0" indent="0" algn="ctr">
              <a:buNone/>
            </a:pPr>
            <a:r>
              <a:rPr lang="en-US" sz="1400" dirty="0">
                <a:solidFill>
                  <a:schemeClr val="tx2"/>
                </a:solidFill>
              </a:rPr>
              <a:t>1.6 stretch</a:t>
            </a:r>
            <a:endParaRPr lang="en-US" sz="1400" dirty="0"/>
          </a:p>
        </p:txBody>
      </p:sp>
      <p:sp>
        <p:nvSpPr>
          <p:cNvPr id="15" name="text-113"/>
          <p:cNvSpPr txBox="1"/>
          <p:nvPr/>
        </p:nvSpPr>
        <p:spPr>
          <a:xfrm>
            <a:off x="548640" y="1325880"/>
            <a:ext cx="5943600" cy="320040"/>
          </a:xfrm>
          <a:prstGeom prst="rect">
            <a:avLst/>
          </a:prstGeom>
          <a:noFill/>
          <a:ln/>
        </p:spPr>
        <p:txBody>
          <a:bodyPr wrap="square" lIns="0" tIns="0" rIns="0" bIns="0" rtlCol="0" anchor="t"/>
          <a:lstStyle/>
          <a:p>
            <a:pPr marL="0" indent="0">
              <a:buNone/>
            </a:pPr>
            <a:r>
              <a:rPr lang="en-US" sz="1400" b="1" dirty="0">
                <a:solidFill>
                  <a:schemeClr val="tx2"/>
                </a:solidFill>
              </a:rPr>
              <a:t>Horizontal muscles change width</a:t>
            </a:r>
            <a:endParaRPr lang="en-US" sz="1400" dirty="0"/>
          </a:p>
        </p:txBody>
      </p:sp>
      <p:sp>
        <p:nvSpPr>
          <p:cNvPr id="16" name="text-114"/>
          <p:cNvSpPr txBox="1"/>
          <p:nvPr/>
        </p:nvSpPr>
        <p:spPr>
          <a:xfrm>
            <a:off x="548640" y="3154680"/>
            <a:ext cx="5943600" cy="320040"/>
          </a:xfrm>
          <a:prstGeom prst="rect">
            <a:avLst/>
          </a:prstGeom>
          <a:noFill/>
          <a:ln/>
        </p:spPr>
        <p:txBody>
          <a:bodyPr wrap="square" lIns="0" tIns="0" rIns="0" bIns="0" rtlCol="0" anchor="t"/>
          <a:lstStyle/>
          <a:p>
            <a:pPr marL="0" indent="0">
              <a:buNone/>
            </a:pPr>
            <a:r>
              <a:rPr lang="en-US" sz="1400" b="1" dirty="0">
                <a:solidFill>
                  <a:schemeClr val="tx2"/>
                </a:solidFill>
              </a:rPr>
              <a:t>Vertical muscles change height</a:t>
            </a:r>
            <a:endParaRPr lang="en-US" sz="1400" dirty="0"/>
          </a:p>
        </p:txBody>
      </p:sp>
      <p:sp>
        <p:nvSpPr>
          <p:cNvPr id="17" name="card-115"/>
          <p:cNvSpPr/>
          <p:nvPr/>
        </p:nvSpPr>
        <p:spPr>
          <a:xfrm>
            <a:off x="7315200" y="1463040"/>
            <a:ext cx="4325112" cy="3840480"/>
          </a:xfrm>
          <a:prstGeom prst="roundRect">
            <a:avLst>
              <a:gd name="adj" fmla="val 1905"/>
            </a:avLst>
          </a:prstGeom>
          <a:solidFill>
            <a:schemeClr val="bg2"/>
          </a:solidFill>
          <a:ln/>
        </p:spPr>
        <p:txBody>
          <a:bodyPr/>
          <a:lstStyle/>
          <a:p>
            <a:endParaRPr lang="en-US"/>
          </a:p>
        </p:txBody>
      </p:sp>
      <p:sp>
        <p:nvSpPr>
          <p:cNvPr id="18" name="bullets-116"/>
          <p:cNvSpPr txBox="1"/>
          <p:nvPr/>
        </p:nvSpPr>
        <p:spPr>
          <a:xfrm>
            <a:off x="7635240" y="1783080"/>
            <a:ext cx="3703320" cy="32918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One number per muscle, every simulation step</a:t>
            </a:r>
            <a:endParaRPr lang="en-US" sz="1600" dirty="0"/>
          </a:p>
          <a:p>
            <a:pPr marL="228600" indent="-228600">
              <a:spcAft>
                <a:spcPts val="800"/>
              </a:spcAft>
              <a:buSzPct val="100000"/>
              <a:buChar char="•"/>
            </a:pPr>
            <a:r>
              <a:rPr lang="en-US" sz="1600" dirty="0">
                <a:solidFill>
                  <a:schemeClr val="tx1"/>
                </a:solidFill>
              </a:rPr>
              <a:t>Always in [0.6, 1.6]: a fraction of the muscle's rest length</a:t>
            </a:r>
            <a:endParaRPr lang="en-US" sz="1600" dirty="0"/>
          </a:p>
          <a:p>
            <a:pPr marL="228600" indent="-228600">
              <a:spcAft>
                <a:spcPts val="800"/>
              </a:spcAft>
              <a:buSzPct val="100000"/>
              <a:buChar char="•"/>
            </a:pPr>
            <a:r>
              <a:rPr lang="en-US" sz="1600" dirty="0">
                <a:solidFill>
                  <a:schemeClr val="tx1"/>
                </a:solidFill>
              </a:rPr>
              <a:t>The brain's whole job: turn its inputs into these numbers</a:t>
            </a:r>
            <a:endParaRPr lang="en-US" sz="1600" dirty="0"/>
          </a:p>
          <a:p>
            <a:pPr marL="228600" indent="-228600">
              <a:spcAft>
                <a:spcPts val="800"/>
              </a:spcAft>
              <a:buSzPct val="100000"/>
              <a:buChar char="•"/>
            </a:pPr>
            <a:r>
              <a:rPr lang="en-US" sz="1600" dirty="0">
                <a:solidFill>
                  <a:schemeClr val="tx1"/>
                </a:solidFill>
              </a:rPr>
              <a:t>Walking happens only if the muscles are coordinated in time and across the body</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Things to know about the simulator</a:t>
            </a:r>
            <a:endParaRPr lang="en-US" sz="3200" dirty="0"/>
          </a:p>
        </p:txBody>
      </p:sp>
      <p:sp>
        <p:nvSpPr>
          <p:cNvPr id="3" name="card-117"/>
          <p:cNvSpPr/>
          <p:nvPr/>
        </p:nvSpPr>
        <p:spPr>
          <a:xfrm>
            <a:off x="548640" y="1463040"/>
            <a:ext cx="2560320" cy="2377440"/>
          </a:xfrm>
          <a:prstGeom prst="roundRect">
            <a:avLst>
              <a:gd name="adj" fmla="val 3077"/>
            </a:avLst>
          </a:prstGeom>
          <a:solidFill>
            <a:schemeClr val="bg2"/>
          </a:solidFill>
          <a:ln/>
        </p:spPr>
        <p:txBody>
          <a:bodyPr/>
          <a:lstStyle/>
          <a:p>
            <a:endParaRPr lang="en-US"/>
          </a:p>
        </p:txBody>
      </p:sp>
      <p:sp>
        <p:nvSpPr>
          <p:cNvPr id="4" name="text-118"/>
          <p:cNvSpPr txBox="1"/>
          <p:nvPr/>
        </p:nvSpPr>
        <p:spPr>
          <a:xfrm>
            <a:off x="822960" y="1600200"/>
            <a:ext cx="2103120" cy="822960"/>
          </a:xfrm>
          <a:prstGeom prst="rect">
            <a:avLst/>
          </a:prstGeom>
          <a:noFill/>
          <a:ln/>
        </p:spPr>
        <p:txBody>
          <a:bodyPr wrap="square" lIns="0" tIns="0" rIns="0" bIns="0" rtlCol="0" anchor="b"/>
          <a:lstStyle/>
          <a:p>
            <a:pPr marL="0" indent="0">
              <a:buNone/>
            </a:pPr>
            <a:r>
              <a:rPr lang="en-US" sz="4400" b="1" dirty="0">
                <a:solidFill>
                  <a:schemeClr val="accent6"/>
                </a:solidFill>
              </a:rPr>
              <a:t>300</a:t>
            </a:r>
            <a:endParaRPr lang="en-US" sz="4400" dirty="0"/>
          </a:p>
        </p:txBody>
      </p:sp>
      <p:sp>
        <p:nvSpPr>
          <p:cNvPr id="5" name="text-119"/>
          <p:cNvSpPr txBox="1"/>
          <p:nvPr/>
        </p:nvSpPr>
        <p:spPr>
          <a:xfrm>
            <a:off x="822960" y="2468880"/>
            <a:ext cx="2103120" cy="1234440"/>
          </a:xfrm>
          <a:prstGeom prst="rect">
            <a:avLst/>
          </a:prstGeom>
          <a:noFill/>
          <a:ln/>
        </p:spPr>
        <p:txBody>
          <a:bodyPr wrap="square" lIns="0" tIns="0" rIns="0" bIns="0" rtlCol="0" anchor="t"/>
          <a:lstStyle/>
          <a:p>
            <a:pPr marL="0" indent="0">
              <a:buNone/>
            </a:pPr>
            <a:r>
              <a:rPr lang="en-US" sz="1400" dirty="0">
                <a:solidFill>
                  <a:schemeClr val="tx2"/>
                </a:solidFill>
              </a:rPr>
              <a:t>simulation steps per episode. The brain's clock repeats every 25 steps, so that's about 12 beats of its rhythm.</a:t>
            </a:r>
            <a:endParaRPr lang="en-US" sz="1400" dirty="0"/>
          </a:p>
        </p:txBody>
      </p:sp>
      <p:sp>
        <p:nvSpPr>
          <p:cNvPr id="6" name="card-120"/>
          <p:cNvSpPr/>
          <p:nvPr/>
        </p:nvSpPr>
        <p:spPr>
          <a:xfrm>
            <a:off x="3337560" y="1463040"/>
            <a:ext cx="2560320" cy="2377440"/>
          </a:xfrm>
          <a:prstGeom prst="roundRect">
            <a:avLst>
              <a:gd name="adj" fmla="val 3077"/>
            </a:avLst>
          </a:prstGeom>
          <a:solidFill>
            <a:schemeClr val="bg2"/>
          </a:solidFill>
          <a:ln/>
        </p:spPr>
        <p:txBody>
          <a:bodyPr/>
          <a:lstStyle/>
          <a:p>
            <a:endParaRPr lang="en-US"/>
          </a:p>
        </p:txBody>
      </p:sp>
      <p:sp>
        <p:nvSpPr>
          <p:cNvPr id="7" name="text-121"/>
          <p:cNvSpPr txBox="1"/>
          <p:nvPr/>
        </p:nvSpPr>
        <p:spPr>
          <a:xfrm>
            <a:off x="3611880" y="1600200"/>
            <a:ext cx="2103120" cy="822960"/>
          </a:xfrm>
          <a:prstGeom prst="rect">
            <a:avLst/>
          </a:prstGeom>
          <a:noFill/>
          <a:ln/>
        </p:spPr>
        <p:txBody>
          <a:bodyPr wrap="square" lIns="0" tIns="0" rIns="0" bIns="0" rtlCol="0" anchor="b"/>
          <a:lstStyle/>
          <a:p>
            <a:pPr marL="0" indent="0">
              <a:buNone/>
            </a:pPr>
            <a:r>
              <a:rPr lang="en-US" sz="4400" b="1" dirty="0">
                <a:solidFill>
                  <a:schemeClr val="accent6"/>
                </a:solidFill>
              </a:rPr>
              <a:t>1.0</a:t>
            </a:r>
            <a:endParaRPr lang="en-US" sz="4400" dirty="0"/>
          </a:p>
        </p:txBody>
      </p:sp>
      <p:sp>
        <p:nvSpPr>
          <p:cNvPr id="8" name="text-122"/>
          <p:cNvSpPr txBox="1"/>
          <p:nvPr/>
        </p:nvSpPr>
        <p:spPr>
          <a:xfrm>
            <a:off x="3611880" y="2468880"/>
            <a:ext cx="2103120" cy="731520"/>
          </a:xfrm>
          <a:prstGeom prst="rect">
            <a:avLst/>
          </a:prstGeom>
          <a:noFill/>
          <a:ln/>
        </p:spPr>
        <p:txBody>
          <a:bodyPr wrap="square" lIns="0" tIns="0" rIns="0" bIns="0" rtlCol="0" anchor="t"/>
          <a:lstStyle/>
          <a:p>
            <a:pPr marL="0" indent="0">
              <a:buNone/>
            </a:pPr>
            <a:r>
              <a:rPr lang="en-US" sz="1400" dirty="0">
                <a:solidFill>
                  <a:schemeClr val="tx2"/>
                </a:solidFill>
              </a:rPr>
              <a:t>fitness = 10 voxel widths walked to the right</a:t>
            </a:r>
            <a:endParaRPr lang="en-US" sz="1400" dirty="0"/>
          </a:p>
        </p:txBody>
      </p:sp>
      <p:sp>
        <p:nvSpPr>
          <p:cNvPr id="9" name="card-123"/>
          <p:cNvSpPr/>
          <p:nvPr/>
        </p:nvSpPr>
        <p:spPr>
          <a:xfrm>
            <a:off x="6126480" y="1463040"/>
            <a:ext cx="2560320" cy="2377440"/>
          </a:xfrm>
          <a:prstGeom prst="roundRect">
            <a:avLst>
              <a:gd name="adj" fmla="val 3077"/>
            </a:avLst>
          </a:prstGeom>
          <a:solidFill>
            <a:schemeClr val="bg2"/>
          </a:solidFill>
          <a:ln/>
        </p:spPr>
        <p:txBody>
          <a:bodyPr/>
          <a:lstStyle/>
          <a:p>
            <a:endParaRPr lang="en-US"/>
          </a:p>
        </p:txBody>
      </p:sp>
      <p:sp>
        <p:nvSpPr>
          <p:cNvPr id="10" name="text-124"/>
          <p:cNvSpPr txBox="1"/>
          <p:nvPr/>
        </p:nvSpPr>
        <p:spPr>
          <a:xfrm>
            <a:off x="6400800" y="1600200"/>
            <a:ext cx="2103120" cy="822960"/>
          </a:xfrm>
          <a:prstGeom prst="rect">
            <a:avLst/>
          </a:prstGeom>
          <a:noFill/>
          <a:ln/>
        </p:spPr>
        <p:txBody>
          <a:bodyPr wrap="square" lIns="0" tIns="0" rIns="0" bIns="0" rtlCol="0" anchor="b"/>
          <a:lstStyle/>
          <a:p>
            <a:pPr marL="0" indent="0">
              <a:buNone/>
            </a:pPr>
            <a:r>
              <a:rPr lang="en-US" sz="4400" b="1" dirty="0">
                <a:solidFill>
                  <a:schemeClr val="accent6"/>
                </a:solidFill>
              </a:rPr>
              <a:t>−1</a:t>
            </a:r>
            <a:endParaRPr lang="en-US" sz="4400" dirty="0"/>
          </a:p>
        </p:txBody>
      </p:sp>
      <p:sp>
        <p:nvSpPr>
          <p:cNvPr id="11" name="text-125"/>
          <p:cNvSpPr txBox="1"/>
          <p:nvPr/>
        </p:nvSpPr>
        <p:spPr>
          <a:xfrm>
            <a:off x="6400800" y="2468880"/>
            <a:ext cx="2103120" cy="731520"/>
          </a:xfrm>
          <a:prstGeom prst="rect">
            <a:avLst/>
          </a:prstGeom>
          <a:noFill/>
          <a:ln/>
        </p:spPr>
        <p:txBody>
          <a:bodyPr wrap="square" lIns="0" tIns="0" rIns="0" bIns="0" rtlCol="0" anchor="t"/>
          <a:lstStyle/>
          <a:p>
            <a:pPr marL="0" indent="0">
              <a:buNone/>
            </a:pPr>
            <a:r>
              <a:rPr lang="en-US" sz="1400" dirty="0">
                <a:solidFill>
                  <a:schemeClr val="tx2"/>
                </a:solidFill>
              </a:rPr>
              <a:t>fitness of a body that can't be built: in pieces, or no muscles</a:t>
            </a:r>
            <a:endParaRPr lang="en-US" sz="1400" dirty="0"/>
          </a:p>
        </p:txBody>
      </p:sp>
      <p:sp>
        <p:nvSpPr>
          <p:cNvPr id="12" name="card-126"/>
          <p:cNvSpPr/>
          <p:nvPr/>
        </p:nvSpPr>
        <p:spPr>
          <a:xfrm>
            <a:off x="8915400" y="1463040"/>
            <a:ext cx="2560320" cy="2377440"/>
          </a:xfrm>
          <a:prstGeom prst="roundRect">
            <a:avLst>
              <a:gd name="adj" fmla="val 3077"/>
            </a:avLst>
          </a:prstGeom>
          <a:solidFill>
            <a:schemeClr val="bg2"/>
          </a:solidFill>
          <a:ln/>
        </p:spPr>
        <p:txBody>
          <a:bodyPr/>
          <a:lstStyle/>
          <a:p>
            <a:endParaRPr lang="en-US"/>
          </a:p>
        </p:txBody>
      </p:sp>
      <p:sp>
        <p:nvSpPr>
          <p:cNvPr id="13" name="text-127"/>
          <p:cNvSpPr txBox="1"/>
          <p:nvPr/>
        </p:nvSpPr>
        <p:spPr>
          <a:xfrm>
            <a:off x="9189720" y="1600200"/>
            <a:ext cx="2103120" cy="822960"/>
          </a:xfrm>
          <a:prstGeom prst="rect">
            <a:avLst/>
          </a:prstGeom>
          <a:noFill/>
          <a:ln/>
        </p:spPr>
        <p:txBody>
          <a:bodyPr wrap="square" lIns="0" tIns="0" rIns="0" bIns="0" rtlCol="0" anchor="b"/>
          <a:lstStyle/>
          <a:p>
            <a:pPr marL="0" indent="0">
              <a:buNone/>
            </a:pPr>
            <a:r>
              <a:rPr lang="en-US" sz="4400" b="1" dirty="0">
                <a:solidFill>
                  <a:schemeClr val="accent6"/>
                </a:solidFill>
              </a:rPr>
              <a:t>0</a:t>
            </a:r>
            <a:endParaRPr lang="en-US" sz="4400" dirty="0"/>
          </a:p>
        </p:txBody>
      </p:sp>
      <p:sp>
        <p:nvSpPr>
          <p:cNvPr id="14" name="text-128"/>
          <p:cNvSpPr txBox="1"/>
          <p:nvPr/>
        </p:nvSpPr>
        <p:spPr>
          <a:xfrm>
            <a:off x="9189720" y="2468880"/>
            <a:ext cx="2103120" cy="731520"/>
          </a:xfrm>
          <a:prstGeom prst="rect">
            <a:avLst/>
          </a:prstGeom>
          <a:noFill/>
          <a:ln/>
        </p:spPr>
        <p:txBody>
          <a:bodyPr wrap="square" lIns="0" tIns="0" rIns="0" bIns="0" rtlCol="0" anchor="t"/>
          <a:lstStyle/>
          <a:p>
            <a:pPr marL="0" indent="0">
              <a:buNone/>
            </a:pPr>
            <a:r>
              <a:rPr lang="en-US" sz="1400" dirty="0">
                <a:solidFill>
                  <a:schemeClr val="tx2"/>
                </a:solidFill>
              </a:rPr>
              <a:t>noise: the same robot always does exactly the same thing</a:t>
            </a:r>
            <a:endParaRPr lang="en-US" sz="1400" dirty="0"/>
          </a:p>
        </p:txBody>
      </p:sp>
      <p:sp>
        <p:nvSpPr>
          <p:cNvPr id="15" name="card-129"/>
          <p:cNvSpPr/>
          <p:nvPr/>
        </p:nvSpPr>
        <p:spPr>
          <a:xfrm>
            <a:off x="548640" y="4160520"/>
            <a:ext cx="11094415" cy="1645920"/>
          </a:xfrm>
          <a:prstGeom prst="roundRect">
            <a:avLst>
              <a:gd name="adj" fmla="val 4444"/>
            </a:avLst>
          </a:prstGeom>
          <a:solidFill>
            <a:schemeClr val="bg2"/>
          </a:solidFill>
          <a:ln/>
        </p:spPr>
        <p:txBody>
          <a:bodyPr/>
          <a:lstStyle/>
          <a:p>
            <a:endParaRPr lang="en-US"/>
          </a:p>
        </p:txBody>
      </p:sp>
      <p:sp>
        <p:nvSpPr>
          <p:cNvPr id="16" name="text-130"/>
          <p:cNvSpPr txBox="1"/>
          <p:nvPr/>
        </p:nvSpPr>
        <p:spPr>
          <a:xfrm>
            <a:off x="868680" y="4389120"/>
            <a:ext cx="10454335" cy="640080"/>
          </a:xfrm>
          <a:prstGeom prst="rect">
            <a:avLst/>
          </a:prstGeom>
          <a:noFill/>
          <a:ln/>
        </p:spPr>
        <p:txBody>
          <a:bodyPr wrap="square" lIns="0" tIns="0" rIns="0" bIns="0" rtlCol="0" anchor="t"/>
          <a:lstStyle/>
          <a:p>
            <a:pPr marL="0" indent="0">
              <a:buNone/>
            </a:pPr>
            <a:r>
              <a:rPr lang="en-US" sz="1600" b="1" dirty="0">
                <a:solidFill>
                  <a:schemeClr val="accent6"/>
                </a:solidFill>
              </a:rPr>
              <a:t>Setup: </a:t>
            </a:r>
            <a:r>
              <a:rPr lang="en-US" sz="1600" dirty="0">
                <a:solidFill>
                  <a:schemeClr val="tx1"/>
                </a:solidFill>
              </a:rPr>
              <a:t>EvoGym needs Python 3.10 exactly (precompiled C++). Make a fresh conda env:</a:t>
            </a:r>
            <a:endParaRPr lang="en-US" sz="1600" dirty="0"/>
          </a:p>
          <a:p>
            <a:pPr marL="0" indent="0">
              <a:buNone/>
            </a:pPr>
            <a:r>
              <a:rPr lang="en-US" sz="1600" dirty="0">
                <a:solidFill>
                  <a:schemeClr val="tx1"/>
                </a:solidFill>
                <a:latin typeface="Courier New" pitchFamily="34" charset="0"/>
                <a:ea typeface="Courier New" pitchFamily="34" charset="-122"/>
                <a:cs typeface="Courier New" pitchFamily="34" charset="-120"/>
              </a:rPr>
              <a:t>conda create -n evogym python=3.10</a:t>
            </a:r>
            <a:endParaRPr lang="en-US" sz="1600" dirty="0"/>
          </a:p>
        </p:txBody>
      </p:sp>
      <p:sp>
        <p:nvSpPr>
          <p:cNvPr id="17" name="text-131"/>
          <p:cNvSpPr txBox="1"/>
          <p:nvPr/>
        </p:nvSpPr>
        <p:spPr>
          <a:xfrm>
            <a:off x="868680" y="5120640"/>
            <a:ext cx="10454335" cy="548640"/>
          </a:xfrm>
          <a:prstGeom prst="rect">
            <a:avLst/>
          </a:prstGeom>
          <a:noFill/>
          <a:ln/>
        </p:spPr>
        <p:txBody>
          <a:bodyPr wrap="square" lIns="0" tIns="0" rIns="0" bIns="0" rtlCol="0" anchor="t"/>
          <a:lstStyle/>
          <a:p>
            <a:pPr marL="0" indent="0">
              <a:buNone/>
            </a:pPr>
            <a:r>
              <a:rPr lang="en-US" sz="1600" dirty="0">
                <a:solidFill>
                  <a:schemeClr val="tx2"/>
                </a:solidFill>
              </a:rPr>
              <a:t>Unlike Project 4, there's no need to average episodes or re-evaluate: the fitness evolve.py reports is the fitness.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377440"/>
            <a:ext cx="6766560" cy="1097280"/>
          </a:xfrm>
          <a:prstGeom prst="rect">
            <a:avLst/>
          </a:prstGeom>
          <a:noFill/>
          <a:ln/>
        </p:spPr>
        <p:txBody>
          <a:bodyPr wrap="square" lIns="0" tIns="0" rIns="0" bIns="0" rtlCol="0" anchor="b"/>
          <a:lstStyle/>
          <a:p>
            <a:pPr marL="0" indent="0" algn="l">
              <a:buNone/>
            </a:pPr>
            <a:r>
              <a:rPr lang="en-US" sz="4000" b="1" dirty="0">
                <a:solidFill>
                  <a:schemeClr val="bg1"/>
                </a:solidFill>
              </a:rPr>
              <a:t>Bodies</a:t>
            </a:r>
            <a:endParaRPr lang="en-US" sz="4000" dirty="0"/>
          </a:p>
        </p:txBody>
      </p:sp>
      <p:sp>
        <p:nvSpPr>
          <p:cNvPr id="3" name="Text 0"/>
          <p:cNvSpPr>
            <a:spLocks noGrp="1"/>
          </p:cNvSpPr>
          <p:nvPr>
            <p:ph type="body" idx="101" hasCustomPrompt="1"/>
          </p:nvPr>
        </p:nvSpPr>
        <p:spPr>
          <a:xfrm>
            <a:off x="548640" y="3611880"/>
            <a:ext cx="6766560" cy="1097280"/>
          </a:xfrm>
          <a:prstGeom prst="rect">
            <a:avLst/>
          </a:prstGeom>
          <a:noFill/>
          <a:ln/>
        </p:spPr>
        <p:txBody>
          <a:bodyPr wrap="square" lIns="0" tIns="0" rIns="0" bIns="0" rtlCol="0" anchor="t"/>
          <a:lstStyle/>
          <a:p>
            <a:pPr marL="0" indent="0" algn="l">
              <a:buNone/>
            </a:pPr>
            <a:r>
              <a:rPr lang="en-US" sz="1800" dirty="0">
                <a:solidFill>
                  <a:schemeClr val="accent4"/>
                </a:solidFill>
              </a:rPr>
              <a:t>Start from one of ours, or build your own</a:t>
            </a:r>
            <a:endParaRPr lang="en-US" sz="1800" dirty="0"/>
          </a:p>
        </p:txBody>
      </p:sp>
      <p:sp>
        <p:nvSpPr>
          <p:cNvPr id="4" name="voxel-132"/>
          <p:cNvSpPr/>
          <p:nvPr/>
        </p:nvSpPr>
        <p:spPr>
          <a:xfrm>
            <a:off x="8164495" y="1809415"/>
            <a:ext cx="605699" cy="605699"/>
          </a:xfrm>
          <a:prstGeom prst="rect">
            <a:avLst/>
          </a:prstGeom>
          <a:solidFill>
            <a:schemeClr val="tx2"/>
          </a:solidFill>
          <a:ln/>
        </p:spPr>
        <p:txBody>
          <a:bodyPr/>
          <a:lstStyle/>
          <a:p>
            <a:endParaRPr lang="en-US"/>
          </a:p>
        </p:txBody>
      </p:sp>
      <p:sp>
        <p:nvSpPr>
          <p:cNvPr id="5" name="voxel-133"/>
          <p:cNvSpPr/>
          <p:nvPr/>
        </p:nvSpPr>
        <p:spPr>
          <a:xfrm>
            <a:off x="8822863" y="1809415"/>
            <a:ext cx="605699" cy="605699"/>
          </a:xfrm>
          <a:prstGeom prst="rect">
            <a:avLst/>
          </a:prstGeom>
          <a:solidFill>
            <a:schemeClr val="tx2"/>
          </a:solidFill>
          <a:ln/>
        </p:spPr>
        <p:txBody>
          <a:bodyPr/>
          <a:lstStyle/>
          <a:p>
            <a:endParaRPr lang="en-US"/>
          </a:p>
        </p:txBody>
      </p:sp>
      <p:sp>
        <p:nvSpPr>
          <p:cNvPr id="6" name="voxel-134"/>
          <p:cNvSpPr/>
          <p:nvPr/>
        </p:nvSpPr>
        <p:spPr>
          <a:xfrm>
            <a:off x="9481231" y="1809415"/>
            <a:ext cx="605699" cy="605699"/>
          </a:xfrm>
          <a:prstGeom prst="rect">
            <a:avLst/>
          </a:prstGeom>
          <a:solidFill>
            <a:schemeClr val="tx2"/>
          </a:solidFill>
          <a:ln/>
        </p:spPr>
        <p:txBody>
          <a:bodyPr/>
          <a:lstStyle/>
          <a:p>
            <a:endParaRPr lang="en-US"/>
          </a:p>
        </p:txBody>
      </p:sp>
      <p:sp>
        <p:nvSpPr>
          <p:cNvPr id="7" name="voxel-135"/>
          <p:cNvSpPr/>
          <p:nvPr/>
        </p:nvSpPr>
        <p:spPr>
          <a:xfrm>
            <a:off x="10139599" y="1809415"/>
            <a:ext cx="605699" cy="605699"/>
          </a:xfrm>
          <a:prstGeom prst="rect">
            <a:avLst/>
          </a:prstGeom>
          <a:solidFill>
            <a:schemeClr val="tx2"/>
          </a:solidFill>
          <a:ln/>
        </p:spPr>
        <p:txBody>
          <a:bodyPr/>
          <a:lstStyle/>
          <a:p>
            <a:endParaRPr lang="en-US"/>
          </a:p>
        </p:txBody>
      </p:sp>
      <p:sp>
        <p:nvSpPr>
          <p:cNvPr id="8" name="voxel-136"/>
          <p:cNvSpPr/>
          <p:nvPr/>
        </p:nvSpPr>
        <p:spPr>
          <a:xfrm>
            <a:off x="10797967" y="1809415"/>
            <a:ext cx="605699" cy="605699"/>
          </a:xfrm>
          <a:prstGeom prst="rect">
            <a:avLst/>
          </a:prstGeom>
          <a:solidFill>
            <a:schemeClr val="tx2"/>
          </a:solidFill>
          <a:ln/>
        </p:spPr>
        <p:txBody>
          <a:bodyPr/>
          <a:lstStyle/>
          <a:p>
            <a:endParaRPr lang="en-US"/>
          </a:p>
        </p:txBody>
      </p:sp>
      <p:sp>
        <p:nvSpPr>
          <p:cNvPr id="9" name="voxel-137"/>
          <p:cNvSpPr/>
          <p:nvPr/>
        </p:nvSpPr>
        <p:spPr>
          <a:xfrm>
            <a:off x="8164495" y="2467783"/>
            <a:ext cx="605699" cy="605699"/>
          </a:xfrm>
          <a:prstGeom prst="rect">
            <a:avLst/>
          </a:prstGeom>
          <a:solidFill>
            <a:schemeClr val="accent1"/>
          </a:solidFill>
          <a:ln/>
        </p:spPr>
        <p:txBody>
          <a:bodyPr/>
          <a:lstStyle/>
          <a:p>
            <a:endParaRPr lang="en-US"/>
          </a:p>
        </p:txBody>
      </p:sp>
      <p:sp>
        <p:nvSpPr>
          <p:cNvPr id="10" name="voxel-138"/>
          <p:cNvSpPr/>
          <p:nvPr/>
        </p:nvSpPr>
        <p:spPr>
          <a:xfrm>
            <a:off x="8822863" y="2467783"/>
            <a:ext cx="605699" cy="605699"/>
          </a:xfrm>
          <a:prstGeom prst="rect">
            <a:avLst/>
          </a:prstGeom>
          <a:solidFill>
            <a:schemeClr val="accent1"/>
          </a:solidFill>
          <a:ln/>
        </p:spPr>
        <p:txBody>
          <a:bodyPr/>
          <a:lstStyle/>
          <a:p>
            <a:endParaRPr lang="en-US"/>
          </a:p>
        </p:txBody>
      </p:sp>
      <p:sp>
        <p:nvSpPr>
          <p:cNvPr id="11" name="voxel-139"/>
          <p:cNvSpPr/>
          <p:nvPr/>
        </p:nvSpPr>
        <p:spPr>
          <a:xfrm>
            <a:off x="9481231" y="2467783"/>
            <a:ext cx="605699" cy="605699"/>
          </a:xfrm>
          <a:prstGeom prst="rect">
            <a:avLst/>
          </a:prstGeom>
          <a:solidFill>
            <a:schemeClr val="accent1"/>
          </a:solidFill>
          <a:ln/>
        </p:spPr>
        <p:txBody>
          <a:bodyPr/>
          <a:lstStyle/>
          <a:p>
            <a:endParaRPr lang="en-US"/>
          </a:p>
        </p:txBody>
      </p:sp>
      <p:sp>
        <p:nvSpPr>
          <p:cNvPr id="12" name="voxel-140"/>
          <p:cNvSpPr/>
          <p:nvPr/>
        </p:nvSpPr>
        <p:spPr>
          <a:xfrm>
            <a:off x="10139599" y="2467783"/>
            <a:ext cx="605699" cy="605699"/>
          </a:xfrm>
          <a:prstGeom prst="rect">
            <a:avLst/>
          </a:prstGeom>
          <a:solidFill>
            <a:schemeClr val="accent1"/>
          </a:solidFill>
          <a:ln/>
        </p:spPr>
        <p:txBody>
          <a:bodyPr/>
          <a:lstStyle/>
          <a:p>
            <a:endParaRPr lang="en-US"/>
          </a:p>
        </p:txBody>
      </p:sp>
      <p:sp>
        <p:nvSpPr>
          <p:cNvPr id="13" name="voxel-141"/>
          <p:cNvSpPr/>
          <p:nvPr/>
        </p:nvSpPr>
        <p:spPr>
          <a:xfrm>
            <a:off x="10797967" y="2467783"/>
            <a:ext cx="605699" cy="605699"/>
          </a:xfrm>
          <a:prstGeom prst="rect">
            <a:avLst/>
          </a:prstGeom>
          <a:solidFill>
            <a:schemeClr val="accent1"/>
          </a:solidFill>
          <a:ln/>
        </p:spPr>
        <p:txBody>
          <a:bodyPr/>
          <a:lstStyle/>
          <a:p>
            <a:endParaRPr lang="en-US"/>
          </a:p>
        </p:txBody>
      </p:sp>
      <p:sp>
        <p:nvSpPr>
          <p:cNvPr id="14" name="voxel-142"/>
          <p:cNvSpPr/>
          <p:nvPr/>
        </p:nvSpPr>
        <p:spPr>
          <a:xfrm>
            <a:off x="8164495" y="3126151"/>
            <a:ext cx="605699" cy="605699"/>
          </a:xfrm>
          <a:prstGeom prst="rect">
            <a:avLst/>
          </a:prstGeom>
          <a:solidFill>
            <a:schemeClr val="accent2"/>
          </a:solidFill>
          <a:ln/>
        </p:spPr>
        <p:txBody>
          <a:bodyPr/>
          <a:lstStyle/>
          <a:p>
            <a:endParaRPr lang="en-US"/>
          </a:p>
        </p:txBody>
      </p:sp>
      <p:sp>
        <p:nvSpPr>
          <p:cNvPr id="15" name="voxel-143"/>
          <p:cNvSpPr/>
          <p:nvPr/>
        </p:nvSpPr>
        <p:spPr>
          <a:xfrm>
            <a:off x="9481231" y="3126151"/>
            <a:ext cx="605699" cy="605699"/>
          </a:xfrm>
          <a:prstGeom prst="rect">
            <a:avLst/>
          </a:prstGeom>
          <a:solidFill>
            <a:schemeClr val="accent2"/>
          </a:solidFill>
          <a:ln/>
        </p:spPr>
        <p:txBody>
          <a:bodyPr/>
          <a:lstStyle/>
          <a:p>
            <a:endParaRPr lang="en-US"/>
          </a:p>
        </p:txBody>
      </p:sp>
      <p:sp>
        <p:nvSpPr>
          <p:cNvPr id="16" name="voxel-144"/>
          <p:cNvSpPr/>
          <p:nvPr/>
        </p:nvSpPr>
        <p:spPr>
          <a:xfrm>
            <a:off x="10797967" y="3126151"/>
            <a:ext cx="605699" cy="605699"/>
          </a:xfrm>
          <a:prstGeom prst="rect">
            <a:avLst/>
          </a:prstGeom>
          <a:solidFill>
            <a:schemeClr val="accent2"/>
          </a:solidFill>
          <a:ln/>
        </p:spPr>
        <p:txBody>
          <a:bodyPr/>
          <a:lstStyle/>
          <a:p>
            <a:endParaRPr lang="en-US"/>
          </a:p>
        </p:txBody>
      </p:sp>
      <p:sp>
        <p:nvSpPr>
          <p:cNvPr id="17" name="voxel-145"/>
          <p:cNvSpPr/>
          <p:nvPr/>
        </p:nvSpPr>
        <p:spPr>
          <a:xfrm>
            <a:off x="8164495" y="3784519"/>
            <a:ext cx="605699" cy="605699"/>
          </a:xfrm>
          <a:prstGeom prst="rect">
            <a:avLst/>
          </a:prstGeom>
          <a:solidFill>
            <a:schemeClr val="accent2"/>
          </a:solidFill>
          <a:ln/>
        </p:spPr>
        <p:txBody>
          <a:bodyPr/>
          <a:lstStyle/>
          <a:p>
            <a:endParaRPr lang="en-US"/>
          </a:p>
        </p:txBody>
      </p:sp>
      <p:sp>
        <p:nvSpPr>
          <p:cNvPr id="18" name="voxel-146"/>
          <p:cNvSpPr/>
          <p:nvPr/>
        </p:nvSpPr>
        <p:spPr>
          <a:xfrm>
            <a:off x="9481231" y="3784519"/>
            <a:ext cx="605699" cy="605699"/>
          </a:xfrm>
          <a:prstGeom prst="rect">
            <a:avLst/>
          </a:prstGeom>
          <a:solidFill>
            <a:schemeClr val="accent2"/>
          </a:solidFill>
          <a:ln/>
        </p:spPr>
        <p:txBody>
          <a:bodyPr/>
          <a:lstStyle/>
          <a:p>
            <a:endParaRPr lang="en-US"/>
          </a:p>
        </p:txBody>
      </p:sp>
      <p:sp>
        <p:nvSpPr>
          <p:cNvPr id="19" name="voxel-147"/>
          <p:cNvSpPr/>
          <p:nvPr/>
        </p:nvSpPr>
        <p:spPr>
          <a:xfrm>
            <a:off x="10797967" y="3784519"/>
            <a:ext cx="605699" cy="605699"/>
          </a:xfrm>
          <a:prstGeom prst="rect">
            <a:avLst/>
          </a:prstGeom>
          <a:solidFill>
            <a:schemeClr val="accent2"/>
          </a:solidFill>
          <a:ln/>
        </p:spPr>
        <p:txBody>
          <a:bodyPr/>
          <a:lstStyle/>
          <a:p>
            <a:endParaRPr lang="en-US"/>
          </a:p>
        </p:txBody>
      </p:sp>
      <p:sp>
        <p:nvSpPr>
          <p:cNvPr id="20" name="voxel-148"/>
          <p:cNvSpPr/>
          <p:nvPr/>
        </p:nvSpPr>
        <p:spPr>
          <a:xfrm>
            <a:off x="8164495" y="4442887"/>
            <a:ext cx="605699" cy="605699"/>
          </a:xfrm>
          <a:prstGeom prst="rect">
            <a:avLst/>
          </a:prstGeom>
          <a:solidFill>
            <a:schemeClr val="accent1"/>
          </a:solidFill>
          <a:ln/>
        </p:spPr>
        <p:txBody>
          <a:bodyPr/>
          <a:lstStyle/>
          <a:p>
            <a:endParaRPr lang="en-US"/>
          </a:p>
        </p:txBody>
      </p:sp>
      <p:sp>
        <p:nvSpPr>
          <p:cNvPr id="21" name="voxel-149"/>
          <p:cNvSpPr/>
          <p:nvPr/>
        </p:nvSpPr>
        <p:spPr>
          <a:xfrm>
            <a:off x="9481231" y="4442887"/>
            <a:ext cx="605699" cy="605699"/>
          </a:xfrm>
          <a:prstGeom prst="rect">
            <a:avLst/>
          </a:prstGeom>
          <a:solidFill>
            <a:schemeClr val="accent1"/>
          </a:solidFill>
          <a:ln/>
        </p:spPr>
        <p:txBody>
          <a:bodyPr/>
          <a:lstStyle/>
          <a:p>
            <a:endParaRPr lang="en-US"/>
          </a:p>
        </p:txBody>
      </p:sp>
      <p:sp>
        <p:nvSpPr>
          <p:cNvPr id="22" name="voxel-150"/>
          <p:cNvSpPr/>
          <p:nvPr/>
        </p:nvSpPr>
        <p:spPr>
          <a:xfrm>
            <a:off x="10797967" y="4442887"/>
            <a:ext cx="605699" cy="605699"/>
          </a:xfrm>
          <a:prstGeom prst="rect">
            <a:avLst/>
          </a:prstGeom>
          <a:solidFill>
            <a:schemeClr val="accent1"/>
          </a:solidFill>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Four bodies to start from</a:t>
            </a:r>
            <a:endParaRPr lang="en-US" sz="3200" dirty="0"/>
          </a:p>
        </p:txBody>
      </p:sp>
      <p:sp>
        <p:nvSpPr>
          <p:cNvPr id="3" name="card-151"/>
          <p:cNvSpPr/>
          <p:nvPr/>
        </p:nvSpPr>
        <p:spPr>
          <a:xfrm>
            <a:off x="548640" y="1463040"/>
            <a:ext cx="2560320" cy="4023360"/>
          </a:xfrm>
          <a:prstGeom prst="roundRect">
            <a:avLst>
              <a:gd name="adj" fmla="val 2857"/>
            </a:avLst>
          </a:prstGeom>
          <a:solidFill>
            <a:schemeClr val="bg2"/>
          </a:solidFill>
          <a:ln/>
        </p:spPr>
        <p:txBody>
          <a:bodyPr/>
          <a:lstStyle/>
          <a:p>
            <a:endParaRPr lang="en-US"/>
          </a:p>
        </p:txBody>
      </p:sp>
      <p:sp>
        <p:nvSpPr>
          <p:cNvPr id="4" name="voxel-152"/>
          <p:cNvSpPr/>
          <p:nvPr/>
        </p:nvSpPr>
        <p:spPr>
          <a:xfrm>
            <a:off x="749076" y="1800636"/>
            <a:ext cx="403799" cy="403799"/>
          </a:xfrm>
          <a:prstGeom prst="rect">
            <a:avLst/>
          </a:prstGeom>
          <a:solidFill>
            <a:schemeClr val="accent1"/>
          </a:solidFill>
          <a:ln/>
        </p:spPr>
        <p:txBody>
          <a:bodyPr/>
          <a:lstStyle/>
          <a:p>
            <a:endParaRPr lang="en-US"/>
          </a:p>
        </p:txBody>
      </p:sp>
      <p:sp>
        <p:nvSpPr>
          <p:cNvPr id="5" name="voxel-153"/>
          <p:cNvSpPr/>
          <p:nvPr/>
        </p:nvSpPr>
        <p:spPr>
          <a:xfrm>
            <a:off x="1187988" y="1800636"/>
            <a:ext cx="403799" cy="403799"/>
          </a:xfrm>
          <a:prstGeom prst="rect">
            <a:avLst/>
          </a:prstGeom>
          <a:solidFill>
            <a:schemeClr val="accent1"/>
          </a:solidFill>
          <a:ln/>
        </p:spPr>
        <p:txBody>
          <a:bodyPr/>
          <a:lstStyle/>
          <a:p>
            <a:endParaRPr lang="en-US"/>
          </a:p>
        </p:txBody>
      </p:sp>
      <p:sp>
        <p:nvSpPr>
          <p:cNvPr id="6" name="voxel-154"/>
          <p:cNvSpPr/>
          <p:nvPr/>
        </p:nvSpPr>
        <p:spPr>
          <a:xfrm>
            <a:off x="1626900" y="1800636"/>
            <a:ext cx="403799" cy="403799"/>
          </a:xfrm>
          <a:prstGeom prst="rect">
            <a:avLst/>
          </a:prstGeom>
          <a:solidFill>
            <a:schemeClr val="accent1"/>
          </a:solidFill>
          <a:ln/>
        </p:spPr>
        <p:txBody>
          <a:bodyPr/>
          <a:lstStyle/>
          <a:p>
            <a:endParaRPr lang="en-US"/>
          </a:p>
        </p:txBody>
      </p:sp>
      <p:sp>
        <p:nvSpPr>
          <p:cNvPr id="7" name="voxel-155"/>
          <p:cNvSpPr/>
          <p:nvPr/>
        </p:nvSpPr>
        <p:spPr>
          <a:xfrm>
            <a:off x="2065812" y="1800636"/>
            <a:ext cx="403799" cy="403799"/>
          </a:xfrm>
          <a:prstGeom prst="rect">
            <a:avLst/>
          </a:prstGeom>
          <a:solidFill>
            <a:schemeClr val="accent1"/>
          </a:solidFill>
          <a:ln/>
        </p:spPr>
        <p:txBody>
          <a:bodyPr/>
          <a:lstStyle/>
          <a:p>
            <a:endParaRPr lang="en-US"/>
          </a:p>
        </p:txBody>
      </p:sp>
      <p:sp>
        <p:nvSpPr>
          <p:cNvPr id="8" name="voxel-156"/>
          <p:cNvSpPr/>
          <p:nvPr/>
        </p:nvSpPr>
        <p:spPr>
          <a:xfrm>
            <a:off x="2504724" y="1800636"/>
            <a:ext cx="403799" cy="403799"/>
          </a:xfrm>
          <a:prstGeom prst="rect">
            <a:avLst/>
          </a:prstGeom>
          <a:solidFill>
            <a:schemeClr val="accent1"/>
          </a:solidFill>
          <a:ln/>
        </p:spPr>
        <p:txBody>
          <a:bodyPr/>
          <a:lstStyle/>
          <a:p>
            <a:endParaRPr lang="en-US"/>
          </a:p>
        </p:txBody>
      </p:sp>
      <p:sp>
        <p:nvSpPr>
          <p:cNvPr id="9" name="voxel-157"/>
          <p:cNvSpPr/>
          <p:nvPr/>
        </p:nvSpPr>
        <p:spPr>
          <a:xfrm>
            <a:off x="749076" y="2239548"/>
            <a:ext cx="403799" cy="403799"/>
          </a:xfrm>
          <a:prstGeom prst="rect">
            <a:avLst/>
          </a:prstGeom>
          <a:solidFill>
            <a:schemeClr val="accent1"/>
          </a:solidFill>
          <a:ln/>
        </p:spPr>
        <p:txBody>
          <a:bodyPr/>
          <a:lstStyle/>
          <a:p>
            <a:endParaRPr lang="en-US"/>
          </a:p>
        </p:txBody>
      </p:sp>
      <p:sp>
        <p:nvSpPr>
          <p:cNvPr id="10" name="voxel-158"/>
          <p:cNvSpPr/>
          <p:nvPr/>
        </p:nvSpPr>
        <p:spPr>
          <a:xfrm>
            <a:off x="1187988" y="2239548"/>
            <a:ext cx="403799" cy="403799"/>
          </a:xfrm>
          <a:prstGeom prst="rect">
            <a:avLst/>
          </a:prstGeom>
          <a:solidFill>
            <a:schemeClr val="accent1"/>
          </a:solidFill>
          <a:ln/>
        </p:spPr>
        <p:txBody>
          <a:bodyPr/>
          <a:lstStyle/>
          <a:p>
            <a:endParaRPr lang="en-US"/>
          </a:p>
        </p:txBody>
      </p:sp>
      <p:sp>
        <p:nvSpPr>
          <p:cNvPr id="11" name="voxel-159"/>
          <p:cNvSpPr/>
          <p:nvPr/>
        </p:nvSpPr>
        <p:spPr>
          <a:xfrm>
            <a:off x="1626900" y="2239548"/>
            <a:ext cx="403799" cy="403799"/>
          </a:xfrm>
          <a:prstGeom prst="rect">
            <a:avLst/>
          </a:prstGeom>
          <a:solidFill>
            <a:schemeClr val="accent1"/>
          </a:solidFill>
          <a:ln/>
        </p:spPr>
        <p:txBody>
          <a:bodyPr/>
          <a:lstStyle/>
          <a:p>
            <a:endParaRPr lang="en-US"/>
          </a:p>
        </p:txBody>
      </p:sp>
      <p:sp>
        <p:nvSpPr>
          <p:cNvPr id="12" name="voxel-160"/>
          <p:cNvSpPr/>
          <p:nvPr/>
        </p:nvSpPr>
        <p:spPr>
          <a:xfrm>
            <a:off x="2065812" y="2239548"/>
            <a:ext cx="403799" cy="403799"/>
          </a:xfrm>
          <a:prstGeom prst="rect">
            <a:avLst/>
          </a:prstGeom>
          <a:solidFill>
            <a:schemeClr val="accent1"/>
          </a:solidFill>
          <a:ln/>
        </p:spPr>
        <p:txBody>
          <a:bodyPr/>
          <a:lstStyle/>
          <a:p>
            <a:endParaRPr lang="en-US"/>
          </a:p>
        </p:txBody>
      </p:sp>
      <p:sp>
        <p:nvSpPr>
          <p:cNvPr id="13" name="voxel-161"/>
          <p:cNvSpPr/>
          <p:nvPr/>
        </p:nvSpPr>
        <p:spPr>
          <a:xfrm>
            <a:off x="2504724" y="2239548"/>
            <a:ext cx="403799" cy="403799"/>
          </a:xfrm>
          <a:prstGeom prst="rect">
            <a:avLst/>
          </a:prstGeom>
          <a:solidFill>
            <a:schemeClr val="accent1"/>
          </a:solidFill>
          <a:ln/>
        </p:spPr>
        <p:txBody>
          <a:bodyPr/>
          <a:lstStyle/>
          <a:p>
            <a:endParaRPr lang="en-US"/>
          </a:p>
        </p:txBody>
      </p:sp>
      <p:sp>
        <p:nvSpPr>
          <p:cNvPr id="14" name="voxel-162"/>
          <p:cNvSpPr/>
          <p:nvPr/>
        </p:nvSpPr>
        <p:spPr>
          <a:xfrm>
            <a:off x="749076" y="2678460"/>
            <a:ext cx="403799" cy="403799"/>
          </a:xfrm>
          <a:prstGeom prst="rect">
            <a:avLst/>
          </a:prstGeom>
          <a:solidFill>
            <a:schemeClr val="accent1"/>
          </a:solidFill>
          <a:ln/>
        </p:spPr>
        <p:txBody>
          <a:bodyPr/>
          <a:lstStyle/>
          <a:p>
            <a:endParaRPr lang="en-US"/>
          </a:p>
        </p:txBody>
      </p:sp>
      <p:sp>
        <p:nvSpPr>
          <p:cNvPr id="15" name="voxel-163"/>
          <p:cNvSpPr/>
          <p:nvPr/>
        </p:nvSpPr>
        <p:spPr>
          <a:xfrm>
            <a:off x="1187988" y="2678460"/>
            <a:ext cx="403799" cy="403799"/>
          </a:xfrm>
          <a:prstGeom prst="rect">
            <a:avLst/>
          </a:prstGeom>
          <a:solidFill>
            <a:schemeClr val="accent1"/>
          </a:solidFill>
          <a:ln/>
        </p:spPr>
        <p:txBody>
          <a:bodyPr/>
          <a:lstStyle/>
          <a:p>
            <a:endParaRPr lang="en-US"/>
          </a:p>
        </p:txBody>
      </p:sp>
      <p:sp>
        <p:nvSpPr>
          <p:cNvPr id="16" name="voxel-empty-164"/>
          <p:cNvSpPr/>
          <p:nvPr/>
        </p:nvSpPr>
        <p:spPr>
          <a:xfrm>
            <a:off x="1626900" y="2678460"/>
            <a:ext cx="403799" cy="403799"/>
          </a:xfrm>
          <a:prstGeom prst="rect">
            <a:avLst/>
          </a:prstGeom>
          <a:ln w="9525">
            <a:solidFill>
              <a:schemeClr val="accent4"/>
            </a:solidFill>
            <a:prstDash val="dash"/>
          </a:ln>
        </p:spPr>
        <p:txBody>
          <a:bodyPr/>
          <a:lstStyle/>
          <a:p>
            <a:endParaRPr lang="en-US"/>
          </a:p>
        </p:txBody>
      </p:sp>
      <p:sp>
        <p:nvSpPr>
          <p:cNvPr id="17" name="voxel-165"/>
          <p:cNvSpPr/>
          <p:nvPr/>
        </p:nvSpPr>
        <p:spPr>
          <a:xfrm>
            <a:off x="2065812" y="2678460"/>
            <a:ext cx="403799" cy="403799"/>
          </a:xfrm>
          <a:prstGeom prst="rect">
            <a:avLst/>
          </a:prstGeom>
          <a:solidFill>
            <a:schemeClr val="accent1"/>
          </a:solidFill>
          <a:ln/>
        </p:spPr>
        <p:txBody>
          <a:bodyPr/>
          <a:lstStyle/>
          <a:p>
            <a:endParaRPr lang="en-US"/>
          </a:p>
        </p:txBody>
      </p:sp>
      <p:sp>
        <p:nvSpPr>
          <p:cNvPr id="18" name="voxel-166"/>
          <p:cNvSpPr/>
          <p:nvPr/>
        </p:nvSpPr>
        <p:spPr>
          <a:xfrm>
            <a:off x="2504724" y="2678460"/>
            <a:ext cx="403799" cy="403799"/>
          </a:xfrm>
          <a:prstGeom prst="rect">
            <a:avLst/>
          </a:prstGeom>
          <a:solidFill>
            <a:schemeClr val="accent1"/>
          </a:solidFill>
          <a:ln/>
        </p:spPr>
        <p:txBody>
          <a:bodyPr/>
          <a:lstStyle/>
          <a:p>
            <a:endParaRPr lang="en-US"/>
          </a:p>
        </p:txBody>
      </p:sp>
      <p:sp>
        <p:nvSpPr>
          <p:cNvPr id="19" name="voxel-167"/>
          <p:cNvSpPr/>
          <p:nvPr/>
        </p:nvSpPr>
        <p:spPr>
          <a:xfrm>
            <a:off x="749076" y="3117372"/>
            <a:ext cx="403799" cy="403799"/>
          </a:xfrm>
          <a:prstGeom prst="rect">
            <a:avLst/>
          </a:prstGeom>
          <a:solidFill>
            <a:schemeClr val="accent1"/>
          </a:solidFill>
          <a:ln/>
        </p:spPr>
        <p:txBody>
          <a:bodyPr/>
          <a:lstStyle/>
          <a:p>
            <a:endParaRPr lang="en-US"/>
          </a:p>
        </p:txBody>
      </p:sp>
      <p:sp>
        <p:nvSpPr>
          <p:cNvPr id="20" name="voxel-168"/>
          <p:cNvSpPr/>
          <p:nvPr/>
        </p:nvSpPr>
        <p:spPr>
          <a:xfrm>
            <a:off x="1187988" y="3117372"/>
            <a:ext cx="403799" cy="403799"/>
          </a:xfrm>
          <a:prstGeom prst="rect">
            <a:avLst/>
          </a:prstGeom>
          <a:solidFill>
            <a:schemeClr val="accent1"/>
          </a:solidFill>
          <a:ln/>
        </p:spPr>
        <p:txBody>
          <a:bodyPr/>
          <a:lstStyle/>
          <a:p>
            <a:endParaRPr lang="en-US"/>
          </a:p>
        </p:txBody>
      </p:sp>
      <p:sp>
        <p:nvSpPr>
          <p:cNvPr id="21" name="voxel-empty-169"/>
          <p:cNvSpPr/>
          <p:nvPr/>
        </p:nvSpPr>
        <p:spPr>
          <a:xfrm>
            <a:off x="1626900" y="3117372"/>
            <a:ext cx="403799" cy="403799"/>
          </a:xfrm>
          <a:prstGeom prst="rect">
            <a:avLst/>
          </a:prstGeom>
          <a:ln w="9525">
            <a:solidFill>
              <a:schemeClr val="accent4"/>
            </a:solidFill>
            <a:prstDash val="dash"/>
          </a:ln>
        </p:spPr>
        <p:txBody>
          <a:bodyPr/>
          <a:lstStyle/>
          <a:p>
            <a:endParaRPr lang="en-US"/>
          </a:p>
        </p:txBody>
      </p:sp>
      <p:sp>
        <p:nvSpPr>
          <p:cNvPr id="22" name="voxel-170"/>
          <p:cNvSpPr/>
          <p:nvPr/>
        </p:nvSpPr>
        <p:spPr>
          <a:xfrm>
            <a:off x="2065812" y="3117372"/>
            <a:ext cx="403799" cy="403799"/>
          </a:xfrm>
          <a:prstGeom prst="rect">
            <a:avLst/>
          </a:prstGeom>
          <a:solidFill>
            <a:schemeClr val="accent1"/>
          </a:solidFill>
          <a:ln/>
        </p:spPr>
        <p:txBody>
          <a:bodyPr/>
          <a:lstStyle/>
          <a:p>
            <a:endParaRPr lang="en-US"/>
          </a:p>
        </p:txBody>
      </p:sp>
      <p:sp>
        <p:nvSpPr>
          <p:cNvPr id="23" name="voxel-171"/>
          <p:cNvSpPr/>
          <p:nvPr/>
        </p:nvSpPr>
        <p:spPr>
          <a:xfrm>
            <a:off x="2504724" y="3117372"/>
            <a:ext cx="403799" cy="403799"/>
          </a:xfrm>
          <a:prstGeom prst="rect">
            <a:avLst/>
          </a:prstGeom>
          <a:solidFill>
            <a:schemeClr val="accent1"/>
          </a:solidFill>
          <a:ln/>
        </p:spPr>
        <p:txBody>
          <a:bodyPr/>
          <a:lstStyle/>
          <a:p>
            <a:endParaRPr lang="en-US"/>
          </a:p>
        </p:txBody>
      </p:sp>
      <p:sp>
        <p:nvSpPr>
          <p:cNvPr id="24" name="voxel-172"/>
          <p:cNvSpPr/>
          <p:nvPr/>
        </p:nvSpPr>
        <p:spPr>
          <a:xfrm>
            <a:off x="749076" y="3556284"/>
            <a:ext cx="403799" cy="403799"/>
          </a:xfrm>
          <a:prstGeom prst="rect">
            <a:avLst/>
          </a:prstGeom>
          <a:solidFill>
            <a:schemeClr val="accent1"/>
          </a:solidFill>
          <a:ln/>
        </p:spPr>
        <p:txBody>
          <a:bodyPr/>
          <a:lstStyle/>
          <a:p>
            <a:endParaRPr lang="en-US"/>
          </a:p>
        </p:txBody>
      </p:sp>
      <p:sp>
        <p:nvSpPr>
          <p:cNvPr id="25" name="voxel-173"/>
          <p:cNvSpPr/>
          <p:nvPr/>
        </p:nvSpPr>
        <p:spPr>
          <a:xfrm>
            <a:off x="1187988" y="3556284"/>
            <a:ext cx="403799" cy="403799"/>
          </a:xfrm>
          <a:prstGeom prst="rect">
            <a:avLst/>
          </a:prstGeom>
          <a:solidFill>
            <a:schemeClr val="accent1"/>
          </a:solidFill>
          <a:ln/>
        </p:spPr>
        <p:txBody>
          <a:bodyPr/>
          <a:lstStyle/>
          <a:p>
            <a:endParaRPr lang="en-US"/>
          </a:p>
        </p:txBody>
      </p:sp>
      <p:sp>
        <p:nvSpPr>
          <p:cNvPr id="26" name="voxel-empty-174"/>
          <p:cNvSpPr/>
          <p:nvPr/>
        </p:nvSpPr>
        <p:spPr>
          <a:xfrm>
            <a:off x="1626900" y="3556284"/>
            <a:ext cx="403799" cy="403799"/>
          </a:xfrm>
          <a:prstGeom prst="rect">
            <a:avLst/>
          </a:prstGeom>
          <a:ln w="9525">
            <a:solidFill>
              <a:schemeClr val="accent4"/>
            </a:solidFill>
            <a:prstDash val="dash"/>
          </a:ln>
        </p:spPr>
        <p:txBody>
          <a:bodyPr/>
          <a:lstStyle/>
          <a:p>
            <a:endParaRPr lang="en-US"/>
          </a:p>
        </p:txBody>
      </p:sp>
      <p:sp>
        <p:nvSpPr>
          <p:cNvPr id="27" name="voxel-175"/>
          <p:cNvSpPr/>
          <p:nvPr/>
        </p:nvSpPr>
        <p:spPr>
          <a:xfrm>
            <a:off x="2065812" y="3556284"/>
            <a:ext cx="403799" cy="403799"/>
          </a:xfrm>
          <a:prstGeom prst="rect">
            <a:avLst/>
          </a:prstGeom>
          <a:solidFill>
            <a:schemeClr val="accent1"/>
          </a:solidFill>
          <a:ln/>
        </p:spPr>
        <p:txBody>
          <a:bodyPr/>
          <a:lstStyle/>
          <a:p>
            <a:endParaRPr lang="en-US"/>
          </a:p>
        </p:txBody>
      </p:sp>
      <p:sp>
        <p:nvSpPr>
          <p:cNvPr id="28" name="voxel-176"/>
          <p:cNvSpPr/>
          <p:nvPr/>
        </p:nvSpPr>
        <p:spPr>
          <a:xfrm>
            <a:off x="2504724" y="3556284"/>
            <a:ext cx="403799" cy="403799"/>
          </a:xfrm>
          <a:prstGeom prst="rect">
            <a:avLst/>
          </a:prstGeom>
          <a:solidFill>
            <a:schemeClr val="accent1"/>
          </a:solidFill>
          <a:ln/>
        </p:spPr>
        <p:txBody>
          <a:bodyPr/>
          <a:lstStyle/>
          <a:p>
            <a:endParaRPr lang="en-US"/>
          </a:p>
        </p:txBody>
      </p:sp>
      <p:sp>
        <p:nvSpPr>
          <p:cNvPr id="29" name="text-177"/>
          <p:cNvSpPr txBox="1"/>
          <p:nvPr/>
        </p:nvSpPr>
        <p:spPr>
          <a:xfrm>
            <a:off x="822960" y="4160520"/>
            <a:ext cx="2011680" cy="320040"/>
          </a:xfrm>
          <a:prstGeom prst="rect">
            <a:avLst/>
          </a:prstGeom>
          <a:noFill/>
          <a:ln/>
        </p:spPr>
        <p:txBody>
          <a:bodyPr wrap="square" lIns="0" tIns="0" rIns="0" bIns="0" rtlCol="0" anchor="t"/>
          <a:lstStyle/>
          <a:p>
            <a:pPr marL="0" indent="0">
              <a:buNone/>
            </a:pPr>
            <a:r>
              <a:rPr lang="en-US" sz="1500" b="1" dirty="0">
                <a:solidFill>
                  <a:schemeClr val="tx1"/>
                </a:solidFill>
                <a:latin typeface="Courier New" pitchFamily="34" charset="0"/>
                <a:ea typeface="Courier New" pitchFamily="34" charset="-122"/>
                <a:cs typeface="Courier New" pitchFamily="34" charset="-120"/>
              </a:rPr>
              <a:t>--body biped</a:t>
            </a:r>
            <a:endParaRPr lang="en-US" sz="1500" dirty="0"/>
          </a:p>
        </p:txBody>
      </p:sp>
      <p:sp>
        <p:nvSpPr>
          <p:cNvPr id="30" name="text-178"/>
          <p:cNvSpPr txBox="1"/>
          <p:nvPr/>
        </p:nvSpPr>
        <p:spPr>
          <a:xfrm>
            <a:off x="822960" y="4526280"/>
            <a:ext cx="2011680" cy="822960"/>
          </a:xfrm>
          <a:prstGeom prst="rect">
            <a:avLst/>
          </a:prstGeom>
          <a:noFill/>
          <a:ln/>
        </p:spPr>
        <p:txBody>
          <a:bodyPr wrap="square" lIns="0" tIns="0" rIns="0" bIns="0" rtlCol="0" anchor="t"/>
          <a:lstStyle/>
          <a:p>
            <a:pPr marL="0" indent="0">
              <a:buNone/>
            </a:pPr>
            <a:r>
              <a:rPr lang="en-US" sz="1300" dirty="0">
                <a:solidFill>
                  <a:schemeClr val="tx2"/>
                </a:solidFill>
              </a:rPr>
              <a:t>Two legs and a torso, all horizontal muscle</a:t>
            </a:r>
            <a:endParaRPr lang="en-US" sz="1300" dirty="0"/>
          </a:p>
        </p:txBody>
      </p:sp>
      <p:sp>
        <p:nvSpPr>
          <p:cNvPr id="31" name="card-179"/>
          <p:cNvSpPr/>
          <p:nvPr/>
        </p:nvSpPr>
        <p:spPr>
          <a:xfrm>
            <a:off x="3337560" y="1463040"/>
            <a:ext cx="2560320" cy="4023360"/>
          </a:xfrm>
          <a:prstGeom prst="roundRect">
            <a:avLst>
              <a:gd name="adj" fmla="val 2857"/>
            </a:avLst>
          </a:prstGeom>
          <a:solidFill>
            <a:schemeClr val="bg2"/>
          </a:solidFill>
          <a:ln/>
        </p:spPr>
        <p:txBody>
          <a:bodyPr/>
          <a:lstStyle/>
          <a:p>
            <a:endParaRPr lang="en-US"/>
          </a:p>
        </p:txBody>
      </p:sp>
      <p:sp>
        <p:nvSpPr>
          <p:cNvPr id="32" name="voxel-empty-180"/>
          <p:cNvSpPr/>
          <p:nvPr/>
        </p:nvSpPr>
        <p:spPr>
          <a:xfrm>
            <a:off x="3537996" y="1800636"/>
            <a:ext cx="403799" cy="403799"/>
          </a:xfrm>
          <a:prstGeom prst="rect">
            <a:avLst/>
          </a:prstGeom>
          <a:ln w="9525">
            <a:solidFill>
              <a:schemeClr val="accent4"/>
            </a:solidFill>
            <a:prstDash val="dash"/>
          </a:ln>
        </p:spPr>
        <p:txBody>
          <a:bodyPr/>
          <a:lstStyle/>
          <a:p>
            <a:endParaRPr lang="en-US"/>
          </a:p>
        </p:txBody>
      </p:sp>
      <p:sp>
        <p:nvSpPr>
          <p:cNvPr id="33" name="voxel-empty-181"/>
          <p:cNvSpPr/>
          <p:nvPr/>
        </p:nvSpPr>
        <p:spPr>
          <a:xfrm>
            <a:off x="3976908" y="1800636"/>
            <a:ext cx="403799" cy="403799"/>
          </a:xfrm>
          <a:prstGeom prst="rect">
            <a:avLst/>
          </a:prstGeom>
          <a:ln w="9525">
            <a:solidFill>
              <a:schemeClr val="accent4"/>
            </a:solidFill>
            <a:prstDash val="dash"/>
          </a:ln>
        </p:spPr>
        <p:txBody>
          <a:bodyPr/>
          <a:lstStyle/>
          <a:p>
            <a:endParaRPr lang="en-US"/>
          </a:p>
        </p:txBody>
      </p:sp>
      <p:sp>
        <p:nvSpPr>
          <p:cNvPr id="34" name="voxel-empty-182"/>
          <p:cNvSpPr/>
          <p:nvPr/>
        </p:nvSpPr>
        <p:spPr>
          <a:xfrm>
            <a:off x="4415820" y="1800636"/>
            <a:ext cx="403799" cy="403799"/>
          </a:xfrm>
          <a:prstGeom prst="rect">
            <a:avLst/>
          </a:prstGeom>
          <a:ln w="9525">
            <a:solidFill>
              <a:schemeClr val="accent4"/>
            </a:solidFill>
            <a:prstDash val="dash"/>
          </a:ln>
        </p:spPr>
        <p:txBody>
          <a:bodyPr/>
          <a:lstStyle/>
          <a:p>
            <a:endParaRPr lang="en-US"/>
          </a:p>
        </p:txBody>
      </p:sp>
      <p:sp>
        <p:nvSpPr>
          <p:cNvPr id="35" name="voxel-empty-183"/>
          <p:cNvSpPr/>
          <p:nvPr/>
        </p:nvSpPr>
        <p:spPr>
          <a:xfrm>
            <a:off x="4854732" y="1800636"/>
            <a:ext cx="403799" cy="403799"/>
          </a:xfrm>
          <a:prstGeom prst="rect">
            <a:avLst/>
          </a:prstGeom>
          <a:ln w="9525">
            <a:solidFill>
              <a:schemeClr val="accent4"/>
            </a:solidFill>
            <a:prstDash val="dash"/>
          </a:ln>
        </p:spPr>
        <p:txBody>
          <a:bodyPr/>
          <a:lstStyle/>
          <a:p>
            <a:endParaRPr lang="en-US"/>
          </a:p>
        </p:txBody>
      </p:sp>
      <p:sp>
        <p:nvSpPr>
          <p:cNvPr id="36" name="voxel-empty-184"/>
          <p:cNvSpPr/>
          <p:nvPr/>
        </p:nvSpPr>
        <p:spPr>
          <a:xfrm>
            <a:off x="5293644" y="1800636"/>
            <a:ext cx="403799" cy="403799"/>
          </a:xfrm>
          <a:prstGeom prst="rect">
            <a:avLst/>
          </a:prstGeom>
          <a:ln w="9525">
            <a:solidFill>
              <a:schemeClr val="accent4"/>
            </a:solidFill>
            <a:prstDash val="dash"/>
          </a:ln>
        </p:spPr>
        <p:txBody>
          <a:bodyPr/>
          <a:lstStyle/>
          <a:p>
            <a:endParaRPr lang="en-US"/>
          </a:p>
        </p:txBody>
      </p:sp>
      <p:sp>
        <p:nvSpPr>
          <p:cNvPr id="37" name="voxel-empty-185"/>
          <p:cNvSpPr/>
          <p:nvPr/>
        </p:nvSpPr>
        <p:spPr>
          <a:xfrm>
            <a:off x="3537996" y="2239548"/>
            <a:ext cx="403799" cy="403799"/>
          </a:xfrm>
          <a:prstGeom prst="rect">
            <a:avLst/>
          </a:prstGeom>
          <a:ln w="9525">
            <a:solidFill>
              <a:schemeClr val="accent4"/>
            </a:solidFill>
            <a:prstDash val="dash"/>
          </a:ln>
        </p:spPr>
        <p:txBody>
          <a:bodyPr/>
          <a:lstStyle/>
          <a:p>
            <a:endParaRPr lang="en-US"/>
          </a:p>
        </p:txBody>
      </p:sp>
      <p:sp>
        <p:nvSpPr>
          <p:cNvPr id="38" name="voxel-empty-186"/>
          <p:cNvSpPr/>
          <p:nvPr/>
        </p:nvSpPr>
        <p:spPr>
          <a:xfrm>
            <a:off x="3976908" y="2239548"/>
            <a:ext cx="403799" cy="403799"/>
          </a:xfrm>
          <a:prstGeom prst="rect">
            <a:avLst/>
          </a:prstGeom>
          <a:ln w="9525">
            <a:solidFill>
              <a:schemeClr val="accent4"/>
            </a:solidFill>
            <a:prstDash val="dash"/>
          </a:ln>
        </p:spPr>
        <p:txBody>
          <a:bodyPr/>
          <a:lstStyle/>
          <a:p>
            <a:endParaRPr lang="en-US"/>
          </a:p>
        </p:txBody>
      </p:sp>
      <p:sp>
        <p:nvSpPr>
          <p:cNvPr id="39" name="voxel-empty-187"/>
          <p:cNvSpPr/>
          <p:nvPr/>
        </p:nvSpPr>
        <p:spPr>
          <a:xfrm>
            <a:off x="4415820" y="2239548"/>
            <a:ext cx="403799" cy="403799"/>
          </a:xfrm>
          <a:prstGeom prst="rect">
            <a:avLst/>
          </a:prstGeom>
          <a:ln w="9525">
            <a:solidFill>
              <a:schemeClr val="accent4"/>
            </a:solidFill>
            <a:prstDash val="dash"/>
          </a:ln>
        </p:spPr>
        <p:txBody>
          <a:bodyPr/>
          <a:lstStyle/>
          <a:p>
            <a:endParaRPr lang="en-US"/>
          </a:p>
        </p:txBody>
      </p:sp>
      <p:sp>
        <p:nvSpPr>
          <p:cNvPr id="40" name="voxel-empty-188"/>
          <p:cNvSpPr/>
          <p:nvPr/>
        </p:nvSpPr>
        <p:spPr>
          <a:xfrm>
            <a:off x="4854732" y="2239548"/>
            <a:ext cx="403799" cy="403799"/>
          </a:xfrm>
          <a:prstGeom prst="rect">
            <a:avLst/>
          </a:prstGeom>
          <a:ln w="9525">
            <a:solidFill>
              <a:schemeClr val="accent4"/>
            </a:solidFill>
            <a:prstDash val="dash"/>
          </a:ln>
        </p:spPr>
        <p:txBody>
          <a:bodyPr/>
          <a:lstStyle/>
          <a:p>
            <a:endParaRPr lang="en-US"/>
          </a:p>
        </p:txBody>
      </p:sp>
      <p:sp>
        <p:nvSpPr>
          <p:cNvPr id="41" name="voxel-empty-189"/>
          <p:cNvSpPr/>
          <p:nvPr/>
        </p:nvSpPr>
        <p:spPr>
          <a:xfrm>
            <a:off x="5293644" y="2239548"/>
            <a:ext cx="403799" cy="403799"/>
          </a:xfrm>
          <a:prstGeom prst="rect">
            <a:avLst/>
          </a:prstGeom>
          <a:ln w="9525">
            <a:solidFill>
              <a:schemeClr val="accent4"/>
            </a:solidFill>
            <a:prstDash val="dash"/>
          </a:ln>
        </p:spPr>
        <p:txBody>
          <a:bodyPr/>
          <a:lstStyle/>
          <a:p>
            <a:endParaRPr lang="en-US"/>
          </a:p>
        </p:txBody>
      </p:sp>
      <p:sp>
        <p:nvSpPr>
          <p:cNvPr id="42" name="voxel-empty-190"/>
          <p:cNvSpPr/>
          <p:nvPr/>
        </p:nvSpPr>
        <p:spPr>
          <a:xfrm>
            <a:off x="3537996" y="2678460"/>
            <a:ext cx="403799" cy="403799"/>
          </a:xfrm>
          <a:prstGeom prst="rect">
            <a:avLst/>
          </a:prstGeom>
          <a:ln w="9525">
            <a:solidFill>
              <a:schemeClr val="accent4"/>
            </a:solidFill>
            <a:prstDash val="dash"/>
          </a:ln>
        </p:spPr>
        <p:txBody>
          <a:bodyPr/>
          <a:lstStyle/>
          <a:p>
            <a:endParaRPr lang="en-US"/>
          </a:p>
        </p:txBody>
      </p:sp>
      <p:sp>
        <p:nvSpPr>
          <p:cNvPr id="43" name="voxel-empty-191"/>
          <p:cNvSpPr/>
          <p:nvPr/>
        </p:nvSpPr>
        <p:spPr>
          <a:xfrm>
            <a:off x="3976908" y="2678460"/>
            <a:ext cx="403799" cy="403799"/>
          </a:xfrm>
          <a:prstGeom prst="rect">
            <a:avLst/>
          </a:prstGeom>
          <a:ln w="9525">
            <a:solidFill>
              <a:schemeClr val="accent4"/>
            </a:solidFill>
            <a:prstDash val="dash"/>
          </a:ln>
        </p:spPr>
        <p:txBody>
          <a:bodyPr/>
          <a:lstStyle/>
          <a:p>
            <a:endParaRPr lang="en-US"/>
          </a:p>
        </p:txBody>
      </p:sp>
      <p:sp>
        <p:nvSpPr>
          <p:cNvPr id="44" name="voxel-empty-192"/>
          <p:cNvSpPr/>
          <p:nvPr/>
        </p:nvSpPr>
        <p:spPr>
          <a:xfrm>
            <a:off x="4415820" y="2678460"/>
            <a:ext cx="403799" cy="403799"/>
          </a:xfrm>
          <a:prstGeom prst="rect">
            <a:avLst/>
          </a:prstGeom>
          <a:ln w="9525">
            <a:solidFill>
              <a:schemeClr val="accent4"/>
            </a:solidFill>
            <a:prstDash val="dash"/>
          </a:ln>
        </p:spPr>
        <p:txBody>
          <a:bodyPr/>
          <a:lstStyle/>
          <a:p>
            <a:endParaRPr lang="en-US"/>
          </a:p>
        </p:txBody>
      </p:sp>
      <p:sp>
        <p:nvSpPr>
          <p:cNvPr id="45" name="voxel-empty-193"/>
          <p:cNvSpPr/>
          <p:nvPr/>
        </p:nvSpPr>
        <p:spPr>
          <a:xfrm>
            <a:off x="4854732" y="2678460"/>
            <a:ext cx="403799" cy="403799"/>
          </a:xfrm>
          <a:prstGeom prst="rect">
            <a:avLst/>
          </a:prstGeom>
          <a:ln w="9525">
            <a:solidFill>
              <a:schemeClr val="accent4"/>
            </a:solidFill>
            <a:prstDash val="dash"/>
          </a:ln>
        </p:spPr>
        <p:txBody>
          <a:bodyPr/>
          <a:lstStyle/>
          <a:p>
            <a:endParaRPr lang="en-US"/>
          </a:p>
        </p:txBody>
      </p:sp>
      <p:sp>
        <p:nvSpPr>
          <p:cNvPr id="46" name="voxel-empty-194"/>
          <p:cNvSpPr/>
          <p:nvPr/>
        </p:nvSpPr>
        <p:spPr>
          <a:xfrm>
            <a:off x="5293644" y="2678460"/>
            <a:ext cx="403799" cy="403799"/>
          </a:xfrm>
          <a:prstGeom prst="rect">
            <a:avLst/>
          </a:prstGeom>
          <a:ln w="9525">
            <a:solidFill>
              <a:schemeClr val="accent4"/>
            </a:solidFill>
            <a:prstDash val="dash"/>
          </a:ln>
        </p:spPr>
        <p:txBody>
          <a:bodyPr/>
          <a:lstStyle/>
          <a:p>
            <a:endParaRPr lang="en-US"/>
          </a:p>
        </p:txBody>
      </p:sp>
      <p:sp>
        <p:nvSpPr>
          <p:cNvPr id="47" name="voxel-195"/>
          <p:cNvSpPr/>
          <p:nvPr/>
        </p:nvSpPr>
        <p:spPr>
          <a:xfrm>
            <a:off x="3537996" y="3117372"/>
            <a:ext cx="403799" cy="403799"/>
          </a:xfrm>
          <a:prstGeom prst="rect">
            <a:avLst/>
          </a:prstGeom>
          <a:solidFill>
            <a:schemeClr val="accent2"/>
          </a:solidFill>
          <a:ln/>
        </p:spPr>
        <p:txBody>
          <a:bodyPr/>
          <a:lstStyle/>
          <a:p>
            <a:endParaRPr lang="en-US"/>
          </a:p>
        </p:txBody>
      </p:sp>
      <p:sp>
        <p:nvSpPr>
          <p:cNvPr id="48" name="voxel-196"/>
          <p:cNvSpPr/>
          <p:nvPr/>
        </p:nvSpPr>
        <p:spPr>
          <a:xfrm>
            <a:off x="3976908" y="3117372"/>
            <a:ext cx="403799" cy="403799"/>
          </a:xfrm>
          <a:prstGeom prst="rect">
            <a:avLst/>
          </a:prstGeom>
          <a:solidFill>
            <a:schemeClr val="accent2"/>
          </a:solidFill>
          <a:ln/>
        </p:spPr>
        <p:txBody>
          <a:bodyPr/>
          <a:lstStyle/>
          <a:p>
            <a:endParaRPr lang="en-US"/>
          </a:p>
        </p:txBody>
      </p:sp>
      <p:sp>
        <p:nvSpPr>
          <p:cNvPr id="49" name="voxel-197"/>
          <p:cNvSpPr/>
          <p:nvPr/>
        </p:nvSpPr>
        <p:spPr>
          <a:xfrm>
            <a:off x="4415820" y="3117372"/>
            <a:ext cx="403799" cy="403799"/>
          </a:xfrm>
          <a:prstGeom prst="rect">
            <a:avLst/>
          </a:prstGeom>
          <a:solidFill>
            <a:schemeClr val="accent2"/>
          </a:solidFill>
          <a:ln/>
        </p:spPr>
        <p:txBody>
          <a:bodyPr/>
          <a:lstStyle/>
          <a:p>
            <a:endParaRPr lang="en-US"/>
          </a:p>
        </p:txBody>
      </p:sp>
      <p:sp>
        <p:nvSpPr>
          <p:cNvPr id="50" name="voxel-198"/>
          <p:cNvSpPr/>
          <p:nvPr/>
        </p:nvSpPr>
        <p:spPr>
          <a:xfrm>
            <a:off x="4854732" y="3117372"/>
            <a:ext cx="403799" cy="403799"/>
          </a:xfrm>
          <a:prstGeom prst="rect">
            <a:avLst/>
          </a:prstGeom>
          <a:solidFill>
            <a:schemeClr val="accent2"/>
          </a:solidFill>
          <a:ln/>
        </p:spPr>
        <p:txBody>
          <a:bodyPr/>
          <a:lstStyle/>
          <a:p>
            <a:endParaRPr lang="en-US"/>
          </a:p>
        </p:txBody>
      </p:sp>
      <p:sp>
        <p:nvSpPr>
          <p:cNvPr id="51" name="voxel-199"/>
          <p:cNvSpPr/>
          <p:nvPr/>
        </p:nvSpPr>
        <p:spPr>
          <a:xfrm>
            <a:off x="5293644" y="3117372"/>
            <a:ext cx="403799" cy="403799"/>
          </a:xfrm>
          <a:prstGeom prst="rect">
            <a:avLst/>
          </a:prstGeom>
          <a:solidFill>
            <a:schemeClr val="accent2"/>
          </a:solidFill>
          <a:ln/>
        </p:spPr>
        <p:txBody>
          <a:bodyPr/>
          <a:lstStyle/>
          <a:p>
            <a:endParaRPr lang="en-US"/>
          </a:p>
        </p:txBody>
      </p:sp>
      <p:sp>
        <p:nvSpPr>
          <p:cNvPr id="52" name="voxel-200"/>
          <p:cNvSpPr/>
          <p:nvPr/>
        </p:nvSpPr>
        <p:spPr>
          <a:xfrm>
            <a:off x="3537996" y="3556284"/>
            <a:ext cx="403799" cy="403799"/>
          </a:xfrm>
          <a:prstGeom prst="rect">
            <a:avLst/>
          </a:prstGeom>
          <a:solidFill>
            <a:schemeClr val="accent1"/>
          </a:solidFill>
          <a:ln/>
        </p:spPr>
        <p:txBody>
          <a:bodyPr/>
          <a:lstStyle/>
          <a:p>
            <a:endParaRPr lang="en-US"/>
          </a:p>
        </p:txBody>
      </p:sp>
      <p:sp>
        <p:nvSpPr>
          <p:cNvPr id="53" name="voxel-201"/>
          <p:cNvSpPr/>
          <p:nvPr/>
        </p:nvSpPr>
        <p:spPr>
          <a:xfrm>
            <a:off x="3976908" y="3556284"/>
            <a:ext cx="403799" cy="403799"/>
          </a:xfrm>
          <a:prstGeom prst="rect">
            <a:avLst/>
          </a:prstGeom>
          <a:solidFill>
            <a:schemeClr val="accent1"/>
          </a:solidFill>
          <a:ln/>
        </p:spPr>
        <p:txBody>
          <a:bodyPr/>
          <a:lstStyle/>
          <a:p>
            <a:endParaRPr lang="en-US"/>
          </a:p>
        </p:txBody>
      </p:sp>
      <p:sp>
        <p:nvSpPr>
          <p:cNvPr id="54" name="voxel-202"/>
          <p:cNvSpPr/>
          <p:nvPr/>
        </p:nvSpPr>
        <p:spPr>
          <a:xfrm>
            <a:off x="4415820" y="3556284"/>
            <a:ext cx="403799" cy="403799"/>
          </a:xfrm>
          <a:prstGeom prst="rect">
            <a:avLst/>
          </a:prstGeom>
          <a:solidFill>
            <a:schemeClr val="accent1"/>
          </a:solidFill>
          <a:ln/>
        </p:spPr>
        <p:txBody>
          <a:bodyPr/>
          <a:lstStyle/>
          <a:p>
            <a:endParaRPr lang="en-US"/>
          </a:p>
        </p:txBody>
      </p:sp>
      <p:sp>
        <p:nvSpPr>
          <p:cNvPr id="55" name="voxel-203"/>
          <p:cNvSpPr/>
          <p:nvPr/>
        </p:nvSpPr>
        <p:spPr>
          <a:xfrm>
            <a:off x="4854732" y="3556284"/>
            <a:ext cx="403799" cy="403799"/>
          </a:xfrm>
          <a:prstGeom prst="rect">
            <a:avLst/>
          </a:prstGeom>
          <a:solidFill>
            <a:schemeClr val="accent1"/>
          </a:solidFill>
          <a:ln/>
        </p:spPr>
        <p:txBody>
          <a:bodyPr/>
          <a:lstStyle/>
          <a:p>
            <a:endParaRPr lang="en-US"/>
          </a:p>
        </p:txBody>
      </p:sp>
      <p:sp>
        <p:nvSpPr>
          <p:cNvPr id="56" name="voxel-204"/>
          <p:cNvSpPr/>
          <p:nvPr/>
        </p:nvSpPr>
        <p:spPr>
          <a:xfrm>
            <a:off x="5293644" y="3556284"/>
            <a:ext cx="403799" cy="403799"/>
          </a:xfrm>
          <a:prstGeom prst="rect">
            <a:avLst/>
          </a:prstGeom>
          <a:solidFill>
            <a:schemeClr val="accent1"/>
          </a:solidFill>
          <a:ln/>
        </p:spPr>
        <p:txBody>
          <a:bodyPr/>
          <a:lstStyle/>
          <a:p>
            <a:endParaRPr lang="en-US"/>
          </a:p>
        </p:txBody>
      </p:sp>
      <p:sp>
        <p:nvSpPr>
          <p:cNvPr id="57" name="text-205"/>
          <p:cNvSpPr txBox="1"/>
          <p:nvPr/>
        </p:nvSpPr>
        <p:spPr>
          <a:xfrm>
            <a:off x="3611880" y="4160520"/>
            <a:ext cx="2011680" cy="320040"/>
          </a:xfrm>
          <a:prstGeom prst="rect">
            <a:avLst/>
          </a:prstGeom>
          <a:noFill/>
          <a:ln/>
        </p:spPr>
        <p:txBody>
          <a:bodyPr wrap="square" lIns="0" tIns="0" rIns="0" bIns="0" rtlCol="0" anchor="t"/>
          <a:lstStyle/>
          <a:p>
            <a:pPr marL="0" indent="0">
              <a:buNone/>
            </a:pPr>
            <a:r>
              <a:rPr lang="en-US" sz="1500" b="1" dirty="0">
                <a:solidFill>
                  <a:schemeClr val="tx1"/>
                </a:solidFill>
                <a:latin typeface="Courier New" pitchFamily="34" charset="0"/>
                <a:ea typeface="Courier New" pitchFamily="34" charset="-122"/>
                <a:cs typeface="Courier New" pitchFamily="34" charset="-120"/>
              </a:rPr>
              <a:t>--body worm</a:t>
            </a:r>
            <a:endParaRPr lang="en-US" sz="1500" dirty="0"/>
          </a:p>
        </p:txBody>
      </p:sp>
      <p:sp>
        <p:nvSpPr>
          <p:cNvPr id="58" name="text-206"/>
          <p:cNvSpPr txBox="1"/>
          <p:nvPr/>
        </p:nvSpPr>
        <p:spPr>
          <a:xfrm>
            <a:off x="3611880" y="4526280"/>
            <a:ext cx="2011680" cy="822960"/>
          </a:xfrm>
          <a:prstGeom prst="rect">
            <a:avLst/>
          </a:prstGeom>
          <a:noFill/>
          <a:ln/>
        </p:spPr>
        <p:txBody>
          <a:bodyPr wrap="square" lIns="0" tIns="0" rIns="0" bIns="0" rtlCol="0" anchor="t"/>
          <a:lstStyle/>
          <a:p>
            <a:pPr marL="0" indent="0">
              <a:buNone/>
            </a:pPr>
            <a:r>
              <a:rPr lang="en-US" sz="1300" dirty="0">
                <a:solidFill>
                  <a:schemeClr val="tx2"/>
                </a:solidFill>
              </a:rPr>
              <a:t>A flat strip: vertical muscles over horizontal</a:t>
            </a:r>
            <a:endParaRPr lang="en-US" sz="1300" dirty="0"/>
          </a:p>
        </p:txBody>
      </p:sp>
      <p:sp>
        <p:nvSpPr>
          <p:cNvPr id="59" name="card-207"/>
          <p:cNvSpPr/>
          <p:nvPr/>
        </p:nvSpPr>
        <p:spPr>
          <a:xfrm>
            <a:off x="6126480" y="1463040"/>
            <a:ext cx="2560320" cy="4023360"/>
          </a:xfrm>
          <a:prstGeom prst="roundRect">
            <a:avLst>
              <a:gd name="adj" fmla="val 2857"/>
            </a:avLst>
          </a:prstGeom>
          <a:solidFill>
            <a:schemeClr val="bg2"/>
          </a:solidFill>
          <a:ln/>
        </p:spPr>
        <p:txBody>
          <a:bodyPr/>
          <a:lstStyle/>
          <a:p>
            <a:endParaRPr lang="en-US"/>
          </a:p>
        </p:txBody>
      </p:sp>
      <p:sp>
        <p:nvSpPr>
          <p:cNvPr id="60" name="voxel-208"/>
          <p:cNvSpPr/>
          <p:nvPr/>
        </p:nvSpPr>
        <p:spPr>
          <a:xfrm>
            <a:off x="6326916" y="1800636"/>
            <a:ext cx="403799" cy="403799"/>
          </a:xfrm>
          <a:prstGeom prst="rect">
            <a:avLst/>
          </a:prstGeom>
          <a:solidFill>
            <a:schemeClr val="accent3"/>
          </a:solidFill>
          <a:ln/>
        </p:spPr>
        <p:txBody>
          <a:bodyPr/>
          <a:lstStyle/>
          <a:p>
            <a:endParaRPr lang="en-US"/>
          </a:p>
        </p:txBody>
      </p:sp>
      <p:sp>
        <p:nvSpPr>
          <p:cNvPr id="61" name="voxel-209"/>
          <p:cNvSpPr/>
          <p:nvPr/>
        </p:nvSpPr>
        <p:spPr>
          <a:xfrm>
            <a:off x="6765828" y="1800636"/>
            <a:ext cx="403799" cy="403799"/>
          </a:xfrm>
          <a:prstGeom prst="rect">
            <a:avLst/>
          </a:prstGeom>
          <a:solidFill>
            <a:schemeClr val="accent3"/>
          </a:solidFill>
          <a:ln/>
        </p:spPr>
        <p:txBody>
          <a:bodyPr/>
          <a:lstStyle/>
          <a:p>
            <a:endParaRPr lang="en-US"/>
          </a:p>
        </p:txBody>
      </p:sp>
      <p:sp>
        <p:nvSpPr>
          <p:cNvPr id="62" name="voxel-210"/>
          <p:cNvSpPr/>
          <p:nvPr/>
        </p:nvSpPr>
        <p:spPr>
          <a:xfrm>
            <a:off x="7204740" y="1800636"/>
            <a:ext cx="403799" cy="403799"/>
          </a:xfrm>
          <a:prstGeom prst="rect">
            <a:avLst/>
          </a:prstGeom>
          <a:solidFill>
            <a:schemeClr val="accent3"/>
          </a:solidFill>
          <a:ln/>
        </p:spPr>
        <p:txBody>
          <a:bodyPr/>
          <a:lstStyle/>
          <a:p>
            <a:endParaRPr lang="en-US"/>
          </a:p>
        </p:txBody>
      </p:sp>
      <p:sp>
        <p:nvSpPr>
          <p:cNvPr id="63" name="voxel-211"/>
          <p:cNvSpPr/>
          <p:nvPr/>
        </p:nvSpPr>
        <p:spPr>
          <a:xfrm>
            <a:off x="7643652" y="1800636"/>
            <a:ext cx="403799" cy="403799"/>
          </a:xfrm>
          <a:prstGeom prst="rect">
            <a:avLst/>
          </a:prstGeom>
          <a:solidFill>
            <a:schemeClr val="accent3"/>
          </a:solidFill>
          <a:ln/>
        </p:spPr>
        <p:txBody>
          <a:bodyPr/>
          <a:lstStyle/>
          <a:p>
            <a:endParaRPr lang="en-US"/>
          </a:p>
        </p:txBody>
      </p:sp>
      <p:sp>
        <p:nvSpPr>
          <p:cNvPr id="64" name="voxel-212"/>
          <p:cNvSpPr/>
          <p:nvPr/>
        </p:nvSpPr>
        <p:spPr>
          <a:xfrm>
            <a:off x="8082564" y="1800636"/>
            <a:ext cx="403799" cy="403799"/>
          </a:xfrm>
          <a:prstGeom prst="rect">
            <a:avLst/>
          </a:prstGeom>
          <a:solidFill>
            <a:schemeClr val="accent3"/>
          </a:solidFill>
          <a:ln/>
        </p:spPr>
        <p:txBody>
          <a:bodyPr/>
          <a:lstStyle/>
          <a:p>
            <a:endParaRPr lang="en-US"/>
          </a:p>
        </p:txBody>
      </p:sp>
      <p:sp>
        <p:nvSpPr>
          <p:cNvPr id="65" name="voxel-213"/>
          <p:cNvSpPr/>
          <p:nvPr/>
        </p:nvSpPr>
        <p:spPr>
          <a:xfrm>
            <a:off x="6326916" y="2239548"/>
            <a:ext cx="403799" cy="403799"/>
          </a:xfrm>
          <a:prstGeom prst="rect">
            <a:avLst/>
          </a:prstGeom>
          <a:solidFill>
            <a:schemeClr val="accent4"/>
          </a:solidFill>
          <a:ln/>
        </p:spPr>
        <p:txBody>
          <a:bodyPr/>
          <a:lstStyle/>
          <a:p>
            <a:endParaRPr lang="en-US"/>
          </a:p>
        </p:txBody>
      </p:sp>
      <p:sp>
        <p:nvSpPr>
          <p:cNvPr id="66" name="voxel-214"/>
          <p:cNvSpPr/>
          <p:nvPr/>
        </p:nvSpPr>
        <p:spPr>
          <a:xfrm>
            <a:off x="6765828" y="2239548"/>
            <a:ext cx="403799" cy="403799"/>
          </a:xfrm>
          <a:prstGeom prst="rect">
            <a:avLst/>
          </a:prstGeom>
          <a:solidFill>
            <a:schemeClr val="accent4"/>
          </a:solidFill>
          <a:ln/>
        </p:spPr>
        <p:txBody>
          <a:bodyPr/>
          <a:lstStyle/>
          <a:p>
            <a:endParaRPr lang="en-US"/>
          </a:p>
        </p:txBody>
      </p:sp>
      <p:sp>
        <p:nvSpPr>
          <p:cNvPr id="67" name="voxel-215"/>
          <p:cNvSpPr/>
          <p:nvPr/>
        </p:nvSpPr>
        <p:spPr>
          <a:xfrm>
            <a:off x="7204740" y="2239548"/>
            <a:ext cx="403799" cy="403799"/>
          </a:xfrm>
          <a:prstGeom prst="rect">
            <a:avLst/>
          </a:prstGeom>
          <a:solidFill>
            <a:schemeClr val="accent4"/>
          </a:solidFill>
          <a:ln/>
        </p:spPr>
        <p:txBody>
          <a:bodyPr/>
          <a:lstStyle/>
          <a:p>
            <a:endParaRPr lang="en-US"/>
          </a:p>
        </p:txBody>
      </p:sp>
      <p:sp>
        <p:nvSpPr>
          <p:cNvPr id="68" name="voxel-216"/>
          <p:cNvSpPr/>
          <p:nvPr/>
        </p:nvSpPr>
        <p:spPr>
          <a:xfrm>
            <a:off x="7643652" y="2239548"/>
            <a:ext cx="403799" cy="403799"/>
          </a:xfrm>
          <a:prstGeom prst="rect">
            <a:avLst/>
          </a:prstGeom>
          <a:solidFill>
            <a:schemeClr val="accent4"/>
          </a:solidFill>
          <a:ln/>
        </p:spPr>
        <p:txBody>
          <a:bodyPr/>
          <a:lstStyle/>
          <a:p>
            <a:endParaRPr lang="en-US"/>
          </a:p>
        </p:txBody>
      </p:sp>
      <p:sp>
        <p:nvSpPr>
          <p:cNvPr id="69" name="voxel-217"/>
          <p:cNvSpPr/>
          <p:nvPr/>
        </p:nvSpPr>
        <p:spPr>
          <a:xfrm>
            <a:off x="8082564" y="2239548"/>
            <a:ext cx="403799" cy="403799"/>
          </a:xfrm>
          <a:prstGeom prst="rect">
            <a:avLst/>
          </a:prstGeom>
          <a:solidFill>
            <a:schemeClr val="accent4"/>
          </a:solidFill>
          <a:ln/>
        </p:spPr>
        <p:txBody>
          <a:bodyPr/>
          <a:lstStyle/>
          <a:p>
            <a:endParaRPr lang="en-US"/>
          </a:p>
        </p:txBody>
      </p:sp>
      <p:sp>
        <p:nvSpPr>
          <p:cNvPr id="70" name="voxel-218"/>
          <p:cNvSpPr/>
          <p:nvPr/>
        </p:nvSpPr>
        <p:spPr>
          <a:xfrm>
            <a:off x="6326916" y="2678460"/>
            <a:ext cx="403799" cy="403799"/>
          </a:xfrm>
          <a:prstGeom prst="rect">
            <a:avLst/>
          </a:prstGeom>
          <a:solidFill>
            <a:schemeClr val="accent4"/>
          </a:solidFill>
          <a:ln/>
        </p:spPr>
        <p:txBody>
          <a:bodyPr/>
          <a:lstStyle/>
          <a:p>
            <a:endParaRPr lang="en-US"/>
          </a:p>
        </p:txBody>
      </p:sp>
      <p:sp>
        <p:nvSpPr>
          <p:cNvPr id="71" name="voxel-219"/>
          <p:cNvSpPr/>
          <p:nvPr/>
        </p:nvSpPr>
        <p:spPr>
          <a:xfrm>
            <a:off x="6765828" y="2678460"/>
            <a:ext cx="403799" cy="403799"/>
          </a:xfrm>
          <a:prstGeom prst="rect">
            <a:avLst/>
          </a:prstGeom>
          <a:solidFill>
            <a:schemeClr val="accent4"/>
          </a:solidFill>
          <a:ln/>
        </p:spPr>
        <p:txBody>
          <a:bodyPr/>
          <a:lstStyle/>
          <a:p>
            <a:endParaRPr lang="en-US"/>
          </a:p>
        </p:txBody>
      </p:sp>
      <p:sp>
        <p:nvSpPr>
          <p:cNvPr id="72" name="voxel-220"/>
          <p:cNvSpPr/>
          <p:nvPr/>
        </p:nvSpPr>
        <p:spPr>
          <a:xfrm>
            <a:off x="7204740" y="2678460"/>
            <a:ext cx="403799" cy="403799"/>
          </a:xfrm>
          <a:prstGeom prst="rect">
            <a:avLst/>
          </a:prstGeom>
          <a:solidFill>
            <a:schemeClr val="accent4"/>
          </a:solidFill>
          <a:ln/>
        </p:spPr>
        <p:txBody>
          <a:bodyPr/>
          <a:lstStyle/>
          <a:p>
            <a:endParaRPr lang="en-US"/>
          </a:p>
        </p:txBody>
      </p:sp>
      <p:sp>
        <p:nvSpPr>
          <p:cNvPr id="73" name="voxel-221"/>
          <p:cNvSpPr/>
          <p:nvPr/>
        </p:nvSpPr>
        <p:spPr>
          <a:xfrm>
            <a:off x="7643652" y="2678460"/>
            <a:ext cx="403799" cy="403799"/>
          </a:xfrm>
          <a:prstGeom prst="rect">
            <a:avLst/>
          </a:prstGeom>
          <a:solidFill>
            <a:schemeClr val="accent4"/>
          </a:solidFill>
          <a:ln/>
        </p:spPr>
        <p:txBody>
          <a:bodyPr/>
          <a:lstStyle/>
          <a:p>
            <a:endParaRPr lang="en-US"/>
          </a:p>
        </p:txBody>
      </p:sp>
      <p:sp>
        <p:nvSpPr>
          <p:cNvPr id="74" name="voxel-222"/>
          <p:cNvSpPr/>
          <p:nvPr/>
        </p:nvSpPr>
        <p:spPr>
          <a:xfrm>
            <a:off x="8082564" y="2678460"/>
            <a:ext cx="403799" cy="403799"/>
          </a:xfrm>
          <a:prstGeom prst="rect">
            <a:avLst/>
          </a:prstGeom>
          <a:solidFill>
            <a:schemeClr val="accent4"/>
          </a:solidFill>
          <a:ln/>
        </p:spPr>
        <p:txBody>
          <a:bodyPr/>
          <a:lstStyle/>
          <a:p>
            <a:endParaRPr lang="en-US"/>
          </a:p>
        </p:txBody>
      </p:sp>
      <p:sp>
        <p:nvSpPr>
          <p:cNvPr id="75" name="voxel-223"/>
          <p:cNvSpPr/>
          <p:nvPr/>
        </p:nvSpPr>
        <p:spPr>
          <a:xfrm>
            <a:off x="6326916" y="3117372"/>
            <a:ext cx="403799" cy="403799"/>
          </a:xfrm>
          <a:prstGeom prst="rect">
            <a:avLst/>
          </a:prstGeom>
          <a:solidFill>
            <a:schemeClr val="accent2"/>
          </a:solidFill>
          <a:ln/>
        </p:spPr>
        <p:txBody>
          <a:bodyPr/>
          <a:lstStyle/>
          <a:p>
            <a:endParaRPr lang="en-US"/>
          </a:p>
        </p:txBody>
      </p:sp>
      <p:sp>
        <p:nvSpPr>
          <p:cNvPr id="76" name="voxel-224"/>
          <p:cNvSpPr/>
          <p:nvPr/>
        </p:nvSpPr>
        <p:spPr>
          <a:xfrm>
            <a:off x="6765828" y="3117372"/>
            <a:ext cx="403799" cy="403799"/>
          </a:xfrm>
          <a:prstGeom prst="rect">
            <a:avLst/>
          </a:prstGeom>
          <a:solidFill>
            <a:schemeClr val="accent4"/>
          </a:solidFill>
          <a:ln/>
        </p:spPr>
        <p:txBody>
          <a:bodyPr/>
          <a:lstStyle/>
          <a:p>
            <a:endParaRPr lang="en-US"/>
          </a:p>
        </p:txBody>
      </p:sp>
      <p:sp>
        <p:nvSpPr>
          <p:cNvPr id="77" name="voxel-225"/>
          <p:cNvSpPr/>
          <p:nvPr/>
        </p:nvSpPr>
        <p:spPr>
          <a:xfrm>
            <a:off x="7204740" y="3117372"/>
            <a:ext cx="403799" cy="403799"/>
          </a:xfrm>
          <a:prstGeom prst="rect">
            <a:avLst/>
          </a:prstGeom>
          <a:solidFill>
            <a:schemeClr val="accent2"/>
          </a:solidFill>
          <a:ln/>
        </p:spPr>
        <p:txBody>
          <a:bodyPr/>
          <a:lstStyle/>
          <a:p>
            <a:endParaRPr lang="en-US"/>
          </a:p>
        </p:txBody>
      </p:sp>
      <p:sp>
        <p:nvSpPr>
          <p:cNvPr id="78" name="voxel-226"/>
          <p:cNvSpPr/>
          <p:nvPr/>
        </p:nvSpPr>
        <p:spPr>
          <a:xfrm>
            <a:off x="7643652" y="3117372"/>
            <a:ext cx="403799" cy="403799"/>
          </a:xfrm>
          <a:prstGeom prst="rect">
            <a:avLst/>
          </a:prstGeom>
          <a:solidFill>
            <a:schemeClr val="accent4"/>
          </a:solidFill>
          <a:ln/>
        </p:spPr>
        <p:txBody>
          <a:bodyPr/>
          <a:lstStyle/>
          <a:p>
            <a:endParaRPr lang="en-US"/>
          </a:p>
        </p:txBody>
      </p:sp>
      <p:sp>
        <p:nvSpPr>
          <p:cNvPr id="79" name="voxel-227"/>
          <p:cNvSpPr/>
          <p:nvPr/>
        </p:nvSpPr>
        <p:spPr>
          <a:xfrm>
            <a:off x="8082564" y="3117372"/>
            <a:ext cx="403799" cy="403799"/>
          </a:xfrm>
          <a:prstGeom prst="rect">
            <a:avLst/>
          </a:prstGeom>
          <a:solidFill>
            <a:schemeClr val="accent2"/>
          </a:solidFill>
          <a:ln/>
        </p:spPr>
        <p:txBody>
          <a:bodyPr/>
          <a:lstStyle/>
          <a:p>
            <a:endParaRPr lang="en-US"/>
          </a:p>
        </p:txBody>
      </p:sp>
      <p:sp>
        <p:nvSpPr>
          <p:cNvPr id="80" name="voxel-228"/>
          <p:cNvSpPr/>
          <p:nvPr/>
        </p:nvSpPr>
        <p:spPr>
          <a:xfrm>
            <a:off x="6326916" y="3556284"/>
            <a:ext cx="403799" cy="403799"/>
          </a:xfrm>
          <a:prstGeom prst="rect">
            <a:avLst/>
          </a:prstGeom>
          <a:solidFill>
            <a:schemeClr val="accent1"/>
          </a:solidFill>
          <a:ln/>
        </p:spPr>
        <p:txBody>
          <a:bodyPr/>
          <a:lstStyle/>
          <a:p>
            <a:endParaRPr lang="en-US"/>
          </a:p>
        </p:txBody>
      </p:sp>
      <p:sp>
        <p:nvSpPr>
          <p:cNvPr id="81" name="voxel-229"/>
          <p:cNvSpPr/>
          <p:nvPr/>
        </p:nvSpPr>
        <p:spPr>
          <a:xfrm>
            <a:off x="6765828" y="3556284"/>
            <a:ext cx="403799" cy="403799"/>
          </a:xfrm>
          <a:prstGeom prst="rect">
            <a:avLst/>
          </a:prstGeom>
          <a:solidFill>
            <a:schemeClr val="accent1"/>
          </a:solidFill>
          <a:ln/>
        </p:spPr>
        <p:txBody>
          <a:bodyPr/>
          <a:lstStyle/>
          <a:p>
            <a:endParaRPr lang="en-US"/>
          </a:p>
        </p:txBody>
      </p:sp>
      <p:sp>
        <p:nvSpPr>
          <p:cNvPr id="82" name="voxel-230"/>
          <p:cNvSpPr/>
          <p:nvPr/>
        </p:nvSpPr>
        <p:spPr>
          <a:xfrm>
            <a:off x="7204740" y="3556284"/>
            <a:ext cx="403799" cy="403799"/>
          </a:xfrm>
          <a:prstGeom prst="rect">
            <a:avLst/>
          </a:prstGeom>
          <a:solidFill>
            <a:schemeClr val="accent1"/>
          </a:solidFill>
          <a:ln/>
        </p:spPr>
        <p:txBody>
          <a:bodyPr/>
          <a:lstStyle/>
          <a:p>
            <a:endParaRPr lang="en-US"/>
          </a:p>
        </p:txBody>
      </p:sp>
      <p:sp>
        <p:nvSpPr>
          <p:cNvPr id="83" name="voxel-231"/>
          <p:cNvSpPr/>
          <p:nvPr/>
        </p:nvSpPr>
        <p:spPr>
          <a:xfrm>
            <a:off x="7643652" y="3556284"/>
            <a:ext cx="403799" cy="403799"/>
          </a:xfrm>
          <a:prstGeom prst="rect">
            <a:avLst/>
          </a:prstGeom>
          <a:solidFill>
            <a:schemeClr val="accent1"/>
          </a:solidFill>
          <a:ln/>
        </p:spPr>
        <p:txBody>
          <a:bodyPr/>
          <a:lstStyle/>
          <a:p>
            <a:endParaRPr lang="en-US"/>
          </a:p>
        </p:txBody>
      </p:sp>
      <p:sp>
        <p:nvSpPr>
          <p:cNvPr id="84" name="voxel-232"/>
          <p:cNvSpPr/>
          <p:nvPr/>
        </p:nvSpPr>
        <p:spPr>
          <a:xfrm>
            <a:off x="8082564" y="3556284"/>
            <a:ext cx="403799" cy="403799"/>
          </a:xfrm>
          <a:prstGeom prst="rect">
            <a:avLst/>
          </a:prstGeom>
          <a:solidFill>
            <a:schemeClr val="accent1"/>
          </a:solidFill>
          <a:ln/>
        </p:spPr>
        <p:txBody>
          <a:bodyPr/>
          <a:lstStyle/>
          <a:p>
            <a:endParaRPr lang="en-US"/>
          </a:p>
        </p:txBody>
      </p:sp>
      <p:sp>
        <p:nvSpPr>
          <p:cNvPr id="85" name="text-233"/>
          <p:cNvSpPr txBox="1"/>
          <p:nvPr/>
        </p:nvSpPr>
        <p:spPr>
          <a:xfrm>
            <a:off x="6400800" y="4160520"/>
            <a:ext cx="2011680" cy="320040"/>
          </a:xfrm>
          <a:prstGeom prst="rect">
            <a:avLst/>
          </a:prstGeom>
          <a:noFill/>
          <a:ln/>
        </p:spPr>
        <p:txBody>
          <a:bodyPr wrap="square" lIns="0" tIns="0" rIns="0" bIns="0" rtlCol="0" anchor="t"/>
          <a:lstStyle/>
          <a:p>
            <a:pPr marL="0" indent="0">
              <a:buNone/>
            </a:pPr>
            <a:r>
              <a:rPr lang="en-US" sz="1500" b="1" dirty="0">
                <a:solidFill>
                  <a:schemeClr val="tx1"/>
                </a:solidFill>
                <a:latin typeface="Courier New" pitchFamily="34" charset="0"/>
                <a:ea typeface="Courier New" pitchFamily="34" charset="-122"/>
                <a:cs typeface="Courier New" pitchFamily="34" charset="-120"/>
              </a:rPr>
              <a:t>--body block</a:t>
            </a:r>
            <a:endParaRPr lang="en-US" sz="1500" dirty="0"/>
          </a:p>
        </p:txBody>
      </p:sp>
      <p:sp>
        <p:nvSpPr>
          <p:cNvPr id="86" name="text-234"/>
          <p:cNvSpPr txBox="1"/>
          <p:nvPr/>
        </p:nvSpPr>
        <p:spPr>
          <a:xfrm>
            <a:off x="6400800" y="4526280"/>
            <a:ext cx="2011680" cy="822960"/>
          </a:xfrm>
          <a:prstGeom prst="rect">
            <a:avLst/>
          </a:prstGeom>
          <a:noFill/>
          <a:ln/>
        </p:spPr>
        <p:txBody>
          <a:bodyPr wrap="square" lIns="0" tIns="0" rIns="0" bIns="0" rtlCol="0" anchor="t"/>
          <a:lstStyle/>
          <a:p>
            <a:pPr marL="0" indent="0">
              <a:buNone/>
            </a:pPr>
            <a:r>
              <a:rPr lang="en-US" sz="1300" dirty="0">
                <a:solidFill>
                  <a:schemeClr val="tx2"/>
                </a:solidFill>
              </a:rPr>
              <a:t>Soft block, rigid top, muscles along the bottom</a:t>
            </a:r>
            <a:endParaRPr lang="en-US" sz="1300" dirty="0"/>
          </a:p>
        </p:txBody>
      </p:sp>
      <p:sp>
        <p:nvSpPr>
          <p:cNvPr id="87" name="card-235"/>
          <p:cNvSpPr/>
          <p:nvPr/>
        </p:nvSpPr>
        <p:spPr>
          <a:xfrm>
            <a:off x="8915400" y="1463040"/>
            <a:ext cx="2560320" cy="4023360"/>
          </a:xfrm>
          <a:prstGeom prst="roundRect">
            <a:avLst>
              <a:gd name="adj" fmla="val 2857"/>
            </a:avLst>
          </a:prstGeom>
          <a:solidFill>
            <a:schemeClr val="bg2"/>
          </a:solidFill>
          <a:ln/>
        </p:spPr>
        <p:txBody>
          <a:bodyPr/>
          <a:lstStyle/>
          <a:p>
            <a:endParaRPr lang="en-US"/>
          </a:p>
        </p:txBody>
      </p:sp>
      <p:sp>
        <p:nvSpPr>
          <p:cNvPr id="88" name="voxel-236"/>
          <p:cNvSpPr/>
          <p:nvPr/>
        </p:nvSpPr>
        <p:spPr>
          <a:xfrm>
            <a:off x="9115836" y="1800636"/>
            <a:ext cx="403799" cy="403799"/>
          </a:xfrm>
          <a:prstGeom prst="rect">
            <a:avLst/>
          </a:prstGeom>
          <a:solidFill>
            <a:schemeClr val="accent3"/>
          </a:solidFill>
          <a:ln/>
        </p:spPr>
        <p:txBody>
          <a:bodyPr/>
          <a:lstStyle/>
          <a:p>
            <a:endParaRPr lang="en-US"/>
          </a:p>
        </p:txBody>
      </p:sp>
      <p:sp>
        <p:nvSpPr>
          <p:cNvPr id="89" name="voxel-237"/>
          <p:cNvSpPr/>
          <p:nvPr/>
        </p:nvSpPr>
        <p:spPr>
          <a:xfrm>
            <a:off x="9554748" y="1800636"/>
            <a:ext cx="403799" cy="403799"/>
          </a:xfrm>
          <a:prstGeom prst="rect">
            <a:avLst/>
          </a:prstGeom>
          <a:solidFill>
            <a:schemeClr val="accent3"/>
          </a:solidFill>
          <a:ln/>
        </p:spPr>
        <p:txBody>
          <a:bodyPr/>
          <a:lstStyle/>
          <a:p>
            <a:endParaRPr lang="en-US"/>
          </a:p>
        </p:txBody>
      </p:sp>
      <p:sp>
        <p:nvSpPr>
          <p:cNvPr id="90" name="voxel-238"/>
          <p:cNvSpPr/>
          <p:nvPr/>
        </p:nvSpPr>
        <p:spPr>
          <a:xfrm>
            <a:off x="9993660" y="1800636"/>
            <a:ext cx="403799" cy="403799"/>
          </a:xfrm>
          <a:prstGeom prst="rect">
            <a:avLst/>
          </a:prstGeom>
          <a:solidFill>
            <a:schemeClr val="accent3"/>
          </a:solidFill>
          <a:ln/>
        </p:spPr>
        <p:txBody>
          <a:bodyPr/>
          <a:lstStyle/>
          <a:p>
            <a:endParaRPr lang="en-US"/>
          </a:p>
        </p:txBody>
      </p:sp>
      <p:sp>
        <p:nvSpPr>
          <p:cNvPr id="91" name="voxel-239"/>
          <p:cNvSpPr/>
          <p:nvPr/>
        </p:nvSpPr>
        <p:spPr>
          <a:xfrm>
            <a:off x="10432572" y="1800636"/>
            <a:ext cx="403799" cy="403799"/>
          </a:xfrm>
          <a:prstGeom prst="rect">
            <a:avLst/>
          </a:prstGeom>
          <a:solidFill>
            <a:schemeClr val="accent3"/>
          </a:solidFill>
          <a:ln/>
        </p:spPr>
        <p:txBody>
          <a:bodyPr/>
          <a:lstStyle/>
          <a:p>
            <a:endParaRPr lang="en-US"/>
          </a:p>
        </p:txBody>
      </p:sp>
      <p:sp>
        <p:nvSpPr>
          <p:cNvPr id="92" name="voxel-240"/>
          <p:cNvSpPr/>
          <p:nvPr/>
        </p:nvSpPr>
        <p:spPr>
          <a:xfrm>
            <a:off x="10871484" y="1800636"/>
            <a:ext cx="403799" cy="403799"/>
          </a:xfrm>
          <a:prstGeom prst="rect">
            <a:avLst/>
          </a:prstGeom>
          <a:solidFill>
            <a:schemeClr val="accent3"/>
          </a:solidFill>
          <a:ln/>
        </p:spPr>
        <p:txBody>
          <a:bodyPr/>
          <a:lstStyle/>
          <a:p>
            <a:endParaRPr lang="en-US"/>
          </a:p>
        </p:txBody>
      </p:sp>
      <p:sp>
        <p:nvSpPr>
          <p:cNvPr id="93" name="voxel-241"/>
          <p:cNvSpPr/>
          <p:nvPr/>
        </p:nvSpPr>
        <p:spPr>
          <a:xfrm>
            <a:off x="9115836" y="2239548"/>
            <a:ext cx="403799" cy="403799"/>
          </a:xfrm>
          <a:prstGeom prst="rect">
            <a:avLst/>
          </a:prstGeom>
          <a:solidFill>
            <a:schemeClr val="accent1"/>
          </a:solidFill>
          <a:ln/>
        </p:spPr>
        <p:txBody>
          <a:bodyPr/>
          <a:lstStyle/>
          <a:p>
            <a:endParaRPr lang="en-US"/>
          </a:p>
        </p:txBody>
      </p:sp>
      <p:sp>
        <p:nvSpPr>
          <p:cNvPr id="94" name="voxel-242"/>
          <p:cNvSpPr/>
          <p:nvPr/>
        </p:nvSpPr>
        <p:spPr>
          <a:xfrm>
            <a:off x="9554748" y="2239548"/>
            <a:ext cx="403799" cy="403799"/>
          </a:xfrm>
          <a:prstGeom prst="rect">
            <a:avLst/>
          </a:prstGeom>
          <a:solidFill>
            <a:schemeClr val="accent1"/>
          </a:solidFill>
          <a:ln/>
        </p:spPr>
        <p:txBody>
          <a:bodyPr/>
          <a:lstStyle/>
          <a:p>
            <a:endParaRPr lang="en-US"/>
          </a:p>
        </p:txBody>
      </p:sp>
      <p:sp>
        <p:nvSpPr>
          <p:cNvPr id="95" name="voxel-243"/>
          <p:cNvSpPr/>
          <p:nvPr/>
        </p:nvSpPr>
        <p:spPr>
          <a:xfrm>
            <a:off x="9993660" y="2239548"/>
            <a:ext cx="403799" cy="403799"/>
          </a:xfrm>
          <a:prstGeom prst="rect">
            <a:avLst/>
          </a:prstGeom>
          <a:solidFill>
            <a:schemeClr val="accent1"/>
          </a:solidFill>
          <a:ln/>
        </p:spPr>
        <p:txBody>
          <a:bodyPr/>
          <a:lstStyle/>
          <a:p>
            <a:endParaRPr lang="en-US"/>
          </a:p>
        </p:txBody>
      </p:sp>
      <p:sp>
        <p:nvSpPr>
          <p:cNvPr id="96" name="voxel-244"/>
          <p:cNvSpPr/>
          <p:nvPr/>
        </p:nvSpPr>
        <p:spPr>
          <a:xfrm>
            <a:off x="10432572" y="2239548"/>
            <a:ext cx="403799" cy="403799"/>
          </a:xfrm>
          <a:prstGeom prst="rect">
            <a:avLst/>
          </a:prstGeom>
          <a:solidFill>
            <a:schemeClr val="accent1"/>
          </a:solidFill>
          <a:ln/>
        </p:spPr>
        <p:txBody>
          <a:bodyPr/>
          <a:lstStyle/>
          <a:p>
            <a:endParaRPr lang="en-US"/>
          </a:p>
        </p:txBody>
      </p:sp>
      <p:sp>
        <p:nvSpPr>
          <p:cNvPr id="97" name="voxel-245"/>
          <p:cNvSpPr/>
          <p:nvPr/>
        </p:nvSpPr>
        <p:spPr>
          <a:xfrm>
            <a:off x="10871484" y="2239548"/>
            <a:ext cx="403799" cy="403799"/>
          </a:xfrm>
          <a:prstGeom prst="rect">
            <a:avLst/>
          </a:prstGeom>
          <a:solidFill>
            <a:schemeClr val="accent1"/>
          </a:solidFill>
          <a:ln/>
        </p:spPr>
        <p:txBody>
          <a:bodyPr/>
          <a:lstStyle/>
          <a:p>
            <a:endParaRPr lang="en-US"/>
          </a:p>
        </p:txBody>
      </p:sp>
      <p:sp>
        <p:nvSpPr>
          <p:cNvPr id="98" name="voxel-246"/>
          <p:cNvSpPr/>
          <p:nvPr/>
        </p:nvSpPr>
        <p:spPr>
          <a:xfrm>
            <a:off x="9115836" y="2678460"/>
            <a:ext cx="403799" cy="403799"/>
          </a:xfrm>
          <a:prstGeom prst="rect">
            <a:avLst/>
          </a:prstGeom>
          <a:solidFill>
            <a:schemeClr val="accent2"/>
          </a:solidFill>
          <a:ln/>
        </p:spPr>
        <p:txBody>
          <a:bodyPr/>
          <a:lstStyle/>
          <a:p>
            <a:endParaRPr lang="en-US"/>
          </a:p>
        </p:txBody>
      </p:sp>
      <p:sp>
        <p:nvSpPr>
          <p:cNvPr id="99" name="voxel-empty-247"/>
          <p:cNvSpPr/>
          <p:nvPr/>
        </p:nvSpPr>
        <p:spPr>
          <a:xfrm>
            <a:off x="9554748" y="2678460"/>
            <a:ext cx="403799" cy="403799"/>
          </a:xfrm>
          <a:prstGeom prst="rect">
            <a:avLst/>
          </a:prstGeom>
          <a:ln w="9525">
            <a:solidFill>
              <a:schemeClr val="accent4"/>
            </a:solidFill>
            <a:prstDash val="dash"/>
          </a:ln>
        </p:spPr>
        <p:txBody>
          <a:bodyPr/>
          <a:lstStyle/>
          <a:p>
            <a:endParaRPr lang="en-US"/>
          </a:p>
        </p:txBody>
      </p:sp>
      <p:sp>
        <p:nvSpPr>
          <p:cNvPr id="100" name="voxel-248"/>
          <p:cNvSpPr/>
          <p:nvPr/>
        </p:nvSpPr>
        <p:spPr>
          <a:xfrm>
            <a:off x="9993660" y="2678460"/>
            <a:ext cx="403799" cy="403799"/>
          </a:xfrm>
          <a:prstGeom prst="rect">
            <a:avLst/>
          </a:prstGeom>
          <a:solidFill>
            <a:schemeClr val="accent2"/>
          </a:solidFill>
          <a:ln/>
        </p:spPr>
        <p:txBody>
          <a:bodyPr/>
          <a:lstStyle/>
          <a:p>
            <a:endParaRPr lang="en-US"/>
          </a:p>
        </p:txBody>
      </p:sp>
      <p:sp>
        <p:nvSpPr>
          <p:cNvPr id="101" name="voxel-empty-249"/>
          <p:cNvSpPr/>
          <p:nvPr/>
        </p:nvSpPr>
        <p:spPr>
          <a:xfrm>
            <a:off x="10432572" y="2678460"/>
            <a:ext cx="403799" cy="403799"/>
          </a:xfrm>
          <a:prstGeom prst="rect">
            <a:avLst/>
          </a:prstGeom>
          <a:ln w="9525">
            <a:solidFill>
              <a:schemeClr val="accent4"/>
            </a:solidFill>
            <a:prstDash val="dash"/>
          </a:ln>
        </p:spPr>
        <p:txBody>
          <a:bodyPr/>
          <a:lstStyle/>
          <a:p>
            <a:endParaRPr lang="en-US"/>
          </a:p>
        </p:txBody>
      </p:sp>
      <p:sp>
        <p:nvSpPr>
          <p:cNvPr id="102" name="voxel-250"/>
          <p:cNvSpPr/>
          <p:nvPr/>
        </p:nvSpPr>
        <p:spPr>
          <a:xfrm>
            <a:off x="10871484" y="2678460"/>
            <a:ext cx="403799" cy="403799"/>
          </a:xfrm>
          <a:prstGeom prst="rect">
            <a:avLst/>
          </a:prstGeom>
          <a:solidFill>
            <a:schemeClr val="accent2"/>
          </a:solidFill>
          <a:ln/>
        </p:spPr>
        <p:txBody>
          <a:bodyPr/>
          <a:lstStyle/>
          <a:p>
            <a:endParaRPr lang="en-US"/>
          </a:p>
        </p:txBody>
      </p:sp>
      <p:sp>
        <p:nvSpPr>
          <p:cNvPr id="103" name="voxel-251"/>
          <p:cNvSpPr/>
          <p:nvPr/>
        </p:nvSpPr>
        <p:spPr>
          <a:xfrm>
            <a:off x="9115836" y="3117372"/>
            <a:ext cx="403799" cy="403799"/>
          </a:xfrm>
          <a:prstGeom prst="rect">
            <a:avLst/>
          </a:prstGeom>
          <a:solidFill>
            <a:schemeClr val="accent2"/>
          </a:solidFill>
          <a:ln/>
        </p:spPr>
        <p:txBody>
          <a:bodyPr/>
          <a:lstStyle/>
          <a:p>
            <a:endParaRPr lang="en-US"/>
          </a:p>
        </p:txBody>
      </p:sp>
      <p:sp>
        <p:nvSpPr>
          <p:cNvPr id="104" name="voxel-empty-252"/>
          <p:cNvSpPr/>
          <p:nvPr/>
        </p:nvSpPr>
        <p:spPr>
          <a:xfrm>
            <a:off x="9554748" y="3117372"/>
            <a:ext cx="403799" cy="403799"/>
          </a:xfrm>
          <a:prstGeom prst="rect">
            <a:avLst/>
          </a:prstGeom>
          <a:ln w="9525">
            <a:solidFill>
              <a:schemeClr val="accent4"/>
            </a:solidFill>
            <a:prstDash val="dash"/>
          </a:ln>
        </p:spPr>
        <p:txBody>
          <a:bodyPr/>
          <a:lstStyle/>
          <a:p>
            <a:endParaRPr lang="en-US"/>
          </a:p>
        </p:txBody>
      </p:sp>
      <p:sp>
        <p:nvSpPr>
          <p:cNvPr id="105" name="voxel-253"/>
          <p:cNvSpPr/>
          <p:nvPr/>
        </p:nvSpPr>
        <p:spPr>
          <a:xfrm>
            <a:off x="9993660" y="3117372"/>
            <a:ext cx="403799" cy="403799"/>
          </a:xfrm>
          <a:prstGeom prst="rect">
            <a:avLst/>
          </a:prstGeom>
          <a:solidFill>
            <a:schemeClr val="accent2"/>
          </a:solidFill>
          <a:ln/>
        </p:spPr>
        <p:txBody>
          <a:bodyPr/>
          <a:lstStyle/>
          <a:p>
            <a:endParaRPr lang="en-US"/>
          </a:p>
        </p:txBody>
      </p:sp>
      <p:sp>
        <p:nvSpPr>
          <p:cNvPr id="106" name="voxel-empty-254"/>
          <p:cNvSpPr/>
          <p:nvPr/>
        </p:nvSpPr>
        <p:spPr>
          <a:xfrm>
            <a:off x="10432572" y="3117372"/>
            <a:ext cx="403799" cy="403799"/>
          </a:xfrm>
          <a:prstGeom prst="rect">
            <a:avLst/>
          </a:prstGeom>
          <a:ln w="9525">
            <a:solidFill>
              <a:schemeClr val="accent4"/>
            </a:solidFill>
            <a:prstDash val="dash"/>
          </a:ln>
        </p:spPr>
        <p:txBody>
          <a:bodyPr/>
          <a:lstStyle/>
          <a:p>
            <a:endParaRPr lang="en-US"/>
          </a:p>
        </p:txBody>
      </p:sp>
      <p:sp>
        <p:nvSpPr>
          <p:cNvPr id="107" name="voxel-255"/>
          <p:cNvSpPr/>
          <p:nvPr/>
        </p:nvSpPr>
        <p:spPr>
          <a:xfrm>
            <a:off x="10871484" y="3117372"/>
            <a:ext cx="403799" cy="403799"/>
          </a:xfrm>
          <a:prstGeom prst="rect">
            <a:avLst/>
          </a:prstGeom>
          <a:solidFill>
            <a:schemeClr val="accent2"/>
          </a:solidFill>
          <a:ln/>
        </p:spPr>
        <p:txBody>
          <a:bodyPr/>
          <a:lstStyle/>
          <a:p>
            <a:endParaRPr lang="en-US"/>
          </a:p>
        </p:txBody>
      </p:sp>
      <p:sp>
        <p:nvSpPr>
          <p:cNvPr id="108" name="voxel-256"/>
          <p:cNvSpPr/>
          <p:nvPr/>
        </p:nvSpPr>
        <p:spPr>
          <a:xfrm>
            <a:off x="9115836" y="3556284"/>
            <a:ext cx="403799" cy="403799"/>
          </a:xfrm>
          <a:prstGeom prst="rect">
            <a:avLst/>
          </a:prstGeom>
          <a:solidFill>
            <a:schemeClr val="accent1"/>
          </a:solidFill>
          <a:ln/>
        </p:spPr>
        <p:txBody>
          <a:bodyPr/>
          <a:lstStyle/>
          <a:p>
            <a:endParaRPr lang="en-US"/>
          </a:p>
        </p:txBody>
      </p:sp>
      <p:sp>
        <p:nvSpPr>
          <p:cNvPr id="109" name="voxel-empty-257"/>
          <p:cNvSpPr/>
          <p:nvPr/>
        </p:nvSpPr>
        <p:spPr>
          <a:xfrm>
            <a:off x="9554748" y="3556284"/>
            <a:ext cx="403799" cy="403799"/>
          </a:xfrm>
          <a:prstGeom prst="rect">
            <a:avLst/>
          </a:prstGeom>
          <a:ln w="9525">
            <a:solidFill>
              <a:schemeClr val="accent4"/>
            </a:solidFill>
            <a:prstDash val="dash"/>
          </a:ln>
        </p:spPr>
        <p:txBody>
          <a:bodyPr/>
          <a:lstStyle/>
          <a:p>
            <a:endParaRPr lang="en-US"/>
          </a:p>
        </p:txBody>
      </p:sp>
      <p:sp>
        <p:nvSpPr>
          <p:cNvPr id="110" name="voxel-258"/>
          <p:cNvSpPr/>
          <p:nvPr/>
        </p:nvSpPr>
        <p:spPr>
          <a:xfrm>
            <a:off x="9993660" y="3556284"/>
            <a:ext cx="403799" cy="403799"/>
          </a:xfrm>
          <a:prstGeom prst="rect">
            <a:avLst/>
          </a:prstGeom>
          <a:solidFill>
            <a:schemeClr val="accent1"/>
          </a:solidFill>
          <a:ln/>
        </p:spPr>
        <p:txBody>
          <a:bodyPr/>
          <a:lstStyle/>
          <a:p>
            <a:endParaRPr lang="en-US"/>
          </a:p>
        </p:txBody>
      </p:sp>
      <p:sp>
        <p:nvSpPr>
          <p:cNvPr id="111" name="voxel-empty-259"/>
          <p:cNvSpPr/>
          <p:nvPr/>
        </p:nvSpPr>
        <p:spPr>
          <a:xfrm>
            <a:off x="10432572" y="3556284"/>
            <a:ext cx="403799" cy="403799"/>
          </a:xfrm>
          <a:prstGeom prst="rect">
            <a:avLst/>
          </a:prstGeom>
          <a:ln w="9525">
            <a:solidFill>
              <a:schemeClr val="accent4"/>
            </a:solidFill>
            <a:prstDash val="dash"/>
          </a:ln>
        </p:spPr>
        <p:txBody>
          <a:bodyPr/>
          <a:lstStyle/>
          <a:p>
            <a:endParaRPr lang="en-US"/>
          </a:p>
        </p:txBody>
      </p:sp>
      <p:sp>
        <p:nvSpPr>
          <p:cNvPr id="112" name="voxel-260"/>
          <p:cNvSpPr/>
          <p:nvPr/>
        </p:nvSpPr>
        <p:spPr>
          <a:xfrm>
            <a:off x="10871484" y="3556284"/>
            <a:ext cx="403799" cy="403799"/>
          </a:xfrm>
          <a:prstGeom prst="rect">
            <a:avLst/>
          </a:prstGeom>
          <a:solidFill>
            <a:schemeClr val="accent1"/>
          </a:solidFill>
          <a:ln/>
        </p:spPr>
        <p:txBody>
          <a:bodyPr/>
          <a:lstStyle/>
          <a:p>
            <a:endParaRPr lang="en-US"/>
          </a:p>
        </p:txBody>
      </p:sp>
      <p:sp>
        <p:nvSpPr>
          <p:cNvPr id="113" name="text-261"/>
          <p:cNvSpPr txBox="1"/>
          <p:nvPr/>
        </p:nvSpPr>
        <p:spPr>
          <a:xfrm>
            <a:off x="9189720" y="4160520"/>
            <a:ext cx="2011680" cy="320040"/>
          </a:xfrm>
          <a:prstGeom prst="rect">
            <a:avLst/>
          </a:prstGeom>
          <a:noFill/>
          <a:ln/>
        </p:spPr>
        <p:txBody>
          <a:bodyPr wrap="square" lIns="0" tIns="0" rIns="0" bIns="0" rtlCol="0" anchor="t"/>
          <a:lstStyle/>
          <a:p>
            <a:pPr marL="0" indent="0">
              <a:buNone/>
            </a:pPr>
            <a:r>
              <a:rPr lang="en-US" sz="1500" b="1" dirty="0">
                <a:solidFill>
                  <a:schemeClr val="tx1"/>
                </a:solidFill>
                <a:latin typeface="Courier New" pitchFamily="34" charset="0"/>
                <a:ea typeface="Courier New" pitchFamily="34" charset="-122"/>
                <a:cs typeface="Courier New" pitchFamily="34" charset="-120"/>
              </a:rPr>
              <a:t>--body tripod</a:t>
            </a:r>
            <a:endParaRPr lang="en-US" sz="1500" dirty="0"/>
          </a:p>
        </p:txBody>
      </p:sp>
      <p:sp>
        <p:nvSpPr>
          <p:cNvPr id="114" name="text-262"/>
          <p:cNvSpPr txBox="1"/>
          <p:nvPr/>
        </p:nvSpPr>
        <p:spPr>
          <a:xfrm>
            <a:off x="9189720" y="4526280"/>
            <a:ext cx="2011680" cy="822960"/>
          </a:xfrm>
          <a:prstGeom prst="rect">
            <a:avLst/>
          </a:prstGeom>
          <a:noFill/>
          <a:ln/>
        </p:spPr>
        <p:txBody>
          <a:bodyPr wrap="square" lIns="0" tIns="0" rIns="0" bIns="0" rtlCol="0" anchor="t"/>
          <a:lstStyle/>
          <a:p>
            <a:pPr marL="0" indent="0">
              <a:buNone/>
            </a:pPr>
            <a:r>
              <a:rPr lang="en-US" sz="1300" dirty="0">
                <a:solidFill>
                  <a:schemeClr val="tx2"/>
                </a:solidFill>
              </a:rPr>
              <a:t>Three legs from a rigid back, mixed muscles</a:t>
            </a:r>
            <a:endParaRPr lang="en-US" sz="1300" dirty="0"/>
          </a:p>
        </p:txBody>
      </p:sp>
      <p:sp>
        <p:nvSpPr>
          <p:cNvPr id="115" name="text-263"/>
          <p:cNvSpPr txBox="1"/>
          <p:nvPr/>
        </p:nvSpPr>
        <p:spPr>
          <a:xfrm>
            <a:off x="548640" y="5715000"/>
            <a:ext cx="3931920" cy="365760"/>
          </a:xfrm>
          <a:prstGeom prst="rect">
            <a:avLst/>
          </a:prstGeom>
          <a:noFill/>
          <a:ln/>
        </p:spPr>
        <p:txBody>
          <a:bodyPr wrap="square" lIns="0" tIns="0" rIns="0" bIns="0" rtlCol="0" anchor="t"/>
          <a:lstStyle/>
          <a:p>
            <a:pPr marL="0" indent="0">
              <a:buNone/>
            </a:pPr>
            <a:r>
              <a:rPr lang="en-US" sz="1500" dirty="0">
                <a:solidFill>
                  <a:schemeClr val="tx1"/>
                </a:solidFill>
              </a:rPr>
              <a:t>Preview any body with a random brain:  </a:t>
            </a:r>
            <a:endParaRPr lang="en-US" sz="1500" dirty="0"/>
          </a:p>
        </p:txBody>
      </p:sp>
      <p:sp>
        <p:nvSpPr>
          <p:cNvPr id="116" name="text-264"/>
          <p:cNvSpPr txBox="1"/>
          <p:nvPr/>
        </p:nvSpPr>
        <p:spPr>
          <a:xfrm>
            <a:off x="4480560" y="5715000"/>
            <a:ext cx="7132320" cy="365760"/>
          </a:xfrm>
          <a:prstGeom prst="rect">
            <a:avLst/>
          </a:prstGeom>
          <a:noFill/>
          <a:ln/>
        </p:spPr>
        <p:txBody>
          <a:bodyPr wrap="square" lIns="0" tIns="0" rIns="0" bIns="0" rtlCol="0" anchor="t"/>
          <a:lstStyle/>
          <a:p>
            <a:pPr marL="0" indent="0">
              <a:buNone/>
            </a:pPr>
            <a:r>
              <a:rPr lang="en-US" sz="1500" dirty="0">
                <a:solidFill>
                  <a:schemeClr val="tx1"/>
                </a:solidFill>
                <a:latin typeface="Courier New" pitchFamily="34" charset="0"/>
                <a:ea typeface="Courier New" pitchFamily="34" charset="-122"/>
                <a:cs typeface="Courier New" pitchFamily="34" charset="-120"/>
              </a:rPr>
              <a:t>python sim.py --body worm --showbody --gif worm.gif</a:t>
            </a:r>
            <a:endParaRPr lang="en-US" sz="1500" dirty="0"/>
          </a:p>
        </p:txBody>
      </p:sp>
      <p:sp>
        <p:nvSpPr>
          <p:cNvPr id="117"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Or design your own body</a:t>
            </a:r>
            <a:endParaRPr lang="en-US" sz="3200" dirty="0"/>
          </a:p>
        </p:txBody>
      </p:sp>
      <p:sp>
        <p:nvSpPr>
          <p:cNvPr id="3" name="card-265"/>
          <p:cNvSpPr/>
          <p:nvPr/>
        </p:nvSpPr>
        <p:spPr>
          <a:xfrm>
            <a:off x="548640" y="1463040"/>
            <a:ext cx="3749040" cy="3108960"/>
          </a:xfrm>
          <a:prstGeom prst="roundRect">
            <a:avLst>
              <a:gd name="adj" fmla="val 2353"/>
            </a:avLst>
          </a:prstGeom>
          <a:solidFill>
            <a:schemeClr val="bg2"/>
          </a:solidFill>
          <a:ln/>
        </p:spPr>
        <p:txBody>
          <a:bodyPr/>
          <a:lstStyle/>
          <a:p>
            <a:endParaRPr lang="en-US"/>
          </a:p>
        </p:txBody>
      </p:sp>
      <p:sp>
        <p:nvSpPr>
          <p:cNvPr id="4" name="code-266"/>
          <p:cNvSpPr txBox="1"/>
          <p:nvPr/>
        </p:nvSpPr>
        <p:spPr>
          <a:xfrm>
            <a:off x="777240" y="1645920"/>
            <a:ext cx="3291840" cy="2743200"/>
          </a:xfrm>
          <a:prstGeom prst="rect">
            <a:avLst/>
          </a:prstGeom>
          <a:noFill/>
          <a:ln/>
        </p:spPr>
        <p:txBody>
          <a:bodyPr wrap="square" lIns="0" tIns="0" rIns="0" bIns="0" rtlCol="0" anchor="t"/>
          <a:lstStyle/>
          <a:p>
            <a:pPr marL="0" indent="0">
              <a:buNone/>
            </a:pPr>
            <a:r>
              <a:rPr lang="en-US" sz="1600" dirty="0">
                <a:solidFill>
                  <a:schemeClr val="tx1"/>
                </a:solidFill>
                <a:latin typeface="Courier New" pitchFamily="34" charset="0"/>
                <a:ea typeface="Courier New" pitchFamily="34" charset="-122"/>
                <a:cs typeface="Courier New" pitchFamily="34" charset="-120"/>
              </a:rPr>
              <a:t># my_body.txt: one row per line,</a:t>
            </a:r>
            <a:endParaRPr lang="en-US" sz="1600" dirty="0"/>
          </a:p>
          <a:p>
            <a:pPr marL="0" indent="0">
              <a:buNone/>
            </a:pPr>
            <a:r>
              <a:rPr lang="en-US" sz="1600" dirty="0">
                <a:solidFill>
                  <a:schemeClr val="tx1"/>
                </a:solidFill>
                <a:latin typeface="Courier New" pitchFamily="34" charset="0"/>
                <a:ea typeface="Courier New" pitchFamily="34" charset="-122"/>
                <a:cs typeface="Courier New" pitchFamily="34" charset="-120"/>
              </a:rPr>
              <a:t># row 0 = top</a:t>
            </a:r>
            <a:endParaRPr lang="en-US" sz="1600" dirty="0"/>
          </a:p>
          <a:p>
            <a:pPr marL="0" indent="0">
              <a:buNone/>
            </a:pPr>
            <a:r>
              <a:rPr lang="en-US" sz="1600" dirty="0">
                <a:solidFill>
                  <a:schemeClr val="tx1"/>
                </a:solidFill>
                <a:latin typeface="Courier New" pitchFamily="34" charset="0"/>
                <a:ea typeface="Courier New" pitchFamily="34" charset="-122"/>
                <a:cs typeface="Courier New" pitchFamily="34" charset="-120"/>
              </a:rPr>
              <a:t>1 1 1 1 1</a:t>
            </a:r>
            <a:endParaRPr lang="en-US" sz="1600" dirty="0"/>
          </a:p>
          <a:p>
            <a:pPr marL="0" indent="0">
              <a:buNone/>
            </a:pPr>
            <a:r>
              <a:rPr lang="en-US" sz="1600" dirty="0">
                <a:solidFill>
                  <a:schemeClr val="tx1"/>
                </a:solidFill>
                <a:latin typeface="Courier New" pitchFamily="34" charset="0"/>
                <a:ea typeface="Courier New" pitchFamily="34" charset="-122"/>
                <a:cs typeface="Courier New" pitchFamily="34" charset="-120"/>
              </a:rPr>
              <a:t>2 3 3 3 2</a:t>
            </a:r>
            <a:endParaRPr lang="en-US" sz="1600" dirty="0"/>
          </a:p>
          <a:p>
            <a:pPr marL="0" indent="0">
              <a:buNone/>
            </a:pPr>
            <a:r>
              <a:rPr lang="en-US" sz="1600" dirty="0">
                <a:solidFill>
                  <a:schemeClr val="tx1"/>
                </a:solidFill>
                <a:latin typeface="Courier New" pitchFamily="34" charset="0"/>
                <a:ea typeface="Courier New" pitchFamily="34" charset="-122"/>
                <a:cs typeface="Courier New" pitchFamily="34" charset="-120"/>
              </a:rPr>
              <a:t>2 4 0 4 2</a:t>
            </a:r>
            <a:endParaRPr lang="en-US" sz="1600" dirty="0"/>
          </a:p>
          <a:p>
            <a:pPr marL="0" indent="0">
              <a:buNone/>
            </a:pPr>
            <a:r>
              <a:rPr lang="en-US" sz="1600" dirty="0">
                <a:solidFill>
                  <a:schemeClr val="tx1"/>
                </a:solidFill>
                <a:latin typeface="Courier New" pitchFamily="34" charset="0"/>
                <a:ea typeface="Courier New" pitchFamily="34" charset="-122"/>
                <a:cs typeface="Courier New" pitchFamily="34" charset="-120"/>
              </a:rPr>
              <a:t>2 4 0 4 2</a:t>
            </a:r>
            <a:endParaRPr lang="en-US" sz="1600" dirty="0"/>
          </a:p>
          <a:p>
            <a:pPr marL="0" indent="0">
              <a:buNone/>
            </a:pPr>
            <a:r>
              <a:rPr lang="en-US" sz="1600" dirty="0">
                <a:solidFill>
                  <a:schemeClr val="tx1"/>
                </a:solidFill>
                <a:latin typeface="Courier New" pitchFamily="34" charset="0"/>
                <a:ea typeface="Courier New" pitchFamily="34" charset="-122"/>
                <a:cs typeface="Courier New" pitchFamily="34" charset="-120"/>
              </a:rPr>
              <a:t>3 3 0 3 3</a:t>
            </a:r>
            <a:endParaRPr lang="en-US" sz="1600" dirty="0"/>
          </a:p>
        </p:txBody>
      </p:sp>
      <p:sp>
        <p:nvSpPr>
          <p:cNvPr id="5" name="arrow-267"/>
          <p:cNvSpPr/>
          <p:nvPr/>
        </p:nvSpPr>
        <p:spPr>
          <a:xfrm>
            <a:off x="4434840" y="3017520"/>
            <a:ext cx="640080" cy="0"/>
          </a:xfrm>
          <a:prstGeom prst="line">
            <a:avLst/>
          </a:prstGeom>
          <a:noFill/>
          <a:ln w="25400">
            <a:solidFill>
              <a:schemeClr val="tx2"/>
            </a:solidFill>
            <a:prstDash val="solid"/>
            <a:tailEnd type="triangle"/>
          </a:ln>
        </p:spPr>
        <p:txBody>
          <a:bodyPr/>
          <a:lstStyle/>
          <a:p>
            <a:endParaRPr lang="en-US"/>
          </a:p>
        </p:txBody>
      </p:sp>
      <p:sp>
        <p:nvSpPr>
          <p:cNvPr id="6" name="voxel-268"/>
          <p:cNvSpPr/>
          <p:nvPr/>
        </p:nvSpPr>
        <p:spPr>
          <a:xfrm>
            <a:off x="5328392" y="1487912"/>
            <a:ext cx="572049" cy="572049"/>
          </a:xfrm>
          <a:prstGeom prst="rect">
            <a:avLst/>
          </a:prstGeom>
          <a:solidFill>
            <a:schemeClr val="accent3"/>
          </a:solidFill>
          <a:ln/>
        </p:spPr>
        <p:txBody>
          <a:bodyPr/>
          <a:lstStyle/>
          <a:p>
            <a:endParaRPr lang="en-US"/>
          </a:p>
        </p:txBody>
      </p:sp>
      <p:sp>
        <p:nvSpPr>
          <p:cNvPr id="7" name="voxel-269"/>
          <p:cNvSpPr/>
          <p:nvPr/>
        </p:nvSpPr>
        <p:spPr>
          <a:xfrm>
            <a:off x="5950184" y="1487912"/>
            <a:ext cx="572049" cy="572049"/>
          </a:xfrm>
          <a:prstGeom prst="rect">
            <a:avLst/>
          </a:prstGeom>
          <a:solidFill>
            <a:schemeClr val="accent3"/>
          </a:solidFill>
          <a:ln/>
        </p:spPr>
        <p:txBody>
          <a:bodyPr/>
          <a:lstStyle/>
          <a:p>
            <a:endParaRPr lang="en-US"/>
          </a:p>
        </p:txBody>
      </p:sp>
      <p:sp>
        <p:nvSpPr>
          <p:cNvPr id="8" name="voxel-270"/>
          <p:cNvSpPr/>
          <p:nvPr/>
        </p:nvSpPr>
        <p:spPr>
          <a:xfrm>
            <a:off x="6571976" y="1487912"/>
            <a:ext cx="572049" cy="572049"/>
          </a:xfrm>
          <a:prstGeom prst="rect">
            <a:avLst/>
          </a:prstGeom>
          <a:solidFill>
            <a:schemeClr val="accent3"/>
          </a:solidFill>
          <a:ln/>
        </p:spPr>
        <p:txBody>
          <a:bodyPr/>
          <a:lstStyle/>
          <a:p>
            <a:endParaRPr lang="en-US"/>
          </a:p>
        </p:txBody>
      </p:sp>
      <p:sp>
        <p:nvSpPr>
          <p:cNvPr id="9" name="voxel-271"/>
          <p:cNvSpPr/>
          <p:nvPr/>
        </p:nvSpPr>
        <p:spPr>
          <a:xfrm>
            <a:off x="7193768" y="1487912"/>
            <a:ext cx="572049" cy="572049"/>
          </a:xfrm>
          <a:prstGeom prst="rect">
            <a:avLst/>
          </a:prstGeom>
          <a:solidFill>
            <a:schemeClr val="accent3"/>
          </a:solidFill>
          <a:ln/>
        </p:spPr>
        <p:txBody>
          <a:bodyPr/>
          <a:lstStyle/>
          <a:p>
            <a:endParaRPr lang="en-US"/>
          </a:p>
        </p:txBody>
      </p:sp>
      <p:sp>
        <p:nvSpPr>
          <p:cNvPr id="10" name="voxel-272"/>
          <p:cNvSpPr/>
          <p:nvPr/>
        </p:nvSpPr>
        <p:spPr>
          <a:xfrm>
            <a:off x="7815560" y="1487912"/>
            <a:ext cx="572049" cy="572049"/>
          </a:xfrm>
          <a:prstGeom prst="rect">
            <a:avLst/>
          </a:prstGeom>
          <a:solidFill>
            <a:schemeClr val="accent3"/>
          </a:solidFill>
          <a:ln/>
        </p:spPr>
        <p:txBody>
          <a:bodyPr/>
          <a:lstStyle/>
          <a:p>
            <a:endParaRPr lang="en-US"/>
          </a:p>
        </p:txBody>
      </p:sp>
      <p:sp>
        <p:nvSpPr>
          <p:cNvPr id="11" name="voxel-273"/>
          <p:cNvSpPr/>
          <p:nvPr/>
        </p:nvSpPr>
        <p:spPr>
          <a:xfrm>
            <a:off x="5328392" y="2109704"/>
            <a:ext cx="572049" cy="572049"/>
          </a:xfrm>
          <a:prstGeom prst="rect">
            <a:avLst/>
          </a:prstGeom>
          <a:solidFill>
            <a:schemeClr val="accent4"/>
          </a:solidFill>
          <a:ln/>
        </p:spPr>
        <p:txBody>
          <a:bodyPr/>
          <a:lstStyle/>
          <a:p>
            <a:endParaRPr lang="en-US"/>
          </a:p>
        </p:txBody>
      </p:sp>
      <p:sp>
        <p:nvSpPr>
          <p:cNvPr id="12" name="voxel-274"/>
          <p:cNvSpPr/>
          <p:nvPr/>
        </p:nvSpPr>
        <p:spPr>
          <a:xfrm>
            <a:off x="5950184" y="2109704"/>
            <a:ext cx="572049" cy="572049"/>
          </a:xfrm>
          <a:prstGeom prst="rect">
            <a:avLst/>
          </a:prstGeom>
          <a:solidFill>
            <a:schemeClr val="accent1"/>
          </a:solidFill>
          <a:ln/>
        </p:spPr>
        <p:txBody>
          <a:bodyPr/>
          <a:lstStyle/>
          <a:p>
            <a:endParaRPr lang="en-US"/>
          </a:p>
        </p:txBody>
      </p:sp>
      <p:sp>
        <p:nvSpPr>
          <p:cNvPr id="13" name="voxel-275"/>
          <p:cNvSpPr/>
          <p:nvPr/>
        </p:nvSpPr>
        <p:spPr>
          <a:xfrm>
            <a:off x="6571976" y="2109704"/>
            <a:ext cx="572049" cy="572049"/>
          </a:xfrm>
          <a:prstGeom prst="rect">
            <a:avLst/>
          </a:prstGeom>
          <a:solidFill>
            <a:schemeClr val="accent1"/>
          </a:solidFill>
          <a:ln/>
        </p:spPr>
        <p:txBody>
          <a:bodyPr/>
          <a:lstStyle/>
          <a:p>
            <a:endParaRPr lang="en-US"/>
          </a:p>
        </p:txBody>
      </p:sp>
      <p:sp>
        <p:nvSpPr>
          <p:cNvPr id="14" name="voxel-276"/>
          <p:cNvSpPr/>
          <p:nvPr/>
        </p:nvSpPr>
        <p:spPr>
          <a:xfrm>
            <a:off x="7193768" y="2109704"/>
            <a:ext cx="572049" cy="572049"/>
          </a:xfrm>
          <a:prstGeom prst="rect">
            <a:avLst/>
          </a:prstGeom>
          <a:solidFill>
            <a:schemeClr val="accent1"/>
          </a:solidFill>
          <a:ln/>
        </p:spPr>
        <p:txBody>
          <a:bodyPr/>
          <a:lstStyle/>
          <a:p>
            <a:endParaRPr lang="en-US"/>
          </a:p>
        </p:txBody>
      </p:sp>
      <p:sp>
        <p:nvSpPr>
          <p:cNvPr id="15" name="voxel-277"/>
          <p:cNvSpPr/>
          <p:nvPr/>
        </p:nvSpPr>
        <p:spPr>
          <a:xfrm>
            <a:off x="7815560" y="2109704"/>
            <a:ext cx="572049" cy="572049"/>
          </a:xfrm>
          <a:prstGeom prst="rect">
            <a:avLst/>
          </a:prstGeom>
          <a:solidFill>
            <a:schemeClr val="accent4"/>
          </a:solidFill>
          <a:ln/>
        </p:spPr>
        <p:txBody>
          <a:bodyPr/>
          <a:lstStyle/>
          <a:p>
            <a:endParaRPr lang="en-US"/>
          </a:p>
        </p:txBody>
      </p:sp>
      <p:sp>
        <p:nvSpPr>
          <p:cNvPr id="16" name="voxel-278"/>
          <p:cNvSpPr/>
          <p:nvPr/>
        </p:nvSpPr>
        <p:spPr>
          <a:xfrm>
            <a:off x="5328392" y="2731496"/>
            <a:ext cx="572049" cy="572049"/>
          </a:xfrm>
          <a:prstGeom prst="rect">
            <a:avLst/>
          </a:prstGeom>
          <a:solidFill>
            <a:schemeClr val="accent4"/>
          </a:solidFill>
          <a:ln/>
        </p:spPr>
        <p:txBody>
          <a:bodyPr/>
          <a:lstStyle/>
          <a:p>
            <a:endParaRPr lang="en-US"/>
          </a:p>
        </p:txBody>
      </p:sp>
      <p:sp>
        <p:nvSpPr>
          <p:cNvPr id="17" name="voxel-279"/>
          <p:cNvSpPr/>
          <p:nvPr/>
        </p:nvSpPr>
        <p:spPr>
          <a:xfrm>
            <a:off x="5950184" y="2731496"/>
            <a:ext cx="572049" cy="572049"/>
          </a:xfrm>
          <a:prstGeom prst="rect">
            <a:avLst/>
          </a:prstGeom>
          <a:solidFill>
            <a:schemeClr val="accent2"/>
          </a:solidFill>
          <a:ln/>
        </p:spPr>
        <p:txBody>
          <a:bodyPr/>
          <a:lstStyle/>
          <a:p>
            <a:endParaRPr lang="en-US"/>
          </a:p>
        </p:txBody>
      </p:sp>
      <p:sp>
        <p:nvSpPr>
          <p:cNvPr id="18" name="voxel-empty-280"/>
          <p:cNvSpPr/>
          <p:nvPr/>
        </p:nvSpPr>
        <p:spPr>
          <a:xfrm>
            <a:off x="6571976" y="2731496"/>
            <a:ext cx="572049" cy="572049"/>
          </a:xfrm>
          <a:prstGeom prst="rect">
            <a:avLst/>
          </a:prstGeom>
          <a:ln w="9525">
            <a:solidFill>
              <a:schemeClr val="accent4"/>
            </a:solidFill>
            <a:prstDash val="dash"/>
          </a:ln>
        </p:spPr>
        <p:txBody>
          <a:bodyPr/>
          <a:lstStyle/>
          <a:p>
            <a:endParaRPr lang="en-US"/>
          </a:p>
        </p:txBody>
      </p:sp>
      <p:sp>
        <p:nvSpPr>
          <p:cNvPr id="19" name="voxel-281"/>
          <p:cNvSpPr/>
          <p:nvPr/>
        </p:nvSpPr>
        <p:spPr>
          <a:xfrm>
            <a:off x="7193768" y="2731496"/>
            <a:ext cx="572049" cy="572049"/>
          </a:xfrm>
          <a:prstGeom prst="rect">
            <a:avLst/>
          </a:prstGeom>
          <a:solidFill>
            <a:schemeClr val="accent2"/>
          </a:solidFill>
          <a:ln/>
        </p:spPr>
        <p:txBody>
          <a:bodyPr/>
          <a:lstStyle/>
          <a:p>
            <a:endParaRPr lang="en-US"/>
          </a:p>
        </p:txBody>
      </p:sp>
      <p:sp>
        <p:nvSpPr>
          <p:cNvPr id="20" name="voxel-282"/>
          <p:cNvSpPr/>
          <p:nvPr/>
        </p:nvSpPr>
        <p:spPr>
          <a:xfrm>
            <a:off x="7815560" y="2731496"/>
            <a:ext cx="572049" cy="572049"/>
          </a:xfrm>
          <a:prstGeom prst="rect">
            <a:avLst/>
          </a:prstGeom>
          <a:solidFill>
            <a:schemeClr val="accent4"/>
          </a:solidFill>
          <a:ln/>
        </p:spPr>
        <p:txBody>
          <a:bodyPr/>
          <a:lstStyle/>
          <a:p>
            <a:endParaRPr lang="en-US"/>
          </a:p>
        </p:txBody>
      </p:sp>
      <p:sp>
        <p:nvSpPr>
          <p:cNvPr id="21" name="voxel-283"/>
          <p:cNvSpPr/>
          <p:nvPr/>
        </p:nvSpPr>
        <p:spPr>
          <a:xfrm>
            <a:off x="5328392" y="3353288"/>
            <a:ext cx="572049" cy="572049"/>
          </a:xfrm>
          <a:prstGeom prst="rect">
            <a:avLst/>
          </a:prstGeom>
          <a:solidFill>
            <a:schemeClr val="accent4"/>
          </a:solidFill>
          <a:ln/>
        </p:spPr>
        <p:txBody>
          <a:bodyPr/>
          <a:lstStyle/>
          <a:p>
            <a:endParaRPr lang="en-US"/>
          </a:p>
        </p:txBody>
      </p:sp>
      <p:sp>
        <p:nvSpPr>
          <p:cNvPr id="22" name="voxel-284"/>
          <p:cNvSpPr/>
          <p:nvPr/>
        </p:nvSpPr>
        <p:spPr>
          <a:xfrm>
            <a:off x="5950184" y="3353288"/>
            <a:ext cx="572049" cy="572049"/>
          </a:xfrm>
          <a:prstGeom prst="rect">
            <a:avLst/>
          </a:prstGeom>
          <a:solidFill>
            <a:schemeClr val="accent2"/>
          </a:solidFill>
          <a:ln/>
        </p:spPr>
        <p:txBody>
          <a:bodyPr/>
          <a:lstStyle/>
          <a:p>
            <a:endParaRPr lang="en-US"/>
          </a:p>
        </p:txBody>
      </p:sp>
      <p:sp>
        <p:nvSpPr>
          <p:cNvPr id="23" name="voxel-empty-285"/>
          <p:cNvSpPr/>
          <p:nvPr/>
        </p:nvSpPr>
        <p:spPr>
          <a:xfrm>
            <a:off x="6571976" y="3353288"/>
            <a:ext cx="572049" cy="572049"/>
          </a:xfrm>
          <a:prstGeom prst="rect">
            <a:avLst/>
          </a:prstGeom>
          <a:ln w="9525">
            <a:solidFill>
              <a:schemeClr val="accent4"/>
            </a:solidFill>
            <a:prstDash val="dash"/>
          </a:ln>
        </p:spPr>
        <p:txBody>
          <a:bodyPr/>
          <a:lstStyle/>
          <a:p>
            <a:endParaRPr lang="en-US"/>
          </a:p>
        </p:txBody>
      </p:sp>
      <p:sp>
        <p:nvSpPr>
          <p:cNvPr id="24" name="voxel-286"/>
          <p:cNvSpPr/>
          <p:nvPr/>
        </p:nvSpPr>
        <p:spPr>
          <a:xfrm>
            <a:off x="7193768" y="3353288"/>
            <a:ext cx="572049" cy="572049"/>
          </a:xfrm>
          <a:prstGeom prst="rect">
            <a:avLst/>
          </a:prstGeom>
          <a:solidFill>
            <a:schemeClr val="accent2"/>
          </a:solidFill>
          <a:ln/>
        </p:spPr>
        <p:txBody>
          <a:bodyPr/>
          <a:lstStyle/>
          <a:p>
            <a:endParaRPr lang="en-US"/>
          </a:p>
        </p:txBody>
      </p:sp>
      <p:sp>
        <p:nvSpPr>
          <p:cNvPr id="25" name="voxel-287"/>
          <p:cNvSpPr/>
          <p:nvPr/>
        </p:nvSpPr>
        <p:spPr>
          <a:xfrm>
            <a:off x="7815560" y="3353288"/>
            <a:ext cx="572049" cy="572049"/>
          </a:xfrm>
          <a:prstGeom prst="rect">
            <a:avLst/>
          </a:prstGeom>
          <a:solidFill>
            <a:schemeClr val="accent4"/>
          </a:solidFill>
          <a:ln/>
        </p:spPr>
        <p:txBody>
          <a:bodyPr/>
          <a:lstStyle/>
          <a:p>
            <a:endParaRPr lang="en-US"/>
          </a:p>
        </p:txBody>
      </p:sp>
      <p:sp>
        <p:nvSpPr>
          <p:cNvPr id="26" name="voxel-288"/>
          <p:cNvSpPr/>
          <p:nvPr/>
        </p:nvSpPr>
        <p:spPr>
          <a:xfrm>
            <a:off x="5328392" y="3975080"/>
            <a:ext cx="572049" cy="572049"/>
          </a:xfrm>
          <a:prstGeom prst="rect">
            <a:avLst/>
          </a:prstGeom>
          <a:solidFill>
            <a:schemeClr val="accent1"/>
          </a:solidFill>
          <a:ln/>
        </p:spPr>
        <p:txBody>
          <a:bodyPr/>
          <a:lstStyle/>
          <a:p>
            <a:endParaRPr lang="en-US"/>
          </a:p>
        </p:txBody>
      </p:sp>
      <p:sp>
        <p:nvSpPr>
          <p:cNvPr id="27" name="voxel-289"/>
          <p:cNvSpPr/>
          <p:nvPr/>
        </p:nvSpPr>
        <p:spPr>
          <a:xfrm>
            <a:off x="5950184" y="3975080"/>
            <a:ext cx="572049" cy="572049"/>
          </a:xfrm>
          <a:prstGeom prst="rect">
            <a:avLst/>
          </a:prstGeom>
          <a:solidFill>
            <a:schemeClr val="accent1"/>
          </a:solidFill>
          <a:ln/>
        </p:spPr>
        <p:txBody>
          <a:bodyPr/>
          <a:lstStyle/>
          <a:p>
            <a:endParaRPr lang="en-US"/>
          </a:p>
        </p:txBody>
      </p:sp>
      <p:sp>
        <p:nvSpPr>
          <p:cNvPr id="28" name="voxel-empty-290"/>
          <p:cNvSpPr/>
          <p:nvPr/>
        </p:nvSpPr>
        <p:spPr>
          <a:xfrm>
            <a:off x="6571976" y="3975080"/>
            <a:ext cx="572049" cy="572049"/>
          </a:xfrm>
          <a:prstGeom prst="rect">
            <a:avLst/>
          </a:prstGeom>
          <a:ln w="9525">
            <a:solidFill>
              <a:schemeClr val="accent4"/>
            </a:solidFill>
            <a:prstDash val="dash"/>
          </a:ln>
        </p:spPr>
        <p:txBody>
          <a:bodyPr/>
          <a:lstStyle/>
          <a:p>
            <a:endParaRPr lang="en-US"/>
          </a:p>
        </p:txBody>
      </p:sp>
      <p:sp>
        <p:nvSpPr>
          <p:cNvPr id="29" name="voxel-291"/>
          <p:cNvSpPr/>
          <p:nvPr/>
        </p:nvSpPr>
        <p:spPr>
          <a:xfrm>
            <a:off x="7193768" y="3975080"/>
            <a:ext cx="572049" cy="572049"/>
          </a:xfrm>
          <a:prstGeom prst="rect">
            <a:avLst/>
          </a:prstGeom>
          <a:solidFill>
            <a:schemeClr val="accent1"/>
          </a:solidFill>
          <a:ln/>
        </p:spPr>
        <p:txBody>
          <a:bodyPr/>
          <a:lstStyle/>
          <a:p>
            <a:endParaRPr lang="en-US"/>
          </a:p>
        </p:txBody>
      </p:sp>
      <p:sp>
        <p:nvSpPr>
          <p:cNvPr id="30" name="voxel-292"/>
          <p:cNvSpPr/>
          <p:nvPr/>
        </p:nvSpPr>
        <p:spPr>
          <a:xfrm>
            <a:off x="7815560" y="3975080"/>
            <a:ext cx="572049" cy="572049"/>
          </a:xfrm>
          <a:prstGeom prst="rect">
            <a:avLst/>
          </a:prstGeom>
          <a:solidFill>
            <a:schemeClr val="accent1"/>
          </a:solidFill>
          <a:ln/>
        </p:spPr>
        <p:txBody>
          <a:bodyPr/>
          <a:lstStyle/>
          <a:p>
            <a:endParaRPr lang="en-US"/>
          </a:p>
        </p:txBody>
      </p:sp>
      <p:sp>
        <p:nvSpPr>
          <p:cNvPr id="31" name="card-293"/>
          <p:cNvSpPr/>
          <p:nvPr/>
        </p:nvSpPr>
        <p:spPr>
          <a:xfrm>
            <a:off x="8458200" y="1463040"/>
            <a:ext cx="3182112" cy="3108960"/>
          </a:xfrm>
          <a:prstGeom prst="roundRect">
            <a:avLst>
              <a:gd name="adj" fmla="val 2353"/>
            </a:avLst>
          </a:prstGeom>
          <a:solidFill>
            <a:schemeClr val="bg2"/>
          </a:solidFill>
          <a:ln/>
        </p:spPr>
        <p:txBody>
          <a:bodyPr/>
          <a:lstStyle/>
          <a:p>
            <a:endParaRPr lang="en-US"/>
          </a:p>
        </p:txBody>
      </p:sp>
      <p:sp>
        <p:nvSpPr>
          <p:cNvPr id="32" name="text-294"/>
          <p:cNvSpPr txBox="1"/>
          <p:nvPr/>
        </p:nvSpPr>
        <p:spPr>
          <a:xfrm>
            <a:off x="8732520" y="1691640"/>
            <a:ext cx="2651760" cy="365760"/>
          </a:xfrm>
          <a:prstGeom prst="rect">
            <a:avLst/>
          </a:prstGeom>
          <a:noFill/>
          <a:ln/>
        </p:spPr>
        <p:txBody>
          <a:bodyPr wrap="square" lIns="0" tIns="0" rIns="0" bIns="0" rtlCol="0" anchor="t"/>
          <a:lstStyle/>
          <a:p>
            <a:pPr marL="0" indent="0">
              <a:buNone/>
            </a:pPr>
            <a:r>
              <a:rPr lang="en-US" sz="1800" b="1" dirty="0">
                <a:solidFill>
                  <a:schemeClr val="tx1"/>
                </a:solidFill>
              </a:rPr>
              <a:t>Two rules</a:t>
            </a:r>
            <a:endParaRPr lang="en-US" sz="1800" dirty="0"/>
          </a:p>
        </p:txBody>
      </p:sp>
      <p:sp>
        <p:nvSpPr>
          <p:cNvPr id="33" name="bullets-295"/>
          <p:cNvSpPr txBox="1"/>
          <p:nvPr/>
        </p:nvSpPr>
        <p:spPr>
          <a:xfrm>
            <a:off x="8732520" y="2194560"/>
            <a:ext cx="2651760" cy="219456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Connected: every voxel touches another edge to edge</a:t>
            </a:r>
            <a:endParaRPr lang="en-US" sz="1500" dirty="0"/>
          </a:p>
          <a:p>
            <a:pPr marL="228600" indent="-228600">
              <a:spcAft>
                <a:spcPts val="800"/>
              </a:spcAft>
              <a:buSzPct val="100000"/>
              <a:buChar char="•"/>
            </a:pPr>
            <a:r>
              <a:rPr lang="en-US" sz="1500" dirty="0">
                <a:solidFill>
                  <a:schemeClr val="tx1"/>
                </a:solidFill>
              </a:rPr>
              <a:t>At least one muscle (3 or 4)</a:t>
            </a:r>
            <a:endParaRPr lang="en-US" sz="1500" dirty="0"/>
          </a:p>
        </p:txBody>
      </p:sp>
      <p:sp>
        <p:nvSpPr>
          <p:cNvPr id="34" name="text-296"/>
          <p:cNvSpPr txBox="1"/>
          <p:nvPr/>
        </p:nvSpPr>
        <p:spPr>
          <a:xfrm>
            <a:off x="548640" y="4892040"/>
            <a:ext cx="7772400" cy="365760"/>
          </a:xfrm>
          <a:prstGeom prst="rect">
            <a:avLst/>
          </a:prstGeom>
          <a:noFill/>
          <a:ln/>
        </p:spPr>
        <p:txBody>
          <a:bodyPr wrap="square" lIns="0" tIns="0" rIns="0" bIns="0" rtlCol="0" anchor="t"/>
          <a:lstStyle/>
          <a:p>
            <a:pPr marL="0" indent="0">
              <a:buNone/>
            </a:pPr>
            <a:r>
              <a:rPr lang="en-US" sz="1600" dirty="0">
                <a:solidFill>
                  <a:schemeClr val="tx1"/>
                </a:solidFill>
              </a:rPr>
              <a:t>Any size works; it doesn't have to be 5×5.</a:t>
            </a:r>
            <a:endParaRPr lang="en-US" sz="1600" dirty="0"/>
          </a:p>
        </p:txBody>
      </p:sp>
      <p:sp>
        <p:nvSpPr>
          <p:cNvPr id="35" name="text-297"/>
          <p:cNvSpPr txBox="1"/>
          <p:nvPr/>
        </p:nvSpPr>
        <p:spPr>
          <a:xfrm>
            <a:off x="548640" y="5349240"/>
            <a:ext cx="8229600" cy="365760"/>
          </a:xfrm>
          <a:prstGeom prst="rect">
            <a:avLst/>
          </a:prstGeom>
          <a:noFill/>
          <a:ln/>
        </p:spPr>
        <p:txBody>
          <a:bodyPr wrap="square" lIns="0" tIns="0" rIns="0" bIns="0" rtlCol="0" anchor="t"/>
          <a:lstStyle/>
          <a:p>
            <a:pPr marL="0" indent="0">
              <a:buNone/>
            </a:pPr>
            <a:r>
              <a:rPr lang="en-US" sz="1500" dirty="0">
                <a:solidFill>
                  <a:schemeClr val="tx1"/>
                </a:solidFill>
                <a:latin typeface="Courier New" pitchFamily="34" charset="0"/>
                <a:ea typeface="Courier New" pitchFamily="34" charset="-122"/>
                <a:cs typeface="Courier New" pitchFamily="34" charset="-120"/>
              </a:rPr>
              <a:t>python sim.py --body my_body.txt --showbody --gif my_body.gif</a:t>
            </a:r>
            <a:endParaRPr lang="en-US" sz="1500" dirty="0"/>
          </a:p>
        </p:txBody>
      </p:sp>
      <p:sp>
        <p:nvSpPr>
          <p:cNvPr id="36"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377440"/>
            <a:ext cx="6766560" cy="1097280"/>
          </a:xfrm>
          <a:prstGeom prst="rect">
            <a:avLst/>
          </a:prstGeom>
          <a:noFill/>
          <a:ln/>
        </p:spPr>
        <p:txBody>
          <a:bodyPr wrap="square" lIns="0" tIns="0" rIns="0" bIns="0" rtlCol="0" anchor="b"/>
          <a:lstStyle/>
          <a:p>
            <a:pPr marL="0" indent="0" algn="l">
              <a:buNone/>
            </a:pPr>
            <a:r>
              <a:rPr lang="en-US" sz="4000" b="1" dirty="0">
                <a:solidFill>
                  <a:schemeClr val="bg1"/>
                </a:solidFill>
              </a:rPr>
              <a:t>Brains</a:t>
            </a:r>
            <a:endParaRPr lang="en-US" sz="4000" dirty="0"/>
          </a:p>
        </p:txBody>
      </p:sp>
      <p:sp>
        <p:nvSpPr>
          <p:cNvPr id="3" name="Text 0"/>
          <p:cNvSpPr>
            <a:spLocks noGrp="1"/>
          </p:cNvSpPr>
          <p:nvPr>
            <p:ph type="body" idx="101" hasCustomPrompt="1"/>
          </p:nvPr>
        </p:nvSpPr>
        <p:spPr>
          <a:xfrm>
            <a:off x="548640" y="3611880"/>
            <a:ext cx="6766560" cy="1097280"/>
          </a:xfrm>
          <a:prstGeom prst="rect">
            <a:avLst/>
          </a:prstGeom>
          <a:noFill/>
          <a:ln/>
        </p:spPr>
        <p:txBody>
          <a:bodyPr wrap="square" lIns="0" tIns="0" rIns="0" bIns="0" rtlCol="0" anchor="t"/>
          <a:lstStyle/>
          <a:p>
            <a:pPr marL="0" indent="0" algn="l">
              <a:buNone/>
            </a:pPr>
            <a:r>
              <a:rPr lang="en-US" sz="1800" dirty="0">
                <a:solidFill>
                  <a:schemeClr val="accent4"/>
                </a:solidFill>
              </a:rPr>
              <a:t>Four ways to drive any body, from simplest to most complex</a:t>
            </a:r>
            <a:endParaRPr lang="en-US" sz="1800" dirty="0"/>
          </a:p>
        </p:txBody>
      </p:sp>
      <p:sp>
        <p:nvSpPr>
          <p:cNvPr id="4" name="voxel-298"/>
          <p:cNvSpPr/>
          <p:nvPr/>
        </p:nvSpPr>
        <p:spPr>
          <a:xfrm>
            <a:off x="9279331" y="1826971"/>
            <a:ext cx="1009498" cy="1009498"/>
          </a:xfrm>
          <a:prstGeom prst="rect">
            <a:avLst/>
          </a:prstGeom>
          <a:solidFill>
            <a:schemeClr val="accent1"/>
          </a:solidFill>
          <a:ln/>
        </p:spPr>
        <p:txBody>
          <a:bodyPr/>
          <a:lstStyle/>
          <a:p>
            <a:endParaRPr lang="en-US"/>
          </a:p>
        </p:txBody>
      </p:sp>
      <p:sp>
        <p:nvSpPr>
          <p:cNvPr id="5" name="voxel-299"/>
          <p:cNvSpPr/>
          <p:nvPr/>
        </p:nvSpPr>
        <p:spPr>
          <a:xfrm>
            <a:off x="8182051" y="2924251"/>
            <a:ext cx="1009498" cy="1009498"/>
          </a:xfrm>
          <a:prstGeom prst="rect">
            <a:avLst/>
          </a:prstGeom>
          <a:solidFill>
            <a:schemeClr val="accent1"/>
          </a:solidFill>
          <a:ln/>
        </p:spPr>
        <p:txBody>
          <a:bodyPr/>
          <a:lstStyle/>
          <a:p>
            <a:endParaRPr lang="en-US"/>
          </a:p>
        </p:txBody>
      </p:sp>
      <p:sp>
        <p:nvSpPr>
          <p:cNvPr id="6" name="voxel-300"/>
          <p:cNvSpPr/>
          <p:nvPr/>
        </p:nvSpPr>
        <p:spPr>
          <a:xfrm>
            <a:off x="9279331" y="2924251"/>
            <a:ext cx="1009498" cy="1009498"/>
          </a:xfrm>
          <a:prstGeom prst="rect">
            <a:avLst/>
          </a:prstGeom>
          <a:solidFill>
            <a:schemeClr val="accent4"/>
          </a:solidFill>
          <a:ln/>
        </p:spPr>
        <p:txBody>
          <a:bodyPr/>
          <a:lstStyle/>
          <a:p>
            <a:endParaRPr lang="en-US"/>
          </a:p>
        </p:txBody>
      </p:sp>
      <p:sp>
        <p:nvSpPr>
          <p:cNvPr id="7" name="voxel-301"/>
          <p:cNvSpPr/>
          <p:nvPr/>
        </p:nvSpPr>
        <p:spPr>
          <a:xfrm>
            <a:off x="10376611" y="2924251"/>
            <a:ext cx="1009498" cy="1009498"/>
          </a:xfrm>
          <a:prstGeom prst="rect">
            <a:avLst/>
          </a:prstGeom>
          <a:solidFill>
            <a:schemeClr val="accent1"/>
          </a:solidFill>
          <a:ln/>
        </p:spPr>
        <p:txBody>
          <a:bodyPr/>
          <a:lstStyle/>
          <a:p>
            <a:endParaRPr lang="en-US"/>
          </a:p>
        </p:txBody>
      </p:sp>
      <p:sp>
        <p:nvSpPr>
          <p:cNvPr id="8" name="voxel-302"/>
          <p:cNvSpPr/>
          <p:nvPr/>
        </p:nvSpPr>
        <p:spPr>
          <a:xfrm>
            <a:off x="9279331" y="4021531"/>
            <a:ext cx="1009498" cy="1009498"/>
          </a:xfrm>
          <a:prstGeom prst="rect">
            <a:avLst/>
          </a:prstGeom>
          <a:solidFill>
            <a:schemeClr val="accent1"/>
          </a:solidFill>
          <a:ln/>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The brain has to fit whatever body evolution builds</a:t>
            </a:r>
            <a:endParaRPr lang="en-US" sz="3200" dirty="0"/>
          </a:p>
        </p:txBody>
      </p:sp>
      <p:sp>
        <p:nvSpPr>
          <p:cNvPr id="3" name="card-303"/>
          <p:cNvSpPr/>
          <p:nvPr/>
        </p:nvSpPr>
        <p:spPr>
          <a:xfrm>
            <a:off x="548640" y="1463040"/>
            <a:ext cx="5394960" cy="3291840"/>
          </a:xfrm>
          <a:prstGeom prst="roundRect">
            <a:avLst>
              <a:gd name="adj" fmla="val 2222"/>
            </a:avLst>
          </a:prstGeom>
          <a:solidFill>
            <a:schemeClr val="bg2"/>
          </a:solidFill>
          <a:ln/>
        </p:spPr>
        <p:txBody>
          <a:bodyPr/>
          <a:lstStyle/>
          <a:p>
            <a:endParaRPr lang="en-US"/>
          </a:p>
        </p:txBody>
      </p:sp>
      <p:sp>
        <p:nvSpPr>
          <p:cNvPr id="4" name="text-304"/>
          <p:cNvSpPr txBox="1"/>
          <p:nvPr/>
        </p:nvSpPr>
        <p:spPr>
          <a:xfrm>
            <a:off x="868680" y="1691640"/>
            <a:ext cx="4754880" cy="365760"/>
          </a:xfrm>
          <a:prstGeom prst="rect">
            <a:avLst/>
          </a:prstGeom>
          <a:noFill/>
          <a:ln/>
        </p:spPr>
        <p:txBody>
          <a:bodyPr wrap="square" lIns="0" tIns="0" rIns="0" bIns="0" rtlCol="0" anchor="t"/>
          <a:lstStyle/>
          <a:p>
            <a:pPr marL="0" indent="0">
              <a:buNone/>
            </a:pPr>
            <a:r>
              <a:rPr lang="en-US" sz="1800" b="1" dirty="0">
                <a:solidFill>
                  <a:schemeClr val="tx1"/>
                </a:solidFill>
              </a:rPr>
              <a:t>The obvious brain (Project 4 style)</a:t>
            </a:r>
            <a:endParaRPr lang="en-US" sz="1800" dirty="0"/>
          </a:p>
        </p:txBody>
      </p:sp>
      <p:sp>
        <p:nvSpPr>
          <p:cNvPr id="5" name="bullets-305"/>
          <p:cNvSpPr txBox="1"/>
          <p:nvPr/>
        </p:nvSpPr>
        <p:spPr>
          <a:xfrm>
            <a:off x="868680" y="2194560"/>
            <a:ext cx="4754880" cy="128016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Input: the simulator's observation of the whole body</a:t>
            </a:r>
            <a:endParaRPr lang="en-US" sz="1600" dirty="0"/>
          </a:p>
          <a:p>
            <a:pPr marL="228600" indent="-228600">
              <a:spcAft>
                <a:spcPts val="800"/>
              </a:spcAft>
              <a:buSzPct val="100000"/>
              <a:buChar char="•"/>
            </a:pPr>
            <a:r>
              <a:rPr lang="en-US" sz="1600" dirty="0">
                <a:solidFill>
                  <a:schemeClr val="tx1"/>
                </a:solidFill>
              </a:rPr>
              <a:t>Output: one command per muscle</a:t>
            </a:r>
            <a:endParaRPr lang="en-US" sz="1600" dirty="0"/>
          </a:p>
          <a:p>
            <a:pPr marL="228600" indent="-228600">
              <a:spcAft>
                <a:spcPts val="800"/>
              </a:spcAft>
              <a:buSzPct val="100000"/>
              <a:buChar char="•"/>
            </a:pPr>
            <a:r>
              <a:rPr lang="en-US" sz="1600" dirty="0">
                <a:solidFill>
                  <a:schemeClr val="tx1"/>
                </a:solidFill>
              </a:rPr>
              <a:t>Both sizes depend on the body</a:t>
            </a:r>
            <a:endParaRPr lang="en-US" sz="1600" dirty="0"/>
          </a:p>
        </p:txBody>
      </p:sp>
      <p:sp>
        <p:nvSpPr>
          <p:cNvPr id="6" name="text-306"/>
          <p:cNvSpPr txBox="1"/>
          <p:nvPr/>
        </p:nvSpPr>
        <p:spPr>
          <a:xfrm>
            <a:off x="868680" y="3566160"/>
            <a:ext cx="4754880" cy="914400"/>
          </a:xfrm>
          <a:prstGeom prst="rect">
            <a:avLst/>
          </a:prstGeom>
          <a:noFill/>
          <a:ln/>
        </p:spPr>
        <p:txBody>
          <a:bodyPr wrap="square" lIns="0" tIns="0" rIns="0" bIns="0" rtlCol="0" anchor="t"/>
          <a:lstStyle/>
          <a:p>
            <a:pPr marL="0" indent="0">
              <a:buNone/>
            </a:pPr>
            <a:r>
              <a:rPr lang="en-US" sz="1600" dirty="0">
                <a:solidFill>
                  <a:schemeClr val="tx1"/>
                </a:solidFill>
              </a:rPr>
              <a:t>Add a muscle, and the network no longer fits. </a:t>
            </a:r>
            <a:r>
              <a:rPr lang="en-US" sz="1600" b="1" dirty="0">
                <a:solidFill>
                  <a:schemeClr val="accent6"/>
                </a:solidFill>
              </a:rPr>
              <a:t>It can't be co-evolved with a changing body.</a:t>
            </a:r>
            <a:endParaRPr lang="en-US" sz="1600" dirty="0"/>
          </a:p>
        </p:txBody>
      </p:sp>
      <p:sp>
        <p:nvSpPr>
          <p:cNvPr id="7" name="card-307"/>
          <p:cNvSpPr/>
          <p:nvPr/>
        </p:nvSpPr>
        <p:spPr>
          <a:xfrm>
            <a:off x="6245352" y="1463040"/>
            <a:ext cx="5394960" cy="3291840"/>
          </a:xfrm>
          <a:prstGeom prst="roundRect">
            <a:avLst>
              <a:gd name="adj" fmla="val 2222"/>
            </a:avLst>
          </a:prstGeom>
          <a:solidFill>
            <a:schemeClr val="tx1"/>
          </a:solidFill>
          <a:ln/>
        </p:spPr>
        <p:txBody>
          <a:bodyPr/>
          <a:lstStyle/>
          <a:p>
            <a:endParaRPr lang="en-US"/>
          </a:p>
        </p:txBody>
      </p:sp>
      <p:sp>
        <p:nvSpPr>
          <p:cNvPr id="8" name="text-308"/>
          <p:cNvSpPr txBox="1"/>
          <p:nvPr/>
        </p:nvSpPr>
        <p:spPr>
          <a:xfrm>
            <a:off x="6565392" y="1691640"/>
            <a:ext cx="4754880" cy="365760"/>
          </a:xfrm>
          <a:prstGeom prst="rect">
            <a:avLst/>
          </a:prstGeom>
          <a:noFill/>
          <a:ln/>
        </p:spPr>
        <p:txBody>
          <a:bodyPr wrap="square" lIns="0" tIns="0" rIns="0" bIns="0" rtlCol="0" anchor="t"/>
          <a:lstStyle/>
          <a:p>
            <a:pPr marL="0" indent="0">
              <a:buNone/>
            </a:pPr>
            <a:r>
              <a:rPr lang="en-US" sz="1800" b="1" dirty="0">
                <a:solidFill>
                  <a:schemeClr val="bg1"/>
                </a:solidFill>
              </a:rPr>
              <a:t>Two ways around it</a:t>
            </a:r>
            <a:endParaRPr lang="en-US" sz="1800" dirty="0"/>
          </a:p>
        </p:txBody>
      </p:sp>
      <p:sp>
        <p:nvSpPr>
          <p:cNvPr id="9" name="text-309"/>
          <p:cNvSpPr txBox="1"/>
          <p:nvPr/>
        </p:nvSpPr>
        <p:spPr>
          <a:xfrm>
            <a:off x="6565392" y="2194560"/>
            <a:ext cx="4754880" cy="2286000"/>
          </a:xfrm>
          <a:prstGeom prst="rect">
            <a:avLst/>
          </a:prstGeom>
          <a:noFill/>
          <a:ln/>
        </p:spPr>
        <p:txBody>
          <a:bodyPr wrap="square" lIns="0" tIns="0" rIns="0" bIns="0" rtlCol="0" anchor="t"/>
          <a:lstStyle/>
          <a:p>
            <a:pPr marL="0" indent="0">
              <a:buNone/>
            </a:pPr>
            <a:r>
              <a:rPr lang="en-US" sz="1600" b="1" dirty="0">
                <a:solidFill>
                  <a:schemeClr val="accent1"/>
                </a:solidFill>
              </a:rPr>
              <a:t>Local: </a:t>
            </a:r>
            <a:r>
              <a:rPr lang="en-US" sz="1600" dirty="0">
                <a:solidFill>
                  <a:schemeClr val="bg1"/>
                </a:solidFill>
              </a:rPr>
              <a:t>one small network, copied into every muscle. More muscles just means more copies.</a:t>
            </a:r>
            <a:endParaRPr lang="en-US" sz="1600" dirty="0"/>
          </a:p>
          <a:p>
            <a:pPr marL="0" indent="0">
              <a:buNone/>
            </a:pPr>
            <a:r>
              <a:rPr lang="en-US" sz="800" dirty="0">
                <a:solidFill>
                  <a:schemeClr val="bg1"/>
                </a:solidFill>
              </a:rPr>
              <a:t> </a:t>
            </a:r>
            <a:endParaRPr lang="en-US" sz="1600" dirty="0"/>
          </a:p>
          <a:p>
            <a:pPr marL="0" indent="0">
              <a:buNone/>
            </a:pPr>
            <a:r>
              <a:rPr lang="en-US" sz="1600" b="1" dirty="0">
                <a:solidFill>
                  <a:schemeClr val="accent2"/>
                </a:solidFill>
              </a:rPr>
              <a:t>Global: </a:t>
            </a:r>
            <a:r>
              <a:rPr lang="en-US" sz="1600" dirty="0">
                <a:solidFill>
                  <a:schemeClr val="bg1"/>
                </a:solidFill>
              </a:rPr>
              <a:t>one network wired to the grid, not the body. Output k always drives cell k, whatever is in it.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Four brains, two choices</a:t>
            </a:r>
            <a:endParaRPr lang="en-US" sz="3200" dirty="0"/>
          </a:p>
        </p:txBody>
      </p:sp>
      <p:sp>
        <p:nvSpPr>
          <p:cNvPr id="3" name="text-310"/>
          <p:cNvSpPr txBox="1"/>
          <p:nvPr/>
        </p:nvSpPr>
        <p:spPr>
          <a:xfrm>
            <a:off x="2377440" y="1325880"/>
            <a:ext cx="4526280" cy="365760"/>
          </a:xfrm>
          <a:prstGeom prst="rect">
            <a:avLst/>
          </a:prstGeom>
          <a:noFill/>
          <a:ln/>
        </p:spPr>
        <p:txBody>
          <a:bodyPr wrap="square" lIns="0" tIns="0" rIns="0" bIns="0" rtlCol="0" anchor="t"/>
          <a:lstStyle/>
          <a:p>
            <a:pPr marL="0" indent="0" algn="ctr">
              <a:buNone/>
            </a:pPr>
            <a:r>
              <a:rPr lang="en-US" sz="1500" b="1" dirty="0">
                <a:solidFill>
                  <a:schemeClr val="tx2"/>
                </a:solidFill>
              </a:rPr>
              <a:t>Open-loop: can't feel the body</a:t>
            </a:r>
            <a:endParaRPr lang="en-US" sz="1500" dirty="0"/>
          </a:p>
        </p:txBody>
      </p:sp>
      <p:sp>
        <p:nvSpPr>
          <p:cNvPr id="4" name="text-311"/>
          <p:cNvSpPr txBox="1"/>
          <p:nvPr/>
        </p:nvSpPr>
        <p:spPr>
          <a:xfrm>
            <a:off x="7132320" y="1325880"/>
            <a:ext cx="4526280" cy="365760"/>
          </a:xfrm>
          <a:prstGeom prst="rect">
            <a:avLst/>
          </a:prstGeom>
          <a:noFill/>
          <a:ln/>
        </p:spPr>
        <p:txBody>
          <a:bodyPr wrap="square" lIns="0" tIns="0" rIns="0" bIns="0" rtlCol="0" anchor="t"/>
          <a:lstStyle/>
          <a:p>
            <a:pPr marL="0" indent="0" algn="ctr">
              <a:buNone/>
            </a:pPr>
            <a:r>
              <a:rPr lang="en-US" sz="1500" b="1" dirty="0">
                <a:solidFill>
                  <a:schemeClr val="tx2"/>
                </a:solidFill>
              </a:rPr>
              <a:t>Closed-loop: + senses strain</a:t>
            </a:r>
            <a:endParaRPr lang="en-US" sz="1500" dirty="0"/>
          </a:p>
        </p:txBody>
      </p:sp>
      <p:sp>
        <p:nvSpPr>
          <p:cNvPr id="5" name="text-312"/>
          <p:cNvSpPr txBox="1"/>
          <p:nvPr/>
        </p:nvSpPr>
        <p:spPr>
          <a:xfrm>
            <a:off x="548640" y="1783080"/>
            <a:ext cx="1691640" cy="1965960"/>
          </a:xfrm>
          <a:prstGeom prst="rect">
            <a:avLst/>
          </a:prstGeom>
          <a:noFill/>
          <a:ln/>
        </p:spPr>
        <p:txBody>
          <a:bodyPr wrap="square" lIns="0" tIns="0" rIns="0" bIns="0" rtlCol="0" anchor="ctr"/>
          <a:lstStyle/>
          <a:p>
            <a:pPr marL="0" indent="0">
              <a:buNone/>
            </a:pPr>
            <a:r>
              <a:rPr lang="en-US" sz="1500" b="1" dirty="0">
                <a:solidFill>
                  <a:schemeClr val="accent1"/>
                </a:solidFill>
              </a:rPr>
              <a:t>Local</a:t>
            </a:r>
            <a:endParaRPr lang="en-US" sz="1500" dirty="0"/>
          </a:p>
          <a:p>
            <a:pPr marL="0" indent="0">
              <a:buNone/>
            </a:pPr>
            <a:r>
              <a:rPr lang="en-US" sz="1500" b="1" dirty="0">
                <a:solidFill>
                  <a:schemeClr val="accent1"/>
                </a:solidFill>
              </a:rPr>
              <a:t>one copy per muscle</a:t>
            </a:r>
            <a:endParaRPr lang="en-US" sz="1500" dirty="0"/>
          </a:p>
        </p:txBody>
      </p:sp>
      <p:sp>
        <p:nvSpPr>
          <p:cNvPr id="6" name="text-313"/>
          <p:cNvSpPr txBox="1"/>
          <p:nvPr/>
        </p:nvSpPr>
        <p:spPr>
          <a:xfrm>
            <a:off x="548640" y="3977640"/>
            <a:ext cx="1691640" cy="1965960"/>
          </a:xfrm>
          <a:prstGeom prst="rect">
            <a:avLst/>
          </a:prstGeom>
          <a:noFill/>
          <a:ln/>
        </p:spPr>
        <p:txBody>
          <a:bodyPr wrap="square" lIns="0" tIns="0" rIns="0" bIns="0" rtlCol="0" anchor="ctr"/>
          <a:lstStyle/>
          <a:p>
            <a:pPr marL="0" indent="0">
              <a:buNone/>
            </a:pPr>
            <a:r>
              <a:rPr lang="en-US" sz="1500" b="1" dirty="0">
                <a:solidFill>
                  <a:schemeClr val="accent2"/>
                </a:solidFill>
              </a:rPr>
              <a:t>Global</a:t>
            </a:r>
            <a:endParaRPr lang="en-US" sz="1500" dirty="0"/>
          </a:p>
          <a:p>
            <a:pPr marL="0" indent="0">
              <a:buNone/>
            </a:pPr>
            <a:r>
              <a:rPr lang="en-US" sz="1500" b="1" dirty="0">
                <a:solidFill>
                  <a:schemeClr val="accent2"/>
                </a:solidFill>
              </a:rPr>
              <a:t>one network, whole body</a:t>
            </a:r>
            <a:endParaRPr lang="en-US" sz="1500" dirty="0"/>
          </a:p>
        </p:txBody>
      </p:sp>
      <p:sp>
        <p:nvSpPr>
          <p:cNvPr id="7" name="card-314"/>
          <p:cNvSpPr/>
          <p:nvPr/>
        </p:nvSpPr>
        <p:spPr>
          <a:xfrm>
            <a:off x="2377440" y="1783080"/>
            <a:ext cx="4526280" cy="1965960"/>
          </a:xfrm>
          <a:prstGeom prst="roundRect">
            <a:avLst>
              <a:gd name="adj" fmla="val 3721"/>
            </a:avLst>
          </a:prstGeom>
          <a:solidFill>
            <a:schemeClr val="bg2"/>
          </a:solidFill>
          <a:ln/>
        </p:spPr>
        <p:txBody>
          <a:bodyPr/>
          <a:lstStyle/>
          <a:p>
            <a:endParaRPr lang="en-US"/>
          </a:p>
        </p:txBody>
      </p:sp>
      <p:sp>
        <p:nvSpPr>
          <p:cNvPr id="8" name="text-315"/>
          <p:cNvSpPr txBox="1"/>
          <p:nvPr/>
        </p:nvSpPr>
        <p:spPr>
          <a:xfrm>
            <a:off x="2651760" y="2011680"/>
            <a:ext cx="548640" cy="731520"/>
          </a:xfrm>
          <a:prstGeom prst="rect">
            <a:avLst/>
          </a:prstGeom>
          <a:noFill/>
          <a:ln/>
        </p:spPr>
        <p:txBody>
          <a:bodyPr wrap="square" lIns="0" tIns="0" rIns="0" bIns="0" rtlCol="0" anchor="t"/>
          <a:lstStyle/>
          <a:p>
            <a:pPr marL="0" indent="0">
              <a:buNone/>
            </a:pPr>
            <a:r>
              <a:rPr lang="en-US" sz="4000" b="1" dirty="0">
                <a:solidFill>
                  <a:schemeClr val="accent1"/>
                </a:solidFill>
              </a:rPr>
              <a:t>1</a:t>
            </a:r>
            <a:endParaRPr lang="en-US" sz="4000" dirty="0"/>
          </a:p>
        </p:txBody>
      </p:sp>
      <p:sp>
        <p:nvSpPr>
          <p:cNvPr id="9" name="text-316"/>
          <p:cNvSpPr txBox="1"/>
          <p:nvPr/>
        </p:nvSpPr>
        <p:spPr>
          <a:xfrm>
            <a:off x="3337560" y="2148840"/>
            <a:ext cx="3337560" cy="548640"/>
          </a:xfrm>
          <a:prstGeom prst="rect">
            <a:avLst/>
          </a:prstGeom>
          <a:noFill/>
          <a:ln/>
        </p:spPr>
        <p:txBody>
          <a:bodyPr wrap="square" lIns="0" tIns="0" rIns="0" bIns="0" rtlCol="0" anchor="t"/>
          <a:lstStyle/>
          <a:p>
            <a:pPr marL="0" indent="0">
              <a:buNone/>
            </a:pPr>
            <a:r>
              <a:rPr lang="en-US" sz="1800" b="1" dirty="0">
                <a:solidFill>
                  <a:schemeClr val="tx1"/>
                </a:solidFill>
              </a:rPr>
              <a:t>clock + own position</a:t>
            </a:r>
            <a:endParaRPr lang="en-US" sz="1800" dirty="0"/>
          </a:p>
        </p:txBody>
      </p:sp>
      <p:sp>
        <p:nvSpPr>
          <p:cNvPr id="10" name="text-317"/>
          <p:cNvSpPr txBox="1"/>
          <p:nvPr/>
        </p:nvSpPr>
        <p:spPr>
          <a:xfrm>
            <a:off x="3337560" y="2880360"/>
            <a:ext cx="3337560" cy="365760"/>
          </a:xfrm>
          <a:prstGeom prst="rect">
            <a:avLst/>
          </a:prstGeom>
          <a:noFill/>
          <a:ln/>
        </p:spPr>
        <p:txBody>
          <a:bodyPr wrap="square" lIns="0" tIns="0" rIns="0" bIns="0" rtlCol="0" anchor="t"/>
          <a:lstStyle/>
          <a:p>
            <a:pPr marL="0" indent="0">
              <a:buNone/>
            </a:pPr>
            <a:r>
              <a:rPr lang="en-US" sz="1400" dirty="0">
                <a:solidFill>
                  <a:schemeClr val="tx2"/>
                </a:solidFill>
              </a:rPr>
              <a:t>49 genes on a 5×5 grid</a:t>
            </a:r>
            <a:endParaRPr lang="en-US" sz="1400" dirty="0"/>
          </a:p>
        </p:txBody>
      </p:sp>
      <p:sp>
        <p:nvSpPr>
          <p:cNvPr id="11" name="card-318"/>
          <p:cNvSpPr/>
          <p:nvPr/>
        </p:nvSpPr>
        <p:spPr>
          <a:xfrm>
            <a:off x="7132320" y="1783080"/>
            <a:ext cx="4526280" cy="1965960"/>
          </a:xfrm>
          <a:prstGeom prst="roundRect">
            <a:avLst>
              <a:gd name="adj" fmla="val 3721"/>
            </a:avLst>
          </a:prstGeom>
          <a:solidFill>
            <a:schemeClr val="bg2"/>
          </a:solidFill>
          <a:ln/>
        </p:spPr>
        <p:txBody>
          <a:bodyPr/>
          <a:lstStyle/>
          <a:p>
            <a:endParaRPr lang="en-US"/>
          </a:p>
        </p:txBody>
      </p:sp>
      <p:sp>
        <p:nvSpPr>
          <p:cNvPr id="12" name="text-319"/>
          <p:cNvSpPr txBox="1"/>
          <p:nvPr/>
        </p:nvSpPr>
        <p:spPr>
          <a:xfrm>
            <a:off x="7406640" y="2011680"/>
            <a:ext cx="548640" cy="731520"/>
          </a:xfrm>
          <a:prstGeom prst="rect">
            <a:avLst/>
          </a:prstGeom>
          <a:noFill/>
          <a:ln/>
        </p:spPr>
        <p:txBody>
          <a:bodyPr wrap="square" lIns="0" tIns="0" rIns="0" bIns="0" rtlCol="0" anchor="t"/>
          <a:lstStyle/>
          <a:p>
            <a:pPr marL="0" indent="0">
              <a:buNone/>
            </a:pPr>
            <a:r>
              <a:rPr lang="en-US" sz="4000" b="1" dirty="0">
                <a:solidFill>
                  <a:schemeClr val="accent1"/>
                </a:solidFill>
              </a:rPr>
              <a:t>2</a:t>
            </a:r>
            <a:endParaRPr lang="en-US" sz="4000" dirty="0"/>
          </a:p>
        </p:txBody>
      </p:sp>
      <p:sp>
        <p:nvSpPr>
          <p:cNvPr id="13" name="text-320"/>
          <p:cNvSpPr txBox="1"/>
          <p:nvPr/>
        </p:nvSpPr>
        <p:spPr>
          <a:xfrm>
            <a:off x="8092440" y="2148840"/>
            <a:ext cx="3337560" cy="548640"/>
          </a:xfrm>
          <a:prstGeom prst="rect">
            <a:avLst/>
          </a:prstGeom>
          <a:noFill/>
          <a:ln/>
        </p:spPr>
        <p:txBody>
          <a:bodyPr wrap="square" lIns="0" tIns="0" rIns="0" bIns="0" rtlCol="0" anchor="t"/>
          <a:lstStyle/>
          <a:p>
            <a:pPr marL="0" indent="0">
              <a:buNone/>
            </a:pPr>
            <a:r>
              <a:rPr lang="en-US" sz="1800" b="1" dirty="0">
                <a:solidFill>
                  <a:schemeClr val="tx1"/>
                </a:solidFill>
              </a:rPr>
              <a:t>+ own and neighbors' strain</a:t>
            </a:r>
            <a:endParaRPr lang="en-US" sz="1800" dirty="0"/>
          </a:p>
        </p:txBody>
      </p:sp>
      <p:sp>
        <p:nvSpPr>
          <p:cNvPr id="14" name="text-321"/>
          <p:cNvSpPr txBox="1"/>
          <p:nvPr/>
        </p:nvSpPr>
        <p:spPr>
          <a:xfrm>
            <a:off x="8092440" y="2880360"/>
            <a:ext cx="3337560" cy="365760"/>
          </a:xfrm>
          <a:prstGeom prst="rect">
            <a:avLst/>
          </a:prstGeom>
          <a:noFill/>
          <a:ln/>
        </p:spPr>
        <p:txBody>
          <a:bodyPr wrap="square" lIns="0" tIns="0" rIns="0" bIns="0" rtlCol="0" anchor="t"/>
          <a:lstStyle/>
          <a:p>
            <a:pPr marL="0" indent="0">
              <a:buNone/>
            </a:pPr>
            <a:r>
              <a:rPr lang="en-US" sz="1400" dirty="0">
                <a:solidFill>
                  <a:schemeClr val="tx2"/>
                </a:solidFill>
              </a:rPr>
              <a:t>129 genes on a 5×5 grid</a:t>
            </a:r>
            <a:endParaRPr lang="en-US" sz="1400" dirty="0"/>
          </a:p>
        </p:txBody>
      </p:sp>
      <p:sp>
        <p:nvSpPr>
          <p:cNvPr id="15" name="card-322"/>
          <p:cNvSpPr/>
          <p:nvPr/>
        </p:nvSpPr>
        <p:spPr>
          <a:xfrm>
            <a:off x="2377440" y="3977640"/>
            <a:ext cx="4526280" cy="1965960"/>
          </a:xfrm>
          <a:prstGeom prst="roundRect">
            <a:avLst>
              <a:gd name="adj" fmla="val 3721"/>
            </a:avLst>
          </a:prstGeom>
          <a:solidFill>
            <a:schemeClr val="bg2"/>
          </a:solidFill>
          <a:ln/>
        </p:spPr>
        <p:txBody>
          <a:bodyPr/>
          <a:lstStyle/>
          <a:p>
            <a:endParaRPr lang="en-US"/>
          </a:p>
        </p:txBody>
      </p:sp>
      <p:sp>
        <p:nvSpPr>
          <p:cNvPr id="16" name="text-323"/>
          <p:cNvSpPr txBox="1"/>
          <p:nvPr/>
        </p:nvSpPr>
        <p:spPr>
          <a:xfrm>
            <a:off x="2651760" y="4206240"/>
            <a:ext cx="548640" cy="731520"/>
          </a:xfrm>
          <a:prstGeom prst="rect">
            <a:avLst/>
          </a:prstGeom>
          <a:noFill/>
          <a:ln/>
        </p:spPr>
        <p:txBody>
          <a:bodyPr wrap="square" lIns="0" tIns="0" rIns="0" bIns="0" rtlCol="0" anchor="t"/>
          <a:lstStyle/>
          <a:p>
            <a:pPr marL="0" indent="0">
              <a:buNone/>
            </a:pPr>
            <a:r>
              <a:rPr lang="en-US" sz="4000" b="1" dirty="0">
                <a:solidFill>
                  <a:schemeClr val="accent2"/>
                </a:solidFill>
              </a:rPr>
              <a:t>3</a:t>
            </a:r>
            <a:endParaRPr lang="en-US" sz="4000" dirty="0"/>
          </a:p>
        </p:txBody>
      </p:sp>
      <p:sp>
        <p:nvSpPr>
          <p:cNvPr id="17" name="text-324"/>
          <p:cNvSpPr txBox="1"/>
          <p:nvPr/>
        </p:nvSpPr>
        <p:spPr>
          <a:xfrm>
            <a:off x="3337560" y="4343400"/>
            <a:ext cx="3337560" cy="548640"/>
          </a:xfrm>
          <a:prstGeom prst="rect">
            <a:avLst/>
          </a:prstGeom>
          <a:noFill/>
          <a:ln/>
        </p:spPr>
        <p:txBody>
          <a:bodyPr wrap="square" lIns="0" tIns="0" rIns="0" bIns="0" rtlCol="0" anchor="t"/>
          <a:lstStyle/>
          <a:p>
            <a:pPr marL="0" indent="0">
              <a:buNone/>
            </a:pPr>
            <a:r>
              <a:rPr lang="en-US" sz="1800" b="1" dirty="0">
                <a:solidFill>
                  <a:schemeClr val="tx1"/>
                </a:solidFill>
              </a:rPr>
              <a:t>clock only</a:t>
            </a:r>
            <a:endParaRPr lang="en-US" sz="1800" dirty="0"/>
          </a:p>
        </p:txBody>
      </p:sp>
      <p:sp>
        <p:nvSpPr>
          <p:cNvPr id="18" name="text-325"/>
          <p:cNvSpPr txBox="1"/>
          <p:nvPr/>
        </p:nvSpPr>
        <p:spPr>
          <a:xfrm>
            <a:off x="3337560" y="5074920"/>
            <a:ext cx="3337560" cy="365760"/>
          </a:xfrm>
          <a:prstGeom prst="rect">
            <a:avLst/>
          </a:prstGeom>
          <a:noFill/>
          <a:ln/>
        </p:spPr>
        <p:txBody>
          <a:bodyPr wrap="square" lIns="0" tIns="0" rIns="0" bIns="0" rtlCol="0" anchor="t"/>
          <a:lstStyle/>
          <a:p>
            <a:pPr marL="0" indent="0">
              <a:buNone/>
            </a:pPr>
            <a:r>
              <a:rPr lang="en-US" sz="1400" dirty="0">
                <a:solidFill>
                  <a:schemeClr val="tx2"/>
                </a:solidFill>
              </a:rPr>
              <a:t>473 genes on a 5×5 grid</a:t>
            </a:r>
            <a:endParaRPr lang="en-US" sz="1400" dirty="0"/>
          </a:p>
        </p:txBody>
      </p:sp>
      <p:sp>
        <p:nvSpPr>
          <p:cNvPr id="19" name="card-326"/>
          <p:cNvSpPr/>
          <p:nvPr/>
        </p:nvSpPr>
        <p:spPr>
          <a:xfrm>
            <a:off x="7132320" y="3977640"/>
            <a:ext cx="4526280" cy="1965960"/>
          </a:xfrm>
          <a:prstGeom prst="roundRect">
            <a:avLst>
              <a:gd name="adj" fmla="val 3721"/>
            </a:avLst>
          </a:prstGeom>
          <a:solidFill>
            <a:schemeClr val="bg2"/>
          </a:solidFill>
          <a:ln/>
        </p:spPr>
        <p:txBody>
          <a:bodyPr/>
          <a:lstStyle/>
          <a:p>
            <a:endParaRPr lang="en-US"/>
          </a:p>
        </p:txBody>
      </p:sp>
      <p:sp>
        <p:nvSpPr>
          <p:cNvPr id="20" name="text-327"/>
          <p:cNvSpPr txBox="1"/>
          <p:nvPr/>
        </p:nvSpPr>
        <p:spPr>
          <a:xfrm>
            <a:off x="7406640" y="4206240"/>
            <a:ext cx="548640" cy="731520"/>
          </a:xfrm>
          <a:prstGeom prst="rect">
            <a:avLst/>
          </a:prstGeom>
          <a:noFill/>
          <a:ln/>
        </p:spPr>
        <p:txBody>
          <a:bodyPr wrap="square" lIns="0" tIns="0" rIns="0" bIns="0" rtlCol="0" anchor="t"/>
          <a:lstStyle/>
          <a:p>
            <a:pPr marL="0" indent="0">
              <a:buNone/>
            </a:pPr>
            <a:r>
              <a:rPr lang="en-US" sz="4000" b="1" dirty="0">
                <a:solidFill>
                  <a:schemeClr val="accent2"/>
                </a:solidFill>
              </a:rPr>
              <a:t>4</a:t>
            </a:r>
            <a:endParaRPr lang="en-US" sz="4000" dirty="0"/>
          </a:p>
        </p:txBody>
      </p:sp>
      <p:sp>
        <p:nvSpPr>
          <p:cNvPr id="21" name="text-328"/>
          <p:cNvSpPr txBox="1"/>
          <p:nvPr/>
        </p:nvSpPr>
        <p:spPr>
          <a:xfrm>
            <a:off x="8092440" y="4343400"/>
            <a:ext cx="3337560" cy="548640"/>
          </a:xfrm>
          <a:prstGeom prst="rect">
            <a:avLst/>
          </a:prstGeom>
          <a:noFill/>
          <a:ln/>
        </p:spPr>
        <p:txBody>
          <a:bodyPr wrap="square" lIns="0" tIns="0" rIns="0" bIns="0" rtlCol="0" anchor="t"/>
          <a:lstStyle/>
          <a:p>
            <a:pPr marL="0" indent="0">
              <a:buNone/>
            </a:pPr>
            <a:r>
              <a:rPr lang="en-US" sz="1800" b="1" dirty="0">
                <a:solidFill>
                  <a:schemeClr val="tx1"/>
                </a:solidFill>
              </a:rPr>
              <a:t>+ every cell's strain</a:t>
            </a:r>
            <a:endParaRPr lang="en-US" sz="1800" dirty="0"/>
          </a:p>
        </p:txBody>
      </p:sp>
      <p:sp>
        <p:nvSpPr>
          <p:cNvPr id="22" name="text-329"/>
          <p:cNvSpPr txBox="1"/>
          <p:nvPr/>
        </p:nvSpPr>
        <p:spPr>
          <a:xfrm>
            <a:off x="8092440" y="5074920"/>
            <a:ext cx="3337560" cy="365760"/>
          </a:xfrm>
          <a:prstGeom prst="rect">
            <a:avLst/>
          </a:prstGeom>
          <a:noFill/>
          <a:ln/>
        </p:spPr>
        <p:txBody>
          <a:bodyPr wrap="square" lIns="0" tIns="0" rIns="0" bIns="0" rtlCol="0" anchor="t"/>
          <a:lstStyle/>
          <a:p>
            <a:pPr marL="0" indent="0">
              <a:buNone/>
            </a:pPr>
            <a:r>
              <a:rPr lang="en-US" sz="1400" dirty="0">
                <a:solidFill>
                  <a:schemeClr val="tx2"/>
                </a:solidFill>
              </a:rPr>
              <a:t>1,273 genes on a 5×5 grid</a:t>
            </a:r>
            <a:endParaRPr lang="en-US" sz="1400" dirty="0"/>
          </a:p>
        </p:txBody>
      </p:sp>
      <p:sp>
        <p:nvSpPr>
          <p:cNvPr id="23" name="text-330"/>
          <p:cNvSpPr txBox="1"/>
          <p:nvPr/>
        </p:nvSpPr>
        <p:spPr>
          <a:xfrm>
            <a:off x="2377440" y="5989320"/>
            <a:ext cx="9144000" cy="320040"/>
          </a:xfrm>
          <a:prstGeom prst="rect">
            <a:avLst/>
          </a:prstGeom>
          <a:noFill/>
          <a:ln/>
        </p:spPr>
        <p:txBody>
          <a:bodyPr wrap="square" lIns="0" tIns="0" rIns="0" bIns="0" rtlCol="0" anchor="t"/>
          <a:lstStyle/>
          <a:p>
            <a:pPr marL="0" indent="0">
              <a:buNone/>
            </a:pPr>
            <a:r>
              <a:rPr lang="en-US" sz="1400" dirty="0">
                <a:solidFill>
                  <a:schemeClr val="tx2"/>
                </a:solidFill>
                <a:latin typeface="Courier New" pitchFamily="34" charset="0"/>
                <a:ea typeface="Courier New" pitchFamily="34" charset="-122"/>
                <a:cs typeface="Courier New" pitchFamily="34" charset="-120"/>
              </a:rPr>
              <a:t>--controller local | global      --loop open | closed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1. Local, open-loop</a:t>
            </a:r>
            <a:endParaRPr lang="en-US" sz="3200" dirty="0"/>
          </a:p>
        </p:txBody>
      </p:sp>
      <p:sp>
        <p:nvSpPr>
          <p:cNvPr id="3" name="voxel-331"/>
          <p:cNvSpPr/>
          <p:nvPr/>
        </p:nvSpPr>
        <p:spPr>
          <a:xfrm>
            <a:off x="571317" y="1622877"/>
            <a:ext cx="521574" cy="521574"/>
          </a:xfrm>
          <a:prstGeom prst="rect">
            <a:avLst/>
          </a:prstGeom>
          <a:solidFill>
            <a:schemeClr val="accent1">
              <a:alpha val="25000"/>
            </a:schemeClr>
          </a:solidFill>
          <a:ln/>
        </p:spPr>
        <p:txBody>
          <a:bodyPr/>
          <a:lstStyle/>
          <a:p>
            <a:endParaRPr lang="en-US"/>
          </a:p>
        </p:txBody>
      </p:sp>
      <p:sp>
        <p:nvSpPr>
          <p:cNvPr id="4" name="voxel-332"/>
          <p:cNvSpPr/>
          <p:nvPr/>
        </p:nvSpPr>
        <p:spPr>
          <a:xfrm>
            <a:off x="1138245" y="1622877"/>
            <a:ext cx="521574" cy="521574"/>
          </a:xfrm>
          <a:prstGeom prst="rect">
            <a:avLst/>
          </a:prstGeom>
          <a:solidFill>
            <a:schemeClr val="accent1">
              <a:alpha val="25000"/>
            </a:schemeClr>
          </a:solidFill>
          <a:ln/>
        </p:spPr>
        <p:txBody>
          <a:bodyPr/>
          <a:lstStyle/>
          <a:p>
            <a:endParaRPr lang="en-US"/>
          </a:p>
        </p:txBody>
      </p:sp>
      <p:sp>
        <p:nvSpPr>
          <p:cNvPr id="5" name="voxel-333"/>
          <p:cNvSpPr/>
          <p:nvPr/>
        </p:nvSpPr>
        <p:spPr>
          <a:xfrm>
            <a:off x="1705173" y="1622877"/>
            <a:ext cx="521574" cy="521574"/>
          </a:xfrm>
          <a:prstGeom prst="rect">
            <a:avLst/>
          </a:prstGeom>
          <a:solidFill>
            <a:schemeClr val="accent1">
              <a:alpha val="25000"/>
            </a:schemeClr>
          </a:solidFill>
          <a:ln/>
        </p:spPr>
        <p:txBody>
          <a:bodyPr/>
          <a:lstStyle/>
          <a:p>
            <a:endParaRPr lang="en-US"/>
          </a:p>
        </p:txBody>
      </p:sp>
      <p:sp>
        <p:nvSpPr>
          <p:cNvPr id="6" name="voxel-334"/>
          <p:cNvSpPr/>
          <p:nvPr/>
        </p:nvSpPr>
        <p:spPr>
          <a:xfrm>
            <a:off x="2272101" y="1622877"/>
            <a:ext cx="521574" cy="521574"/>
          </a:xfrm>
          <a:prstGeom prst="rect">
            <a:avLst/>
          </a:prstGeom>
          <a:solidFill>
            <a:schemeClr val="accent1">
              <a:alpha val="25000"/>
            </a:schemeClr>
          </a:solidFill>
          <a:ln/>
        </p:spPr>
        <p:txBody>
          <a:bodyPr/>
          <a:lstStyle/>
          <a:p>
            <a:endParaRPr lang="en-US"/>
          </a:p>
        </p:txBody>
      </p:sp>
      <p:sp>
        <p:nvSpPr>
          <p:cNvPr id="7" name="voxel-335"/>
          <p:cNvSpPr/>
          <p:nvPr/>
        </p:nvSpPr>
        <p:spPr>
          <a:xfrm>
            <a:off x="2839029" y="1622877"/>
            <a:ext cx="521574" cy="521574"/>
          </a:xfrm>
          <a:prstGeom prst="rect">
            <a:avLst/>
          </a:prstGeom>
          <a:solidFill>
            <a:schemeClr val="accent1">
              <a:alpha val="25000"/>
            </a:schemeClr>
          </a:solidFill>
          <a:ln/>
        </p:spPr>
        <p:txBody>
          <a:bodyPr/>
          <a:lstStyle/>
          <a:p>
            <a:endParaRPr lang="en-US"/>
          </a:p>
        </p:txBody>
      </p:sp>
      <p:sp>
        <p:nvSpPr>
          <p:cNvPr id="8" name="voxel-336"/>
          <p:cNvSpPr/>
          <p:nvPr/>
        </p:nvSpPr>
        <p:spPr>
          <a:xfrm>
            <a:off x="571317" y="2189805"/>
            <a:ext cx="521574" cy="521574"/>
          </a:xfrm>
          <a:prstGeom prst="rect">
            <a:avLst/>
          </a:prstGeom>
          <a:solidFill>
            <a:schemeClr val="accent1">
              <a:alpha val="25000"/>
            </a:schemeClr>
          </a:solidFill>
          <a:ln/>
        </p:spPr>
        <p:txBody>
          <a:bodyPr/>
          <a:lstStyle/>
          <a:p>
            <a:endParaRPr lang="en-US"/>
          </a:p>
        </p:txBody>
      </p:sp>
      <p:sp>
        <p:nvSpPr>
          <p:cNvPr id="9" name="voxel-337"/>
          <p:cNvSpPr/>
          <p:nvPr/>
        </p:nvSpPr>
        <p:spPr>
          <a:xfrm>
            <a:off x="1138245" y="2189805"/>
            <a:ext cx="521574" cy="521574"/>
          </a:xfrm>
          <a:prstGeom prst="rect">
            <a:avLst/>
          </a:prstGeom>
          <a:solidFill>
            <a:schemeClr val="accent1"/>
          </a:solidFill>
          <a:ln/>
        </p:spPr>
        <p:txBody>
          <a:bodyPr/>
          <a:lstStyle/>
          <a:p>
            <a:endParaRPr lang="en-US"/>
          </a:p>
        </p:txBody>
      </p:sp>
      <p:sp>
        <p:nvSpPr>
          <p:cNvPr id="10" name="voxel-338"/>
          <p:cNvSpPr/>
          <p:nvPr/>
        </p:nvSpPr>
        <p:spPr>
          <a:xfrm>
            <a:off x="1705173" y="2189805"/>
            <a:ext cx="521574" cy="521574"/>
          </a:xfrm>
          <a:prstGeom prst="rect">
            <a:avLst/>
          </a:prstGeom>
          <a:solidFill>
            <a:schemeClr val="accent1">
              <a:alpha val="25000"/>
            </a:schemeClr>
          </a:solidFill>
          <a:ln/>
        </p:spPr>
        <p:txBody>
          <a:bodyPr/>
          <a:lstStyle/>
          <a:p>
            <a:endParaRPr lang="en-US"/>
          </a:p>
        </p:txBody>
      </p:sp>
      <p:sp>
        <p:nvSpPr>
          <p:cNvPr id="11" name="voxel-339"/>
          <p:cNvSpPr/>
          <p:nvPr/>
        </p:nvSpPr>
        <p:spPr>
          <a:xfrm>
            <a:off x="2272101" y="2189805"/>
            <a:ext cx="521574" cy="521574"/>
          </a:xfrm>
          <a:prstGeom prst="rect">
            <a:avLst/>
          </a:prstGeom>
          <a:solidFill>
            <a:schemeClr val="accent1">
              <a:alpha val="25000"/>
            </a:schemeClr>
          </a:solidFill>
          <a:ln/>
        </p:spPr>
        <p:txBody>
          <a:bodyPr/>
          <a:lstStyle/>
          <a:p>
            <a:endParaRPr lang="en-US"/>
          </a:p>
        </p:txBody>
      </p:sp>
      <p:sp>
        <p:nvSpPr>
          <p:cNvPr id="12" name="voxel-340"/>
          <p:cNvSpPr/>
          <p:nvPr/>
        </p:nvSpPr>
        <p:spPr>
          <a:xfrm>
            <a:off x="2839029" y="2189805"/>
            <a:ext cx="521574" cy="521574"/>
          </a:xfrm>
          <a:prstGeom prst="rect">
            <a:avLst/>
          </a:prstGeom>
          <a:solidFill>
            <a:schemeClr val="accent1">
              <a:alpha val="25000"/>
            </a:schemeClr>
          </a:solidFill>
          <a:ln/>
        </p:spPr>
        <p:txBody>
          <a:bodyPr/>
          <a:lstStyle/>
          <a:p>
            <a:endParaRPr lang="en-US"/>
          </a:p>
        </p:txBody>
      </p:sp>
      <p:sp>
        <p:nvSpPr>
          <p:cNvPr id="13" name="voxel-341"/>
          <p:cNvSpPr/>
          <p:nvPr/>
        </p:nvSpPr>
        <p:spPr>
          <a:xfrm>
            <a:off x="571317" y="2756733"/>
            <a:ext cx="521574" cy="521574"/>
          </a:xfrm>
          <a:prstGeom prst="rect">
            <a:avLst/>
          </a:prstGeom>
          <a:solidFill>
            <a:schemeClr val="accent1">
              <a:alpha val="25000"/>
            </a:schemeClr>
          </a:solidFill>
          <a:ln/>
        </p:spPr>
        <p:txBody>
          <a:bodyPr/>
          <a:lstStyle/>
          <a:p>
            <a:endParaRPr lang="en-US"/>
          </a:p>
        </p:txBody>
      </p:sp>
      <p:sp>
        <p:nvSpPr>
          <p:cNvPr id="14" name="voxel-342"/>
          <p:cNvSpPr/>
          <p:nvPr/>
        </p:nvSpPr>
        <p:spPr>
          <a:xfrm>
            <a:off x="1138245" y="2756733"/>
            <a:ext cx="521574" cy="521574"/>
          </a:xfrm>
          <a:prstGeom prst="rect">
            <a:avLst/>
          </a:prstGeom>
          <a:solidFill>
            <a:schemeClr val="accent1">
              <a:alpha val="25000"/>
            </a:schemeClr>
          </a:solidFill>
          <a:ln/>
        </p:spPr>
        <p:txBody>
          <a:bodyPr/>
          <a:lstStyle/>
          <a:p>
            <a:endParaRPr lang="en-US"/>
          </a:p>
        </p:txBody>
      </p:sp>
      <p:sp>
        <p:nvSpPr>
          <p:cNvPr id="15" name="voxel-343"/>
          <p:cNvSpPr/>
          <p:nvPr/>
        </p:nvSpPr>
        <p:spPr>
          <a:xfrm>
            <a:off x="2272101" y="2756733"/>
            <a:ext cx="521574" cy="521574"/>
          </a:xfrm>
          <a:prstGeom prst="rect">
            <a:avLst/>
          </a:prstGeom>
          <a:solidFill>
            <a:schemeClr val="accent1">
              <a:alpha val="25000"/>
            </a:schemeClr>
          </a:solidFill>
          <a:ln/>
        </p:spPr>
        <p:txBody>
          <a:bodyPr/>
          <a:lstStyle/>
          <a:p>
            <a:endParaRPr lang="en-US"/>
          </a:p>
        </p:txBody>
      </p:sp>
      <p:sp>
        <p:nvSpPr>
          <p:cNvPr id="16" name="voxel-344"/>
          <p:cNvSpPr/>
          <p:nvPr/>
        </p:nvSpPr>
        <p:spPr>
          <a:xfrm>
            <a:off x="2839029" y="2756733"/>
            <a:ext cx="521574" cy="521574"/>
          </a:xfrm>
          <a:prstGeom prst="rect">
            <a:avLst/>
          </a:prstGeom>
          <a:solidFill>
            <a:schemeClr val="accent1">
              <a:alpha val="25000"/>
            </a:schemeClr>
          </a:solidFill>
          <a:ln/>
        </p:spPr>
        <p:txBody>
          <a:bodyPr/>
          <a:lstStyle/>
          <a:p>
            <a:endParaRPr lang="en-US"/>
          </a:p>
        </p:txBody>
      </p:sp>
      <p:sp>
        <p:nvSpPr>
          <p:cNvPr id="17" name="voxel-345"/>
          <p:cNvSpPr/>
          <p:nvPr/>
        </p:nvSpPr>
        <p:spPr>
          <a:xfrm>
            <a:off x="571317" y="3323661"/>
            <a:ext cx="521574" cy="521574"/>
          </a:xfrm>
          <a:prstGeom prst="rect">
            <a:avLst/>
          </a:prstGeom>
          <a:solidFill>
            <a:schemeClr val="accent1">
              <a:alpha val="25000"/>
            </a:schemeClr>
          </a:solidFill>
          <a:ln/>
        </p:spPr>
        <p:txBody>
          <a:bodyPr/>
          <a:lstStyle/>
          <a:p>
            <a:endParaRPr lang="en-US"/>
          </a:p>
        </p:txBody>
      </p:sp>
      <p:sp>
        <p:nvSpPr>
          <p:cNvPr id="18" name="voxel-346"/>
          <p:cNvSpPr/>
          <p:nvPr/>
        </p:nvSpPr>
        <p:spPr>
          <a:xfrm>
            <a:off x="1138245" y="3323661"/>
            <a:ext cx="521574" cy="521574"/>
          </a:xfrm>
          <a:prstGeom prst="rect">
            <a:avLst/>
          </a:prstGeom>
          <a:solidFill>
            <a:schemeClr val="accent1">
              <a:alpha val="25000"/>
            </a:schemeClr>
          </a:solidFill>
          <a:ln/>
        </p:spPr>
        <p:txBody>
          <a:bodyPr/>
          <a:lstStyle/>
          <a:p>
            <a:endParaRPr lang="en-US"/>
          </a:p>
        </p:txBody>
      </p:sp>
      <p:sp>
        <p:nvSpPr>
          <p:cNvPr id="19" name="voxel-347"/>
          <p:cNvSpPr/>
          <p:nvPr/>
        </p:nvSpPr>
        <p:spPr>
          <a:xfrm>
            <a:off x="2272101" y="3323661"/>
            <a:ext cx="521574" cy="521574"/>
          </a:xfrm>
          <a:prstGeom prst="rect">
            <a:avLst/>
          </a:prstGeom>
          <a:solidFill>
            <a:schemeClr val="accent1">
              <a:alpha val="25000"/>
            </a:schemeClr>
          </a:solidFill>
          <a:ln/>
        </p:spPr>
        <p:txBody>
          <a:bodyPr/>
          <a:lstStyle/>
          <a:p>
            <a:endParaRPr lang="en-US"/>
          </a:p>
        </p:txBody>
      </p:sp>
      <p:sp>
        <p:nvSpPr>
          <p:cNvPr id="20" name="voxel-348"/>
          <p:cNvSpPr/>
          <p:nvPr/>
        </p:nvSpPr>
        <p:spPr>
          <a:xfrm>
            <a:off x="2839029" y="3323661"/>
            <a:ext cx="521574" cy="521574"/>
          </a:xfrm>
          <a:prstGeom prst="rect">
            <a:avLst/>
          </a:prstGeom>
          <a:solidFill>
            <a:schemeClr val="accent1">
              <a:alpha val="25000"/>
            </a:schemeClr>
          </a:solidFill>
          <a:ln/>
        </p:spPr>
        <p:txBody>
          <a:bodyPr/>
          <a:lstStyle/>
          <a:p>
            <a:endParaRPr lang="en-US"/>
          </a:p>
        </p:txBody>
      </p:sp>
      <p:sp>
        <p:nvSpPr>
          <p:cNvPr id="21" name="voxel-349"/>
          <p:cNvSpPr/>
          <p:nvPr/>
        </p:nvSpPr>
        <p:spPr>
          <a:xfrm>
            <a:off x="571317" y="3890589"/>
            <a:ext cx="521574" cy="521574"/>
          </a:xfrm>
          <a:prstGeom prst="rect">
            <a:avLst/>
          </a:prstGeom>
          <a:solidFill>
            <a:schemeClr val="accent1">
              <a:alpha val="25000"/>
            </a:schemeClr>
          </a:solidFill>
          <a:ln/>
        </p:spPr>
        <p:txBody>
          <a:bodyPr/>
          <a:lstStyle/>
          <a:p>
            <a:endParaRPr lang="en-US"/>
          </a:p>
        </p:txBody>
      </p:sp>
      <p:sp>
        <p:nvSpPr>
          <p:cNvPr id="22" name="voxel-350"/>
          <p:cNvSpPr/>
          <p:nvPr/>
        </p:nvSpPr>
        <p:spPr>
          <a:xfrm>
            <a:off x="1138245" y="3890589"/>
            <a:ext cx="521574" cy="521574"/>
          </a:xfrm>
          <a:prstGeom prst="rect">
            <a:avLst/>
          </a:prstGeom>
          <a:solidFill>
            <a:schemeClr val="accent1">
              <a:alpha val="25000"/>
            </a:schemeClr>
          </a:solidFill>
          <a:ln/>
        </p:spPr>
        <p:txBody>
          <a:bodyPr/>
          <a:lstStyle/>
          <a:p>
            <a:endParaRPr lang="en-US"/>
          </a:p>
        </p:txBody>
      </p:sp>
      <p:sp>
        <p:nvSpPr>
          <p:cNvPr id="23" name="voxel-351"/>
          <p:cNvSpPr/>
          <p:nvPr/>
        </p:nvSpPr>
        <p:spPr>
          <a:xfrm>
            <a:off x="2272101" y="3890589"/>
            <a:ext cx="521574" cy="521574"/>
          </a:xfrm>
          <a:prstGeom prst="rect">
            <a:avLst/>
          </a:prstGeom>
          <a:solidFill>
            <a:schemeClr val="accent1">
              <a:alpha val="25000"/>
            </a:schemeClr>
          </a:solidFill>
          <a:ln/>
        </p:spPr>
        <p:txBody>
          <a:bodyPr/>
          <a:lstStyle/>
          <a:p>
            <a:endParaRPr lang="en-US"/>
          </a:p>
        </p:txBody>
      </p:sp>
      <p:sp>
        <p:nvSpPr>
          <p:cNvPr id="24" name="voxel-352"/>
          <p:cNvSpPr/>
          <p:nvPr/>
        </p:nvSpPr>
        <p:spPr>
          <a:xfrm>
            <a:off x="2839029" y="3890589"/>
            <a:ext cx="521574" cy="521574"/>
          </a:xfrm>
          <a:prstGeom prst="rect">
            <a:avLst/>
          </a:prstGeom>
          <a:solidFill>
            <a:schemeClr val="accent1">
              <a:alpha val="25000"/>
            </a:schemeClr>
          </a:solidFill>
          <a:ln/>
        </p:spPr>
        <p:txBody>
          <a:bodyPr/>
          <a:lstStyle/>
          <a:p>
            <a:endParaRPr lang="en-US"/>
          </a:p>
        </p:txBody>
      </p:sp>
      <p:sp>
        <p:nvSpPr>
          <p:cNvPr id="25" name="outline-353"/>
          <p:cNvSpPr/>
          <p:nvPr/>
        </p:nvSpPr>
        <p:spPr>
          <a:xfrm>
            <a:off x="1078992" y="2130552"/>
            <a:ext cx="640080" cy="640080"/>
          </a:xfrm>
          <a:prstGeom prst="rect">
            <a:avLst/>
          </a:prstGeom>
          <a:ln w="38100">
            <a:solidFill>
              <a:schemeClr val="accent5"/>
            </a:solidFill>
            <a:prstDash val="solid"/>
          </a:ln>
        </p:spPr>
        <p:txBody>
          <a:bodyPr/>
          <a:lstStyle/>
          <a:p>
            <a:endParaRPr lang="en-US"/>
          </a:p>
        </p:txBody>
      </p:sp>
      <p:sp>
        <p:nvSpPr>
          <p:cNvPr id="26" name="text-354"/>
          <p:cNvSpPr txBox="1"/>
          <p:nvPr/>
        </p:nvSpPr>
        <p:spPr>
          <a:xfrm>
            <a:off x="548640" y="4617720"/>
            <a:ext cx="2971800" cy="731520"/>
          </a:xfrm>
          <a:prstGeom prst="rect">
            <a:avLst/>
          </a:prstGeom>
          <a:noFill/>
          <a:ln/>
        </p:spPr>
        <p:txBody>
          <a:bodyPr wrap="square" lIns="0" tIns="0" rIns="0" bIns="0" rtlCol="0" anchor="t"/>
          <a:lstStyle/>
          <a:p>
            <a:pPr marL="0" indent="0">
              <a:buNone/>
            </a:pPr>
            <a:r>
              <a:rPr lang="en-US" sz="1300" dirty="0">
                <a:solidFill>
                  <a:schemeClr val="tx2"/>
                </a:solidFill>
              </a:rPr>
              <a:t>One copy per muscle; it knows only where it is</a:t>
            </a:r>
            <a:endParaRPr lang="en-US" sz="1300" dirty="0"/>
          </a:p>
        </p:txBody>
      </p:sp>
      <p:sp>
        <p:nvSpPr>
          <p:cNvPr id="27" name="pill-355"/>
          <p:cNvSpPr/>
          <p:nvPr/>
        </p:nvSpPr>
        <p:spPr>
          <a:xfrm>
            <a:off x="3840480" y="1600200"/>
            <a:ext cx="2651760" cy="502920"/>
          </a:xfrm>
          <a:prstGeom prst="roundRect">
            <a:avLst>
              <a:gd name="adj" fmla="val 50000"/>
            </a:avLst>
          </a:prstGeom>
          <a:solidFill>
            <a:schemeClr val="bg2"/>
          </a:solidFill>
          <a:ln/>
        </p:spPr>
        <p:txBody>
          <a:bodyPr/>
          <a:lstStyle/>
          <a:p>
            <a:endParaRPr lang="en-US"/>
          </a:p>
        </p:txBody>
      </p:sp>
      <p:sp>
        <p:nvSpPr>
          <p:cNvPr id="28" name="pill-text-356"/>
          <p:cNvSpPr txBox="1"/>
          <p:nvPr/>
        </p:nvSpPr>
        <p:spPr>
          <a:xfrm>
            <a:off x="3840480" y="1600200"/>
            <a:ext cx="2651760" cy="502920"/>
          </a:xfrm>
          <a:prstGeom prst="rect">
            <a:avLst/>
          </a:prstGeom>
          <a:noFill/>
          <a:ln/>
        </p:spPr>
        <p:txBody>
          <a:bodyPr wrap="square" lIns="0" tIns="0" rIns="0" bIns="0" rtlCol="0" anchor="ctr"/>
          <a:lstStyle/>
          <a:p>
            <a:pPr marL="0" indent="0" algn="ctr">
              <a:buNone/>
            </a:pPr>
            <a:r>
              <a:rPr lang="en-US" sz="1400" dirty="0">
                <a:solidFill>
                  <a:schemeClr val="tx1"/>
                </a:solidFill>
              </a:rPr>
              <a:t>clock: sin, cos (2)</a:t>
            </a:r>
            <a:endParaRPr lang="en-US" sz="1400" dirty="0"/>
          </a:p>
        </p:txBody>
      </p:sp>
      <p:sp>
        <p:nvSpPr>
          <p:cNvPr id="29" name="pill-357"/>
          <p:cNvSpPr/>
          <p:nvPr/>
        </p:nvSpPr>
        <p:spPr>
          <a:xfrm>
            <a:off x="3840480" y="2240280"/>
            <a:ext cx="2651760" cy="502920"/>
          </a:xfrm>
          <a:prstGeom prst="roundRect">
            <a:avLst>
              <a:gd name="adj" fmla="val 50000"/>
            </a:avLst>
          </a:prstGeom>
          <a:solidFill>
            <a:schemeClr val="bg2"/>
          </a:solidFill>
          <a:ln/>
        </p:spPr>
        <p:txBody>
          <a:bodyPr/>
          <a:lstStyle/>
          <a:p>
            <a:endParaRPr lang="en-US"/>
          </a:p>
        </p:txBody>
      </p:sp>
      <p:sp>
        <p:nvSpPr>
          <p:cNvPr id="30" name="pill-text-358"/>
          <p:cNvSpPr txBox="1"/>
          <p:nvPr/>
        </p:nvSpPr>
        <p:spPr>
          <a:xfrm>
            <a:off x="3840480" y="2240280"/>
            <a:ext cx="2651760" cy="502920"/>
          </a:xfrm>
          <a:prstGeom prst="rect">
            <a:avLst/>
          </a:prstGeom>
          <a:noFill/>
          <a:ln/>
        </p:spPr>
        <p:txBody>
          <a:bodyPr wrap="square" lIns="0" tIns="0" rIns="0" bIns="0" rtlCol="0" anchor="ctr"/>
          <a:lstStyle/>
          <a:p>
            <a:pPr marL="0" indent="0" algn="ctr">
              <a:buNone/>
            </a:pPr>
            <a:r>
              <a:rPr lang="en-US" sz="1400" dirty="0">
                <a:solidFill>
                  <a:schemeClr val="tx1"/>
                </a:solidFill>
              </a:rPr>
              <a:t>own position: x, y (2)</a:t>
            </a:r>
            <a:endParaRPr lang="en-US" sz="1400" dirty="0"/>
          </a:p>
        </p:txBody>
      </p:sp>
      <p:sp>
        <p:nvSpPr>
          <p:cNvPr id="31" name="arrow-359"/>
          <p:cNvSpPr/>
          <p:nvPr/>
        </p:nvSpPr>
        <p:spPr>
          <a:xfrm>
            <a:off x="6583680" y="2171700"/>
            <a:ext cx="365760" cy="0"/>
          </a:xfrm>
          <a:prstGeom prst="line">
            <a:avLst/>
          </a:prstGeom>
          <a:noFill/>
          <a:ln w="25400">
            <a:solidFill>
              <a:schemeClr val="tx2"/>
            </a:solidFill>
            <a:prstDash val="solid"/>
            <a:tailEnd type="triangle"/>
          </a:ln>
        </p:spPr>
        <p:txBody>
          <a:bodyPr/>
          <a:lstStyle/>
          <a:p>
            <a:endParaRPr lang="en-US"/>
          </a:p>
        </p:txBody>
      </p:sp>
      <p:sp>
        <p:nvSpPr>
          <p:cNvPr id="32" name="net-360"/>
          <p:cNvSpPr/>
          <p:nvPr/>
        </p:nvSpPr>
        <p:spPr>
          <a:xfrm>
            <a:off x="7040880" y="1668780"/>
            <a:ext cx="1371600" cy="1005840"/>
          </a:xfrm>
          <a:prstGeom prst="roundRect">
            <a:avLst>
              <a:gd name="adj" fmla="val 9091"/>
            </a:avLst>
          </a:prstGeom>
          <a:solidFill>
            <a:schemeClr val="tx1"/>
          </a:solidFill>
          <a:ln/>
        </p:spPr>
        <p:txBody>
          <a:bodyPr/>
          <a:lstStyle/>
          <a:p>
            <a:endParaRPr lang="en-US"/>
          </a:p>
        </p:txBody>
      </p:sp>
      <p:sp>
        <p:nvSpPr>
          <p:cNvPr id="33" name="net-text-361"/>
          <p:cNvSpPr txBox="1"/>
          <p:nvPr/>
        </p:nvSpPr>
        <p:spPr>
          <a:xfrm>
            <a:off x="7040880" y="1668780"/>
            <a:ext cx="1371600" cy="1005840"/>
          </a:xfrm>
          <a:prstGeom prst="rect">
            <a:avLst/>
          </a:prstGeom>
          <a:noFill/>
          <a:ln/>
        </p:spPr>
        <p:txBody>
          <a:bodyPr wrap="square" lIns="0" tIns="0" rIns="0" bIns="0" rtlCol="0" anchor="ctr"/>
          <a:lstStyle/>
          <a:p>
            <a:pPr marL="0" indent="0" algn="ctr">
              <a:buNone/>
            </a:pPr>
            <a:r>
              <a:rPr lang="en-US" sz="1500" b="1" dirty="0">
                <a:solidFill>
                  <a:schemeClr val="bg1"/>
                </a:solidFill>
              </a:rPr>
              <a:t>network</a:t>
            </a:r>
          </a:p>
          <a:p>
            <a:pPr marL="0" indent="0" algn="ctr">
              <a:buNone/>
            </a:pPr>
            <a:r>
              <a:rPr lang="en-US" sz="1100" dirty="0">
                <a:solidFill>
                  <a:schemeClr val="bg1"/>
                </a:solidFill>
              </a:rPr>
              <a:t>8 hidden</a:t>
            </a:r>
            <a:endParaRPr lang="en-US" sz="1500" dirty="0"/>
          </a:p>
        </p:txBody>
      </p:sp>
      <p:sp>
        <p:nvSpPr>
          <p:cNvPr id="34" name="arrow-362"/>
          <p:cNvSpPr/>
          <p:nvPr/>
        </p:nvSpPr>
        <p:spPr>
          <a:xfrm>
            <a:off x="8503920" y="2171700"/>
            <a:ext cx="365760" cy="0"/>
          </a:xfrm>
          <a:prstGeom prst="line">
            <a:avLst/>
          </a:prstGeom>
          <a:noFill/>
          <a:ln w="25400">
            <a:solidFill>
              <a:schemeClr val="tx2"/>
            </a:solidFill>
            <a:prstDash val="solid"/>
            <a:tailEnd type="triangle"/>
          </a:ln>
        </p:spPr>
        <p:txBody>
          <a:bodyPr/>
          <a:lstStyle/>
          <a:p>
            <a:endParaRPr lang="en-US"/>
          </a:p>
        </p:txBody>
      </p:sp>
      <p:sp>
        <p:nvSpPr>
          <p:cNvPr id="35" name="pill-363"/>
          <p:cNvSpPr/>
          <p:nvPr/>
        </p:nvSpPr>
        <p:spPr>
          <a:xfrm>
            <a:off x="8961120" y="1897380"/>
            <a:ext cx="2651760" cy="548640"/>
          </a:xfrm>
          <a:prstGeom prst="roundRect">
            <a:avLst>
              <a:gd name="adj" fmla="val 50000"/>
            </a:avLst>
          </a:prstGeom>
          <a:solidFill>
            <a:schemeClr val="accent1"/>
          </a:solidFill>
          <a:ln/>
        </p:spPr>
        <p:txBody>
          <a:bodyPr/>
          <a:lstStyle/>
          <a:p>
            <a:endParaRPr lang="en-US"/>
          </a:p>
        </p:txBody>
      </p:sp>
      <p:sp>
        <p:nvSpPr>
          <p:cNvPr id="36" name="pill-text-364"/>
          <p:cNvSpPr txBox="1"/>
          <p:nvPr/>
        </p:nvSpPr>
        <p:spPr>
          <a:xfrm>
            <a:off x="8961120" y="1897380"/>
            <a:ext cx="2651760" cy="548640"/>
          </a:xfrm>
          <a:prstGeom prst="rect">
            <a:avLst/>
          </a:prstGeom>
          <a:noFill/>
          <a:ln/>
        </p:spPr>
        <p:txBody>
          <a:bodyPr wrap="square" lIns="0" tIns="0" rIns="0" bIns="0" rtlCol="0" anchor="ctr"/>
          <a:lstStyle/>
          <a:p>
            <a:pPr marL="0" indent="0" algn="ctr">
              <a:buNone/>
            </a:pPr>
            <a:r>
              <a:rPr lang="en-US" sz="1400" dirty="0">
                <a:solidFill>
                  <a:schemeClr val="tx1"/>
                </a:solidFill>
              </a:rPr>
              <a:t>1 command, own muscle</a:t>
            </a:r>
            <a:endParaRPr lang="en-US" sz="1400" dirty="0"/>
          </a:p>
        </p:txBody>
      </p:sp>
      <p:sp>
        <p:nvSpPr>
          <p:cNvPr id="37" name="text-365"/>
          <p:cNvSpPr txBox="1"/>
          <p:nvPr/>
        </p:nvSpPr>
        <p:spPr>
          <a:xfrm>
            <a:off x="3840480" y="3840480"/>
            <a:ext cx="2377440" cy="822960"/>
          </a:xfrm>
          <a:prstGeom prst="rect">
            <a:avLst/>
          </a:prstGeom>
          <a:noFill/>
          <a:ln/>
        </p:spPr>
        <p:txBody>
          <a:bodyPr wrap="square" lIns="0" tIns="0" rIns="0" bIns="0" rtlCol="0" anchor="b"/>
          <a:lstStyle/>
          <a:p>
            <a:pPr marL="0" indent="0">
              <a:buNone/>
            </a:pPr>
            <a:r>
              <a:rPr lang="en-US" sz="4400" b="1" dirty="0">
                <a:solidFill>
                  <a:schemeClr val="accent1"/>
                </a:solidFill>
              </a:rPr>
              <a:t>49</a:t>
            </a:r>
            <a:endParaRPr lang="en-US" sz="4400" dirty="0"/>
          </a:p>
        </p:txBody>
      </p:sp>
      <p:sp>
        <p:nvSpPr>
          <p:cNvPr id="38" name="text-366"/>
          <p:cNvSpPr txBox="1"/>
          <p:nvPr/>
        </p:nvSpPr>
        <p:spPr>
          <a:xfrm>
            <a:off x="3840480" y="4709160"/>
            <a:ext cx="2377440" cy="731520"/>
          </a:xfrm>
          <a:prstGeom prst="rect">
            <a:avLst/>
          </a:prstGeom>
          <a:noFill/>
          <a:ln/>
        </p:spPr>
        <p:txBody>
          <a:bodyPr wrap="square" lIns="0" tIns="0" rIns="0" bIns="0" rtlCol="0" anchor="t"/>
          <a:lstStyle/>
          <a:p>
            <a:pPr marL="0" indent="0">
              <a:buNone/>
            </a:pPr>
            <a:r>
              <a:rPr lang="en-US" sz="1400" dirty="0">
                <a:solidFill>
                  <a:schemeClr val="tx2"/>
                </a:solidFill>
              </a:rPr>
              <a:t>genes on a 5×5 grid</a:t>
            </a:r>
            <a:endParaRPr lang="en-US" sz="1400" dirty="0"/>
          </a:p>
        </p:txBody>
      </p:sp>
      <p:sp>
        <p:nvSpPr>
          <p:cNvPr id="39" name="text-367"/>
          <p:cNvSpPr txBox="1"/>
          <p:nvPr/>
        </p:nvSpPr>
        <p:spPr>
          <a:xfrm>
            <a:off x="6492240" y="4425696"/>
            <a:ext cx="5150815" cy="1463040"/>
          </a:xfrm>
          <a:prstGeom prst="rect">
            <a:avLst/>
          </a:prstGeom>
          <a:noFill/>
          <a:ln/>
        </p:spPr>
        <p:txBody>
          <a:bodyPr wrap="square" lIns="0" tIns="0" rIns="0" bIns="0" rtlCol="0" anchor="t"/>
          <a:lstStyle/>
          <a:p>
            <a:pPr marL="0" indent="0">
              <a:buNone/>
            </a:pPr>
            <a:r>
              <a:rPr lang="en-US" sz="1600" dirty="0">
                <a:solidFill>
                  <a:schemeClr val="tx1"/>
                </a:solidFill>
              </a:rPr>
              <a:t>Every muscle runs the same function of time and position. Muscles only do different things because they sit in different places, so commands vary smoothly across the body.</a:t>
            </a:r>
            <a:endParaRPr lang="en-US" sz="1600" dirty="0"/>
          </a:p>
        </p:txBody>
      </p:sp>
      <p:sp>
        <p:nvSpPr>
          <p:cNvPr id="40"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16</a:t>
            </a:fld>
            <a:endParaRPr lang="en-US"/>
          </a:p>
        </p:txBody>
      </p:sp>
      <p:grpSp>
        <p:nvGrpSpPr>
          <p:cNvPr id="98" name="nn-diagram"/>
          <p:cNvGrpSpPr/>
          <p:nvPr/>
        </p:nvGrpSpPr>
        <p:grpSpPr>
          <a:xfrm>
            <a:off x="6400800" y="2880360"/>
            <a:ext cx="5239512" cy="1389888"/>
            <a:chOff x="6400800" y="2880360"/>
            <a:chExt cx="5239512" cy="1389888"/>
          </a:xfrm>
        </p:grpSpPr>
        <p:cxnSp>
          <p:nvCxnSpPr>
            <p:cNvPr id="41" name="edge-41"/>
            <p:cNvCxnSpPr/>
            <p:nvPr/>
          </p:nvCxnSpPr>
          <p:spPr>
            <a:xfrm flipV="1">
              <a:off x="6867144" y="2951226"/>
              <a:ext cx="804672" cy="84582"/>
            </a:xfrm>
            <a:prstGeom prst="line">
              <a:avLst/>
            </a:prstGeom>
            <a:ln w="6350">
              <a:solidFill>
                <a:schemeClr val="tx2">
                  <a:alpha val="30000"/>
                </a:schemeClr>
              </a:solidFill>
            </a:ln>
          </p:spPr>
        </p:cxnSp>
        <p:cxnSp>
          <p:nvCxnSpPr>
            <p:cNvPr id="42" name="edge-42"/>
            <p:cNvCxnSpPr/>
            <p:nvPr/>
          </p:nvCxnSpPr>
          <p:spPr>
            <a:xfrm>
              <a:off x="6867144" y="3035808"/>
              <a:ext cx="804672" cy="57150"/>
            </a:xfrm>
            <a:prstGeom prst="line">
              <a:avLst/>
            </a:prstGeom>
            <a:ln w="6350">
              <a:solidFill>
                <a:schemeClr val="tx2">
                  <a:alpha val="30000"/>
                </a:schemeClr>
              </a:solidFill>
            </a:ln>
          </p:spPr>
        </p:cxnSp>
        <p:cxnSp>
          <p:nvCxnSpPr>
            <p:cNvPr id="43" name="edge-43"/>
            <p:cNvCxnSpPr/>
            <p:nvPr/>
          </p:nvCxnSpPr>
          <p:spPr>
            <a:xfrm>
              <a:off x="6867144" y="3035808"/>
              <a:ext cx="804672" cy="198882"/>
            </a:xfrm>
            <a:prstGeom prst="line">
              <a:avLst/>
            </a:prstGeom>
            <a:ln w="6350">
              <a:solidFill>
                <a:schemeClr val="tx2">
                  <a:alpha val="30000"/>
                </a:schemeClr>
              </a:solidFill>
            </a:ln>
          </p:spPr>
        </p:cxnSp>
        <p:cxnSp>
          <p:nvCxnSpPr>
            <p:cNvPr id="44" name="edge-44"/>
            <p:cNvCxnSpPr/>
            <p:nvPr/>
          </p:nvCxnSpPr>
          <p:spPr>
            <a:xfrm>
              <a:off x="6867144" y="3035808"/>
              <a:ext cx="804672" cy="340614"/>
            </a:xfrm>
            <a:prstGeom prst="line">
              <a:avLst/>
            </a:prstGeom>
            <a:ln w="6350">
              <a:solidFill>
                <a:schemeClr val="tx2">
                  <a:alpha val="30000"/>
                </a:schemeClr>
              </a:solidFill>
            </a:ln>
          </p:spPr>
        </p:cxnSp>
        <p:cxnSp>
          <p:nvCxnSpPr>
            <p:cNvPr id="45" name="edge-45"/>
            <p:cNvCxnSpPr/>
            <p:nvPr/>
          </p:nvCxnSpPr>
          <p:spPr>
            <a:xfrm>
              <a:off x="6867144" y="3035808"/>
              <a:ext cx="804672" cy="482346"/>
            </a:xfrm>
            <a:prstGeom prst="line">
              <a:avLst/>
            </a:prstGeom>
            <a:ln w="6350">
              <a:solidFill>
                <a:schemeClr val="tx2">
                  <a:alpha val="30000"/>
                </a:schemeClr>
              </a:solidFill>
            </a:ln>
          </p:spPr>
        </p:cxnSp>
        <p:cxnSp>
          <p:nvCxnSpPr>
            <p:cNvPr id="46" name="edge-46"/>
            <p:cNvCxnSpPr/>
            <p:nvPr/>
          </p:nvCxnSpPr>
          <p:spPr>
            <a:xfrm>
              <a:off x="6867144" y="3035808"/>
              <a:ext cx="804672" cy="624078"/>
            </a:xfrm>
            <a:prstGeom prst="line">
              <a:avLst/>
            </a:prstGeom>
            <a:ln w="6350">
              <a:solidFill>
                <a:schemeClr val="tx2">
                  <a:alpha val="30000"/>
                </a:schemeClr>
              </a:solidFill>
            </a:ln>
          </p:spPr>
        </p:cxnSp>
        <p:cxnSp>
          <p:nvCxnSpPr>
            <p:cNvPr id="47" name="edge-47"/>
            <p:cNvCxnSpPr/>
            <p:nvPr/>
          </p:nvCxnSpPr>
          <p:spPr>
            <a:xfrm>
              <a:off x="6867144" y="3035808"/>
              <a:ext cx="804672" cy="765810"/>
            </a:xfrm>
            <a:prstGeom prst="line">
              <a:avLst/>
            </a:prstGeom>
            <a:ln w="6350">
              <a:solidFill>
                <a:schemeClr val="tx2">
                  <a:alpha val="30000"/>
                </a:schemeClr>
              </a:solidFill>
            </a:ln>
          </p:spPr>
        </p:cxnSp>
        <p:cxnSp>
          <p:nvCxnSpPr>
            <p:cNvPr id="48" name="edge-48"/>
            <p:cNvCxnSpPr/>
            <p:nvPr/>
          </p:nvCxnSpPr>
          <p:spPr>
            <a:xfrm>
              <a:off x="6867144" y="3035808"/>
              <a:ext cx="804672" cy="907542"/>
            </a:xfrm>
            <a:prstGeom prst="line">
              <a:avLst/>
            </a:prstGeom>
            <a:ln w="6350">
              <a:solidFill>
                <a:schemeClr val="tx2">
                  <a:alpha val="30000"/>
                </a:schemeClr>
              </a:solidFill>
            </a:ln>
          </p:spPr>
        </p:cxnSp>
        <p:cxnSp>
          <p:nvCxnSpPr>
            <p:cNvPr id="49" name="edge-49"/>
            <p:cNvCxnSpPr/>
            <p:nvPr/>
          </p:nvCxnSpPr>
          <p:spPr>
            <a:xfrm flipV="1">
              <a:off x="6867144" y="2951226"/>
              <a:ext cx="804672" cy="358902"/>
            </a:xfrm>
            <a:prstGeom prst="line">
              <a:avLst/>
            </a:prstGeom>
            <a:ln w="6350">
              <a:solidFill>
                <a:schemeClr val="tx2">
                  <a:alpha val="30000"/>
                </a:schemeClr>
              </a:solidFill>
            </a:ln>
          </p:spPr>
        </p:cxnSp>
        <p:cxnSp>
          <p:nvCxnSpPr>
            <p:cNvPr id="50" name="edge-50"/>
            <p:cNvCxnSpPr/>
            <p:nvPr/>
          </p:nvCxnSpPr>
          <p:spPr>
            <a:xfrm flipV="1">
              <a:off x="6867144" y="3092958"/>
              <a:ext cx="804672" cy="217170"/>
            </a:xfrm>
            <a:prstGeom prst="line">
              <a:avLst/>
            </a:prstGeom>
            <a:ln w="6350">
              <a:solidFill>
                <a:schemeClr val="tx2">
                  <a:alpha val="30000"/>
                </a:schemeClr>
              </a:solidFill>
            </a:ln>
          </p:spPr>
        </p:cxnSp>
        <p:cxnSp>
          <p:nvCxnSpPr>
            <p:cNvPr id="51" name="edge-51"/>
            <p:cNvCxnSpPr/>
            <p:nvPr/>
          </p:nvCxnSpPr>
          <p:spPr>
            <a:xfrm flipV="1">
              <a:off x="6867144" y="3234690"/>
              <a:ext cx="804672" cy="75438"/>
            </a:xfrm>
            <a:prstGeom prst="line">
              <a:avLst/>
            </a:prstGeom>
            <a:ln w="6350">
              <a:solidFill>
                <a:schemeClr val="tx2">
                  <a:alpha val="30000"/>
                </a:schemeClr>
              </a:solidFill>
            </a:ln>
          </p:spPr>
        </p:cxnSp>
        <p:cxnSp>
          <p:nvCxnSpPr>
            <p:cNvPr id="52" name="edge-52"/>
            <p:cNvCxnSpPr/>
            <p:nvPr/>
          </p:nvCxnSpPr>
          <p:spPr>
            <a:xfrm>
              <a:off x="6867144" y="3310128"/>
              <a:ext cx="804672" cy="66294"/>
            </a:xfrm>
            <a:prstGeom prst="line">
              <a:avLst/>
            </a:prstGeom>
            <a:ln w="6350">
              <a:solidFill>
                <a:schemeClr val="tx2">
                  <a:alpha val="30000"/>
                </a:schemeClr>
              </a:solidFill>
            </a:ln>
          </p:spPr>
        </p:cxnSp>
        <p:cxnSp>
          <p:nvCxnSpPr>
            <p:cNvPr id="53" name="edge-53"/>
            <p:cNvCxnSpPr/>
            <p:nvPr/>
          </p:nvCxnSpPr>
          <p:spPr>
            <a:xfrm>
              <a:off x="6867144" y="3310128"/>
              <a:ext cx="804672" cy="208026"/>
            </a:xfrm>
            <a:prstGeom prst="line">
              <a:avLst/>
            </a:prstGeom>
            <a:ln w="6350">
              <a:solidFill>
                <a:schemeClr val="tx2">
                  <a:alpha val="30000"/>
                </a:schemeClr>
              </a:solidFill>
            </a:ln>
          </p:spPr>
        </p:cxnSp>
        <p:cxnSp>
          <p:nvCxnSpPr>
            <p:cNvPr id="54" name="edge-54"/>
            <p:cNvCxnSpPr/>
            <p:nvPr/>
          </p:nvCxnSpPr>
          <p:spPr>
            <a:xfrm>
              <a:off x="6867144" y="3310128"/>
              <a:ext cx="804672" cy="349758"/>
            </a:xfrm>
            <a:prstGeom prst="line">
              <a:avLst/>
            </a:prstGeom>
            <a:ln w="6350">
              <a:solidFill>
                <a:schemeClr val="tx2">
                  <a:alpha val="30000"/>
                </a:schemeClr>
              </a:solidFill>
            </a:ln>
          </p:spPr>
        </p:cxnSp>
        <p:cxnSp>
          <p:nvCxnSpPr>
            <p:cNvPr id="55" name="edge-55"/>
            <p:cNvCxnSpPr/>
            <p:nvPr/>
          </p:nvCxnSpPr>
          <p:spPr>
            <a:xfrm>
              <a:off x="6867144" y="3310128"/>
              <a:ext cx="804672" cy="491490"/>
            </a:xfrm>
            <a:prstGeom prst="line">
              <a:avLst/>
            </a:prstGeom>
            <a:ln w="6350">
              <a:solidFill>
                <a:schemeClr val="tx2">
                  <a:alpha val="30000"/>
                </a:schemeClr>
              </a:solidFill>
            </a:ln>
          </p:spPr>
        </p:cxnSp>
        <p:cxnSp>
          <p:nvCxnSpPr>
            <p:cNvPr id="56" name="edge-56"/>
            <p:cNvCxnSpPr/>
            <p:nvPr/>
          </p:nvCxnSpPr>
          <p:spPr>
            <a:xfrm>
              <a:off x="6867144" y="3310128"/>
              <a:ext cx="804672" cy="633222"/>
            </a:xfrm>
            <a:prstGeom prst="line">
              <a:avLst/>
            </a:prstGeom>
            <a:ln w="6350">
              <a:solidFill>
                <a:schemeClr val="tx2">
                  <a:alpha val="30000"/>
                </a:schemeClr>
              </a:solidFill>
            </a:ln>
          </p:spPr>
        </p:cxnSp>
        <p:cxnSp>
          <p:nvCxnSpPr>
            <p:cNvPr id="57" name="edge-57"/>
            <p:cNvCxnSpPr/>
            <p:nvPr/>
          </p:nvCxnSpPr>
          <p:spPr>
            <a:xfrm flipV="1">
              <a:off x="6867144" y="2951226"/>
              <a:ext cx="804672" cy="633222"/>
            </a:xfrm>
            <a:prstGeom prst="line">
              <a:avLst/>
            </a:prstGeom>
            <a:ln w="6350">
              <a:solidFill>
                <a:schemeClr val="tx2">
                  <a:alpha val="30000"/>
                </a:schemeClr>
              </a:solidFill>
            </a:ln>
          </p:spPr>
        </p:cxnSp>
        <p:cxnSp>
          <p:nvCxnSpPr>
            <p:cNvPr id="58" name="edge-58"/>
            <p:cNvCxnSpPr/>
            <p:nvPr/>
          </p:nvCxnSpPr>
          <p:spPr>
            <a:xfrm flipV="1">
              <a:off x="6867144" y="3092958"/>
              <a:ext cx="804672" cy="491490"/>
            </a:xfrm>
            <a:prstGeom prst="line">
              <a:avLst/>
            </a:prstGeom>
            <a:ln w="6350">
              <a:solidFill>
                <a:schemeClr val="tx2">
                  <a:alpha val="30000"/>
                </a:schemeClr>
              </a:solidFill>
            </a:ln>
          </p:spPr>
        </p:cxnSp>
        <p:cxnSp>
          <p:nvCxnSpPr>
            <p:cNvPr id="59" name="edge-59"/>
            <p:cNvCxnSpPr/>
            <p:nvPr/>
          </p:nvCxnSpPr>
          <p:spPr>
            <a:xfrm flipV="1">
              <a:off x="6867144" y="3234690"/>
              <a:ext cx="804672" cy="349758"/>
            </a:xfrm>
            <a:prstGeom prst="line">
              <a:avLst/>
            </a:prstGeom>
            <a:ln w="6350">
              <a:solidFill>
                <a:schemeClr val="tx2">
                  <a:alpha val="30000"/>
                </a:schemeClr>
              </a:solidFill>
            </a:ln>
          </p:spPr>
        </p:cxnSp>
        <p:cxnSp>
          <p:nvCxnSpPr>
            <p:cNvPr id="60" name="edge-60"/>
            <p:cNvCxnSpPr/>
            <p:nvPr/>
          </p:nvCxnSpPr>
          <p:spPr>
            <a:xfrm flipV="1">
              <a:off x="6867144" y="3376422"/>
              <a:ext cx="804672" cy="208026"/>
            </a:xfrm>
            <a:prstGeom prst="line">
              <a:avLst/>
            </a:prstGeom>
            <a:ln w="6350">
              <a:solidFill>
                <a:schemeClr val="tx2">
                  <a:alpha val="30000"/>
                </a:schemeClr>
              </a:solidFill>
            </a:ln>
          </p:spPr>
        </p:cxnSp>
        <p:cxnSp>
          <p:nvCxnSpPr>
            <p:cNvPr id="61" name="edge-61"/>
            <p:cNvCxnSpPr/>
            <p:nvPr/>
          </p:nvCxnSpPr>
          <p:spPr>
            <a:xfrm flipV="1">
              <a:off x="6867144" y="3518154"/>
              <a:ext cx="804672" cy="66294"/>
            </a:xfrm>
            <a:prstGeom prst="line">
              <a:avLst/>
            </a:prstGeom>
            <a:ln w="6350">
              <a:solidFill>
                <a:schemeClr val="tx2">
                  <a:alpha val="30000"/>
                </a:schemeClr>
              </a:solidFill>
            </a:ln>
          </p:spPr>
        </p:cxnSp>
        <p:cxnSp>
          <p:nvCxnSpPr>
            <p:cNvPr id="62" name="edge-62"/>
            <p:cNvCxnSpPr/>
            <p:nvPr/>
          </p:nvCxnSpPr>
          <p:spPr>
            <a:xfrm>
              <a:off x="6867144" y="3584448"/>
              <a:ext cx="804672" cy="75438"/>
            </a:xfrm>
            <a:prstGeom prst="line">
              <a:avLst/>
            </a:prstGeom>
            <a:ln w="6350">
              <a:solidFill>
                <a:schemeClr val="tx2">
                  <a:alpha val="30000"/>
                </a:schemeClr>
              </a:solidFill>
            </a:ln>
          </p:spPr>
        </p:cxnSp>
        <p:cxnSp>
          <p:nvCxnSpPr>
            <p:cNvPr id="63" name="edge-63"/>
            <p:cNvCxnSpPr/>
            <p:nvPr/>
          </p:nvCxnSpPr>
          <p:spPr>
            <a:xfrm>
              <a:off x="6867144" y="3584448"/>
              <a:ext cx="804672" cy="217170"/>
            </a:xfrm>
            <a:prstGeom prst="line">
              <a:avLst/>
            </a:prstGeom>
            <a:ln w="6350">
              <a:solidFill>
                <a:schemeClr val="tx2">
                  <a:alpha val="30000"/>
                </a:schemeClr>
              </a:solidFill>
            </a:ln>
          </p:spPr>
        </p:cxnSp>
        <p:cxnSp>
          <p:nvCxnSpPr>
            <p:cNvPr id="64" name="edge-64"/>
            <p:cNvCxnSpPr/>
            <p:nvPr/>
          </p:nvCxnSpPr>
          <p:spPr>
            <a:xfrm>
              <a:off x="6867144" y="3584448"/>
              <a:ext cx="804672" cy="358902"/>
            </a:xfrm>
            <a:prstGeom prst="line">
              <a:avLst/>
            </a:prstGeom>
            <a:ln w="6350">
              <a:solidFill>
                <a:schemeClr val="tx2">
                  <a:alpha val="30000"/>
                </a:schemeClr>
              </a:solidFill>
            </a:ln>
          </p:spPr>
        </p:cxnSp>
        <p:cxnSp>
          <p:nvCxnSpPr>
            <p:cNvPr id="65" name="edge-65"/>
            <p:cNvCxnSpPr/>
            <p:nvPr/>
          </p:nvCxnSpPr>
          <p:spPr>
            <a:xfrm flipV="1">
              <a:off x="6867144" y="2951226"/>
              <a:ext cx="804672" cy="907542"/>
            </a:xfrm>
            <a:prstGeom prst="line">
              <a:avLst/>
            </a:prstGeom>
            <a:ln w="6350">
              <a:solidFill>
                <a:schemeClr val="tx2">
                  <a:alpha val="30000"/>
                </a:schemeClr>
              </a:solidFill>
            </a:ln>
          </p:spPr>
        </p:cxnSp>
        <p:cxnSp>
          <p:nvCxnSpPr>
            <p:cNvPr id="66" name="edge-66"/>
            <p:cNvCxnSpPr/>
            <p:nvPr/>
          </p:nvCxnSpPr>
          <p:spPr>
            <a:xfrm flipV="1">
              <a:off x="6867144" y="3092958"/>
              <a:ext cx="804672" cy="765810"/>
            </a:xfrm>
            <a:prstGeom prst="line">
              <a:avLst/>
            </a:prstGeom>
            <a:ln w="6350">
              <a:solidFill>
                <a:schemeClr val="tx2">
                  <a:alpha val="30000"/>
                </a:schemeClr>
              </a:solidFill>
            </a:ln>
          </p:spPr>
        </p:cxnSp>
        <p:cxnSp>
          <p:nvCxnSpPr>
            <p:cNvPr id="67" name="edge-67"/>
            <p:cNvCxnSpPr/>
            <p:nvPr/>
          </p:nvCxnSpPr>
          <p:spPr>
            <a:xfrm flipV="1">
              <a:off x="6867144" y="3234690"/>
              <a:ext cx="804672" cy="624078"/>
            </a:xfrm>
            <a:prstGeom prst="line">
              <a:avLst/>
            </a:prstGeom>
            <a:ln w="6350">
              <a:solidFill>
                <a:schemeClr val="tx2">
                  <a:alpha val="30000"/>
                </a:schemeClr>
              </a:solidFill>
            </a:ln>
          </p:spPr>
        </p:cxnSp>
        <p:cxnSp>
          <p:nvCxnSpPr>
            <p:cNvPr id="68" name="edge-68"/>
            <p:cNvCxnSpPr/>
            <p:nvPr/>
          </p:nvCxnSpPr>
          <p:spPr>
            <a:xfrm flipV="1">
              <a:off x="6867144" y="3376422"/>
              <a:ext cx="804672" cy="482346"/>
            </a:xfrm>
            <a:prstGeom prst="line">
              <a:avLst/>
            </a:prstGeom>
            <a:ln w="6350">
              <a:solidFill>
                <a:schemeClr val="tx2">
                  <a:alpha val="30000"/>
                </a:schemeClr>
              </a:solidFill>
            </a:ln>
          </p:spPr>
        </p:cxnSp>
        <p:cxnSp>
          <p:nvCxnSpPr>
            <p:cNvPr id="69" name="edge-69"/>
            <p:cNvCxnSpPr/>
            <p:nvPr/>
          </p:nvCxnSpPr>
          <p:spPr>
            <a:xfrm flipV="1">
              <a:off x="6867144" y="3518154"/>
              <a:ext cx="804672" cy="340614"/>
            </a:xfrm>
            <a:prstGeom prst="line">
              <a:avLst/>
            </a:prstGeom>
            <a:ln w="6350">
              <a:solidFill>
                <a:schemeClr val="tx2">
                  <a:alpha val="30000"/>
                </a:schemeClr>
              </a:solidFill>
            </a:ln>
          </p:spPr>
        </p:cxnSp>
        <p:cxnSp>
          <p:nvCxnSpPr>
            <p:cNvPr id="70" name="edge-70"/>
            <p:cNvCxnSpPr/>
            <p:nvPr/>
          </p:nvCxnSpPr>
          <p:spPr>
            <a:xfrm flipV="1">
              <a:off x="6867144" y="3659886"/>
              <a:ext cx="804672" cy="198882"/>
            </a:xfrm>
            <a:prstGeom prst="line">
              <a:avLst/>
            </a:prstGeom>
            <a:ln w="6350">
              <a:solidFill>
                <a:schemeClr val="tx2">
                  <a:alpha val="30000"/>
                </a:schemeClr>
              </a:solidFill>
            </a:ln>
          </p:spPr>
        </p:cxnSp>
        <p:cxnSp>
          <p:nvCxnSpPr>
            <p:cNvPr id="71" name="edge-71"/>
            <p:cNvCxnSpPr/>
            <p:nvPr/>
          </p:nvCxnSpPr>
          <p:spPr>
            <a:xfrm flipV="1">
              <a:off x="6867144" y="3801618"/>
              <a:ext cx="804672" cy="57150"/>
            </a:xfrm>
            <a:prstGeom prst="line">
              <a:avLst/>
            </a:prstGeom>
            <a:ln w="6350">
              <a:solidFill>
                <a:schemeClr val="tx2">
                  <a:alpha val="30000"/>
                </a:schemeClr>
              </a:solidFill>
            </a:ln>
          </p:spPr>
        </p:cxnSp>
        <p:cxnSp>
          <p:nvCxnSpPr>
            <p:cNvPr id="72" name="edge-72"/>
            <p:cNvCxnSpPr/>
            <p:nvPr/>
          </p:nvCxnSpPr>
          <p:spPr>
            <a:xfrm>
              <a:off x="6867144" y="3858768"/>
              <a:ext cx="804672" cy="84582"/>
            </a:xfrm>
            <a:prstGeom prst="line">
              <a:avLst/>
            </a:prstGeom>
            <a:ln w="6350">
              <a:solidFill>
                <a:schemeClr val="tx2">
                  <a:alpha val="30000"/>
                </a:schemeClr>
              </a:solidFill>
            </a:ln>
          </p:spPr>
        </p:cxnSp>
        <p:cxnSp>
          <p:nvCxnSpPr>
            <p:cNvPr id="73" name="edge-73"/>
            <p:cNvCxnSpPr/>
            <p:nvPr/>
          </p:nvCxnSpPr>
          <p:spPr>
            <a:xfrm>
              <a:off x="7781544" y="2951226"/>
              <a:ext cx="804672" cy="496062"/>
            </a:xfrm>
            <a:prstGeom prst="line">
              <a:avLst/>
            </a:prstGeom>
            <a:ln w="6350">
              <a:solidFill>
                <a:schemeClr val="tx2">
                  <a:alpha val="30000"/>
                </a:schemeClr>
              </a:solidFill>
            </a:ln>
          </p:spPr>
        </p:cxnSp>
        <p:cxnSp>
          <p:nvCxnSpPr>
            <p:cNvPr id="74" name="edge-74"/>
            <p:cNvCxnSpPr/>
            <p:nvPr/>
          </p:nvCxnSpPr>
          <p:spPr>
            <a:xfrm>
              <a:off x="7781544" y="3092958"/>
              <a:ext cx="804672" cy="354330"/>
            </a:xfrm>
            <a:prstGeom prst="line">
              <a:avLst/>
            </a:prstGeom>
            <a:ln w="6350">
              <a:solidFill>
                <a:schemeClr val="tx2">
                  <a:alpha val="30000"/>
                </a:schemeClr>
              </a:solidFill>
            </a:ln>
          </p:spPr>
        </p:cxnSp>
        <p:cxnSp>
          <p:nvCxnSpPr>
            <p:cNvPr id="75" name="edge-75"/>
            <p:cNvCxnSpPr/>
            <p:nvPr/>
          </p:nvCxnSpPr>
          <p:spPr>
            <a:xfrm>
              <a:off x="7781544" y="3234690"/>
              <a:ext cx="804672" cy="212598"/>
            </a:xfrm>
            <a:prstGeom prst="line">
              <a:avLst/>
            </a:prstGeom>
            <a:ln w="6350">
              <a:solidFill>
                <a:schemeClr val="tx2">
                  <a:alpha val="30000"/>
                </a:schemeClr>
              </a:solidFill>
            </a:ln>
          </p:spPr>
        </p:cxnSp>
        <p:cxnSp>
          <p:nvCxnSpPr>
            <p:cNvPr id="76" name="edge-76"/>
            <p:cNvCxnSpPr/>
            <p:nvPr/>
          </p:nvCxnSpPr>
          <p:spPr>
            <a:xfrm>
              <a:off x="7781544" y="3376422"/>
              <a:ext cx="804672" cy="70866"/>
            </a:xfrm>
            <a:prstGeom prst="line">
              <a:avLst/>
            </a:prstGeom>
            <a:ln w="6350">
              <a:solidFill>
                <a:schemeClr val="tx2">
                  <a:alpha val="30000"/>
                </a:schemeClr>
              </a:solidFill>
            </a:ln>
          </p:spPr>
        </p:cxnSp>
        <p:cxnSp>
          <p:nvCxnSpPr>
            <p:cNvPr id="77" name="edge-77"/>
            <p:cNvCxnSpPr/>
            <p:nvPr/>
          </p:nvCxnSpPr>
          <p:spPr>
            <a:xfrm flipV="1">
              <a:off x="7781544" y="3447288"/>
              <a:ext cx="804672" cy="70866"/>
            </a:xfrm>
            <a:prstGeom prst="line">
              <a:avLst/>
            </a:prstGeom>
            <a:ln w="6350">
              <a:solidFill>
                <a:schemeClr val="tx2">
                  <a:alpha val="30000"/>
                </a:schemeClr>
              </a:solidFill>
            </a:ln>
          </p:spPr>
        </p:cxnSp>
        <p:cxnSp>
          <p:nvCxnSpPr>
            <p:cNvPr id="78" name="edge-78"/>
            <p:cNvCxnSpPr/>
            <p:nvPr/>
          </p:nvCxnSpPr>
          <p:spPr>
            <a:xfrm flipV="1">
              <a:off x="7781544" y="3447288"/>
              <a:ext cx="804672" cy="212598"/>
            </a:xfrm>
            <a:prstGeom prst="line">
              <a:avLst/>
            </a:prstGeom>
            <a:ln w="6350">
              <a:solidFill>
                <a:schemeClr val="tx2">
                  <a:alpha val="30000"/>
                </a:schemeClr>
              </a:solidFill>
            </a:ln>
          </p:spPr>
        </p:cxnSp>
        <p:cxnSp>
          <p:nvCxnSpPr>
            <p:cNvPr id="79" name="edge-79"/>
            <p:cNvCxnSpPr/>
            <p:nvPr/>
          </p:nvCxnSpPr>
          <p:spPr>
            <a:xfrm flipV="1">
              <a:off x="7781544" y="3447288"/>
              <a:ext cx="804672" cy="354330"/>
            </a:xfrm>
            <a:prstGeom prst="line">
              <a:avLst/>
            </a:prstGeom>
            <a:ln w="6350">
              <a:solidFill>
                <a:schemeClr val="tx2">
                  <a:alpha val="30000"/>
                </a:schemeClr>
              </a:solidFill>
            </a:ln>
          </p:spPr>
        </p:cxnSp>
        <p:cxnSp>
          <p:nvCxnSpPr>
            <p:cNvPr id="80" name="edge-80"/>
            <p:cNvCxnSpPr/>
            <p:nvPr/>
          </p:nvCxnSpPr>
          <p:spPr>
            <a:xfrm flipV="1">
              <a:off x="7781544" y="3447288"/>
              <a:ext cx="804672" cy="496062"/>
            </a:xfrm>
            <a:prstGeom prst="line">
              <a:avLst/>
            </a:prstGeom>
            <a:ln w="6350">
              <a:solidFill>
                <a:schemeClr val="tx2">
                  <a:alpha val="30000"/>
                </a:schemeClr>
              </a:solidFill>
            </a:ln>
          </p:spPr>
        </p:cxnSp>
        <p:sp>
          <p:nvSpPr>
            <p:cNvPr id="81" name="node-81"/>
            <p:cNvSpPr/>
            <p:nvPr/>
          </p:nvSpPr>
          <p:spPr>
            <a:xfrm>
              <a:off x="6757416" y="2980944"/>
              <a:ext cx="109728" cy="109728"/>
            </a:xfrm>
            <a:prstGeom prst="ellipse">
              <a:avLst/>
            </a:prstGeom>
            <a:solidFill>
              <a:schemeClr val="tx2"/>
            </a:solidFill>
            <a:ln/>
          </p:spPr>
          <p:txBody>
            <a:bodyPr/>
            <a:lstStyle/>
            <a:p>
              <a:endParaRPr lang="en-US"/>
            </a:p>
          </p:txBody>
        </p:sp>
        <p:sp>
          <p:nvSpPr>
            <p:cNvPr id="82" name="node-82"/>
            <p:cNvSpPr/>
            <p:nvPr/>
          </p:nvSpPr>
          <p:spPr>
            <a:xfrm>
              <a:off x="6757416" y="3255264"/>
              <a:ext cx="109728" cy="109728"/>
            </a:xfrm>
            <a:prstGeom prst="ellipse">
              <a:avLst/>
            </a:prstGeom>
            <a:solidFill>
              <a:schemeClr val="tx2"/>
            </a:solidFill>
            <a:ln/>
          </p:spPr>
          <p:txBody>
            <a:bodyPr/>
            <a:lstStyle/>
            <a:p>
              <a:endParaRPr lang="en-US"/>
            </a:p>
          </p:txBody>
        </p:sp>
        <p:sp>
          <p:nvSpPr>
            <p:cNvPr id="83" name="node-83"/>
            <p:cNvSpPr/>
            <p:nvPr/>
          </p:nvSpPr>
          <p:spPr>
            <a:xfrm>
              <a:off x="6757416" y="3529584"/>
              <a:ext cx="109728" cy="109728"/>
            </a:xfrm>
            <a:prstGeom prst="ellipse">
              <a:avLst/>
            </a:prstGeom>
            <a:solidFill>
              <a:schemeClr val="tx2"/>
            </a:solidFill>
            <a:ln/>
          </p:spPr>
          <p:txBody>
            <a:bodyPr/>
            <a:lstStyle/>
            <a:p>
              <a:endParaRPr lang="en-US"/>
            </a:p>
          </p:txBody>
        </p:sp>
        <p:sp>
          <p:nvSpPr>
            <p:cNvPr id="84" name="node-84"/>
            <p:cNvSpPr/>
            <p:nvPr/>
          </p:nvSpPr>
          <p:spPr>
            <a:xfrm>
              <a:off x="6757416" y="3803904"/>
              <a:ext cx="109728" cy="109728"/>
            </a:xfrm>
            <a:prstGeom prst="ellipse">
              <a:avLst/>
            </a:prstGeom>
            <a:solidFill>
              <a:schemeClr val="tx2"/>
            </a:solidFill>
            <a:ln/>
          </p:spPr>
          <p:txBody>
            <a:bodyPr/>
            <a:lstStyle/>
            <a:p>
              <a:endParaRPr lang="en-US"/>
            </a:p>
          </p:txBody>
        </p:sp>
        <p:sp>
          <p:nvSpPr>
            <p:cNvPr id="85" name="layer-label-85"/>
            <p:cNvSpPr txBox="1"/>
            <p:nvPr/>
          </p:nvSpPr>
          <p:spPr>
            <a:xfrm>
              <a:off x="6373368" y="4069080"/>
              <a:ext cx="877824"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4 inputs</a:t>
              </a:r>
            </a:p>
          </p:txBody>
        </p:sp>
        <p:sp>
          <p:nvSpPr>
            <p:cNvPr id="86" name="node-86"/>
            <p:cNvSpPr/>
            <p:nvPr/>
          </p:nvSpPr>
          <p:spPr>
            <a:xfrm>
              <a:off x="7671816" y="2896362"/>
              <a:ext cx="109728" cy="109728"/>
            </a:xfrm>
            <a:prstGeom prst="ellipse">
              <a:avLst/>
            </a:prstGeom>
            <a:solidFill>
              <a:schemeClr val="tx1"/>
            </a:solidFill>
            <a:ln/>
          </p:spPr>
          <p:txBody>
            <a:bodyPr/>
            <a:lstStyle/>
            <a:p>
              <a:endParaRPr lang="en-US"/>
            </a:p>
          </p:txBody>
        </p:sp>
        <p:sp>
          <p:nvSpPr>
            <p:cNvPr id="87" name="node-87"/>
            <p:cNvSpPr/>
            <p:nvPr/>
          </p:nvSpPr>
          <p:spPr>
            <a:xfrm>
              <a:off x="7671816" y="3038094"/>
              <a:ext cx="109728" cy="109728"/>
            </a:xfrm>
            <a:prstGeom prst="ellipse">
              <a:avLst/>
            </a:prstGeom>
            <a:solidFill>
              <a:schemeClr val="tx1"/>
            </a:solidFill>
            <a:ln/>
          </p:spPr>
          <p:txBody>
            <a:bodyPr/>
            <a:lstStyle/>
            <a:p>
              <a:endParaRPr lang="en-US"/>
            </a:p>
          </p:txBody>
        </p:sp>
        <p:sp>
          <p:nvSpPr>
            <p:cNvPr id="88" name="node-88"/>
            <p:cNvSpPr/>
            <p:nvPr/>
          </p:nvSpPr>
          <p:spPr>
            <a:xfrm>
              <a:off x="7671816" y="3179826"/>
              <a:ext cx="109728" cy="109728"/>
            </a:xfrm>
            <a:prstGeom prst="ellipse">
              <a:avLst/>
            </a:prstGeom>
            <a:solidFill>
              <a:schemeClr val="tx1"/>
            </a:solidFill>
            <a:ln/>
          </p:spPr>
          <p:txBody>
            <a:bodyPr/>
            <a:lstStyle/>
            <a:p>
              <a:endParaRPr lang="en-US"/>
            </a:p>
          </p:txBody>
        </p:sp>
        <p:sp>
          <p:nvSpPr>
            <p:cNvPr id="89" name="node-89"/>
            <p:cNvSpPr/>
            <p:nvPr/>
          </p:nvSpPr>
          <p:spPr>
            <a:xfrm>
              <a:off x="7671816" y="3321558"/>
              <a:ext cx="109728" cy="109728"/>
            </a:xfrm>
            <a:prstGeom prst="ellipse">
              <a:avLst/>
            </a:prstGeom>
            <a:solidFill>
              <a:schemeClr val="tx1"/>
            </a:solidFill>
            <a:ln/>
          </p:spPr>
          <p:txBody>
            <a:bodyPr/>
            <a:lstStyle/>
            <a:p>
              <a:endParaRPr lang="en-US"/>
            </a:p>
          </p:txBody>
        </p:sp>
        <p:sp>
          <p:nvSpPr>
            <p:cNvPr id="90" name="node-90"/>
            <p:cNvSpPr/>
            <p:nvPr/>
          </p:nvSpPr>
          <p:spPr>
            <a:xfrm>
              <a:off x="7671816" y="3463290"/>
              <a:ext cx="109728" cy="109728"/>
            </a:xfrm>
            <a:prstGeom prst="ellipse">
              <a:avLst/>
            </a:prstGeom>
            <a:solidFill>
              <a:schemeClr val="tx1"/>
            </a:solidFill>
            <a:ln/>
          </p:spPr>
          <p:txBody>
            <a:bodyPr/>
            <a:lstStyle/>
            <a:p>
              <a:endParaRPr lang="en-US"/>
            </a:p>
          </p:txBody>
        </p:sp>
        <p:sp>
          <p:nvSpPr>
            <p:cNvPr id="91" name="node-91"/>
            <p:cNvSpPr/>
            <p:nvPr/>
          </p:nvSpPr>
          <p:spPr>
            <a:xfrm>
              <a:off x="7671816" y="3605022"/>
              <a:ext cx="109728" cy="109728"/>
            </a:xfrm>
            <a:prstGeom prst="ellipse">
              <a:avLst/>
            </a:prstGeom>
            <a:solidFill>
              <a:schemeClr val="tx1"/>
            </a:solidFill>
            <a:ln/>
          </p:spPr>
          <p:txBody>
            <a:bodyPr/>
            <a:lstStyle/>
            <a:p>
              <a:endParaRPr lang="en-US"/>
            </a:p>
          </p:txBody>
        </p:sp>
        <p:sp>
          <p:nvSpPr>
            <p:cNvPr id="92" name="node-92"/>
            <p:cNvSpPr/>
            <p:nvPr/>
          </p:nvSpPr>
          <p:spPr>
            <a:xfrm>
              <a:off x="7671816" y="3746754"/>
              <a:ext cx="109728" cy="109728"/>
            </a:xfrm>
            <a:prstGeom prst="ellipse">
              <a:avLst/>
            </a:prstGeom>
            <a:solidFill>
              <a:schemeClr val="tx1"/>
            </a:solidFill>
            <a:ln/>
          </p:spPr>
          <p:txBody>
            <a:bodyPr/>
            <a:lstStyle/>
            <a:p>
              <a:endParaRPr lang="en-US"/>
            </a:p>
          </p:txBody>
        </p:sp>
        <p:sp>
          <p:nvSpPr>
            <p:cNvPr id="93" name="node-93"/>
            <p:cNvSpPr/>
            <p:nvPr/>
          </p:nvSpPr>
          <p:spPr>
            <a:xfrm>
              <a:off x="7671816" y="3888486"/>
              <a:ext cx="109728" cy="109728"/>
            </a:xfrm>
            <a:prstGeom prst="ellipse">
              <a:avLst/>
            </a:prstGeom>
            <a:solidFill>
              <a:schemeClr val="tx1"/>
            </a:solidFill>
            <a:ln/>
          </p:spPr>
          <p:txBody>
            <a:bodyPr/>
            <a:lstStyle/>
            <a:p>
              <a:endParaRPr lang="en-US"/>
            </a:p>
          </p:txBody>
        </p:sp>
        <p:sp>
          <p:nvSpPr>
            <p:cNvPr id="94" name="layer-label-94"/>
            <p:cNvSpPr txBox="1"/>
            <p:nvPr/>
          </p:nvSpPr>
          <p:spPr>
            <a:xfrm>
              <a:off x="7287768" y="4069080"/>
              <a:ext cx="877824"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8 hidden</a:t>
              </a:r>
            </a:p>
          </p:txBody>
        </p:sp>
        <p:sp>
          <p:nvSpPr>
            <p:cNvPr id="95" name="node-95"/>
            <p:cNvSpPr/>
            <p:nvPr/>
          </p:nvSpPr>
          <p:spPr>
            <a:xfrm>
              <a:off x="8586216" y="3392424"/>
              <a:ext cx="109728" cy="109728"/>
            </a:xfrm>
            <a:prstGeom prst="ellipse">
              <a:avLst/>
            </a:prstGeom>
            <a:solidFill>
              <a:schemeClr val="accent1"/>
            </a:solidFill>
            <a:ln/>
          </p:spPr>
          <p:txBody>
            <a:bodyPr/>
            <a:lstStyle/>
            <a:p>
              <a:endParaRPr lang="en-US"/>
            </a:p>
          </p:txBody>
        </p:sp>
        <p:sp>
          <p:nvSpPr>
            <p:cNvPr id="96" name="layer-label-96"/>
            <p:cNvSpPr txBox="1"/>
            <p:nvPr/>
          </p:nvSpPr>
          <p:spPr>
            <a:xfrm>
              <a:off x="8202168" y="4069080"/>
              <a:ext cx="877824"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1 output</a:t>
              </a:r>
            </a:p>
          </p:txBody>
        </p:sp>
        <p:sp>
          <p:nvSpPr>
            <p:cNvPr id="97" name="param-math-97"/>
            <p:cNvSpPr txBox="1"/>
            <p:nvPr/>
          </p:nvSpPr>
          <p:spPr>
            <a:xfrm>
              <a:off x="9235440" y="2880360"/>
              <a:ext cx="2404872" cy="1389888"/>
            </a:xfrm>
            <a:prstGeom prst="rect">
              <a:avLst/>
            </a:prstGeom>
            <a:noFill/>
            <a:ln/>
          </p:spPr>
          <p:txBody>
            <a:bodyPr wrap="square" lIns="0" tIns="0" rIns="0" bIns="0" rtlCol="0" anchor="ctr"/>
            <a:lstStyle/>
            <a:p>
              <a:pPr marL="0" indent="0" algn="l">
                <a:spcBef>
                  <a:spcPts val="0"/>
                </a:spcBef>
                <a:buNone/>
              </a:pPr>
              <a:r>
                <a:rPr lang="en-US" sz="1050" dirty="0">
                  <a:solidFill>
                    <a:schemeClr val="tx2"/>
                  </a:solidFill>
                </a:rPr>
                <a:t>weights + biases</a:t>
              </a:r>
            </a:p>
            <a:p>
              <a:pPr marL="0" indent="0" algn="l">
                <a:spcBef>
                  <a:spcPts val="400"/>
                </a:spcBef>
                <a:buNone/>
              </a:pPr>
              <a:r>
                <a:rPr lang="en-US" sz="1200" dirty="0">
                  <a:solidFill>
                    <a:schemeClr val="tx1"/>
                  </a:solidFill>
                </a:rPr>
                <a:t>in → hidden: 4×8 + 8 = 40</a:t>
              </a:r>
            </a:p>
            <a:p>
              <a:pPr marL="0" indent="0" algn="l">
                <a:spcBef>
                  <a:spcPts val="300"/>
                </a:spcBef>
                <a:buNone/>
              </a:pPr>
              <a:r>
                <a:rPr lang="en-US" sz="1200" dirty="0">
                  <a:solidFill>
                    <a:schemeClr val="tx1"/>
                  </a:solidFill>
                </a:rPr>
                <a:t>hidden → out: 8×1 + 1 = 9</a:t>
              </a:r>
            </a:p>
            <a:p>
              <a:pPr marL="0" indent="0" algn="l">
                <a:spcBef>
                  <a:spcPts val="500"/>
                </a:spcBef>
                <a:buNone/>
              </a:pPr>
              <a:r>
                <a:rPr lang="en-US" sz="1300" b="1" dirty="0">
                  <a:solidFill>
                    <a:schemeClr val="accent1"/>
                  </a:solidFill>
                </a:rPr>
                <a:t>total = 49</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2. Local, closed-loop</a:t>
            </a:r>
            <a:endParaRPr lang="en-US" sz="3200" dirty="0"/>
          </a:p>
        </p:txBody>
      </p:sp>
      <p:sp>
        <p:nvSpPr>
          <p:cNvPr id="3" name="voxel-368"/>
          <p:cNvSpPr/>
          <p:nvPr/>
        </p:nvSpPr>
        <p:spPr>
          <a:xfrm>
            <a:off x="571317" y="1622877"/>
            <a:ext cx="521574" cy="521574"/>
          </a:xfrm>
          <a:prstGeom prst="rect">
            <a:avLst/>
          </a:prstGeom>
          <a:solidFill>
            <a:schemeClr val="accent1">
              <a:alpha val="25000"/>
            </a:schemeClr>
          </a:solidFill>
          <a:ln/>
        </p:spPr>
        <p:txBody>
          <a:bodyPr/>
          <a:lstStyle/>
          <a:p>
            <a:endParaRPr lang="en-US"/>
          </a:p>
        </p:txBody>
      </p:sp>
      <p:sp>
        <p:nvSpPr>
          <p:cNvPr id="4" name="voxel-369"/>
          <p:cNvSpPr/>
          <p:nvPr/>
        </p:nvSpPr>
        <p:spPr>
          <a:xfrm>
            <a:off x="1138245" y="1622877"/>
            <a:ext cx="521574" cy="521574"/>
          </a:xfrm>
          <a:prstGeom prst="rect">
            <a:avLst/>
          </a:prstGeom>
          <a:solidFill>
            <a:schemeClr val="accent1"/>
          </a:solidFill>
          <a:ln/>
        </p:spPr>
        <p:txBody>
          <a:bodyPr/>
          <a:lstStyle/>
          <a:p>
            <a:endParaRPr lang="en-US"/>
          </a:p>
        </p:txBody>
      </p:sp>
      <p:sp>
        <p:nvSpPr>
          <p:cNvPr id="5" name="voxel-370"/>
          <p:cNvSpPr/>
          <p:nvPr/>
        </p:nvSpPr>
        <p:spPr>
          <a:xfrm>
            <a:off x="1705173" y="1622877"/>
            <a:ext cx="521574" cy="521574"/>
          </a:xfrm>
          <a:prstGeom prst="rect">
            <a:avLst/>
          </a:prstGeom>
          <a:solidFill>
            <a:schemeClr val="accent1">
              <a:alpha val="25000"/>
            </a:schemeClr>
          </a:solidFill>
          <a:ln/>
        </p:spPr>
        <p:txBody>
          <a:bodyPr/>
          <a:lstStyle/>
          <a:p>
            <a:endParaRPr lang="en-US"/>
          </a:p>
        </p:txBody>
      </p:sp>
      <p:sp>
        <p:nvSpPr>
          <p:cNvPr id="6" name="voxel-371"/>
          <p:cNvSpPr/>
          <p:nvPr/>
        </p:nvSpPr>
        <p:spPr>
          <a:xfrm>
            <a:off x="2272101" y="1622877"/>
            <a:ext cx="521574" cy="521574"/>
          </a:xfrm>
          <a:prstGeom prst="rect">
            <a:avLst/>
          </a:prstGeom>
          <a:solidFill>
            <a:schemeClr val="accent1">
              <a:alpha val="25000"/>
            </a:schemeClr>
          </a:solidFill>
          <a:ln/>
        </p:spPr>
        <p:txBody>
          <a:bodyPr/>
          <a:lstStyle/>
          <a:p>
            <a:endParaRPr lang="en-US"/>
          </a:p>
        </p:txBody>
      </p:sp>
      <p:sp>
        <p:nvSpPr>
          <p:cNvPr id="7" name="voxel-372"/>
          <p:cNvSpPr/>
          <p:nvPr/>
        </p:nvSpPr>
        <p:spPr>
          <a:xfrm>
            <a:off x="2839029" y="1622877"/>
            <a:ext cx="521574" cy="521574"/>
          </a:xfrm>
          <a:prstGeom prst="rect">
            <a:avLst/>
          </a:prstGeom>
          <a:solidFill>
            <a:schemeClr val="accent1">
              <a:alpha val="25000"/>
            </a:schemeClr>
          </a:solidFill>
          <a:ln/>
        </p:spPr>
        <p:txBody>
          <a:bodyPr/>
          <a:lstStyle/>
          <a:p>
            <a:endParaRPr lang="en-US"/>
          </a:p>
        </p:txBody>
      </p:sp>
      <p:sp>
        <p:nvSpPr>
          <p:cNvPr id="8" name="voxel-373"/>
          <p:cNvSpPr/>
          <p:nvPr/>
        </p:nvSpPr>
        <p:spPr>
          <a:xfrm>
            <a:off x="571317" y="2189805"/>
            <a:ext cx="521574" cy="521574"/>
          </a:xfrm>
          <a:prstGeom prst="rect">
            <a:avLst/>
          </a:prstGeom>
          <a:solidFill>
            <a:schemeClr val="accent1"/>
          </a:solidFill>
          <a:ln/>
        </p:spPr>
        <p:txBody>
          <a:bodyPr/>
          <a:lstStyle/>
          <a:p>
            <a:endParaRPr lang="en-US"/>
          </a:p>
        </p:txBody>
      </p:sp>
      <p:sp>
        <p:nvSpPr>
          <p:cNvPr id="9" name="voxel-374"/>
          <p:cNvSpPr/>
          <p:nvPr/>
        </p:nvSpPr>
        <p:spPr>
          <a:xfrm>
            <a:off x="1138245" y="2189805"/>
            <a:ext cx="521574" cy="521574"/>
          </a:xfrm>
          <a:prstGeom prst="rect">
            <a:avLst/>
          </a:prstGeom>
          <a:solidFill>
            <a:schemeClr val="accent1"/>
          </a:solidFill>
          <a:ln/>
        </p:spPr>
        <p:txBody>
          <a:bodyPr/>
          <a:lstStyle/>
          <a:p>
            <a:endParaRPr lang="en-US"/>
          </a:p>
        </p:txBody>
      </p:sp>
      <p:sp>
        <p:nvSpPr>
          <p:cNvPr id="10" name="voxel-375"/>
          <p:cNvSpPr/>
          <p:nvPr/>
        </p:nvSpPr>
        <p:spPr>
          <a:xfrm>
            <a:off x="1705173" y="2189805"/>
            <a:ext cx="521574" cy="521574"/>
          </a:xfrm>
          <a:prstGeom prst="rect">
            <a:avLst/>
          </a:prstGeom>
          <a:solidFill>
            <a:schemeClr val="accent1"/>
          </a:solidFill>
          <a:ln/>
        </p:spPr>
        <p:txBody>
          <a:bodyPr/>
          <a:lstStyle/>
          <a:p>
            <a:endParaRPr lang="en-US"/>
          </a:p>
        </p:txBody>
      </p:sp>
      <p:sp>
        <p:nvSpPr>
          <p:cNvPr id="11" name="voxel-376"/>
          <p:cNvSpPr/>
          <p:nvPr/>
        </p:nvSpPr>
        <p:spPr>
          <a:xfrm>
            <a:off x="2272101" y="2189805"/>
            <a:ext cx="521574" cy="521574"/>
          </a:xfrm>
          <a:prstGeom prst="rect">
            <a:avLst/>
          </a:prstGeom>
          <a:solidFill>
            <a:schemeClr val="accent1">
              <a:alpha val="25000"/>
            </a:schemeClr>
          </a:solidFill>
          <a:ln/>
        </p:spPr>
        <p:txBody>
          <a:bodyPr/>
          <a:lstStyle/>
          <a:p>
            <a:endParaRPr lang="en-US"/>
          </a:p>
        </p:txBody>
      </p:sp>
      <p:sp>
        <p:nvSpPr>
          <p:cNvPr id="12" name="voxel-377"/>
          <p:cNvSpPr/>
          <p:nvPr/>
        </p:nvSpPr>
        <p:spPr>
          <a:xfrm>
            <a:off x="2839029" y="2189805"/>
            <a:ext cx="521574" cy="521574"/>
          </a:xfrm>
          <a:prstGeom prst="rect">
            <a:avLst/>
          </a:prstGeom>
          <a:solidFill>
            <a:schemeClr val="accent1">
              <a:alpha val="25000"/>
            </a:schemeClr>
          </a:solidFill>
          <a:ln/>
        </p:spPr>
        <p:txBody>
          <a:bodyPr/>
          <a:lstStyle/>
          <a:p>
            <a:endParaRPr lang="en-US"/>
          </a:p>
        </p:txBody>
      </p:sp>
      <p:sp>
        <p:nvSpPr>
          <p:cNvPr id="13" name="voxel-378"/>
          <p:cNvSpPr/>
          <p:nvPr/>
        </p:nvSpPr>
        <p:spPr>
          <a:xfrm>
            <a:off x="571317" y="2756733"/>
            <a:ext cx="521574" cy="521574"/>
          </a:xfrm>
          <a:prstGeom prst="rect">
            <a:avLst/>
          </a:prstGeom>
          <a:solidFill>
            <a:schemeClr val="accent1">
              <a:alpha val="25000"/>
            </a:schemeClr>
          </a:solidFill>
          <a:ln/>
        </p:spPr>
        <p:txBody>
          <a:bodyPr/>
          <a:lstStyle/>
          <a:p>
            <a:endParaRPr lang="en-US"/>
          </a:p>
        </p:txBody>
      </p:sp>
      <p:sp>
        <p:nvSpPr>
          <p:cNvPr id="14" name="voxel-379"/>
          <p:cNvSpPr/>
          <p:nvPr/>
        </p:nvSpPr>
        <p:spPr>
          <a:xfrm>
            <a:off x="1138245" y="2756733"/>
            <a:ext cx="521574" cy="521574"/>
          </a:xfrm>
          <a:prstGeom prst="rect">
            <a:avLst/>
          </a:prstGeom>
          <a:solidFill>
            <a:schemeClr val="accent1"/>
          </a:solidFill>
          <a:ln/>
        </p:spPr>
        <p:txBody>
          <a:bodyPr/>
          <a:lstStyle/>
          <a:p>
            <a:endParaRPr lang="en-US"/>
          </a:p>
        </p:txBody>
      </p:sp>
      <p:sp>
        <p:nvSpPr>
          <p:cNvPr id="15" name="voxel-380"/>
          <p:cNvSpPr/>
          <p:nvPr/>
        </p:nvSpPr>
        <p:spPr>
          <a:xfrm>
            <a:off x="2272101" y="2756733"/>
            <a:ext cx="521574" cy="521574"/>
          </a:xfrm>
          <a:prstGeom prst="rect">
            <a:avLst/>
          </a:prstGeom>
          <a:solidFill>
            <a:schemeClr val="accent1">
              <a:alpha val="25000"/>
            </a:schemeClr>
          </a:solidFill>
          <a:ln/>
        </p:spPr>
        <p:txBody>
          <a:bodyPr/>
          <a:lstStyle/>
          <a:p>
            <a:endParaRPr lang="en-US"/>
          </a:p>
        </p:txBody>
      </p:sp>
      <p:sp>
        <p:nvSpPr>
          <p:cNvPr id="16" name="voxel-381"/>
          <p:cNvSpPr/>
          <p:nvPr/>
        </p:nvSpPr>
        <p:spPr>
          <a:xfrm>
            <a:off x="2839029" y="2756733"/>
            <a:ext cx="521574" cy="521574"/>
          </a:xfrm>
          <a:prstGeom prst="rect">
            <a:avLst/>
          </a:prstGeom>
          <a:solidFill>
            <a:schemeClr val="accent1">
              <a:alpha val="25000"/>
            </a:schemeClr>
          </a:solidFill>
          <a:ln/>
        </p:spPr>
        <p:txBody>
          <a:bodyPr/>
          <a:lstStyle/>
          <a:p>
            <a:endParaRPr lang="en-US"/>
          </a:p>
        </p:txBody>
      </p:sp>
      <p:sp>
        <p:nvSpPr>
          <p:cNvPr id="17" name="voxel-382"/>
          <p:cNvSpPr/>
          <p:nvPr/>
        </p:nvSpPr>
        <p:spPr>
          <a:xfrm>
            <a:off x="571317" y="3323661"/>
            <a:ext cx="521574" cy="521574"/>
          </a:xfrm>
          <a:prstGeom prst="rect">
            <a:avLst/>
          </a:prstGeom>
          <a:solidFill>
            <a:schemeClr val="accent1">
              <a:alpha val="25000"/>
            </a:schemeClr>
          </a:solidFill>
          <a:ln/>
        </p:spPr>
        <p:txBody>
          <a:bodyPr/>
          <a:lstStyle/>
          <a:p>
            <a:endParaRPr lang="en-US"/>
          </a:p>
        </p:txBody>
      </p:sp>
      <p:sp>
        <p:nvSpPr>
          <p:cNvPr id="18" name="voxel-383"/>
          <p:cNvSpPr/>
          <p:nvPr/>
        </p:nvSpPr>
        <p:spPr>
          <a:xfrm>
            <a:off x="1138245" y="3323661"/>
            <a:ext cx="521574" cy="521574"/>
          </a:xfrm>
          <a:prstGeom prst="rect">
            <a:avLst/>
          </a:prstGeom>
          <a:solidFill>
            <a:schemeClr val="accent1">
              <a:alpha val="25000"/>
            </a:schemeClr>
          </a:solidFill>
          <a:ln/>
        </p:spPr>
        <p:txBody>
          <a:bodyPr/>
          <a:lstStyle/>
          <a:p>
            <a:endParaRPr lang="en-US"/>
          </a:p>
        </p:txBody>
      </p:sp>
      <p:sp>
        <p:nvSpPr>
          <p:cNvPr id="19" name="voxel-384"/>
          <p:cNvSpPr/>
          <p:nvPr/>
        </p:nvSpPr>
        <p:spPr>
          <a:xfrm>
            <a:off x="2272101" y="3323661"/>
            <a:ext cx="521574" cy="521574"/>
          </a:xfrm>
          <a:prstGeom prst="rect">
            <a:avLst/>
          </a:prstGeom>
          <a:solidFill>
            <a:schemeClr val="accent1">
              <a:alpha val="25000"/>
            </a:schemeClr>
          </a:solidFill>
          <a:ln/>
        </p:spPr>
        <p:txBody>
          <a:bodyPr/>
          <a:lstStyle/>
          <a:p>
            <a:endParaRPr lang="en-US"/>
          </a:p>
        </p:txBody>
      </p:sp>
      <p:sp>
        <p:nvSpPr>
          <p:cNvPr id="20" name="voxel-385"/>
          <p:cNvSpPr/>
          <p:nvPr/>
        </p:nvSpPr>
        <p:spPr>
          <a:xfrm>
            <a:off x="2839029" y="3323661"/>
            <a:ext cx="521574" cy="521574"/>
          </a:xfrm>
          <a:prstGeom prst="rect">
            <a:avLst/>
          </a:prstGeom>
          <a:solidFill>
            <a:schemeClr val="accent1">
              <a:alpha val="25000"/>
            </a:schemeClr>
          </a:solidFill>
          <a:ln/>
        </p:spPr>
        <p:txBody>
          <a:bodyPr/>
          <a:lstStyle/>
          <a:p>
            <a:endParaRPr lang="en-US"/>
          </a:p>
        </p:txBody>
      </p:sp>
      <p:sp>
        <p:nvSpPr>
          <p:cNvPr id="21" name="voxel-386"/>
          <p:cNvSpPr/>
          <p:nvPr/>
        </p:nvSpPr>
        <p:spPr>
          <a:xfrm>
            <a:off x="571317" y="3890589"/>
            <a:ext cx="521574" cy="521574"/>
          </a:xfrm>
          <a:prstGeom prst="rect">
            <a:avLst/>
          </a:prstGeom>
          <a:solidFill>
            <a:schemeClr val="accent1">
              <a:alpha val="25000"/>
            </a:schemeClr>
          </a:solidFill>
          <a:ln/>
        </p:spPr>
        <p:txBody>
          <a:bodyPr/>
          <a:lstStyle/>
          <a:p>
            <a:endParaRPr lang="en-US"/>
          </a:p>
        </p:txBody>
      </p:sp>
      <p:sp>
        <p:nvSpPr>
          <p:cNvPr id="22" name="voxel-387"/>
          <p:cNvSpPr/>
          <p:nvPr/>
        </p:nvSpPr>
        <p:spPr>
          <a:xfrm>
            <a:off x="1138245" y="3890589"/>
            <a:ext cx="521574" cy="521574"/>
          </a:xfrm>
          <a:prstGeom prst="rect">
            <a:avLst/>
          </a:prstGeom>
          <a:solidFill>
            <a:schemeClr val="accent1">
              <a:alpha val="25000"/>
            </a:schemeClr>
          </a:solidFill>
          <a:ln/>
        </p:spPr>
        <p:txBody>
          <a:bodyPr/>
          <a:lstStyle/>
          <a:p>
            <a:endParaRPr lang="en-US"/>
          </a:p>
        </p:txBody>
      </p:sp>
      <p:sp>
        <p:nvSpPr>
          <p:cNvPr id="23" name="voxel-388"/>
          <p:cNvSpPr/>
          <p:nvPr/>
        </p:nvSpPr>
        <p:spPr>
          <a:xfrm>
            <a:off x="2272101" y="3890589"/>
            <a:ext cx="521574" cy="521574"/>
          </a:xfrm>
          <a:prstGeom prst="rect">
            <a:avLst/>
          </a:prstGeom>
          <a:solidFill>
            <a:schemeClr val="accent1">
              <a:alpha val="25000"/>
            </a:schemeClr>
          </a:solidFill>
          <a:ln/>
        </p:spPr>
        <p:txBody>
          <a:bodyPr/>
          <a:lstStyle/>
          <a:p>
            <a:endParaRPr lang="en-US"/>
          </a:p>
        </p:txBody>
      </p:sp>
      <p:sp>
        <p:nvSpPr>
          <p:cNvPr id="24" name="voxel-389"/>
          <p:cNvSpPr/>
          <p:nvPr/>
        </p:nvSpPr>
        <p:spPr>
          <a:xfrm>
            <a:off x="2839029" y="3890589"/>
            <a:ext cx="521574" cy="521574"/>
          </a:xfrm>
          <a:prstGeom prst="rect">
            <a:avLst/>
          </a:prstGeom>
          <a:solidFill>
            <a:schemeClr val="accent1">
              <a:alpha val="25000"/>
            </a:schemeClr>
          </a:solidFill>
          <a:ln/>
        </p:spPr>
        <p:txBody>
          <a:bodyPr/>
          <a:lstStyle/>
          <a:p>
            <a:endParaRPr lang="en-US"/>
          </a:p>
        </p:txBody>
      </p:sp>
      <p:sp>
        <p:nvSpPr>
          <p:cNvPr id="25" name="outline-390"/>
          <p:cNvSpPr/>
          <p:nvPr/>
        </p:nvSpPr>
        <p:spPr>
          <a:xfrm>
            <a:off x="1078992" y="2130552"/>
            <a:ext cx="640080" cy="640080"/>
          </a:xfrm>
          <a:prstGeom prst="rect">
            <a:avLst/>
          </a:prstGeom>
          <a:ln w="38100">
            <a:solidFill>
              <a:schemeClr val="accent5"/>
            </a:solidFill>
            <a:prstDash val="solid"/>
          </a:ln>
        </p:spPr>
        <p:txBody>
          <a:bodyPr/>
          <a:lstStyle/>
          <a:p>
            <a:endParaRPr lang="en-US"/>
          </a:p>
        </p:txBody>
      </p:sp>
      <p:sp>
        <p:nvSpPr>
          <p:cNvPr id="26" name="outline-391"/>
          <p:cNvSpPr/>
          <p:nvPr/>
        </p:nvSpPr>
        <p:spPr>
          <a:xfrm>
            <a:off x="1115568" y="1600200"/>
            <a:ext cx="566928" cy="566928"/>
          </a:xfrm>
          <a:prstGeom prst="rect">
            <a:avLst/>
          </a:prstGeom>
          <a:ln w="19050">
            <a:solidFill>
              <a:schemeClr val="accent5"/>
            </a:solidFill>
            <a:prstDash val="dash"/>
          </a:ln>
        </p:spPr>
        <p:txBody>
          <a:bodyPr/>
          <a:lstStyle/>
          <a:p>
            <a:endParaRPr lang="en-US"/>
          </a:p>
        </p:txBody>
      </p:sp>
      <p:sp>
        <p:nvSpPr>
          <p:cNvPr id="27" name="outline-392"/>
          <p:cNvSpPr/>
          <p:nvPr/>
        </p:nvSpPr>
        <p:spPr>
          <a:xfrm>
            <a:off x="1115568" y="2734056"/>
            <a:ext cx="566928" cy="566928"/>
          </a:xfrm>
          <a:prstGeom prst="rect">
            <a:avLst/>
          </a:prstGeom>
          <a:ln w="19050">
            <a:solidFill>
              <a:schemeClr val="accent5"/>
            </a:solidFill>
            <a:prstDash val="dash"/>
          </a:ln>
        </p:spPr>
        <p:txBody>
          <a:bodyPr/>
          <a:lstStyle/>
          <a:p>
            <a:endParaRPr lang="en-US"/>
          </a:p>
        </p:txBody>
      </p:sp>
      <p:sp>
        <p:nvSpPr>
          <p:cNvPr id="28" name="outline-393"/>
          <p:cNvSpPr/>
          <p:nvPr/>
        </p:nvSpPr>
        <p:spPr>
          <a:xfrm>
            <a:off x="548640" y="2167128"/>
            <a:ext cx="566928" cy="566928"/>
          </a:xfrm>
          <a:prstGeom prst="rect">
            <a:avLst/>
          </a:prstGeom>
          <a:ln w="19050">
            <a:solidFill>
              <a:schemeClr val="accent5"/>
            </a:solidFill>
            <a:prstDash val="dash"/>
          </a:ln>
        </p:spPr>
        <p:txBody>
          <a:bodyPr/>
          <a:lstStyle/>
          <a:p>
            <a:endParaRPr lang="en-US"/>
          </a:p>
        </p:txBody>
      </p:sp>
      <p:sp>
        <p:nvSpPr>
          <p:cNvPr id="29" name="outline-394"/>
          <p:cNvSpPr/>
          <p:nvPr/>
        </p:nvSpPr>
        <p:spPr>
          <a:xfrm>
            <a:off x="1682496" y="2167128"/>
            <a:ext cx="566928" cy="566928"/>
          </a:xfrm>
          <a:prstGeom prst="rect">
            <a:avLst/>
          </a:prstGeom>
          <a:ln w="19050">
            <a:solidFill>
              <a:schemeClr val="accent5"/>
            </a:solidFill>
            <a:prstDash val="dash"/>
          </a:ln>
        </p:spPr>
        <p:txBody>
          <a:bodyPr/>
          <a:lstStyle/>
          <a:p>
            <a:endParaRPr lang="en-US"/>
          </a:p>
        </p:txBody>
      </p:sp>
      <p:sp>
        <p:nvSpPr>
          <p:cNvPr id="30" name="text-395"/>
          <p:cNvSpPr txBox="1"/>
          <p:nvPr/>
        </p:nvSpPr>
        <p:spPr>
          <a:xfrm>
            <a:off x="548640" y="4617720"/>
            <a:ext cx="2971800" cy="731520"/>
          </a:xfrm>
          <a:prstGeom prst="rect">
            <a:avLst/>
          </a:prstGeom>
          <a:noFill/>
          <a:ln/>
        </p:spPr>
        <p:txBody>
          <a:bodyPr wrap="square" lIns="0" tIns="0" rIns="0" bIns="0" rtlCol="0" anchor="t"/>
          <a:lstStyle/>
          <a:p>
            <a:pPr marL="0" indent="0">
              <a:buNone/>
            </a:pPr>
            <a:r>
              <a:rPr lang="en-US" sz="1300" dirty="0">
                <a:solidFill>
                  <a:schemeClr val="tx2"/>
                </a:solidFill>
              </a:rPr>
              <a:t>One copy per muscle; it sees its own voxel and four neighbors</a:t>
            </a:r>
            <a:endParaRPr lang="en-US" sz="1300" dirty="0"/>
          </a:p>
        </p:txBody>
      </p:sp>
      <p:sp>
        <p:nvSpPr>
          <p:cNvPr id="31" name="pill-396"/>
          <p:cNvSpPr/>
          <p:nvPr/>
        </p:nvSpPr>
        <p:spPr>
          <a:xfrm>
            <a:off x="3840480" y="1600200"/>
            <a:ext cx="2651760" cy="502920"/>
          </a:xfrm>
          <a:prstGeom prst="roundRect">
            <a:avLst>
              <a:gd name="adj" fmla="val 50000"/>
            </a:avLst>
          </a:prstGeom>
          <a:solidFill>
            <a:schemeClr val="bg2"/>
          </a:solidFill>
          <a:ln/>
        </p:spPr>
        <p:txBody>
          <a:bodyPr/>
          <a:lstStyle/>
          <a:p>
            <a:endParaRPr lang="en-US"/>
          </a:p>
        </p:txBody>
      </p:sp>
      <p:sp>
        <p:nvSpPr>
          <p:cNvPr id="32" name="pill-text-397"/>
          <p:cNvSpPr txBox="1"/>
          <p:nvPr/>
        </p:nvSpPr>
        <p:spPr>
          <a:xfrm>
            <a:off x="3840480" y="1600200"/>
            <a:ext cx="2651760" cy="502920"/>
          </a:xfrm>
          <a:prstGeom prst="rect">
            <a:avLst/>
          </a:prstGeom>
          <a:noFill/>
          <a:ln/>
        </p:spPr>
        <p:txBody>
          <a:bodyPr wrap="square" lIns="0" tIns="0" rIns="0" bIns="0" rtlCol="0" anchor="ctr"/>
          <a:lstStyle/>
          <a:p>
            <a:pPr marL="0" indent="0" algn="ctr">
              <a:buNone/>
            </a:pPr>
            <a:r>
              <a:rPr lang="en-US" sz="1400" dirty="0">
                <a:solidFill>
                  <a:schemeClr val="tx1"/>
                </a:solidFill>
              </a:rPr>
              <a:t>clock: sin, cos (2)</a:t>
            </a:r>
            <a:endParaRPr lang="en-US" sz="1400" dirty="0"/>
          </a:p>
        </p:txBody>
      </p:sp>
      <p:sp>
        <p:nvSpPr>
          <p:cNvPr id="33" name="pill-398"/>
          <p:cNvSpPr/>
          <p:nvPr/>
        </p:nvSpPr>
        <p:spPr>
          <a:xfrm>
            <a:off x="3840480" y="2240280"/>
            <a:ext cx="2651760" cy="502920"/>
          </a:xfrm>
          <a:prstGeom prst="roundRect">
            <a:avLst>
              <a:gd name="adj" fmla="val 50000"/>
            </a:avLst>
          </a:prstGeom>
          <a:solidFill>
            <a:schemeClr val="bg2"/>
          </a:solidFill>
          <a:ln/>
        </p:spPr>
        <p:txBody>
          <a:bodyPr/>
          <a:lstStyle/>
          <a:p>
            <a:endParaRPr lang="en-US"/>
          </a:p>
        </p:txBody>
      </p:sp>
      <p:sp>
        <p:nvSpPr>
          <p:cNvPr id="34" name="pill-text-399"/>
          <p:cNvSpPr txBox="1"/>
          <p:nvPr/>
        </p:nvSpPr>
        <p:spPr>
          <a:xfrm>
            <a:off x="3840480" y="2240280"/>
            <a:ext cx="2651760" cy="502920"/>
          </a:xfrm>
          <a:prstGeom prst="rect">
            <a:avLst/>
          </a:prstGeom>
          <a:noFill/>
          <a:ln/>
        </p:spPr>
        <p:txBody>
          <a:bodyPr wrap="square" lIns="0" tIns="0" rIns="0" bIns="0" rtlCol="0" anchor="ctr"/>
          <a:lstStyle/>
          <a:p>
            <a:pPr marL="0" indent="0" algn="ctr">
              <a:buNone/>
            </a:pPr>
            <a:r>
              <a:rPr lang="en-US" sz="1400" dirty="0">
                <a:solidFill>
                  <a:schemeClr val="tx1"/>
                </a:solidFill>
              </a:rPr>
              <a:t>own position: x, y (2)</a:t>
            </a:r>
            <a:endParaRPr lang="en-US" sz="1400" dirty="0"/>
          </a:p>
        </p:txBody>
      </p:sp>
      <p:sp>
        <p:nvSpPr>
          <p:cNvPr id="35" name="pill-400"/>
          <p:cNvSpPr/>
          <p:nvPr/>
        </p:nvSpPr>
        <p:spPr>
          <a:xfrm>
            <a:off x="3840480" y="2880360"/>
            <a:ext cx="2651760" cy="502920"/>
          </a:xfrm>
          <a:prstGeom prst="roundRect">
            <a:avLst>
              <a:gd name="adj" fmla="val 50000"/>
            </a:avLst>
          </a:prstGeom>
          <a:solidFill>
            <a:schemeClr val="bg2"/>
          </a:solidFill>
          <a:ln/>
        </p:spPr>
        <p:txBody>
          <a:bodyPr/>
          <a:lstStyle/>
          <a:p>
            <a:endParaRPr lang="en-US"/>
          </a:p>
        </p:txBody>
      </p:sp>
      <p:sp>
        <p:nvSpPr>
          <p:cNvPr id="36" name="pill-text-401"/>
          <p:cNvSpPr txBox="1"/>
          <p:nvPr/>
        </p:nvSpPr>
        <p:spPr>
          <a:xfrm>
            <a:off x="3840480" y="2880360"/>
            <a:ext cx="2651760" cy="502920"/>
          </a:xfrm>
          <a:prstGeom prst="rect">
            <a:avLst/>
          </a:prstGeom>
          <a:noFill/>
          <a:ln/>
        </p:spPr>
        <p:txBody>
          <a:bodyPr wrap="square" lIns="0" tIns="0" rIns="0" bIns="0" rtlCol="0" anchor="ctr"/>
          <a:lstStyle/>
          <a:p>
            <a:pPr marL="0" indent="0" algn="ctr">
              <a:buNone/>
            </a:pPr>
            <a:r>
              <a:rPr lang="en-US" sz="1400" dirty="0">
                <a:solidFill>
                  <a:schemeClr val="tx1"/>
                </a:solidFill>
              </a:rPr>
              <a:t>own strain: width, height (2)</a:t>
            </a:r>
            <a:endParaRPr lang="en-US" sz="1400" dirty="0"/>
          </a:p>
        </p:txBody>
      </p:sp>
      <p:sp>
        <p:nvSpPr>
          <p:cNvPr id="37" name="pill-402"/>
          <p:cNvSpPr/>
          <p:nvPr/>
        </p:nvSpPr>
        <p:spPr>
          <a:xfrm>
            <a:off x="3840480" y="3520440"/>
            <a:ext cx="2651760" cy="502920"/>
          </a:xfrm>
          <a:prstGeom prst="roundRect">
            <a:avLst>
              <a:gd name="adj" fmla="val 50000"/>
            </a:avLst>
          </a:prstGeom>
          <a:solidFill>
            <a:schemeClr val="bg2"/>
          </a:solidFill>
          <a:ln/>
        </p:spPr>
        <p:txBody>
          <a:bodyPr/>
          <a:lstStyle/>
          <a:p>
            <a:endParaRPr lang="en-US"/>
          </a:p>
        </p:txBody>
      </p:sp>
      <p:sp>
        <p:nvSpPr>
          <p:cNvPr id="38" name="pill-text-403"/>
          <p:cNvSpPr txBox="1"/>
          <p:nvPr/>
        </p:nvSpPr>
        <p:spPr>
          <a:xfrm>
            <a:off x="3840480" y="3520440"/>
            <a:ext cx="2651760" cy="502920"/>
          </a:xfrm>
          <a:prstGeom prst="rect">
            <a:avLst/>
          </a:prstGeom>
          <a:noFill/>
          <a:ln/>
        </p:spPr>
        <p:txBody>
          <a:bodyPr wrap="square" lIns="0" tIns="0" rIns="0" bIns="0" rtlCol="0" anchor="ctr"/>
          <a:lstStyle/>
          <a:p>
            <a:pPr marL="0" indent="0" algn="ctr">
              <a:buNone/>
            </a:pPr>
            <a:r>
              <a:rPr lang="en-US" sz="1400" dirty="0">
                <a:solidFill>
                  <a:schemeClr val="tx1"/>
                </a:solidFill>
              </a:rPr>
              <a:t>neighbors' strain: 4 × 2 (8)</a:t>
            </a:r>
            <a:endParaRPr lang="en-US" sz="1400" dirty="0"/>
          </a:p>
        </p:txBody>
      </p:sp>
      <p:sp>
        <p:nvSpPr>
          <p:cNvPr id="39" name="arrow-404"/>
          <p:cNvSpPr/>
          <p:nvPr/>
        </p:nvSpPr>
        <p:spPr>
          <a:xfrm>
            <a:off x="6583680" y="2811780"/>
            <a:ext cx="365760" cy="0"/>
          </a:xfrm>
          <a:prstGeom prst="line">
            <a:avLst/>
          </a:prstGeom>
          <a:noFill/>
          <a:ln w="25400">
            <a:solidFill>
              <a:schemeClr val="tx2"/>
            </a:solidFill>
            <a:prstDash val="solid"/>
            <a:tailEnd type="triangle"/>
          </a:ln>
        </p:spPr>
        <p:txBody>
          <a:bodyPr/>
          <a:lstStyle/>
          <a:p>
            <a:endParaRPr lang="en-US"/>
          </a:p>
        </p:txBody>
      </p:sp>
      <p:sp>
        <p:nvSpPr>
          <p:cNvPr id="40" name="net-405"/>
          <p:cNvSpPr/>
          <p:nvPr/>
        </p:nvSpPr>
        <p:spPr>
          <a:xfrm>
            <a:off x="7040880" y="2308860"/>
            <a:ext cx="1371600" cy="1005840"/>
          </a:xfrm>
          <a:prstGeom prst="roundRect">
            <a:avLst>
              <a:gd name="adj" fmla="val 9091"/>
            </a:avLst>
          </a:prstGeom>
          <a:solidFill>
            <a:schemeClr val="tx1"/>
          </a:solidFill>
          <a:ln/>
        </p:spPr>
        <p:txBody>
          <a:bodyPr/>
          <a:lstStyle/>
          <a:p>
            <a:endParaRPr lang="en-US"/>
          </a:p>
        </p:txBody>
      </p:sp>
      <p:sp>
        <p:nvSpPr>
          <p:cNvPr id="41" name="net-text-406"/>
          <p:cNvSpPr txBox="1"/>
          <p:nvPr/>
        </p:nvSpPr>
        <p:spPr>
          <a:xfrm>
            <a:off x="7040880" y="2308860"/>
            <a:ext cx="1371600" cy="1005840"/>
          </a:xfrm>
          <a:prstGeom prst="rect">
            <a:avLst/>
          </a:prstGeom>
          <a:noFill/>
          <a:ln/>
        </p:spPr>
        <p:txBody>
          <a:bodyPr wrap="square" lIns="0" tIns="0" rIns="0" bIns="0" rtlCol="0" anchor="ctr"/>
          <a:lstStyle/>
          <a:p>
            <a:pPr marL="0" indent="0" algn="ctr">
              <a:buNone/>
            </a:pPr>
            <a:r>
              <a:rPr lang="en-US" sz="1500" b="1" dirty="0">
                <a:solidFill>
                  <a:schemeClr val="bg1"/>
                </a:solidFill>
              </a:rPr>
              <a:t>network</a:t>
            </a:r>
          </a:p>
          <a:p>
            <a:pPr marL="0" indent="0" algn="ctr">
              <a:buNone/>
            </a:pPr>
            <a:r>
              <a:rPr lang="en-US" sz="1100" dirty="0">
                <a:solidFill>
                  <a:schemeClr val="bg1"/>
                </a:solidFill>
              </a:rPr>
              <a:t>8 hidden</a:t>
            </a:r>
            <a:endParaRPr lang="en-US" sz="1500" dirty="0"/>
          </a:p>
        </p:txBody>
      </p:sp>
      <p:sp>
        <p:nvSpPr>
          <p:cNvPr id="42" name="arrow-407"/>
          <p:cNvSpPr/>
          <p:nvPr/>
        </p:nvSpPr>
        <p:spPr>
          <a:xfrm>
            <a:off x="8503920" y="2811780"/>
            <a:ext cx="365760" cy="0"/>
          </a:xfrm>
          <a:prstGeom prst="line">
            <a:avLst/>
          </a:prstGeom>
          <a:noFill/>
          <a:ln w="25400">
            <a:solidFill>
              <a:schemeClr val="tx2"/>
            </a:solidFill>
            <a:prstDash val="solid"/>
            <a:tailEnd type="triangle"/>
          </a:ln>
        </p:spPr>
        <p:txBody>
          <a:bodyPr/>
          <a:lstStyle/>
          <a:p>
            <a:endParaRPr lang="en-US"/>
          </a:p>
        </p:txBody>
      </p:sp>
      <p:sp>
        <p:nvSpPr>
          <p:cNvPr id="43" name="pill-408"/>
          <p:cNvSpPr/>
          <p:nvPr/>
        </p:nvSpPr>
        <p:spPr>
          <a:xfrm>
            <a:off x="8961120" y="2537460"/>
            <a:ext cx="2651760" cy="548640"/>
          </a:xfrm>
          <a:prstGeom prst="roundRect">
            <a:avLst>
              <a:gd name="adj" fmla="val 50000"/>
            </a:avLst>
          </a:prstGeom>
          <a:solidFill>
            <a:schemeClr val="accent1"/>
          </a:solidFill>
          <a:ln/>
        </p:spPr>
        <p:txBody>
          <a:bodyPr/>
          <a:lstStyle/>
          <a:p>
            <a:endParaRPr lang="en-US"/>
          </a:p>
        </p:txBody>
      </p:sp>
      <p:sp>
        <p:nvSpPr>
          <p:cNvPr id="44" name="pill-text-409"/>
          <p:cNvSpPr txBox="1"/>
          <p:nvPr/>
        </p:nvSpPr>
        <p:spPr>
          <a:xfrm>
            <a:off x="8961120" y="2537460"/>
            <a:ext cx="2651760" cy="548640"/>
          </a:xfrm>
          <a:prstGeom prst="rect">
            <a:avLst/>
          </a:prstGeom>
          <a:noFill/>
          <a:ln/>
        </p:spPr>
        <p:txBody>
          <a:bodyPr wrap="square" lIns="0" tIns="0" rIns="0" bIns="0" rtlCol="0" anchor="ctr"/>
          <a:lstStyle/>
          <a:p>
            <a:pPr marL="0" indent="0" algn="ctr">
              <a:buNone/>
            </a:pPr>
            <a:r>
              <a:rPr lang="en-US" sz="1400" dirty="0">
                <a:solidFill>
                  <a:schemeClr val="tx1"/>
                </a:solidFill>
              </a:rPr>
              <a:t>1 command, own muscle</a:t>
            </a:r>
            <a:endParaRPr lang="en-US" sz="1400" dirty="0"/>
          </a:p>
        </p:txBody>
      </p:sp>
      <p:sp>
        <p:nvSpPr>
          <p:cNvPr id="45" name="text-410"/>
          <p:cNvSpPr txBox="1"/>
          <p:nvPr/>
        </p:nvSpPr>
        <p:spPr>
          <a:xfrm>
            <a:off x="3840480" y="4297680"/>
            <a:ext cx="2377440" cy="822960"/>
          </a:xfrm>
          <a:prstGeom prst="rect">
            <a:avLst/>
          </a:prstGeom>
          <a:noFill/>
          <a:ln/>
        </p:spPr>
        <p:txBody>
          <a:bodyPr wrap="square" lIns="0" tIns="0" rIns="0" bIns="0" rtlCol="0" anchor="b"/>
          <a:lstStyle/>
          <a:p>
            <a:pPr marL="0" indent="0">
              <a:buNone/>
            </a:pPr>
            <a:r>
              <a:rPr lang="en-US" sz="4400" b="1" dirty="0">
                <a:solidFill>
                  <a:schemeClr val="accent1"/>
                </a:solidFill>
              </a:rPr>
              <a:t>129</a:t>
            </a:r>
            <a:endParaRPr lang="en-US" sz="4400" dirty="0"/>
          </a:p>
        </p:txBody>
      </p:sp>
      <p:sp>
        <p:nvSpPr>
          <p:cNvPr id="46" name="text-411"/>
          <p:cNvSpPr txBox="1"/>
          <p:nvPr/>
        </p:nvSpPr>
        <p:spPr>
          <a:xfrm>
            <a:off x="3840480" y="5166360"/>
            <a:ext cx="2377440" cy="731520"/>
          </a:xfrm>
          <a:prstGeom prst="rect">
            <a:avLst/>
          </a:prstGeom>
          <a:noFill/>
          <a:ln/>
        </p:spPr>
        <p:txBody>
          <a:bodyPr wrap="square" lIns="0" tIns="0" rIns="0" bIns="0" rtlCol="0" anchor="t"/>
          <a:lstStyle/>
          <a:p>
            <a:pPr marL="0" indent="0">
              <a:buNone/>
            </a:pPr>
            <a:r>
              <a:rPr lang="en-US" sz="1400" dirty="0">
                <a:solidFill>
                  <a:schemeClr val="tx2"/>
                </a:solidFill>
              </a:rPr>
              <a:t>genes on a 5×5 grid</a:t>
            </a:r>
            <a:endParaRPr lang="en-US" sz="1400" dirty="0"/>
          </a:p>
        </p:txBody>
      </p:sp>
      <p:sp>
        <p:nvSpPr>
          <p:cNvPr id="47" name="text-412"/>
          <p:cNvSpPr txBox="1"/>
          <p:nvPr/>
        </p:nvSpPr>
        <p:spPr>
          <a:xfrm>
            <a:off x="6492240" y="5065776"/>
            <a:ext cx="5150815" cy="1463040"/>
          </a:xfrm>
          <a:prstGeom prst="rect">
            <a:avLst/>
          </a:prstGeom>
          <a:noFill/>
          <a:ln/>
        </p:spPr>
        <p:txBody>
          <a:bodyPr wrap="square" lIns="0" tIns="0" rIns="0" bIns="0" rtlCol="0" anchor="t"/>
          <a:lstStyle/>
          <a:p>
            <a:pPr marL="0" indent="0">
              <a:buNone/>
            </a:pPr>
            <a:r>
              <a:rPr lang="en-US" sz="1600" dirty="0">
                <a:solidFill>
                  <a:schemeClr val="tx1"/>
                </a:solidFill>
              </a:rPr>
              <a:t>Each muscle can now react to what its own neighborhood is doing: stretched, squeezed, pushed by the ground. Still the same weights everywhere, still any body.</a:t>
            </a:r>
            <a:endParaRPr lang="en-US" sz="1600" dirty="0"/>
          </a:p>
        </p:txBody>
      </p:sp>
      <p:sp>
        <p:nvSpPr>
          <p:cNvPr id="48"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17</a:t>
            </a:fld>
            <a:endParaRPr lang="en-US"/>
          </a:p>
        </p:txBody>
      </p:sp>
      <p:grpSp>
        <p:nvGrpSpPr>
          <p:cNvPr id="125" name="nn-diagram"/>
          <p:cNvGrpSpPr/>
          <p:nvPr/>
        </p:nvGrpSpPr>
        <p:grpSpPr>
          <a:xfrm>
            <a:off x="6373368" y="3520440"/>
            <a:ext cx="5266944" cy="1389888"/>
            <a:chOff x="6373368" y="3520440"/>
            <a:chExt cx="5266944" cy="1389888"/>
          </a:xfrm>
        </p:grpSpPr>
        <p:cxnSp>
          <p:nvCxnSpPr>
            <p:cNvPr id="49" name="edge-49"/>
            <p:cNvCxnSpPr/>
            <p:nvPr/>
          </p:nvCxnSpPr>
          <p:spPr>
            <a:xfrm>
              <a:off x="6867144" y="3575304"/>
              <a:ext cx="804672" cy="16002"/>
            </a:xfrm>
            <a:prstGeom prst="line">
              <a:avLst/>
            </a:prstGeom>
            <a:ln w="6350">
              <a:solidFill>
                <a:schemeClr val="tx2">
                  <a:alpha val="30000"/>
                </a:schemeClr>
              </a:solidFill>
            </a:ln>
          </p:spPr>
        </p:cxnSp>
        <p:cxnSp>
          <p:nvCxnSpPr>
            <p:cNvPr id="50" name="edge-50"/>
            <p:cNvCxnSpPr/>
            <p:nvPr/>
          </p:nvCxnSpPr>
          <p:spPr>
            <a:xfrm>
              <a:off x="6867144" y="3575304"/>
              <a:ext cx="804672" cy="157734"/>
            </a:xfrm>
            <a:prstGeom prst="line">
              <a:avLst/>
            </a:prstGeom>
            <a:ln w="6350">
              <a:solidFill>
                <a:schemeClr val="tx2">
                  <a:alpha val="30000"/>
                </a:schemeClr>
              </a:solidFill>
            </a:ln>
          </p:spPr>
        </p:cxnSp>
        <p:cxnSp>
          <p:nvCxnSpPr>
            <p:cNvPr id="51" name="edge-51"/>
            <p:cNvCxnSpPr/>
            <p:nvPr/>
          </p:nvCxnSpPr>
          <p:spPr>
            <a:xfrm>
              <a:off x="6867144" y="3575304"/>
              <a:ext cx="804672" cy="299466"/>
            </a:xfrm>
            <a:prstGeom prst="line">
              <a:avLst/>
            </a:prstGeom>
            <a:ln w="6350">
              <a:solidFill>
                <a:schemeClr val="tx2">
                  <a:alpha val="30000"/>
                </a:schemeClr>
              </a:solidFill>
            </a:ln>
          </p:spPr>
        </p:cxnSp>
        <p:cxnSp>
          <p:nvCxnSpPr>
            <p:cNvPr id="52" name="edge-52"/>
            <p:cNvCxnSpPr/>
            <p:nvPr/>
          </p:nvCxnSpPr>
          <p:spPr>
            <a:xfrm>
              <a:off x="6867144" y="3575304"/>
              <a:ext cx="804672" cy="441198"/>
            </a:xfrm>
            <a:prstGeom prst="line">
              <a:avLst/>
            </a:prstGeom>
            <a:ln w="6350">
              <a:solidFill>
                <a:schemeClr val="tx2">
                  <a:alpha val="30000"/>
                </a:schemeClr>
              </a:solidFill>
            </a:ln>
          </p:spPr>
        </p:cxnSp>
        <p:cxnSp>
          <p:nvCxnSpPr>
            <p:cNvPr id="53" name="edge-53"/>
            <p:cNvCxnSpPr/>
            <p:nvPr/>
          </p:nvCxnSpPr>
          <p:spPr>
            <a:xfrm>
              <a:off x="6867144" y="3575304"/>
              <a:ext cx="804672" cy="582930"/>
            </a:xfrm>
            <a:prstGeom prst="line">
              <a:avLst/>
            </a:prstGeom>
            <a:ln w="6350">
              <a:solidFill>
                <a:schemeClr val="tx2">
                  <a:alpha val="30000"/>
                </a:schemeClr>
              </a:solidFill>
            </a:ln>
          </p:spPr>
        </p:cxnSp>
        <p:cxnSp>
          <p:nvCxnSpPr>
            <p:cNvPr id="54" name="edge-54"/>
            <p:cNvCxnSpPr/>
            <p:nvPr/>
          </p:nvCxnSpPr>
          <p:spPr>
            <a:xfrm>
              <a:off x="6867144" y="3575304"/>
              <a:ext cx="804672" cy="724662"/>
            </a:xfrm>
            <a:prstGeom prst="line">
              <a:avLst/>
            </a:prstGeom>
            <a:ln w="6350">
              <a:solidFill>
                <a:schemeClr val="tx2">
                  <a:alpha val="30000"/>
                </a:schemeClr>
              </a:solidFill>
            </a:ln>
          </p:spPr>
        </p:cxnSp>
        <p:cxnSp>
          <p:nvCxnSpPr>
            <p:cNvPr id="55" name="edge-55"/>
            <p:cNvCxnSpPr/>
            <p:nvPr/>
          </p:nvCxnSpPr>
          <p:spPr>
            <a:xfrm>
              <a:off x="6867144" y="3575304"/>
              <a:ext cx="804672" cy="866394"/>
            </a:xfrm>
            <a:prstGeom prst="line">
              <a:avLst/>
            </a:prstGeom>
            <a:ln w="6350">
              <a:solidFill>
                <a:schemeClr val="tx2">
                  <a:alpha val="30000"/>
                </a:schemeClr>
              </a:solidFill>
            </a:ln>
          </p:spPr>
        </p:cxnSp>
        <p:cxnSp>
          <p:nvCxnSpPr>
            <p:cNvPr id="56" name="edge-56"/>
            <p:cNvCxnSpPr/>
            <p:nvPr/>
          </p:nvCxnSpPr>
          <p:spPr>
            <a:xfrm>
              <a:off x="6867144" y="3575304"/>
              <a:ext cx="804672" cy="1008126"/>
            </a:xfrm>
            <a:prstGeom prst="line">
              <a:avLst/>
            </a:prstGeom>
            <a:ln w="6350">
              <a:solidFill>
                <a:schemeClr val="tx2">
                  <a:alpha val="30000"/>
                </a:schemeClr>
              </a:solidFill>
            </a:ln>
          </p:spPr>
        </p:cxnSp>
        <p:cxnSp>
          <p:nvCxnSpPr>
            <p:cNvPr id="57" name="edge-57"/>
            <p:cNvCxnSpPr/>
            <p:nvPr/>
          </p:nvCxnSpPr>
          <p:spPr>
            <a:xfrm flipV="1">
              <a:off x="6867144" y="3591306"/>
              <a:ext cx="804672" cy="130302"/>
            </a:xfrm>
            <a:prstGeom prst="line">
              <a:avLst/>
            </a:prstGeom>
            <a:ln w="6350">
              <a:solidFill>
                <a:schemeClr val="tx2">
                  <a:alpha val="30000"/>
                </a:schemeClr>
              </a:solidFill>
            </a:ln>
          </p:spPr>
        </p:cxnSp>
        <p:cxnSp>
          <p:nvCxnSpPr>
            <p:cNvPr id="58" name="edge-58"/>
            <p:cNvCxnSpPr/>
            <p:nvPr/>
          </p:nvCxnSpPr>
          <p:spPr>
            <a:xfrm>
              <a:off x="6867144" y="3721608"/>
              <a:ext cx="804672" cy="11430"/>
            </a:xfrm>
            <a:prstGeom prst="line">
              <a:avLst/>
            </a:prstGeom>
            <a:ln w="6350">
              <a:solidFill>
                <a:schemeClr val="tx2">
                  <a:alpha val="30000"/>
                </a:schemeClr>
              </a:solidFill>
            </a:ln>
          </p:spPr>
        </p:cxnSp>
        <p:cxnSp>
          <p:nvCxnSpPr>
            <p:cNvPr id="59" name="edge-59"/>
            <p:cNvCxnSpPr/>
            <p:nvPr/>
          </p:nvCxnSpPr>
          <p:spPr>
            <a:xfrm>
              <a:off x="6867144" y="3721608"/>
              <a:ext cx="804672" cy="153162"/>
            </a:xfrm>
            <a:prstGeom prst="line">
              <a:avLst/>
            </a:prstGeom>
            <a:ln w="6350">
              <a:solidFill>
                <a:schemeClr val="tx2">
                  <a:alpha val="30000"/>
                </a:schemeClr>
              </a:solidFill>
            </a:ln>
          </p:spPr>
        </p:cxnSp>
        <p:cxnSp>
          <p:nvCxnSpPr>
            <p:cNvPr id="60" name="edge-60"/>
            <p:cNvCxnSpPr/>
            <p:nvPr/>
          </p:nvCxnSpPr>
          <p:spPr>
            <a:xfrm>
              <a:off x="6867144" y="3721608"/>
              <a:ext cx="804672" cy="294894"/>
            </a:xfrm>
            <a:prstGeom prst="line">
              <a:avLst/>
            </a:prstGeom>
            <a:ln w="6350">
              <a:solidFill>
                <a:schemeClr val="tx2">
                  <a:alpha val="30000"/>
                </a:schemeClr>
              </a:solidFill>
            </a:ln>
          </p:spPr>
        </p:cxnSp>
        <p:cxnSp>
          <p:nvCxnSpPr>
            <p:cNvPr id="61" name="edge-61"/>
            <p:cNvCxnSpPr/>
            <p:nvPr/>
          </p:nvCxnSpPr>
          <p:spPr>
            <a:xfrm>
              <a:off x="6867144" y="3721608"/>
              <a:ext cx="804672" cy="436626"/>
            </a:xfrm>
            <a:prstGeom prst="line">
              <a:avLst/>
            </a:prstGeom>
            <a:ln w="6350">
              <a:solidFill>
                <a:schemeClr val="tx2">
                  <a:alpha val="30000"/>
                </a:schemeClr>
              </a:solidFill>
            </a:ln>
          </p:spPr>
        </p:cxnSp>
        <p:cxnSp>
          <p:nvCxnSpPr>
            <p:cNvPr id="62" name="edge-62"/>
            <p:cNvCxnSpPr/>
            <p:nvPr/>
          </p:nvCxnSpPr>
          <p:spPr>
            <a:xfrm>
              <a:off x="6867144" y="3721608"/>
              <a:ext cx="804672" cy="578358"/>
            </a:xfrm>
            <a:prstGeom prst="line">
              <a:avLst/>
            </a:prstGeom>
            <a:ln w="6350">
              <a:solidFill>
                <a:schemeClr val="tx2">
                  <a:alpha val="30000"/>
                </a:schemeClr>
              </a:solidFill>
            </a:ln>
          </p:spPr>
        </p:cxnSp>
        <p:cxnSp>
          <p:nvCxnSpPr>
            <p:cNvPr id="63" name="edge-63"/>
            <p:cNvCxnSpPr/>
            <p:nvPr/>
          </p:nvCxnSpPr>
          <p:spPr>
            <a:xfrm>
              <a:off x="6867144" y="3721608"/>
              <a:ext cx="804672" cy="720090"/>
            </a:xfrm>
            <a:prstGeom prst="line">
              <a:avLst/>
            </a:prstGeom>
            <a:ln w="6350">
              <a:solidFill>
                <a:schemeClr val="tx2">
                  <a:alpha val="30000"/>
                </a:schemeClr>
              </a:solidFill>
            </a:ln>
          </p:spPr>
        </p:cxnSp>
        <p:cxnSp>
          <p:nvCxnSpPr>
            <p:cNvPr id="64" name="edge-64"/>
            <p:cNvCxnSpPr/>
            <p:nvPr/>
          </p:nvCxnSpPr>
          <p:spPr>
            <a:xfrm>
              <a:off x="6867144" y="3721608"/>
              <a:ext cx="804672" cy="861822"/>
            </a:xfrm>
            <a:prstGeom prst="line">
              <a:avLst/>
            </a:prstGeom>
            <a:ln w="6350">
              <a:solidFill>
                <a:schemeClr val="tx2">
                  <a:alpha val="30000"/>
                </a:schemeClr>
              </a:solidFill>
            </a:ln>
          </p:spPr>
        </p:cxnSp>
        <p:cxnSp>
          <p:nvCxnSpPr>
            <p:cNvPr id="65" name="edge-65"/>
            <p:cNvCxnSpPr/>
            <p:nvPr/>
          </p:nvCxnSpPr>
          <p:spPr>
            <a:xfrm flipV="1">
              <a:off x="6867144" y="3591306"/>
              <a:ext cx="804672" cy="276606"/>
            </a:xfrm>
            <a:prstGeom prst="line">
              <a:avLst/>
            </a:prstGeom>
            <a:ln w="6350">
              <a:solidFill>
                <a:schemeClr val="tx2">
                  <a:alpha val="30000"/>
                </a:schemeClr>
              </a:solidFill>
            </a:ln>
          </p:spPr>
        </p:cxnSp>
        <p:cxnSp>
          <p:nvCxnSpPr>
            <p:cNvPr id="66" name="edge-66"/>
            <p:cNvCxnSpPr/>
            <p:nvPr/>
          </p:nvCxnSpPr>
          <p:spPr>
            <a:xfrm flipV="1">
              <a:off x="6867144" y="3733038"/>
              <a:ext cx="804672" cy="134874"/>
            </a:xfrm>
            <a:prstGeom prst="line">
              <a:avLst/>
            </a:prstGeom>
            <a:ln w="6350">
              <a:solidFill>
                <a:schemeClr val="tx2">
                  <a:alpha val="30000"/>
                </a:schemeClr>
              </a:solidFill>
            </a:ln>
          </p:spPr>
        </p:cxnSp>
        <p:cxnSp>
          <p:nvCxnSpPr>
            <p:cNvPr id="67" name="edge-67"/>
            <p:cNvCxnSpPr/>
            <p:nvPr/>
          </p:nvCxnSpPr>
          <p:spPr>
            <a:xfrm>
              <a:off x="6867144" y="3867912"/>
              <a:ext cx="804672" cy="6858"/>
            </a:xfrm>
            <a:prstGeom prst="line">
              <a:avLst/>
            </a:prstGeom>
            <a:ln w="6350">
              <a:solidFill>
                <a:schemeClr val="tx2">
                  <a:alpha val="30000"/>
                </a:schemeClr>
              </a:solidFill>
            </a:ln>
          </p:spPr>
        </p:cxnSp>
        <p:cxnSp>
          <p:nvCxnSpPr>
            <p:cNvPr id="68" name="edge-68"/>
            <p:cNvCxnSpPr/>
            <p:nvPr/>
          </p:nvCxnSpPr>
          <p:spPr>
            <a:xfrm>
              <a:off x="6867144" y="3867912"/>
              <a:ext cx="804672" cy="148590"/>
            </a:xfrm>
            <a:prstGeom prst="line">
              <a:avLst/>
            </a:prstGeom>
            <a:ln w="6350">
              <a:solidFill>
                <a:schemeClr val="tx2">
                  <a:alpha val="30000"/>
                </a:schemeClr>
              </a:solidFill>
            </a:ln>
          </p:spPr>
        </p:cxnSp>
        <p:cxnSp>
          <p:nvCxnSpPr>
            <p:cNvPr id="69" name="edge-69"/>
            <p:cNvCxnSpPr/>
            <p:nvPr/>
          </p:nvCxnSpPr>
          <p:spPr>
            <a:xfrm>
              <a:off x="6867144" y="3867912"/>
              <a:ext cx="804672" cy="290322"/>
            </a:xfrm>
            <a:prstGeom prst="line">
              <a:avLst/>
            </a:prstGeom>
            <a:ln w="6350">
              <a:solidFill>
                <a:schemeClr val="tx2">
                  <a:alpha val="30000"/>
                </a:schemeClr>
              </a:solidFill>
            </a:ln>
          </p:spPr>
        </p:cxnSp>
        <p:cxnSp>
          <p:nvCxnSpPr>
            <p:cNvPr id="70" name="edge-70"/>
            <p:cNvCxnSpPr/>
            <p:nvPr/>
          </p:nvCxnSpPr>
          <p:spPr>
            <a:xfrm>
              <a:off x="6867144" y="3867912"/>
              <a:ext cx="804672" cy="432054"/>
            </a:xfrm>
            <a:prstGeom prst="line">
              <a:avLst/>
            </a:prstGeom>
            <a:ln w="6350">
              <a:solidFill>
                <a:schemeClr val="tx2">
                  <a:alpha val="30000"/>
                </a:schemeClr>
              </a:solidFill>
            </a:ln>
          </p:spPr>
        </p:cxnSp>
        <p:cxnSp>
          <p:nvCxnSpPr>
            <p:cNvPr id="71" name="edge-71"/>
            <p:cNvCxnSpPr/>
            <p:nvPr/>
          </p:nvCxnSpPr>
          <p:spPr>
            <a:xfrm>
              <a:off x="6867144" y="3867912"/>
              <a:ext cx="804672" cy="573786"/>
            </a:xfrm>
            <a:prstGeom prst="line">
              <a:avLst/>
            </a:prstGeom>
            <a:ln w="6350">
              <a:solidFill>
                <a:schemeClr val="tx2">
                  <a:alpha val="30000"/>
                </a:schemeClr>
              </a:solidFill>
            </a:ln>
          </p:spPr>
        </p:cxnSp>
        <p:cxnSp>
          <p:nvCxnSpPr>
            <p:cNvPr id="72" name="edge-72"/>
            <p:cNvCxnSpPr/>
            <p:nvPr/>
          </p:nvCxnSpPr>
          <p:spPr>
            <a:xfrm>
              <a:off x="6867144" y="3867912"/>
              <a:ext cx="804672" cy="715518"/>
            </a:xfrm>
            <a:prstGeom prst="line">
              <a:avLst/>
            </a:prstGeom>
            <a:ln w="6350">
              <a:solidFill>
                <a:schemeClr val="tx2">
                  <a:alpha val="30000"/>
                </a:schemeClr>
              </a:solidFill>
            </a:ln>
          </p:spPr>
        </p:cxnSp>
        <p:cxnSp>
          <p:nvCxnSpPr>
            <p:cNvPr id="73" name="edge-73"/>
            <p:cNvCxnSpPr/>
            <p:nvPr/>
          </p:nvCxnSpPr>
          <p:spPr>
            <a:xfrm flipV="1">
              <a:off x="6867144" y="3591306"/>
              <a:ext cx="804672" cy="715518"/>
            </a:xfrm>
            <a:prstGeom prst="line">
              <a:avLst/>
            </a:prstGeom>
            <a:ln w="6350">
              <a:solidFill>
                <a:schemeClr val="tx2">
                  <a:alpha val="30000"/>
                </a:schemeClr>
              </a:solidFill>
            </a:ln>
          </p:spPr>
        </p:cxnSp>
        <p:cxnSp>
          <p:nvCxnSpPr>
            <p:cNvPr id="74" name="edge-74"/>
            <p:cNvCxnSpPr/>
            <p:nvPr/>
          </p:nvCxnSpPr>
          <p:spPr>
            <a:xfrm flipV="1">
              <a:off x="6867144" y="3733038"/>
              <a:ext cx="804672" cy="573786"/>
            </a:xfrm>
            <a:prstGeom prst="line">
              <a:avLst/>
            </a:prstGeom>
            <a:ln w="6350">
              <a:solidFill>
                <a:schemeClr val="tx2">
                  <a:alpha val="30000"/>
                </a:schemeClr>
              </a:solidFill>
            </a:ln>
          </p:spPr>
        </p:cxnSp>
        <p:cxnSp>
          <p:nvCxnSpPr>
            <p:cNvPr id="75" name="edge-75"/>
            <p:cNvCxnSpPr/>
            <p:nvPr/>
          </p:nvCxnSpPr>
          <p:spPr>
            <a:xfrm flipV="1">
              <a:off x="6867144" y="3874770"/>
              <a:ext cx="804672" cy="432054"/>
            </a:xfrm>
            <a:prstGeom prst="line">
              <a:avLst/>
            </a:prstGeom>
            <a:ln w="6350">
              <a:solidFill>
                <a:schemeClr val="tx2">
                  <a:alpha val="30000"/>
                </a:schemeClr>
              </a:solidFill>
            </a:ln>
          </p:spPr>
        </p:cxnSp>
        <p:cxnSp>
          <p:nvCxnSpPr>
            <p:cNvPr id="76" name="edge-76"/>
            <p:cNvCxnSpPr/>
            <p:nvPr/>
          </p:nvCxnSpPr>
          <p:spPr>
            <a:xfrm flipV="1">
              <a:off x="6867144" y="4016502"/>
              <a:ext cx="804672" cy="290322"/>
            </a:xfrm>
            <a:prstGeom prst="line">
              <a:avLst/>
            </a:prstGeom>
            <a:ln w="6350">
              <a:solidFill>
                <a:schemeClr val="tx2">
                  <a:alpha val="30000"/>
                </a:schemeClr>
              </a:solidFill>
            </a:ln>
          </p:spPr>
        </p:cxnSp>
        <p:cxnSp>
          <p:nvCxnSpPr>
            <p:cNvPr id="77" name="edge-77"/>
            <p:cNvCxnSpPr/>
            <p:nvPr/>
          </p:nvCxnSpPr>
          <p:spPr>
            <a:xfrm flipV="1">
              <a:off x="6867144" y="4158234"/>
              <a:ext cx="804672" cy="148590"/>
            </a:xfrm>
            <a:prstGeom prst="line">
              <a:avLst/>
            </a:prstGeom>
            <a:ln w="6350">
              <a:solidFill>
                <a:schemeClr val="tx2">
                  <a:alpha val="30000"/>
                </a:schemeClr>
              </a:solidFill>
            </a:ln>
          </p:spPr>
        </p:cxnSp>
        <p:cxnSp>
          <p:nvCxnSpPr>
            <p:cNvPr id="78" name="edge-78"/>
            <p:cNvCxnSpPr/>
            <p:nvPr/>
          </p:nvCxnSpPr>
          <p:spPr>
            <a:xfrm flipV="1">
              <a:off x="6867144" y="4299966"/>
              <a:ext cx="804672" cy="6858"/>
            </a:xfrm>
            <a:prstGeom prst="line">
              <a:avLst/>
            </a:prstGeom>
            <a:ln w="6350">
              <a:solidFill>
                <a:schemeClr val="tx2">
                  <a:alpha val="30000"/>
                </a:schemeClr>
              </a:solidFill>
            </a:ln>
          </p:spPr>
        </p:cxnSp>
        <p:cxnSp>
          <p:nvCxnSpPr>
            <p:cNvPr id="79" name="edge-79"/>
            <p:cNvCxnSpPr/>
            <p:nvPr/>
          </p:nvCxnSpPr>
          <p:spPr>
            <a:xfrm>
              <a:off x="6867144" y="4306824"/>
              <a:ext cx="804672" cy="134874"/>
            </a:xfrm>
            <a:prstGeom prst="line">
              <a:avLst/>
            </a:prstGeom>
            <a:ln w="6350">
              <a:solidFill>
                <a:schemeClr val="tx2">
                  <a:alpha val="30000"/>
                </a:schemeClr>
              </a:solidFill>
            </a:ln>
          </p:spPr>
        </p:cxnSp>
        <p:cxnSp>
          <p:nvCxnSpPr>
            <p:cNvPr id="80" name="edge-80"/>
            <p:cNvCxnSpPr/>
            <p:nvPr/>
          </p:nvCxnSpPr>
          <p:spPr>
            <a:xfrm>
              <a:off x="6867144" y="4306824"/>
              <a:ext cx="804672" cy="276606"/>
            </a:xfrm>
            <a:prstGeom prst="line">
              <a:avLst/>
            </a:prstGeom>
            <a:ln w="6350">
              <a:solidFill>
                <a:schemeClr val="tx2">
                  <a:alpha val="30000"/>
                </a:schemeClr>
              </a:solidFill>
            </a:ln>
          </p:spPr>
        </p:cxnSp>
        <p:cxnSp>
          <p:nvCxnSpPr>
            <p:cNvPr id="81" name="edge-81"/>
            <p:cNvCxnSpPr/>
            <p:nvPr/>
          </p:nvCxnSpPr>
          <p:spPr>
            <a:xfrm flipV="1">
              <a:off x="6867144" y="3591306"/>
              <a:ext cx="804672" cy="861822"/>
            </a:xfrm>
            <a:prstGeom prst="line">
              <a:avLst/>
            </a:prstGeom>
            <a:ln w="6350">
              <a:solidFill>
                <a:schemeClr val="tx2">
                  <a:alpha val="30000"/>
                </a:schemeClr>
              </a:solidFill>
            </a:ln>
          </p:spPr>
        </p:cxnSp>
        <p:cxnSp>
          <p:nvCxnSpPr>
            <p:cNvPr id="82" name="edge-82"/>
            <p:cNvCxnSpPr/>
            <p:nvPr/>
          </p:nvCxnSpPr>
          <p:spPr>
            <a:xfrm flipV="1">
              <a:off x="6867144" y="3733038"/>
              <a:ext cx="804672" cy="720090"/>
            </a:xfrm>
            <a:prstGeom prst="line">
              <a:avLst/>
            </a:prstGeom>
            <a:ln w="6350">
              <a:solidFill>
                <a:schemeClr val="tx2">
                  <a:alpha val="30000"/>
                </a:schemeClr>
              </a:solidFill>
            </a:ln>
          </p:spPr>
        </p:cxnSp>
        <p:cxnSp>
          <p:nvCxnSpPr>
            <p:cNvPr id="83" name="edge-83"/>
            <p:cNvCxnSpPr/>
            <p:nvPr/>
          </p:nvCxnSpPr>
          <p:spPr>
            <a:xfrm flipV="1">
              <a:off x="6867144" y="3874770"/>
              <a:ext cx="804672" cy="578358"/>
            </a:xfrm>
            <a:prstGeom prst="line">
              <a:avLst/>
            </a:prstGeom>
            <a:ln w="6350">
              <a:solidFill>
                <a:schemeClr val="tx2">
                  <a:alpha val="30000"/>
                </a:schemeClr>
              </a:solidFill>
            </a:ln>
          </p:spPr>
        </p:cxnSp>
        <p:cxnSp>
          <p:nvCxnSpPr>
            <p:cNvPr id="84" name="edge-84"/>
            <p:cNvCxnSpPr/>
            <p:nvPr/>
          </p:nvCxnSpPr>
          <p:spPr>
            <a:xfrm flipV="1">
              <a:off x="6867144" y="4016502"/>
              <a:ext cx="804672" cy="436626"/>
            </a:xfrm>
            <a:prstGeom prst="line">
              <a:avLst/>
            </a:prstGeom>
            <a:ln w="6350">
              <a:solidFill>
                <a:schemeClr val="tx2">
                  <a:alpha val="30000"/>
                </a:schemeClr>
              </a:solidFill>
            </a:ln>
          </p:spPr>
        </p:cxnSp>
        <p:cxnSp>
          <p:nvCxnSpPr>
            <p:cNvPr id="85" name="edge-85"/>
            <p:cNvCxnSpPr/>
            <p:nvPr/>
          </p:nvCxnSpPr>
          <p:spPr>
            <a:xfrm flipV="1">
              <a:off x="6867144" y="4158234"/>
              <a:ext cx="804672" cy="294894"/>
            </a:xfrm>
            <a:prstGeom prst="line">
              <a:avLst/>
            </a:prstGeom>
            <a:ln w="6350">
              <a:solidFill>
                <a:schemeClr val="tx2">
                  <a:alpha val="30000"/>
                </a:schemeClr>
              </a:solidFill>
            </a:ln>
          </p:spPr>
        </p:cxnSp>
        <p:cxnSp>
          <p:nvCxnSpPr>
            <p:cNvPr id="86" name="edge-86"/>
            <p:cNvCxnSpPr/>
            <p:nvPr/>
          </p:nvCxnSpPr>
          <p:spPr>
            <a:xfrm flipV="1">
              <a:off x="6867144" y="4299966"/>
              <a:ext cx="804672" cy="153162"/>
            </a:xfrm>
            <a:prstGeom prst="line">
              <a:avLst/>
            </a:prstGeom>
            <a:ln w="6350">
              <a:solidFill>
                <a:schemeClr val="tx2">
                  <a:alpha val="30000"/>
                </a:schemeClr>
              </a:solidFill>
            </a:ln>
          </p:spPr>
        </p:cxnSp>
        <p:cxnSp>
          <p:nvCxnSpPr>
            <p:cNvPr id="87" name="edge-87"/>
            <p:cNvCxnSpPr/>
            <p:nvPr/>
          </p:nvCxnSpPr>
          <p:spPr>
            <a:xfrm flipV="1">
              <a:off x="6867144" y="4441698"/>
              <a:ext cx="804672" cy="11430"/>
            </a:xfrm>
            <a:prstGeom prst="line">
              <a:avLst/>
            </a:prstGeom>
            <a:ln w="6350">
              <a:solidFill>
                <a:schemeClr val="tx2">
                  <a:alpha val="30000"/>
                </a:schemeClr>
              </a:solidFill>
            </a:ln>
          </p:spPr>
        </p:cxnSp>
        <p:cxnSp>
          <p:nvCxnSpPr>
            <p:cNvPr id="88" name="edge-88"/>
            <p:cNvCxnSpPr/>
            <p:nvPr/>
          </p:nvCxnSpPr>
          <p:spPr>
            <a:xfrm>
              <a:off x="6867144" y="4453128"/>
              <a:ext cx="804672" cy="130302"/>
            </a:xfrm>
            <a:prstGeom prst="line">
              <a:avLst/>
            </a:prstGeom>
            <a:ln w="6350">
              <a:solidFill>
                <a:schemeClr val="tx2">
                  <a:alpha val="30000"/>
                </a:schemeClr>
              </a:solidFill>
            </a:ln>
          </p:spPr>
        </p:cxnSp>
        <p:cxnSp>
          <p:nvCxnSpPr>
            <p:cNvPr id="89" name="edge-89"/>
            <p:cNvCxnSpPr/>
            <p:nvPr/>
          </p:nvCxnSpPr>
          <p:spPr>
            <a:xfrm flipV="1">
              <a:off x="6867144" y="3591306"/>
              <a:ext cx="804672" cy="1008126"/>
            </a:xfrm>
            <a:prstGeom prst="line">
              <a:avLst/>
            </a:prstGeom>
            <a:ln w="6350">
              <a:solidFill>
                <a:schemeClr val="tx2">
                  <a:alpha val="30000"/>
                </a:schemeClr>
              </a:solidFill>
            </a:ln>
          </p:spPr>
        </p:cxnSp>
        <p:cxnSp>
          <p:nvCxnSpPr>
            <p:cNvPr id="90" name="edge-90"/>
            <p:cNvCxnSpPr/>
            <p:nvPr/>
          </p:nvCxnSpPr>
          <p:spPr>
            <a:xfrm flipV="1">
              <a:off x="6867144" y="3733038"/>
              <a:ext cx="804672" cy="866394"/>
            </a:xfrm>
            <a:prstGeom prst="line">
              <a:avLst/>
            </a:prstGeom>
            <a:ln w="6350">
              <a:solidFill>
                <a:schemeClr val="tx2">
                  <a:alpha val="30000"/>
                </a:schemeClr>
              </a:solidFill>
            </a:ln>
          </p:spPr>
        </p:cxnSp>
        <p:cxnSp>
          <p:nvCxnSpPr>
            <p:cNvPr id="91" name="edge-91"/>
            <p:cNvCxnSpPr/>
            <p:nvPr/>
          </p:nvCxnSpPr>
          <p:spPr>
            <a:xfrm flipV="1">
              <a:off x="6867144" y="3874770"/>
              <a:ext cx="804672" cy="724662"/>
            </a:xfrm>
            <a:prstGeom prst="line">
              <a:avLst/>
            </a:prstGeom>
            <a:ln w="6350">
              <a:solidFill>
                <a:schemeClr val="tx2">
                  <a:alpha val="30000"/>
                </a:schemeClr>
              </a:solidFill>
            </a:ln>
          </p:spPr>
        </p:cxnSp>
        <p:cxnSp>
          <p:nvCxnSpPr>
            <p:cNvPr id="92" name="edge-92"/>
            <p:cNvCxnSpPr/>
            <p:nvPr/>
          </p:nvCxnSpPr>
          <p:spPr>
            <a:xfrm flipV="1">
              <a:off x="6867144" y="4016502"/>
              <a:ext cx="804672" cy="582930"/>
            </a:xfrm>
            <a:prstGeom prst="line">
              <a:avLst/>
            </a:prstGeom>
            <a:ln w="6350">
              <a:solidFill>
                <a:schemeClr val="tx2">
                  <a:alpha val="30000"/>
                </a:schemeClr>
              </a:solidFill>
            </a:ln>
          </p:spPr>
        </p:cxnSp>
        <p:cxnSp>
          <p:nvCxnSpPr>
            <p:cNvPr id="93" name="edge-93"/>
            <p:cNvCxnSpPr/>
            <p:nvPr/>
          </p:nvCxnSpPr>
          <p:spPr>
            <a:xfrm flipV="1">
              <a:off x="6867144" y="4158234"/>
              <a:ext cx="804672" cy="441198"/>
            </a:xfrm>
            <a:prstGeom prst="line">
              <a:avLst/>
            </a:prstGeom>
            <a:ln w="6350">
              <a:solidFill>
                <a:schemeClr val="tx2">
                  <a:alpha val="30000"/>
                </a:schemeClr>
              </a:solidFill>
            </a:ln>
          </p:spPr>
        </p:cxnSp>
        <p:cxnSp>
          <p:nvCxnSpPr>
            <p:cNvPr id="94" name="edge-94"/>
            <p:cNvCxnSpPr/>
            <p:nvPr/>
          </p:nvCxnSpPr>
          <p:spPr>
            <a:xfrm flipV="1">
              <a:off x="6867144" y="4299966"/>
              <a:ext cx="804672" cy="299466"/>
            </a:xfrm>
            <a:prstGeom prst="line">
              <a:avLst/>
            </a:prstGeom>
            <a:ln w="6350">
              <a:solidFill>
                <a:schemeClr val="tx2">
                  <a:alpha val="30000"/>
                </a:schemeClr>
              </a:solidFill>
            </a:ln>
          </p:spPr>
        </p:cxnSp>
        <p:cxnSp>
          <p:nvCxnSpPr>
            <p:cNvPr id="95" name="edge-95"/>
            <p:cNvCxnSpPr/>
            <p:nvPr/>
          </p:nvCxnSpPr>
          <p:spPr>
            <a:xfrm flipV="1">
              <a:off x="6867144" y="4441698"/>
              <a:ext cx="804672" cy="157734"/>
            </a:xfrm>
            <a:prstGeom prst="line">
              <a:avLst/>
            </a:prstGeom>
            <a:ln w="6350">
              <a:solidFill>
                <a:schemeClr val="tx2">
                  <a:alpha val="30000"/>
                </a:schemeClr>
              </a:solidFill>
            </a:ln>
          </p:spPr>
        </p:cxnSp>
        <p:cxnSp>
          <p:nvCxnSpPr>
            <p:cNvPr id="96" name="edge-96"/>
            <p:cNvCxnSpPr/>
            <p:nvPr/>
          </p:nvCxnSpPr>
          <p:spPr>
            <a:xfrm flipV="1">
              <a:off x="6867144" y="4583430"/>
              <a:ext cx="804672" cy="16002"/>
            </a:xfrm>
            <a:prstGeom prst="line">
              <a:avLst/>
            </a:prstGeom>
            <a:ln w="6350">
              <a:solidFill>
                <a:schemeClr val="tx2">
                  <a:alpha val="30000"/>
                </a:schemeClr>
              </a:solidFill>
            </a:ln>
          </p:spPr>
        </p:cxnSp>
        <p:cxnSp>
          <p:nvCxnSpPr>
            <p:cNvPr id="97" name="edge-97"/>
            <p:cNvCxnSpPr/>
            <p:nvPr/>
          </p:nvCxnSpPr>
          <p:spPr>
            <a:xfrm>
              <a:off x="7781544" y="3591306"/>
              <a:ext cx="804672" cy="496062"/>
            </a:xfrm>
            <a:prstGeom prst="line">
              <a:avLst/>
            </a:prstGeom>
            <a:ln w="6350">
              <a:solidFill>
                <a:schemeClr val="tx2">
                  <a:alpha val="30000"/>
                </a:schemeClr>
              </a:solidFill>
            </a:ln>
          </p:spPr>
        </p:cxnSp>
        <p:cxnSp>
          <p:nvCxnSpPr>
            <p:cNvPr id="98" name="edge-98"/>
            <p:cNvCxnSpPr/>
            <p:nvPr/>
          </p:nvCxnSpPr>
          <p:spPr>
            <a:xfrm>
              <a:off x="7781544" y="3733038"/>
              <a:ext cx="804672" cy="354330"/>
            </a:xfrm>
            <a:prstGeom prst="line">
              <a:avLst/>
            </a:prstGeom>
            <a:ln w="6350">
              <a:solidFill>
                <a:schemeClr val="tx2">
                  <a:alpha val="30000"/>
                </a:schemeClr>
              </a:solidFill>
            </a:ln>
          </p:spPr>
        </p:cxnSp>
        <p:cxnSp>
          <p:nvCxnSpPr>
            <p:cNvPr id="99" name="edge-99"/>
            <p:cNvCxnSpPr/>
            <p:nvPr/>
          </p:nvCxnSpPr>
          <p:spPr>
            <a:xfrm>
              <a:off x="7781544" y="3874770"/>
              <a:ext cx="804672" cy="212598"/>
            </a:xfrm>
            <a:prstGeom prst="line">
              <a:avLst/>
            </a:prstGeom>
            <a:ln w="6350">
              <a:solidFill>
                <a:schemeClr val="tx2">
                  <a:alpha val="30000"/>
                </a:schemeClr>
              </a:solidFill>
            </a:ln>
          </p:spPr>
        </p:cxnSp>
        <p:cxnSp>
          <p:nvCxnSpPr>
            <p:cNvPr id="100" name="edge-100"/>
            <p:cNvCxnSpPr/>
            <p:nvPr/>
          </p:nvCxnSpPr>
          <p:spPr>
            <a:xfrm>
              <a:off x="7781544" y="4016502"/>
              <a:ext cx="804672" cy="70866"/>
            </a:xfrm>
            <a:prstGeom prst="line">
              <a:avLst/>
            </a:prstGeom>
            <a:ln w="6350">
              <a:solidFill>
                <a:schemeClr val="tx2">
                  <a:alpha val="30000"/>
                </a:schemeClr>
              </a:solidFill>
            </a:ln>
          </p:spPr>
        </p:cxnSp>
        <p:cxnSp>
          <p:nvCxnSpPr>
            <p:cNvPr id="101" name="edge-101"/>
            <p:cNvCxnSpPr/>
            <p:nvPr/>
          </p:nvCxnSpPr>
          <p:spPr>
            <a:xfrm flipV="1">
              <a:off x="7781544" y="4087368"/>
              <a:ext cx="804672" cy="70866"/>
            </a:xfrm>
            <a:prstGeom prst="line">
              <a:avLst/>
            </a:prstGeom>
            <a:ln w="6350">
              <a:solidFill>
                <a:schemeClr val="tx2">
                  <a:alpha val="30000"/>
                </a:schemeClr>
              </a:solidFill>
            </a:ln>
          </p:spPr>
        </p:cxnSp>
        <p:cxnSp>
          <p:nvCxnSpPr>
            <p:cNvPr id="102" name="edge-102"/>
            <p:cNvCxnSpPr/>
            <p:nvPr/>
          </p:nvCxnSpPr>
          <p:spPr>
            <a:xfrm flipV="1">
              <a:off x="7781544" y="4087368"/>
              <a:ext cx="804672" cy="212598"/>
            </a:xfrm>
            <a:prstGeom prst="line">
              <a:avLst/>
            </a:prstGeom>
            <a:ln w="6350">
              <a:solidFill>
                <a:schemeClr val="tx2">
                  <a:alpha val="30000"/>
                </a:schemeClr>
              </a:solidFill>
            </a:ln>
          </p:spPr>
        </p:cxnSp>
        <p:cxnSp>
          <p:nvCxnSpPr>
            <p:cNvPr id="103" name="edge-103"/>
            <p:cNvCxnSpPr/>
            <p:nvPr/>
          </p:nvCxnSpPr>
          <p:spPr>
            <a:xfrm flipV="1">
              <a:off x="7781544" y="4087368"/>
              <a:ext cx="804672" cy="354330"/>
            </a:xfrm>
            <a:prstGeom prst="line">
              <a:avLst/>
            </a:prstGeom>
            <a:ln w="6350">
              <a:solidFill>
                <a:schemeClr val="tx2">
                  <a:alpha val="30000"/>
                </a:schemeClr>
              </a:solidFill>
            </a:ln>
          </p:spPr>
        </p:cxnSp>
        <p:cxnSp>
          <p:nvCxnSpPr>
            <p:cNvPr id="104" name="edge-104"/>
            <p:cNvCxnSpPr/>
            <p:nvPr/>
          </p:nvCxnSpPr>
          <p:spPr>
            <a:xfrm flipV="1">
              <a:off x="7781544" y="4087368"/>
              <a:ext cx="804672" cy="496062"/>
            </a:xfrm>
            <a:prstGeom prst="line">
              <a:avLst/>
            </a:prstGeom>
            <a:ln w="6350">
              <a:solidFill>
                <a:schemeClr val="tx2">
                  <a:alpha val="30000"/>
                </a:schemeClr>
              </a:solidFill>
            </a:ln>
          </p:spPr>
        </p:cxnSp>
        <p:sp>
          <p:nvSpPr>
            <p:cNvPr id="105" name="node-105"/>
            <p:cNvSpPr/>
            <p:nvPr/>
          </p:nvSpPr>
          <p:spPr>
            <a:xfrm>
              <a:off x="6757416" y="3520440"/>
              <a:ext cx="109728" cy="109728"/>
            </a:xfrm>
            <a:prstGeom prst="ellipse">
              <a:avLst/>
            </a:prstGeom>
            <a:solidFill>
              <a:schemeClr val="tx2"/>
            </a:solidFill>
            <a:ln/>
          </p:spPr>
          <p:txBody>
            <a:bodyPr/>
            <a:lstStyle/>
            <a:p>
              <a:endParaRPr lang="en-US"/>
            </a:p>
          </p:txBody>
        </p:sp>
        <p:sp>
          <p:nvSpPr>
            <p:cNvPr id="106" name="node-106"/>
            <p:cNvSpPr/>
            <p:nvPr/>
          </p:nvSpPr>
          <p:spPr>
            <a:xfrm>
              <a:off x="6757416" y="3666744"/>
              <a:ext cx="109728" cy="109728"/>
            </a:xfrm>
            <a:prstGeom prst="ellipse">
              <a:avLst/>
            </a:prstGeom>
            <a:solidFill>
              <a:schemeClr val="tx2"/>
            </a:solidFill>
            <a:ln/>
          </p:spPr>
          <p:txBody>
            <a:bodyPr/>
            <a:lstStyle/>
            <a:p>
              <a:endParaRPr lang="en-US"/>
            </a:p>
          </p:txBody>
        </p:sp>
        <p:sp>
          <p:nvSpPr>
            <p:cNvPr id="107" name="node-107"/>
            <p:cNvSpPr/>
            <p:nvPr/>
          </p:nvSpPr>
          <p:spPr>
            <a:xfrm>
              <a:off x="6757416" y="3813048"/>
              <a:ext cx="109728" cy="109728"/>
            </a:xfrm>
            <a:prstGeom prst="ellipse">
              <a:avLst/>
            </a:prstGeom>
            <a:solidFill>
              <a:schemeClr val="tx2"/>
            </a:solidFill>
            <a:ln/>
          </p:spPr>
          <p:txBody>
            <a:bodyPr/>
            <a:lstStyle/>
            <a:p>
              <a:endParaRPr lang="en-US"/>
            </a:p>
          </p:txBody>
        </p:sp>
        <p:sp>
          <p:nvSpPr>
            <p:cNvPr id="108" name="node-108"/>
            <p:cNvSpPr/>
            <p:nvPr/>
          </p:nvSpPr>
          <p:spPr>
            <a:xfrm>
              <a:off x="6757416" y="4251960"/>
              <a:ext cx="109728" cy="109728"/>
            </a:xfrm>
            <a:prstGeom prst="ellipse">
              <a:avLst/>
            </a:prstGeom>
            <a:solidFill>
              <a:schemeClr val="tx2"/>
            </a:solidFill>
            <a:ln/>
          </p:spPr>
          <p:txBody>
            <a:bodyPr/>
            <a:lstStyle/>
            <a:p>
              <a:endParaRPr lang="en-US"/>
            </a:p>
          </p:txBody>
        </p:sp>
        <p:sp>
          <p:nvSpPr>
            <p:cNvPr id="109" name="node-109"/>
            <p:cNvSpPr/>
            <p:nvPr/>
          </p:nvSpPr>
          <p:spPr>
            <a:xfrm>
              <a:off x="6757416" y="4398264"/>
              <a:ext cx="109728" cy="109728"/>
            </a:xfrm>
            <a:prstGeom prst="ellipse">
              <a:avLst/>
            </a:prstGeom>
            <a:solidFill>
              <a:schemeClr val="tx2"/>
            </a:solidFill>
            <a:ln/>
          </p:spPr>
          <p:txBody>
            <a:bodyPr/>
            <a:lstStyle/>
            <a:p>
              <a:endParaRPr lang="en-US"/>
            </a:p>
          </p:txBody>
        </p:sp>
        <p:sp>
          <p:nvSpPr>
            <p:cNvPr id="110" name="node-110"/>
            <p:cNvSpPr/>
            <p:nvPr/>
          </p:nvSpPr>
          <p:spPr>
            <a:xfrm>
              <a:off x="6757416" y="4544568"/>
              <a:ext cx="109728" cy="109728"/>
            </a:xfrm>
            <a:prstGeom prst="ellipse">
              <a:avLst/>
            </a:prstGeom>
            <a:solidFill>
              <a:schemeClr val="tx2"/>
            </a:solidFill>
            <a:ln/>
          </p:spPr>
          <p:txBody>
            <a:bodyPr/>
            <a:lstStyle/>
            <a:p>
              <a:endParaRPr lang="en-US"/>
            </a:p>
          </p:txBody>
        </p:sp>
        <p:sp>
          <p:nvSpPr>
            <p:cNvPr id="111" name="ellipsis-111"/>
            <p:cNvSpPr txBox="1"/>
            <p:nvPr/>
          </p:nvSpPr>
          <p:spPr>
            <a:xfrm>
              <a:off x="6629400" y="3977640"/>
              <a:ext cx="365760" cy="219456"/>
            </a:xfrm>
            <a:prstGeom prst="rect">
              <a:avLst/>
            </a:prstGeom>
            <a:noFill/>
            <a:ln/>
          </p:spPr>
          <p:txBody>
            <a:bodyPr wrap="square" lIns="0" tIns="0" rIns="0" bIns="0" rtlCol="0" anchor="ctr"/>
            <a:lstStyle/>
            <a:p>
              <a:pPr marL="0" indent="0" algn="ctr">
                <a:spcBef>
                  <a:spcPts val="0"/>
                </a:spcBef>
                <a:buNone/>
              </a:pPr>
              <a:r>
                <a:rPr lang="en-US" sz="1200" b="1" dirty="0">
                  <a:solidFill>
                    <a:schemeClr val="tx2"/>
                  </a:solidFill>
                </a:rPr>
                <a:t>⋮</a:t>
              </a:r>
            </a:p>
          </p:txBody>
        </p:sp>
        <p:sp>
          <p:nvSpPr>
            <p:cNvPr id="112" name="layer-label-112"/>
            <p:cNvSpPr txBox="1"/>
            <p:nvPr/>
          </p:nvSpPr>
          <p:spPr>
            <a:xfrm>
              <a:off x="6373368" y="4709160"/>
              <a:ext cx="877824"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14 inputs</a:t>
              </a:r>
            </a:p>
          </p:txBody>
        </p:sp>
        <p:sp>
          <p:nvSpPr>
            <p:cNvPr id="113" name="node-113"/>
            <p:cNvSpPr/>
            <p:nvPr/>
          </p:nvSpPr>
          <p:spPr>
            <a:xfrm>
              <a:off x="7671816" y="3536442"/>
              <a:ext cx="109728" cy="109728"/>
            </a:xfrm>
            <a:prstGeom prst="ellipse">
              <a:avLst/>
            </a:prstGeom>
            <a:solidFill>
              <a:schemeClr val="tx1"/>
            </a:solidFill>
            <a:ln/>
          </p:spPr>
          <p:txBody>
            <a:bodyPr/>
            <a:lstStyle/>
            <a:p>
              <a:endParaRPr lang="en-US"/>
            </a:p>
          </p:txBody>
        </p:sp>
        <p:sp>
          <p:nvSpPr>
            <p:cNvPr id="114" name="node-114"/>
            <p:cNvSpPr/>
            <p:nvPr/>
          </p:nvSpPr>
          <p:spPr>
            <a:xfrm>
              <a:off x="7671816" y="3678174"/>
              <a:ext cx="109728" cy="109728"/>
            </a:xfrm>
            <a:prstGeom prst="ellipse">
              <a:avLst/>
            </a:prstGeom>
            <a:solidFill>
              <a:schemeClr val="tx1"/>
            </a:solidFill>
            <a:ln/>
          </p:spPr>
          <p:txBody>
            <a:bodyPr/>
            <a:lstStyle/>
            <a:p>
              <a:endParaRPr lang="en-US"/>
            </a:p>
          </p:txBody>
        </p:sp>
        <p:sp>
          <p:nvSpPr>
            <p:cNvPr id="115" name="node-115"/>
            <p:cNvSpPr/>
            <p:nvPr/>
          </p:nvSpPr>
          <p:spPr>
            <a:xfrm>
              <a:off x="7671816" y="3819906"/>
              <a:ext cx="109728" cy="109728"/>
            </a:xfrm>
            <a:prstGeom prst="ellipse">
              <a:avLst/>
            </a:prstGeom>
            <a:solidFill>
              <a:schemeClr val="tx1"/>
            </a:solidFill>
            <a:ln/>
          </p:spPr>
          <p:txBody>
            <a:bodyPr/>
            <a:lstStyle/>
            <a:p>
              <a:endParaRPr lang="en-US"/>
            </a:p>
          </p:txBody>
        </p:sp>
        <p:sp>
          <p:nvSpPr>
            <p:cNvPr id="116" name="node-116"/>
            <p:cNvSpPr/>
            <p:nvPr/>
          </p:nvSpPr>
          <p:spPr>
            <a:xfrm>
              <a:off x="7671816" y="3961638"/>
              <a:ext cx="109728" cy="109728"/>
            </a:xfrm>
            <a:prstGeom prst="ellipse">
              <a:avLst/>
            </a:prstGeom>
            <a:solidFill>
              <a:schemeClr val="tx1"/>
            </a:solidFill>
            <a:ln/>
          </p:spPr>
          <p:txBody>
            <a:bodyPr/>
            <a:lstStyle/>
            <a:p>
              <a:endParaRPr lang="en-US"/>
            </a:p>
          </p:txBody>
        </p:sp>
        <p:sp>
          <p:nvSpPr>
            <p:cNvPr id="117" name="node-117"/>
            <p:cNvSpPr/>
            <p:nvPr/>
          </p:nvSpPr>
          <p:spPr>
            <a:xfrm>
              <a:off x="7671816" y="4103370"/>
              <a:ext cx="109728" cy="109728"/>
            </a:xfrm>
            <a:prstGeom prst="ellipse">
              <a:avLst/>
            </a:prstGeom>
            <a:solidFill>
              <a:schemeClr val="tx1"/>
            </a:solidFill>
            <a:ln/>
          </p:spPr>
          <p:txBody>
            <a:bodyPr/>
            <a:lstStyle/>
            <a:p>
              <a:endParaRPr lang="en-US"/>
            </a:p>
          </p:txBody>
        </p:sp>
        <p:sp>
          <p:nvSpPr>
            <p:cNvPr id="118" name="node-118"/>
            <p:cNvSpPr/>
            <p:nvPr/>
          </p:nvSpPr>
          <p:spPr>
            <a:xfrm>
              <a:off x="7671816" y="4245102"/>
              <a:ext cx="109728" cy="109728"/>
            </a:xfrm>
            <a:prstGeom prst="ellipse">
              <a:avLst/>
            </a:prstGeom>
            <a:solidFill>
              <a:schemeClr val="tx1"/>
            </a:solidFill>
            <a:ln/>
          </p:spPr>
          <p:txBody>
            <a:bodyPr/>
            <a:lstStyle/>
            <a:p>
              <a:endParaRPr lang="en-US"/>
            </a:p>
          </p:txBody>
        </p:sp>
        <p:sp>
          <p:nvSpPr>
            <p:cNvPr id="119" name="node-119"/>
            <p:cNvSpPr/>
            <p:nvPr/>
          </p:nvSpPr>
          <p:spPr>
            <a:xfrm>
              <a:off x="7671816" y="4386834"/>
              <a:ext cx="109728" cy="109728"/>
            </a:xfrm>
            <a:prstGeom prst="ellipse">
              <a:avLst/>
            </a:prstGeom>
            <a:solidFill>
              <a:schemeClr val="tx1"/>
            </a:solidFill>
            <a:ln/>
          </p:spPr>
          <p:txBody>
            <a:bodyPr/>
            <a:lstStyle/>
            <a:p>
              <a:endParaRPr lang="en-US"/>
            </a:p>
          </p:txBody>
        </p:sp>
        <p:sp>
          <p:nvSpPr>
            <p:cNvPr id="120" name="node-120"/>
            <p:cNvSpPr/>
            <p:nvPr/>
          </p:nvSpPr>
          <p:spPr>
            <a:xfrm>
              <a:off x="7671816" y="4528566"/>
              <a:ext cx="109728" cy="109728"/>
            </a:xfrm>
            <a:prstGeom prst="ellipse">
              <a:avLst/>
            </a:prstGeom>
            <a:solidFill>
              <a:schemeClr val="tx1"/>
            </a:solidFill>
            <a:ln/>
          </p:spPr>
          <p:txBody>
            <a:bodyPr/>
            <a:lstStyle/>
            <a:p>
              <a:endParaRPr lang="en-US"/>
            </a:p>
          </p:txBody>
        </p:sp>
        <p:sp>
          <p:nvSpPr>
            <p:cNvPr id="121" name="layer-label-121"/>
            <p:cNvSpPr txBox="1"/>
            <p:nvPr/>
          </p:nvSpPr>
          <p:spPr>
            <a:xfrm>
              <a:off x="7287768" y="4709160"/>
              <a:ext cx="877824"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8 hidden</a:t>
              </a:r>
            </a:p>
          </p:txBody>
        </p:sp>
        <p:sp>
          <p:nvSpPr>
            <p:cNvPr id="122" name="node-122"/>
            <p:cNvSpPr/>
            <p:nvPr/>
          </p:nvSpPr>
          <p:spPr>
            <a:xfrm>
              <a:off x="8586216" y="4032504"/>
              <a:ext cx="109728" cy="109728"/>
            </a:xfrm>
            <a:prstGeom prst="ellipse">
              <a:avLst/>
            </a:prstGeom>
            <a:solidFill>
              <a:schemeClr val="accent1"/>
            </a:solidFill>
            <a:ln/>
          </p:spPr>
          <p:txBody>
            <a:bodyPr/>
            <a:lstStyle/>
            <a:p>
              <a:endParaRPr lang="en-US"/>
            </a:p>
          </p:txBody>
        </p:sp>
        <p:sp>
          <p:nvSpPr>
            <p:cNvPr id="123" name="layer-label-123"/>
            <p:cNvSpPr txBox="1"/>
            <p:nvPr/>
          </p:nvSpPr>
          <p:spPr>
            <a:xfrm>
              <a:off x="8202168" y="4709160"/>
              <a:ext cx="877824"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1 output</a:t>
              </a:r>
            </a:p>
          </p:txBody>
        </p:sp>
        <p:sp>
          <p:nvSpPr>
            <p:cNvPr id="124" name="param-math-124"/>
            <p:cNvSpPr txBox="1"/>
            <p:nvPr/>
          </p:nvSpPr>
          <p:spPr>
            <a:xfrm>
              <a:off x="9235440" y="3520440"/>
              <a:ext cx="2404872" cy="1389888"/>
            </a:xfrm>
            <a:prstGeom prst="rect">
              <a:avLst/>
            </a:prstGeom>
            <a:noFill/>
            <a:ln/>
          </p:spPr>
          <p:txBody>
            <a:bodyPr wrap="square" lIns="0" tIns="0" rIns="0" bIns="0" rtlCol="0" anchor="ctr"/>
            <a:lstStyle/>
            <a:p>
              <a:pPr marL="0" indent="0" algn="l">
                <a:spcBef>
                  <a:spcPts val="0"/>
                </a:spcBef>
                <a:buNone/>
              </a:pPr>
              <a:r>
                <a:rPr lang="en-US" sz="1050" dirty="0">
                  <a:solidFill>
                    <a:schemeClr val="tx2"/>
                  </a:solidFill>
                </a:rPr>
                <a:t>weights + biases</a:t>
              </a:r>
            </a:p>
            <a:p>
              <a:pPr marL="0" indent="0" algn="l">
                <a:spcBef>
                  <a:spcPts val="400"/>
                </a:spcBef>
                <a:buNone/>
              </a:pPr>
              <a:r>
                <a:rPr lang="en-US" sz="1200" dirty="0">
                  <a:solidFill>
                    <a:schemeClr val="tx1"/>
                  </a:solidFill>
                </a:rPr>
                <a:t>in → hidden: 14×8 + 8 = 120</a:t>
              </a:r>
            </a:p>
            <a:p>
              <a:pPr marL="0" indent="0" algn="l">
                <a:spcBef>
                  <a:spcPts val="300"/>
                </a:spcBef>
                <a:buNone/>
              </a:pPr>
              <a:r>
                <a:rPr lang="en-US" sz="1200" dirty="0">
                  <a:solidFill>
                    <a:schemeClr val="tx1"/>
                  </a:solidFill>
                </a:rPr>
                <a:t>hidden → out: 8×1 + 1 = 9</a:t>
              </a:r>
            </a:p>
            <a:p>
              <a:pPr marL="0" indent="0" algn="l">
                <a:spcBef>
                  <a:spcPts val="500"/>
                </a:spcBef>
                <a:buNone/>
              </a:pPr>
              <a:r>
                <a:rPr lang="en-US" sz="1300" b="1" dirty="0">
                  <a:solidFill>
                    <a:schemeClr val="accent1"/>
                  </a:solidFill>
                </a:rPr>
                <a:t>total = 129</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3. Global, open-loop</a:t>
            </a:r>
            <a:endParaRPr lang="en-US" sz="3200" dirty="0"/>
          </a:p>
        </p:txBody>
      </p:sp>
      <p:sp>
        <p:nvSpPr>
          <p:cNvPr id="3" name="voxel-413"/>
          <p:cNvSpPr/>
          <p:nvPr/>
        </p:nvSpPr>
        <p:spPr>
          <a:xfrm>
            <a:off x="571317" y="1622877"/>
            <a:ext cx="521574" cy="521574"/>
          </a:xfrm>
          <a:prstGeom prst="rect">
            <a:avLst/>
          </a:prstGeom>
          <a:solidFill>
            <a:schemeClr val="accent1"/>
          </a:solidFill>
          <a:ln/>
        </p:spPr>
        <p:txBody>
          <a:bodyPr/>
          <a:lstStyle/>
          <a:p>
            <a:endParaRPr lang="en-US"/>
          </a:p>
        </p:txBody>
      </p:sp>
      <p:sp>
        <p:nvSpPr>
          <p:cNvPr id="4" name="voxel-414"/>
          <p:cNvSpPr/>
          <p:nvPr/>
        </p:nvSpPr>
        <p:spPr>
          <a:xfrm>
            <a:off x="1138245" y="1622877"/>
            <a:ext cx="521574" cy="521574"/>
          </a:xfrm>
          <a:prstGeom prst="rect">
            <a:avLst/>
          </a:prstGeom>
          <a:solidFill>
            <a:schemeClr val="accent1"/>
          </a:solidFill>
          <a:ln/>
        </p:spPr>
        <p:txBody>
          <a:bodyPr/>
          <a:lstStyle/>
          <a:p>
            <a:endParaRPr lang="en-US"/>
          </a:p>
        </p:txBody>
      </p:sp>
      <p:sp>
        <p:nvSpPr>
          <p:cNvPr id="5" name="voxel-415"/>
          <p:cNvSpPr/>
          <p:nvPr/>
        </p:nvSpPr>
        <p:spPr>
          <a:xfrm>
            <a:off x="1705173" y="1622877"/>
            <a:ext cx="521574" cy="521574"/>
          </a:xfrm>
          <a:prstGeom prst="rect">
            <a:avLst/>
          </a:prstGeom>
          <a:solidFill>
            <a:schemeClr val="accent1"/>
          </a:solidFill>
          <a:ln/>
        </p:spPr>
        <p:txBody>
          <a:bodyPr/>
          <a:lstStyle/>
          <a:p>
            <a:endParaRPr lang="en-US"/>
          </a:p>
        </p:txBody>
      </p:sp>
      <p:sp>
        <p:nvSpPr>
          <p:cNvPr id="6" name="voxel-416"/>
          <p:cNvSpPr/>
          <p:nvPr/>
        </p:nvSpPr>
        <p:spPr>
          <a:xfrm>
            <a:off x="2272101" y="1622877"/>
            <a:ext cx="521574" cy="521574"/>
          </a:xfrm>
          <a:prstGeom prst="rect">
            <a:avLst/>
          </a:prstGeom>
          <a:solidFill>
            <a:schemeClr val="accent1"/>
          </a:solidFill>
          <a:ln/>
        </p:spPr>
        <p:txBody>
          <a:bodyPr/>
          <a:lstStyle/>
          <a:p>
            <a:endParaRPr lang="en-US"/>
          </a:p>
        </p:txBody>
      </p:sp>
      <p:sp>
        <p:nvSpPr>
          <p:cNvPr id="7" name="voxel-417"/>
          <p:cNvSpPr/>
          <p:nvPr/>
        </p:nvSpPr>
        <p:spPr>
          <a:xfrm>
            <a:off x="2839029" y="1622877"/>
            <a:ext cx="521574" cy="521574"/>
          </a:xfrm>
          <a:prstGeom prst="rect">
            <a:avLst/>
          </a:prstGeom>
          <a:solidFill>
            <a:schemeClr val="accent1"/>
          </a:solidFill>
          <a:ln/>
        </p:spPr>
        <p:txBody>
          <a:bodyPr/>
          <a:lstStyle/>
          <a:p>
            <a:endParaRPr lang="en-US"/>
          </a:p>
        </p:txBody>
      </p:sp>
      <p:sp>
        <p:nvSpPr>
          <p:cNvPr id="8" name="voxel-418"/>
          <p:cNvSpPr/>
          <p:nvPr/>
        </p:nvSpPr>
        <p:spPr>
          <a:xfrm>
            <a:off x="571317" y="2189805"/>
            <a:ext cx="521574" cy="521574"/>
          </a:xfrm>
          <a:prstGeom prst="rect">
            <a:avLst/>
          </a:prstGeom>
          <a:solidFill>
            <a:schemeClr val="accent1"/>
          </a:solidFill>
          <a:ln/>
        </p:spPr>
        <p:txBody>
          <a:bodyPr/>
          <a:lstStyle/>
          <a:p>
            <a:endParaRPr lang="en-US"/>
          </a:p>
        </p:txBody>
      </p:sp>
      <p:sp>
        <p:nvSpPr>
          <p:cNvPr id="9" name="voxel-419"/>
          <p:cNvSpPr/>
          <p:nvPr/>
        </p:nvSpPr>
        <p:spPr>
          <a:xfrm>
            <a:off x="1138245" y="2189805"/>
            <a:ext cx="521574" cy="521574"/>
          </a:xfrm>
          <a:prstGeom prst="rect">
            <a:avLst/>
          </a:prstGeom>
          <a:solidFill>
            <a:schemeClr val="accent1"/>
          </a:solidFill>
          <a:ln/>
        </p:spPr>
        <p:txBody>
          <a:bodyPr/>
          <a:lstStyle/>
          <a:p>
            <a:endParaRPr lang="en-US"/>
          </a:p>
        </p:txBody>
      </p:sp>
      <p:sp>
        <p:nvSpPr>
          <p:cNvPr id="10" name="voxel-420"/>
          <p:cNvSpPr/>
          <p:nvPr/>
        </p:nvSpPr>
        <p:spPr>
          <a:xfrm>
            <a:off x="1705173" y="2189805"/>
            <a:ext cx="521574" cy="521574"/>
          </a:xfrm>
          <a:prstGeom prst="rect">
            <a:avLst/>
          </a:prstGeom>
          <a:solidFill>
            <a:schemeClr val="accent1"/>
          </a:solidFill>
          <a:ln/>
        </p:spPr>
        <p:txBody>
          <a:bodyPr/>
          <a:lstStyle/>
          <a:p>
            <a:endParaRPr lang="en-US"/>
          </a:p>
        </p:txBody>
      </p:sp>
      <p:sp>
        <p:nvSpPr>
          <p:cNvPr id="11" name="voxel-421"/>
          <p:cNvSpPr/>
          <p:nvPr/>
        </p:nvSpPr>
        <p:spPr>
          <a:xfrm>
            <a:off x="2272101" y="2189805"/>
            <a:ext cx="521574" cy="521574"/>
          </a:xfrm>
          <a:prstGeom prst="rect">
            <a:avLst/>
          </a:prstGeom>
          <a:solidFill>
            <a:schemeClr val="accent1"/>
          </a:solidFill>
          <a:ln/>
        </p:spPr>
        <p:txBody>
          <a:bodyPr/>
          <a:lstStyle/>
          <a:p>
            <a:endParaRPr lang="en-US"/>
          </a:p>
        </p:txBody>
      </p:sp>
      <p:sp>
        <p:nvSpPr>
          <p:cNvPr id="12" name="voxel-422"/>
          <p:cNvSpPr/>
          <p:nvPr/>
        </p:nvSpPr>
        <p:spPr>
          <a:xfrm>
            <a:off x="2839029" y="2189805"/>
            <a:ext cx="521574" cy="521574"/>
          </a:xfrm>
          <a:prstGeom prst="rect">
            <a:avLst/>
          </a:prstGeom>
          <a:solidFill>
            <a:schemeClr val="accent1"/>
          </a:solidFill>
          <a:ln/>
        </p:spPr>
        <p:txBody>
          <a:bodyPr/>
          <a:lstStyle/>
          <a:p>
            <a:endParaRPr lang="en-US"/>
          </a:p>
        </p:txBody>
      </p:sp>
      <p:sp>
        <p:nvSpPr>
          <p:cNvPr id="13" name="voxel-423"/>
          <p:cNvSpPr/>
          <p:nvPr/>
        </p:nvSpPr>
        <p:spPr>
          <a:xfrm>
            <a:off x="571317" y="2756733"/>
            <a:ext cx="521574" cy="521574"/>
          </a:xfrm>
          <a:prstGeom prst="rect">
            <a:avLst/>
          </a:prstGeom>
          <a:solidFill>
            <a:schemeClr val="accent1"/>
          </a:solidFill>
          <a:ln/>
        </p:spPr>
        <p:txBody>
          <a:bodyPr/>
          <a:lstStyle/>
          <a:p>
            <a:endParaRPr lang="en-US"/>
          </a:p>
        </p:txBody>
      </p:sp>
      <p:sp>
        <p:nvSpPr>
          <p:cNvPr id="14" name="voxel-424"/>
          <p:cNvSpPr/>
          <p:nvPr/>
        </p:nvSpPr>
        <p:spPr>
          <a:xfrm>
            <a:off x="1138245" y="2756733"/>
            <a:ext cx="521574" cy="521574"/>
          </a:xfrm>
          <a:prstGeom prst="rect">
            <a:avLst/>
          </a:prstGeom>
          <a:solidFill>
            <a:schemeClr val="accent1"/>
          </a:solidFill>
          <a:ln/>
        </p:spPr>
        <p:txBody>
          <a:bodyPr/>
          <a:lstStyle/>
          <a:p>
            <a:endParaRPr lang="en-US"/>
          </a:p>
        </p:txBody>
      </p:sp>
      <p:sp>
        <p:nvSpPr>
          <p:cNvPr id="15" name="voxel-425"/>
          <p:cNvSpPr/>
          <p:nvPr/>
        </p:nvSpPr>
        <p:spPr>
          <a:xfrm>
            <a:off x="2272101" y="2756733"/>
            <a:ext cx="521574" cy="521574"/>
          </a:xfrm>
          <a:prstGeom prst="rect">
            <a:avLst/>
          </a:prstGeom>
          <a:solidFill>
            <a:schemeClr val="accent1"/>
          </a:solidFill>
          <a:ln/>
        </p:spPr>
        <p:txBody>
          <a:bodyPr/>
          <a:lstStyle/>
          <a:p>
            <a:endParaRPr lang="en-US"/>
          </a:p>
        </p:txBody>
      </p:sp>
      <p:sp>
        <p:nvSpPr>
          <p:cNvPr id="16" name="voxel-426"/>
          <p:cNvSpPr/>
          <p:nvPr/>
        </p:nvSpPr>
        <p:spPr>
          <a:xfrm>
            <a:off x="2839029" y="2756733"/>
            <a:ext cx="521574" cy="521574"/>
          </a:xfrm>
          <a:prstGeom prst="rect">
            <a:avLst/>
          </a:prstGeom>
          <a:solidFill>
            <a:schemeClr val="accent1"/>
          </a:solidFill>
          <a:ln/>
        </p:spPr>
        <p:txBody>
          <a:bodyPr/>
          <a:lstStyle/>
          <a:p>
            <a:endParaRPr lang="en-US"/>
          </a:p>
        </p:txBody>
      </p:sp>
      <p:sp>
        <p:nvSpPr>
          <p:cNvPr id="17" name="voxel-427"/>
          <p:cNvSpPr/>
          <p:nvPr/>
        </p:nvSpPr>
        <p:spPr>
          <a:xfrm>
            <a:off x="571317" y="3323661"/>
            <a:ext cx="521574" cy="521574"/>
          </a:xfrm>
          <a:prstGeom prst="rect">
            <a:avLst/>
          </a:prstGeom>
          <a:solidFill>
            <a:schemeClr val="accent1"/>
          </a:solidFill>
          <a:ln/>
        </p:spPr>
        <p:txBody>
          <a:bodyPr/>
          <a:lstStyle/>
          <a:p>
            <a:endParaRPr lang="en-US"/>
          </a:p>
        </p:txBody>
      </p:sp>
      <p:sp>
        <p:nvSpPr>
          <p:cNvPr id="18" name="voxel-428"/>
          <p:cNvSpPr/>
          <p:nvPr/>
        </p:nvSpPr>
        <p:spPr>
          <a:xfrm>
            <a:off x="1138245" y="3323661"/>
            <a:ext cx="521574" cy="521574"/>
          </a:xfrm>
          <a:prstGeom prst="rect">
            <a:avLst/>
          </a:prstGeom>
          <a:solidFill>
            <a:schemeClr val="accent1"/>
          </a:solidFill>
          <a:ln/>
        </p:spPr>
        <p:txBody>
          <a:bodyPr/>
          <a:lstStyle/>
          <a:p>
            <a:endParaRPr lang="en-US"/>
          </a:p>
        </p:txBody>
      </p:sp>
      <p:sp>
        <p:nvSpPr>
          <p:cNvPr id="19" name="voxel-429"/>
          <p:cNvSpPr/>
          <p:nvPr/>
        </p:nvSpPr>
        <p:spPr>
          <a:xfrm>
            <a:off x="2272101" y="3323661"/>
            <a:ext cx="521574" cy="521574"/>
          </a:xfrm>
          <a:prstGeom prst="rect">
            <a:avLst/>
          </a:prstGeom>
          <a:solidFill>
            <a:schemeClr val="accent1"/>
          </a:solidFill>
          <a:ln/>
        </p:spPr>
        <p:txBody>
          <a:bodyPr/>
          <a:lstStyle/>
          <a:p>
            <a:endParaRPr lang="en-US"/>
          </a:p>
        </p:txBody>
      </p:sp>
      <p:sp>
        <p:nvSpPr>
          <p:cNvPr id="20" name="voxel-430"/>
          <p:cNvSpPr/>
          <p:nvPr/>
        </p:nvSpPr>
        <p:spPr>
          <a:xfrm>
            <a:off x="2839029" y="3323661"/>
            <a:ext cx="521574" cy="521574"/>
          </a:xfrm>
          <a:prstGeom prst="rect">
            <a:avLst/>
          </a:prstGeom>
          <a:solidFill>
            <a:schemeClr val="accent1"/>
          </a:solidFill>
          <a:ln/>
        </p:spPr>
        <p:txBody>
          <a:bodyPr/>
          <a:lstStyle/>
          <a:p>
            <a:endParaRPr lang="en-US"/>
          </a:p>
        </p:txBody>
      </p:sp>
      <p:sp>
        <p:nvSpPr>
          <p:cNvPr id="21" name="voxel-431"/>
          <p:cNvSpPr/>
          <p:nvPr/>
        </p:nvSpPr>
        <p:spPr>
          <a:xfrm>
            <a:off x="571317" y="3890589"/>
            <a:ext cx="521574" cy="521574"/>
          </a:xfrm>
          <a:prstGeom prst="rect">
            <a:avLst/>
          </a:prstGeom>
          <a:solidFill>
            <a:schemeClr val="accent1"/>
          </a:solidFill>
          <a:ln/>
        </p:spPr>
        <p:txBody>
          <a:bodyPr/>
          <a:lstStyle/>
          <a:p>
            <a:endParaRPr lang="en-US"/>
          </a:p>
        </p:txBody>
      </p:sp>
      <p:sp>
        <p:nvSpPr>
          <p:cNvPr id="22" name="voxel-432"/>
          <p:cNvSpPr/>
          <p:nvPr/>
        </p:nvSpPr>
        <p:spPr>
          <a:xfrm>
            <a:off x="1138245" y="3890589"/>
            <a:ext cx="521574" cy="521574"/>
          </a:xfrm>
          <a:prstGeom prst="rect">
            <a:avLst/>
          </a:prstGeom>
          <a:solidFill>
            <a:schemeClr val="accent1"/>
          </a:solidFill>
          <a:ln/>
        </p:spPr>
        <p:txBody>
          <a:bodyPr/>
          <a:lstStyle/>
          <a:p>
            <a:endParaRPr lang="en-US"/>
          </a:p>
        </p:txBody>
      </p:sp>
      <p:sp>
        <p:nvSpPr>
          <p:cNvPr id="23" name="voxel-433"/>
          <p:cNvSpPr/>
          <p:nvPr/>
        </p:nvSpPr>
        <p:spPr>
          <a:xfrm>
            <a:off x="2272101" y="3890589"/>
            <a:ext cx="521574" cy="521574"/>
          </a:xfrm>
          <a:prstGeom prst="rect">
            <a:avLst/>
          </a:prstGeom>
          <a:solidFill>
            <a:schemeClr val="accent1"/>
          </a:solidFill>
          <a:ln/>
        </p:spPr>
        <p:txBody>
          <a:bodyPr/>
          <a:lstStyle/>
          <a:p>
            <a:endParaRPr lang="en-US"/>
          </a:p>
        </p:txBody>
      </p:sp>
      <p:sp>
        <p:nvSpPr>
          <p:cNvPr id="24" name="voxel-434"/>
          <p:cNvSpPr/>
          <p:nvPr/>
        </p:nvSpPr>
        <p:spPr>
          <a:xfrm>
            <a:off x="2839029" y="3890589"/>
            <a:ext cx="521574" cy="521574"/>
          </a:xfrm>
          <a:prstGeom prst="rect">
            <a:avLst/>
          </a:prstGeom>
          <a:solidFill>
            <a:schemeClr val="accent1"/>
          </a:solidFill>
          <a:ln/>
        </p:spPr>
        <p:txBody>
          <a:bodyPr/>
          <a:lstStyle/>
          <a:p>
            <a:endParaRPr lang="en-US"/>
          </a:p>
        </p:txBody>
      </p:sp>
      <p:sp>
        <p:nvSpPr>
          <p:cNvPr id="25" name="outline-435"/>
          <p:cNvSpPr/>
          <p:nvPr/>
        </p:nvSpPr>
        <p:spPr>
          <a:xfrm>
            <a:off x="475488" y="1527048"/>
            <a:ext cx="2980944" cy="2980944"/>
          </a:xfrm>
          <a:prstGeom prst="rect">
            <a:avLst/>
          </a:prstGeom>
          <a:ln w="38100">
            <a:solidFill>
              <a:schemeClr val="accent5"/>
            </a:solidFill>
            <a:prstDash val="solid"/>
          </a:ln>
        </p:spPr>
        <p:txBody>
          <a:bodyPr/>
          <a:lstStyle/>
          <a:p>
            <a:endParaRPr lang="en-US"/>
          </a:p>
        </p:txBody>
      </p:sp>
      <p:sp>
        <p:nvSpPr>
          <p:cNvPr id="26" name="text-436"/>
          <p:cNvSpPr txBox="1"/>
          <p:nvPr/>
        </p:nvSpPr>
        <p:spPr>
          <a:xfrm>
            <a:off x="548640" y="4617720"/>
            <a:ext cx="2971800" cy="731520"/>
          </a:xfrm>
          <a:prstGeom prst="rect">
            <a:avLst/>
          </a:prstGeom>
          <a:noFill/>
          <a:ln/>
        </p:spPr>
        <p:txBody>
          <a:bodyPr wrap="square" lIns="0" tIns="0" rIns="0" bIns="0" rtlCol="0" anchor="t"/>
          <a:lstStyle/>
          <a:p>
            <a:pPr marL="0" indent="0">
              <a:buNone/>
            </a:pPr>
            <a:r>
              <a:rPr lang="en-US" sz="1300" dirty="0">
                <a:solidFill>
                  <a:schemeClr val="tx2"/>
                </a:solidFill>
              </a:rPr>
              <a:t>One network drives every cell</a:t>
            </a:r>
            <a:endParaRPr lang="en-US" sz="1300" dirty="0"/>
          </a:p>
        </p:txBody>
      </p:sp>
      <p:sp>
        <p:nvSpPr>
          <p:cNvPr id="27" name="pill-437"/>
          <p:cNvSpPr/>
          <p:nvPr/>
        </p:nvSpPr>
        <p:spPr>
          <a:xfrm>
            <a:off x="3840480" y="1600200"/>
            <a:ext cx="2651760" cy="502920"/>
          </a:xfrm>
          <a:prstGeom prst="roundRect">
            <a:avLst>
              <a:gd name="adj" fmla="val 50000"/>
            </a:avLst>
          </a:prstGeom>
          <a:solidFill>
            <a:schemeClr val="bg2"/>
          </a:solidFill>
          <a:ln/>
        </p:spPr>
        <p:txBody>
          <a:bodyPr/>
          <a:lstStyle/>
          <a:p>
            <a:endParaRPr lang="en-US"/>
          </a:p>
        </p:txBody>
      </p:sp>
      <p:sp>
        <p:nvSpPr>
          <p:cNvPr id="28" name="pill-text-438"/>
          <p:cNvSpPr txBox="1"/>
          <p:nvPr/>
        </p:nvSpPr>
        <p:spPr>
          <a:xfrm>
            <a:off x="3840480" y="1600200"/>
            <a:ext cx="2651760" cy="502920"/>
          </a:xfrm>
          <a:prstGeom prst="rect">
            <a:avLst/>
          </a:prstGeom>
          <a:noFill/>
          <a:ln/>
        </p:spPr>
        <p:txBody>
          <a:bodyPr wrap="square" lIns="0" tIns="0" rIns="0" bIns="0" rtlCol="0" anchor="ctr"/>
          <a:lstStyle/>
          <a:p>
            <a:pPr marL="0" indent="0" algn="ctr">
              <a:buNone/>
            </a:pPr>
            <a:r>
              <a:rPr lang="en-US" sz="1400" dirty="0">
                <a:solidFill>
                  <a:schemeClr val="tx1"/>
                </a:solidFill>
              </a:rPr>
              <a:t>clock: sin, cos (2)</a:t>
            </a:r>
            <a:endParaRPr lang="en-US" sz="1400" dirty="0"/>
          </a:p>
        </p:txBody>
      </p:sp>
      <p:sp>
        <p:nvSpPr>
          <p:cNvPr id="29" name="arrow-439"/>
          <p:cNvSpPr/>
          <p:nvPr/>
        </p:nvSpPr>
        <p:spPr>
          <a:xfrm>
            <a:off x="6583680" y="1851660"/>
            <a:ext cx="365760" cy="0"/>
          </a:xfrm>
          <a:prstGeom prst="line">
            <a:avLst/>
          </a:prstGeom>
          <a:noFill/>
          <a:ln w="25400">
            <a:solidFill>
              <a:schemeClr val="tx2"/>
            </a:solidFill>
            <a:prstDash val="solid"/>
            <a:tailEnd type="triangle"/>
          </a:ln>
        </p:spPr>
        <p:txBody>
          <a:bodyPr/>
          <a:lstStyle/>
          <a:p>
            <a:endParaRPr lang="en-US"/>
          </a:p>
        </p:txBody>
      </p:sp>
      <p:sp>
        <p:nvSpPr>
          <p:cNvPr id="30" name="net-440"/>
          <p:cNvSpPr/>
          <p:nvPr/>
        </p:nvSpPr>
        <p:spPr>
          <a:xfrm>
            <a:off x="7040880" y="1348740"/>
            <a:ext cx="1371600" cy="1005840"/>
          </a:xfrm>
          <a:prstGeom prst="roundRect">
            <a:avLst>
              <a:gd name="adj" fmla="val 9091"/>
            </a:avLst>
          </a:prstGeom>
          <a:solidFill>
            <a:schemeClr val="tx1"/>
          </a:solidFill>
          <a:ln/>
        </p:spPr>
        <p:txBody>
          <a:bodyPr/>
          <a:lstStyle/>
          <a:p>
            <a:endParaRPr lang="en-US"/>
          </a:p>
        </p:txBody>
      </p:sp>
      <p:sp>
        <p:nvSpPr>
          <p:cNvPr id="31" name="net-text-441"/>
          <p:cNvSpPr txBox="1"/>
          <p:nvPr/>
        </p:nvSpPr>
        <p:spPr>
          <a:xfrm>
            <a:off x="7040880" y="1348740"/>
            <a:ext cx="1371600" cy="1005840"/>
          </a:xfrm>
          <a:prstGeom prst="rect">
            <a:avLst/>
          </a:prstGeom>
          <a:noFill/>
          <a:ln/>
        </p:spPr>
        <p:txBody>
          <a:bodyPr wrap="square" lIns="0" tIns="0" rIns="0" bIns="0" rtlCol="0" anchor="ctr"/>
          <a:lstStyle/>
          <a:p>
            <a:pPr marL="0" indent="0" algn="ctr">
              <a:buNone/>
            </a:pPr>
            <a:r>
              <a:rPr lang="en-US" sz="1500" b="1" dirty="0">
                <a:solidFill>
                  <a:schemeClr val="bg1"/>
                </a:solidFill>
              </a:rPr>
              <a:t>network</a:t>
            </a:r>
          </a:p>
          <a:p>
            <a:pPr marL="0" indent="0" algn="ctr">
              <a:buNone/>
            </a:pPr>
            <a:r>
              <a:rPr lang="en-US" sz="1100" dirty="0">
                <a:solidFill>
                  <a:schemeClr val="bg1"/>
                </a:solidFill>
              </a:rPr>
              <a:t>16 hidden</a:t>
            </a:r>
            <a:endParaRPr lang="en-US" sz="1500" dirty="0"/>
          </a:p>
        </p:txBody>
      </p:sp>
      <p:sp>
        <p:nvSpPr>
          <p:cNvPr id="32" name="arrow-442"/>
          <p:cNvSpPr/>
          <p:nvPr/>
        </p:nvSpPr>
        <p:spPr>
          <a:xfrm>
            <a:off x="8503920" y="1851660"/>
            <a:ext cx="365760" cy="0"/>
          </a:xfrm>
          <a:prstGeom prst="line">
            <a:avLst/>
          </a:prstGeom>
          <a:noFill/>
          <a:ln w="25400">
            <a:solidFill>
              <a:schemeClr val="tx2"/>
            </a:solidFill>
            <a:prstDash val="solid"/>
            <a:tailEnd type="triangle"/>
          </a:ln>
        </p:spPr>
        <p:txBody>
          <a:bodyPr/>
          <a:lstStyle/>
          <a:p>
            <a:endParaRPr lang="en-US"/>
          </a:p>
        </p:txBody>
      </p:sp>
      <p:sp>
        <p:nvSpPr>
          <p:cNvPr id="33" name="pill-443"/>
          <p:cNvSpPr/>
          <p:nvPr/>
        </p:nvSpPr>
        <p:spPr>
          <a:xfrm>
            <a:off x="8961120" y="1577340"/>
            <a:ext cx="2651760" cy="548640"/>
          </a:xfrm>
          <a:prstGeom prst="roundRect">
            <a:avLst>
              <a:gd name="adj" fmla="val 50000"/>
            </a:avLst>
          </a:prstGeom>
          <a:solidFill>
            <a:schemeClr val="accent2"/>
          </a:solidFill>
          <a:ln/>
        </p:spPr>
        <p:txBody>
          <a:bodyPr/>
          <a:lstStyle/>
          <a:p>
            <a:endParaRPr lang="en-US"/>
          </a:p>
        </p:txBody>
      </p:sp>
      <p:sp>
        <p:nvSpPr>
          <p:cNvPr id="34" name="pill-text-444"/>
          <p:cNvSpPr txBox="1"/>
          <p:nvPr/>
        </p:nvSpPr>
        <p:spPr>
          <a:xfrm>
            <a:off x="8961120" y="1577340"/>
            <a:ext cx="2651760" cy="548640"/>
          </a:xfrm>
          <a:prstGeom prst="rect">
            <a:avLst/>
          </a:prstGeom>
          <a:noFill/>
          <a:ln/>
        </p:spPr>
        <p:txBody>
          <a:bodyPr wrap="square" lIns="0" tIns="0" rIns="0" bIns="0" rtlCol="0" anchor="ctr"/>
          <a:lstStyle/>
          <a:p>
            <a:pPr marL="0" indent="0" algn="ctr">
              <a:buNone/>
            </a:pPr>
            <a:r>
              <a:rPr lang="en-US" sz="1400" dirty="0">
                <a:solidFill>
                  <a:schemeClr val="tx1"/>
                </a:solidFill>
              </a:rPr>
              <a:t>1 command per grid cell</a:t>
            </a:r>
            <a:endParaRPr lang="en-US" sz="1400" dirty="0"/>
          </a:p>
        </p:txBody>
      </p:sp>
      <p:sp>
        <p:nvSpPr>
          <p:cNvPr id="35" name="text-445"/>
          <p:cNvSpPr txBox="1"/>
          <p:nvPr/>
        </p:nvSpPr>
        <p:spPr>
          <a:xfrm>
            <a:off x="3840480" y="3840480"/>
            <a:ext cx="2377440" cy="822960"/>
          </a:xfrm>
          <a:prstGeom prst="rect">
            <a:avLst/>
          </a:prstGeom>
          <a:noFill/>
          <a:ln/>
        </p:spPr>
        <p:txBody>
          <a:bodyPr wrap="square" lIns="0" tIns="0" rIns="0" bIns="0" rtlCol="0" anchor="b"/>
          <a:lstStyle/>
          <a:p>
            <a:pPr marL="0" indent="0">
              <a:buNone/>
            </a:pPr>
            <a:r>
              <a:rPr lang="en-US" sz="4400" b="1" dirty="0">
                <a:solidFill>
                  <a:schemeClr val="accent2"/>
                </a:solidFill>
              </a:rPr>
              <a:t>473</a:t>
            </a:r>
            <a:endParaRPr lang="en-US" sz="4400" dirty="0"/>
          </a:p>
        </p:txBody>
      </p:sp>
      <p:sp>
        <p:nvSpPr>
          <p:cNvPr id="36" name="text-446"/>
          <p:cNvSpPr txBox="1"/>
          <p:nvPr/>
        </p:nvSpPr>
        <p:spPr>
          <a:xfrm>
            <a:off x="3840480" y="4709160"/>
            <a:ext cx="2377440" cy="731520"/>
          </a:xfrm>
          <a:prstGeom prst="rect">
            <a:avLst/>
          </a:prstGeom>
          <a:noFill/>
          <a:ln/>
        </p:spPr>
        <p:txBody>
          <a:bodyPr wrap="square" lIns="0" tIns="0" rIns="0" bIns="0" rtlCol="0" anchor="t"/>
          <a:lstStyle/>
          <a:p>
            <a:pPr marL="0" indent="0">
              <a:buNone/>
            </a:pPr>
            <a:r>
              <a:rPr lang="en-US" sz="1400" dirty="0">
                <a:solidFill>
                  <a:schemeClr val="tx2"/>
                </a:solidFill>
              </a:rPr>
              <a:t>genes on a 5×5 grid</a:t>
            </a:r>
            <a:endParaRPr lang="en-US" sz="1400" dirty="0"/>
          </a:p>
        </p:txBody>
      </p:sp>
      <p:sp>
        <p:nvSpPr>
          <p:cNvPr id="37" name="text-447"/>
          <p:cNvSpPr txBox="1"/>
          <p:nvPr/>
        </p:nvSpPr>
        <p:spPr>
          <a:xfrm>
            <a:off x="6492240" y="4425696"/>
            <a:ext cx="5150815" cy="1463040"/>
          </a:xfrm>
          <a:prstGeom prst="rect">
            <a:avLst/>
          </a:prstGeom>
          <a:noFill/>
          <a:ln/>
        </p:spPr>
        <p:txBody>
          <a:bodyPr wrap="square" lIns="0" tIns="0" rIns="0" bIns="0" rtlCol="0" anchor="t"/>
          <a:lstStyle/>
          <a:p>
            <a:pPr marL="0" indent="0">
              <a:buNone/>
            </a:pPr>
            <a:r>
              <a:rPr lang="en-US" sz="1600" dirty="0">
                <a:solidFill>
                  <a:schemeClr val="tx1"/>
                </a:solidFill>
              </a:rPr>
              <a:t>Every cell has its own output weights, so neighboring muscles can do completely different things. Outputs for cells that aren't muscles are simply ignored.</a:t>
            </a:r>
            <a:endParaRPr lang="en-US" sz="1600" dirty="0"/>
          </a:p>
        </p:txBody>
      </p:sp>
      <p:sp>
        <p:nvSpPr>
          <p:cNvPr id="38"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18</a:t>
            </a:fld>
            <a:endParaRPr lang="en-US"/>
          </a:p>
        </p:txBody>
      </p:sp>
      <p:grpSp>
        <p:nvGrpSpPr>
          <p:cNvPr id="107" name="nn-diagram"/>
          <p:cNvGrpSpPr/>
          <p:nvPr/>
        </p:nvGrpSpPr>
        <p:grpSpPr>
          <a:xfrm>
            <a:off x="6400800" y="2880360"/>
            <a:ext cx="5239512" cy="1389888"/>
            <a:chOff x="6400800" y="2880360"/>
            <a:chExt cx="5239512" cy="1389888"/>
          </a:xfrm>
        </p:grpSpPr>
        <p:cxnSp>
          <p:nvCxnSpPr>
            <p:cNvPr id="39" name="edge-39"/>
            <p:cNvCxnSpPr/>
            <p:nvPr/>
          </p:nvCxnSpPr>
          <p:spPr>
            <a:xfrm flipV="1">
              <a:off x="6867144" y="2935224"/>
              <a:ext cx="804672" cy="374904"/>
            </a:xfrm>
            <a:prstGeom prst="line">
              <a:avLst/>
            </a:prstGeom>
            <a:ln w="6350">
              <a:solidFill>
                <a:schemeClr val="tx2">
                  <a:alpha val="30000"/>
                </a:schemeClr>
              </a:solidFill>
            </a:ln>
          </p:spPr>
        </p:cxnSp>
        <p:cxnSp>
          <p:nvCxnSpPr>
            <p:cNvPr id="40" name="edge-40"/>
            <p:cNvCxnSpPr/>
            <p:nvPr/>
          </p:nvCxnSpPr>
          <p:spPr>
            <a:xfrm flipV="1">
              <a:off x="6867144" y="3081528"/>
              <a:ext cx="804672" cy="228600"/>
            </a:xfrm>
            <a:prstGeom prst="line">
              <a:avLst/>
            </a:prstGeom>
            <a:ln w="6350">
              <a:solidFill>
                <a:schemeClr val="tx2">
                  <a:alpha val="30000"/>
                </a:schemeClr>
              </a:solidFill>
            </a:ln>
          </p:spPr>
        </p:cxnSp>
        <p:cxnSp>
          <p:nvCxnSpPr>
            <p:cNvPr id="41" name="edge-41"/>
            <p:cNvCxnSpPr/>
            <p:nvPr/>
          </p:nvCxnSpPr>
          <p:spPr>
            <a:xfrm flipV="1">
              <a:off x="6867144" y="3227832"/>
              <a:ext cx="804672" cy="82296"/>
            </a:xfrm>
            <a:prstGeom prst="line">
              <a:avLst/>
            </a:prstGeom>
            <a:ln w="6350">
              <a:solidFill>
                <a:schemeClr val="tx2">
                  <a:alpha val="30000"/>
                </a:schemeClr>
              </a:solidFill>
            </a:ln>
          </p:spPr>
        </p:cxnSp>
        <p:cxnSp>
          <p:nvCxnSpPr>
            <p:cNvPr id="42" name="edge-42"/>
            <p:cNvCxnSpPr/>
            <p:nvPr/>
          </p:nvCxnSpPr>
          <p:spPr>
            <a:xfrm>
              <a:off x="6867144" y="3310128"/>
              <a:ext cx="804672" cy="356616"/>
            </a:xfrm>
            <a:prstGeom prst="line">
              <a:avLst/>
            </a:prstGeom>
            <a:ln w="6350">
              <a:solidFill>
                <a:schemeClr val="tx2">
                  <a:alpha val="30000"/>
                </a:schemeClr>
              </a:solidFill>
            </a:ln>
          </p:spPr>
        </p:cxnSp>
        <p:cxnSp>
          <p:nvCxnSpPr>
            <p:cNvPr id="43" name="edge-43"/>
            <p:cNvCxnSpPr/>
            <p:nvPr/>
          </p:nvCxnSpPr>
          <p:spPr>
            <a:xfrm>
              <a:off x="6867144" y="3310128"/>
              <a:ext cx="804672" cy="502920"/>
            </a:xfrm>
            <a:prstGeom prst="line">
              <a:avLst/>
            </a:prstGeom>
            <a:ln w="6350">
              <a:solidFill>
                <a:schemeClr val="tx2">
                  <a:alpha val="30000"/>
                </a:schemeClr>
              </a:solidFill>
            </a:ln>
          </p:spPr>
        </p:cxnSp>
        <p:cxnSp>
          <p:nvCxnSpPr>
            <p:cNvPr id="44" name="edge-44"/>
            <p:cNvCxnSpPr/>
            <p:nvPr/>
          </p:nvCxnSpPr>
          <p:spPr>
            <a:xfrm>
              <a:off x="6867144" y="3310128"/>
              <a:ext cx="804672" cy="649224"/>
            </a:xfrm>
            <a:prstGeom prst="line">
              <a:avLst/>
            </a:prstGeom>
            <a:ln w="6350">
              <a:solidFill>
                <a:schemeClr val="tx2">
                  <a:alpha val="30000"/>
                </a:schemeClr>
              </a:solidFill>
            </a:ln>
          </p:spPr>
        </p:cxnSp>
        <p:cxnSp>
          <p:nvCxnSpPr>
            <p:cNvPr id="45" name="edge-45"/>
            <p:cNvCxnSpPr/>
            <p:nvPr/>
          </p:nvCxnSpPr>
          <p:spPr>
            <a:xfrm flipV="1">
              <a:off x="6867144" y="2935224"/>
              <a:ext cx="804672" cy="649224"/>
            </a:xfrm>
            <a:prstGeom prst="line">
              <a:avLst/>
            </a:prstGeom>
            <a:ln w="6350">
              <a:solidFill>
                <a:schemeClr val="tx2">
                  <a:alpha val="30000"/>
                </a:schemeClr>
              </a:solidFill>
            </a:ln>
          </p:spPr>
        </p:cxnSp>
        <p:cxnSp>
          <p:nvCxnSpPr>
            <p:cNvPr id="46" name="edge-46"/>
            <p:cNvCxnSpPr/>
            <p:nvPr/>
          </p:nvCxnSpPr>
          <p:spPr>
            <a:xfrm flipV="1">
              <a:off x="6867144" y="3081528"/>
              <a:ext cx="804672" cy="502920"/>
            </a:xfrm>
            <a:prstGeom prst="line">
              <a:avLst/>
            </a:prstGeom>
            <a:ln w="6350">
              <a:solidFill>
                <a:schemeClr val="tx2">
                  <a:alpha val="30000"/>
                </a:schemeClr>
              </a:solidFill>
            </a:ln>
          </p:spPr>
        </p:cxnSp>
        <p:cxnSp>
          <p:nvCxnSpPr>
            <p:cNvPr id="47" name="edge-47"/>
            <p:cNvCxnSpPr/>
            <p:nvPr/>
          </p:nvCxnSpPr>
          <p:spPr>
            <a:xfrm flipV="1">
              <a:off x="6867144" y="3227832"/>
              <a:ext cx="804672" cy="356616"/>
            </a:xfrm>
            <a:prstGeom prst="line">
              <a:avLst/>
            </a:prstGeom>
            <a:ln w="6350">
              <a:solidFill>
                <a:schemeClr val="tx2">
                  <a:alpha val="30000"/>
                </a:schemeClr>
              </a:solidFill>
            </a:ln>
          </p:spPr>
        </p:cxnSp>
        <p:cxnSp>
          <p:nvCxnSpPr>
            <p:cNvPr id="48" name="edge-48"/>
            <p:cNvCxnSpPr/>
            <p:nvPr/>
          </p:nvCxnSpPr>
          <p:spPr>
            <a:xfrm>
              <a:off x="6867144" y="3584448"/>
              <a:ext cx="804672" cy="82296"/>
            </a:xfrm>
            <a:prstGeom prst="line">
              <a:avLst/>
            </a:prstGeom>
            <a:ln w="6350">
              <a:solidFill>
                <a:schemeClr val="tx2">
                  <a:alpha val="30000"/>
                </a:schemeClr>
              </a:solidFill>
            </a:ln>
          </p:spPr>
        </p:cxnSp>
        <p:cxnSp>
          <p:nvCxnSpPr>
            <p:cNvPr id="49" name="edge-49"/>
            <p:cNvCxnSpPr/>
            <p:nvPr/>
          </p:nvCxnSpPr>
          <p:spPr>
            <a:xfrm>
              <a:off x="6867144" y="3584448"/>
              <a:ext cx="804672" cy="228600"/>
            </a:xfrm>
            <a:prstGeom prst="line">
              <a:avLst/>
            </a:prstGeom>
            <a:ln w="6350">
              <a:solidFill>
                <a:schemeClr val="tx2">
                  <a:alpha val="30000"/>
                </a:schemeClr>
              </a:solidFill>
            </a:ln>
          </p:spPr>
        </p:cxnSp>
        <p:cxnSp>
          <p:nvCxnSpPr>
            <p:cNvPr id="50" name="edge-50"/>
            <p:cNvCxnSpPr/>
            <p:nvPr/>
          </p:nvCxnSpPr>
          <p:spPr>
            <a:xfrm>
              <a:off x="6867144" y="3584448"/>
              <a:ext cx="804672" cy="374904"/>
            </a:xfrm>
            <a:prstGeom prst="line">
              <a:avLst/>
            </a:prstGeom>
            <a:ln w="6350">
              <a:solidFill>
                <a:schemeClr val="tx2">
                  <a:alpha val="30000"/>
                </a:schemeClr>
              </a:solidFill>
            </a:ln>
          </p:spPr>
        </p:cxnSp>
        <p:cxnSp>
          <p:nvCxnSpPr>
            <p:cNvPr id="51" name="edge-51"/>
            <p:cNvCxnSpPr/>
            <p:nvPr/>
          </p:nvCxnSpPr>
          <p:spPr>
            <a:xfrm>
              <a:off x="7781544" y="2935224"/>
              <a:ext cx="804672" cy="0"/>
            </a:xfrm>
            <a:prstGeom prst="line">
              <a:avLst/>
            </a:prstGeom>
            <a:ln w="6350">
              <a:solidFill>
                <a:schemeClr val="tx2">
                  <a:alpha val="30000"/>
                </a:schemeClr>
              </a:solidFill>
            </a:ln>
          </p:spPr>
        </p:cxnSp>
        <p:cxnSp>
          <p:nvCxnSpPr>
            <p:cNvPr id="52" name="edge-52"/>
            <p:cNvCxnSpPr/>
            <p:nvPr/>
          </p:nvCxnSpPr>
          <p:spPr>
            <a:xfrm>
              <a:off x="7781544" y="2935224"/>
              <a:ext cx="804672" cy="146304"/>
            </a:xfrm>
            <a:prstGeom prst="line">
              <a:avLst/>
            </a:prstGeom>
            <a:ln w="6350">
              <a:solidFill>
                <a:schemeClr val="tx2">
                  <a:alpha val="30000"/>
                </a:schemeClr>
              </a:solidFill>
            </a:ln>
          </p:spPr>
        </p:cxnSp>
        <p:cxnSp>
          <p:nvCxnSpPr>
            <p:cNvPr id="53" name="edge-53"/>
            <p:cNvCxnSpPr/>
            <p:nvPr/>
          </p:nvCxnSpPr>
          <p:spPr>
            <a:xfrm>
              <a:off x="7781544" y="2935224"/>
              <a:ext cx="804672" cy="292608"/>
            </a:xfrm>
            <a:prstGeom prst="line">
              <a:avLst/>
            </a:prstGeom>
            <a:ln w="6350">
              <a:solidFill>
                <a:schemeClr val="tx2">
                  <a:alpha val="30000"/>
                </a:schemeClr>
              </a:solidFill>
            </a:ln>
          </p:spPr>
        </p:cxnSp>
        <p:cxnSp>
          <p:nvCxnSpPr>
            <p:cNvPr id="54" name="edge-54"/>
            <p:cNvCxnSpPr/>
            <p:nvPr/>
          </p:nvCxnSpPr>
          <p:spPr>
            <a:xfrm>
              <a:off x="7781544" y="2935224"/>
              <a:ext cx="804672" cy="731520"/>
            </a:xfrm>
            <a:prstGeom prst="line">
              <a:avLst/>
            </a:prstGeom>
            <a:ln w="6350">
              <a:solidFill>
                <a:schemeClr val="tx2">
                  <a:alpha val="30000"/>
                </a:schemeClr>
              </a:solidFill>
            </a:ln>
          </p:spPr>
        </p:cxnSp>
        <p:cxnSp>
          <p:nvCxnSpPr>
            <p:cNvPr id="55" name="edge-55"/>
            <p:cNvCxnSpPr/>
            <p:nvPr/>
          </p:nvCxnSpPr>
          <p:spPr>
            <a:xfrm>
              <a:off x="7781544" y="2935224"/>
              <a:ext cx="804672" cy="877824"/>
            </a:xfrm>
            <a:prstGeom prst="line">
              <a:avLst/>
            </a:prstGeom>
            <a:ln w="6350">
              <a:solidFill>
                <a:schemeClr val="tx2">
                  <a:alpha val="30000"/>
                </a:schemeClr>
              </a:solidFill>
            </a:ln>
          </p:spPr>
        </p:cxnSp>
        <p:cxnSp>
          <p:nvCxnSpPr>
            <p:cNvPr id="56" name="edge-56"/>
            <p:cNvCxnSpPr/>
            <p:nvPr/>
          </p:nvCxnSpPr>
          <p:spPr>
            <a:xfrm>
              <a:off x="7781544" y="2935224"/>
              <a:ext cx="804672" cy="1024128"/>
            </a:xfrm>
            <a:prstGeom prst="line">
              <a:avLst/>
            </a:prstGeom>
            <a:ln w="6350">
              <a:solidFill>
                <a:schemeClr val="tx2">
                  <a:alpha val="30000"/>
                </a:schemeClr>
              </a:solidFill>
            </a:ln>
          </p:spPr>
        </p:cxnSp>
        <p:cxnSp>
          <p:nvCxnSpPr>
            <p:cNvPr id="57" name="edge-57"/>
            <p:cNvCxnSpPr/>
            <p:nvPr/>
          </p:nvCxnSpPr>
          <p:spPr>
            <a:xfrm flipV="1">
              <a:off x="7781544" y="2935224"/>
              <a:ext cx="804672" cy="146304"/>
            </a:xfrm>
            <a:prstGeom prst="line">
              <a:avLst/>
            </a:prstGeom>
            <a:ln w="6350">
              <a:solidFill>
                <a:schemeClr val="tx2">
                  <a:alpha val="30000"/>
                </a:schemeClr>
              </a:solidFill>
            </a:ln>
          </p:spPr>
        </p:cxnSp>
        <p:cxnSp>
          <p:nvCxnSpPr>
            <p:cNvPr id="58" name="edge-58"/>
            <p:cNvCxnSpPr/>
            <p:nvPr/>
          </p:nvCxnSpPr>
          <p:spPr>
            <a:xfrm>
              <a:off x="7781544" y="3081528"/>
              <a:ext cx="804672" cy="0"/>
            </a:xfrm>
            <a:prstGeom prst="line">
              <a:avLst/>
            </a:prstGeom>
            <a:ln w="6350">
              <a:solidFill>
                <a:schemeClr val="tx2">
                  <a:alpha val="30000"/>
                </a:schemeClr>
              </a:solidFill>
            </a:ln>
          </p:spPr>
        </p:cxnSp>
        <p:cxnSp>
          <p:nvCxnSpPr>
            <p:cNvPr id="59" name="edge-59"/>
            <p:cNvCxnSpPr/>
            <p:nvPr/>
          </p:nvCxnSpPr>
          <p:spPr>
            <a:xfrm>
              <a:off x="7781544" y="3081528"/>
              <a:ext cx="804672" cy="146304"/>
            </a:xfrm>
            <a:prstGeom prst="line">
              <a:avLst/>
            </a:prstGeom>
            <a:ln w="6350">
              <a:solidFill>
                <a:schemeClr val="tx2">
                  <a:alpha val="30000"/>
                </a:schemeClr>
              </a:solidFill>
            </a:ln>
          </p:spPr>
        </p:cxnSp>
        <p:cxnSp>
          <p:nvCxnSpPr>
            <p:cNvPr id="60" name="edge-60"/>
            <p:cNvCxnSpPr/>
            <p:nvPr/>
          </p:nvCxnSpPr>
          <p:spPr>
            <a:xfrm>
              <a:off x="7781544" y="3081528"/>
              <a:ext cx="804672" cy="585216"/>
            </a:xfrm>
            <a:prstGeom prst="line">
              <a:avLst/>
            </a:prstGeom>
            <a:ln w="6350">
              <a:solidFill>
                <a:schemeClr val="tx2">
                  <a:alpha val="30000"/>
                </a:schemeClr>
              </a:solidFill>
            </a:ln>
          </p:spPr>
        </p:cxnSp>
        <p:cxnSp>
          <p:nvCxnSpPr>
            <p:cNvPr id="61" name="edge-61"/>
            <p:cNvCxnSpPr/>
            <p:nvPr/>
          </p:nvCxnSpPr>
          <p:spPr>
            <a:xfrm>
              <a:off x="7781544" y="3081528"/>
              <a:ext cx="804672" cy="731520"/>
            </a:xfrm>
            <a:prstGeom prst="line">
              <a:avLst/>
            </a:prstGeom>
            <a:ln w="6350">
              <a:solidFill>
                <a:schemeClr val="tx2">
                  <a:alpha val="30000"/>
                </a:schemeClr>
              </a:solidFill>
            </a:ln>
          </p:spPr>
        </p:cxnSp>
        <p:cxnSp>
          <p:nvCxnSpPr>
            <p:cNvPr id="62" name="edge-62"/>
            <p:cNvCxnSpPr/>
            <p:nvPr/>
          </p:nvCxnSpPr>
          <p:spPr>
            <a:xfrm>
              <a:off x="7781544" y="3081528"/>
              <a:ext cx="804672" cy="877824"/>
            </a:xfrm>
            <a:prstGeom prst="line">
              <a:avLst/>
            </a:prstGeom>
            <a:ln w="6350">
              <a:solidFill>
                <a:schemeClr val="tx2">
                  <a:alpha val="30000"/>
                </a:schemeClr>
              </a:solidFill>
            </a:ln>
          </p:spPr>
        </p:cxnSp>
        <p:cxnSp>
          <p:nvCxnSpPr>
            <p:cNvPr id="63" name="edge-63"/>
            <p:cNvCxnSpPr/>
            <p:nvPr/>
          </p:nvCxnSpPr>
          <p:spPr>
            <a:xfrm flipV="1">
              <a:off x="7781544" y="2935224"/>
              <a:ext cx="804672" cy="292608"/>
            </a:xfrm>
            <a:prstGeom prst="line">
              <a:avLst/>
            </a:prstGeom>
            <a:ln w="6350">
              <a:solidFill>
                <a:schemeClr val="tx2">
                  <a:alpha val="30000"/>
                </a:schemeClr>
              </a:solidFill>
            </a:ln>
          </p:spPr>
        </p:cxnSp>
        <p:cxnSp>
          <p:nvCxnSpPr>
            <p:cNvPr id="64" name="edge-64"/>
            <p:cNvCxnSpPr/>
            <p:nvPr/>
          </p:nvCxnSpPr>
          <p:spPr>
            <a:xfrm flipV="1">
              <a:off x="7781544" y="3081528"/>
              <a:ext cx="804672" cy="146304"/>
            </a:xfrm>
            <a:prstGeom prst="line">
              <a:avLst/>
            </a:prstGeom>
            <a:ln w="6350">
              <a:solidFill>
                <a:schemeClr val="tx2">
                  <a:alpha val="30000"/>
                </a:schemeClr>
              </a:solidFill>
            </a:ln>
          </p:spPr>
        </p:cxnSp>
        <p:cxnSp>
          <p:nvCxnSpPr>
            <p:cNvPr id="65" name="edge-65"/>
            <p:cNvCxnSpPr/>
            <p:nvPr/>
          </p:nvCxnSpPr>
          <p:spPr>
            <a:xfrm>
              <a:off x="7781544" y="3227832"/>
              <a:ext cx="804672" cy="0"/>
            </a:xfrm>
            <a:prstGeom prst="line">
              <a:avLst/>
            </a:prstGeom>
            <a:ln w="6350">
              <a:solidFill>
                <a:schemeClr val="tx2">
                  <a:alpha val="30000"/>
                </a:schemeClr>
              </a:solidFill>
            </a:ln>
          </p:spPr>
        </p:cxnSp>
        <p:cxnSp>
          <p:nvCxnSpPr>
            <p:cNvPr id="66" name="edge-66"/>
            <p:cNvCxnSpPr/>
            <p:nvPr/>
          </p:nvCxnSpPr>
          <p:spPr>
            <a:xfrm>
              <a:off x="7781544" y="3227832"/>
              <a:ext cx="804672" cy="438912"/>
            </a:xfrm>
            <a:prstGeom prst="line">
              <a:avLst/>
            </a:prstGeom>
            <a:ln w="6350">
              <a:solidFill>
                <a:schemeClr val="tx2">
                  <a:alpha val="30000"/>
                </a:schemeClr>
              </a:solidFill>
            </a:ln>
          </p:spPr>
        </p:cxnSp>
        <p:cxnSp>
          <p:nvCxnSpPr>
            <p:cNvPr id="67" name="edge-67"/>
            <p:cNvCxnSpPr/>
            <p:nvPr/>
          </p:nvCxnSpPr>
          <p:spPr>
            <a:xfrm>
              <a:off x="7781544" y="3227832"/>
              <a:ext cx="804672" cy="585216"/>
            </a:xfrm>
            <a:prstGeom prst="line">
              <a:avLst/>
            </a:prstGeom>
            <a:ln w="6350">
              <a:solidFill>
                <a:schemeClr val="tx2">
                  <a:alpha val="30000"/>
                </a:schemeClr>
              </a:solidFill>
            </a:ln>
          </p:spPr>
        </p:cxnSp>
        <p:cxnSp>
          <p:nvCxnSpPr>
            <p:cNvPr id="68" name="edge-68"/>
            <p:cNvCxnSpPr/>
            <p:nvPr/>
          </p:nvCxnSpPr>
          <p:spPr>
            <a:xfrm>
              <a:off x="7781544" y="3227832"/>
              <a:ext cx="804672" cy="731520"/>
            </a:xfrm>
            <a:prstGeom prst="line">
              <a:avLst/>
            </a:prstGeom>
            <a:ln w="6350">
              <a:solidFill>
                <a:schemeClr val="tx2">
                  <a:alpha val="30000"/>
                </a:schemeClr>
              </a:solidFill>
            </a:ln>
          </p:spPr>
        </p:cxnSp>
        <p:cxnSp>
          <p:nvCxnSpPr>
            <p:cNvPr id="69" name="edge-69"/>
            <p:cNvCxnSpPr/>
            <p:nvPr/>
          </p:nvCxnSpPr>
          <p:spPr>
            <a:xfrm flipV="1">
              <a:off x="7781544" y="2935224"/>
              <a:ext cx="804672" cy="731520"/>
            </a:xfrm>
            <a:prstGeom prst="line">
              <a:avLst/>
            </a:prstGeom>
            <a:ln w="6350">
              <a:solidFill>
                <a:schemeClr val="tx2">
                  <a:alpha val="30000"/>
                </a:schemeClr>
              </a:solidFill>
            </a:ln>
          </p:spPr>
        </p:cxnSp>
        <p:cxnSp>
          <p:nvCxnSpPr>
            <p:cNvPr id="70" name="edge-70"/>
            <p:cNvCxnSpPr/>
            <p:nvPr/>
          </p:nvCxnSpPr>
          <p:spPr>
            <a:xfrm flipV="1">
              <a:off x="7781544" y="3081528"/>
              <a:ext cx="804672" cy="585216"/>
            </a:xfrm>
            <a:prstGeom prst="line">
              <a:avLst/>
            </a:prstGeom>
            <a:ln w="6350">
              <a:solidFill>
                <a:schemeClr val="tx2">
                  <a:alpha val="30000"/>
                </a:schemeClr>
              </a:solidFill>
            </a:ln>
          </p:spPr>
        </p:cxnSp>
        <p:cxnSp>
          <p:nvCxnSpPr>
            <p:cNvPr id="71" name="edge-71"/>
            <p:cNvCxnSpPr/>
            <p:nvPr/>
          </p:nvCxnSpPr>
          <p:spPr>
            <a:xfrm flipV="1">
              <a:off x="7781544" y="3227832"/>
              <a:ext cx="804672" cy="438912"/>
            </a:xfrm>
            <a:prstGeom prst="line">
              <a:avLst/>
            </a:prstGeom>
            <a:ln w="6350">
              <a:solidFill>
                <a:schemeClr val="tx2">
                  <a:alpha val="30000"/>
                </a:schemeClr>
              </a:solidFill>
            </a:ln>
          </p:spPr>
        </p:cxnSp>
        <p:cxnSp>
          <p:nvCxnSpPr>
            <p:cNvPr id="72" name="edge-72"/>
            <p:cNvCxnSpPr/>
            <p:nvPr/>
          </p:nvCxnSpPr>
          <p:spPr>
            <a:xfrm>
              <a:off x="7781544" y="3666744"/>
              <a:ext cx="804672" cy="0"/>
            </a:xfrm>
            <a:prstGeom prst="line">
              <a:avLst/>
            </a:prstGeom>
            <a:ln w="6350">
              <a:solidFill>
                <a:schemeClr val="tx2">
                  <a:alpha val="30000"/>
                </a:schemeClr>
              </a:solidFill>
            </a:ln>
          </p:spPr>
        </p:cxnSp>
        <p:cxnSp>
          <p:nvCxnSpPr>
            <p:cNvPr id="73" name="edge-73"/>
            <p:cNvCxnSpPr/>
            <p:nvPr/>
          </p:nvCxnSpPr>
          <p:spPr>
            <a:xfrm>
              <a:off x="7781544" y="3666744"/>
              <a:ext cx="804672" cy="146304"/>
            </a:xfrm>
            <a:prstGeom prst="line">
              <a:avLst/>
            </a:prstGeom>
            <a:ln w="6350">
              <a:solidFill>
                <a:schemeClr val="tx2">
                  <a:alpha val="30000"/>
                </a:schemeClr>
              </a:solidFill>
            </a:ln>
          </p:spPr>
        </p:cxnSp>
        <p:cxnSp>
          <p:nvCxnSpPr>
            <p:cNvPr id="74" name="edge-74"/>
            <p:cNvCxnSpPr/>
            <p:nvPr/>
          </p:nvCxnSpPr>
          <p:spPr>
            <a:xfrm>
              <a:off x="7781544" y="3666744"/>
              <a:ext cx="804672" cy="292608"/>
            </a:xfrm>
            <a:prstGeom prst="line">
              <a:avLst/>
            </a:prstGeom>
            <a:ln w="6350">
              <a:solidFill>
                <a:schemeClr val="tx2">
                  <a:alpha val="30000"/>
                </a:schemeClr>
              </a:solidFill>
            </a:ln>
          </p:spPr>
        </p:cxnSp>
        <p:cxnSp>
          <p:nvCxnSpPr>
            <p:cNvPr id="75" name="edge-75"/>
            <p:cNvCxnSpPr/>
            <p:nvPr/>
          </p:nvCxnSpPr>
          <p:spPr>
            <a:xfrm flipV="1">
              <a:off x="7781544" y="2935224"/>
              <a:ext cx="804672" cy="877824"/>
            </a:xfrm>
            <a:prstGeom prst="line">
              <a:avLst/>
            </a:prstGeom>
            <a:ln w="6350">
              <a:solidFill>
                <a:schemeClr val="tx2">
                  <a:alpha val="30000"/>
                </a:schemeClr>
              </a:solidFill>
            </a:ln>
          </p:spPr>
        </p:cxnSp>
        <p:cxnSp>
          <p:nvCxnSpPr>
            <p:cNvPr id="76" name="edge-76"/>
            <p:cNvCxnSpPr/>
            <p:nvPr/>
          </p:nvCxnSpPr>
          <p:spPr>
            <a:xfrm flipV="1">
              <a:off x="7781544" y="3081528"/>
              <a:ext cx="804672" cy="731520"/>
            </a:xfrm>
            <a:prstGeom prst="line">
              <a:avLst/>
            </a:prstGeom>
            <a:ln w="6350">
              <a:solidFill>
                <a:schemeClr val="tx2">
                  <a:alpha val="30000"/>
                </a:schemeClr>
              </a:solidFill>
            </a:ln>
          </p:spPr>
        </p:cxnSp>
        <p:cxnSp>
          <p:nvCxnSpPr>
            <p:cNvPr id="77" name="edge-77"/>
            <p:cNvCxnSpPr/>
            <p:nvPr/>
          </p:nvCxnSpPr>
          <p:spPr>
            <a:xfrm flipV="1">
              <a:off x="7781544" y="3227832"/>
              <a:ext cx="804672" cy="585216"/>
            </a:xfrm>
            <a:prstGeom prst="line">
              <a:avLst/>
            </a:prstGeom>
            <a:ln w="6350">
              <a:solidFill>
                <a:schemeClr val="tx2">
                  <a:alpha val="30000"/>
                </a:schemeClr>
              </a:solidFill>
            </a:ln>
          </p:spPr>
        </p:cxnSp>
        <p:cxnSp>
          <p:nvCxnSpPr>
            <p:cNvPr id="78" name="edge-78"/>
            <p:cNvCxnSpPr/>
            <p:nvPr/>
          </p:nvCxnSpPr>
          <p:spPr>
            <a:xfrm flipV="1">
              <a:off x="7781544" y="3666744"/>
              <a:ext cx="804672" cy="146304"/>
            </a:xfrm>
            <a:prstGeom prst="line">
              <a:avLst/>
            </a:prstGeom>
            <a:ln w="6350">
              <a:solidFill>
                <a:schemeClr val="tx2">
                  <a:alpha val="30000"/>
                </a:schemeClr>
              </a:solidFill>
            </a:ln>
          </p:spPr>
        </p:cxnSp>
        <p:cxnSp>
          <p:nvCxnSpPr>
            <p:cNvPr id="79" name="edge-79"/>
            <p:cNvCxnSpPr/>
            <p:nvPr/>
          </p:nvCxnSpPr>
          <p:spPr>
            <a:xfrm>
              <a:off x="7781544" y="3813048"/>
              <a:ext cx="804672" cy="0"/>
            </a:xfrm>
            <a:prstGeom prst="line">
              <a:avLst/>
            </a:prstGeom>
            <a:ln w="6350">
              <a:solidFill>
                <a:schemeClr val="tx2">
                  <a:alpha val="30000"/>
                </a:schemeClr>
              </a:solidFill>
            </a:ln>
          </p:spPr>
        </p:cxnSp>
        <p:cxnSp>
          <p:nvCxnSpPr>
            <p:cNvPr id="80" name="edge-80"/>
            <p:cNvCxnSpPr/>
            <p:nvPr/>
          </p:nvCxnSpPr>
          <p:spPr>
            <a:xfrm>
              <a:off x="7781544" y="3813048"/>
              <a:ext cx="804672" cy="146304"/>
            </a:xfrm>
            <a:prstGeom prst="line">
              <a:avLst/>
            </a:prstGeom>
            <a:ln w="6350">
              <a:solidFill>
                <a:schemeClr val="tx2">
                  <a:alpha val="30000"/>
                </a:schemeClr>
              </a:solidFill>
            </a:ln>
          </p:spPr>
        </p:cxnSp>
        <p:cxnSp>
          <p:nvCxnSpPr>
            <p:cNvPr id="81" name="edge-81"/>
            <p:cNvCxnSpPr/>
            <p:nvPr/>
          </p:nvCxnSpPr>
          <p:spPr>
            <a:xfrm flipV="1">
              <a:off x="7781544" y="2935224"/>
              <a:ext cx="804672" cy="1024128"/>
            </a:xfrm>
            <a:prstGeom prst="line">
              <a:avLst/>
            </a:prstGeom>
            <a:ln w="6350">
              <a:solidFill>
                <a:schemeClr val="tx2">
                  <a:alpha val="30000"/>
                </a:schemeClr>
              </a:solidFill>
            </a:ln>
          </p:spPr>
        </p:cxnSp>
        <p:cxnSp>
          <p:nvCxnSpPr>
            <p:cNvPr id="82" name="edge-82"/>
            <p:cNvCxnSpPr/>
            <p:nvPr/>
          </p:nvCxnSpPr>
          <p:spPr>
            <a:xfrm flipV="1">
              <a:off x="7781544" y="3081528"/>
              <a:ext cx="804672" cy="877824"/>
            </a:xfrm>
            <a:prstGeom prst="line">
              <a:avLst/>
            </a:prstGeom>
            <a:ln w="6350">
              <a:solidFill>
                <a:schemeClr val="tx2">
                  <a:alpha val="30000"/>
                </a:schemeClr>
              </a:solidFill>
            </a:ln>
          </p:spPr>
        </p:cxnSp>
        <p:cxnSp>
          <p:nvCxnSpPr>
            <p:cNvPr id="83" name="edge-83"/>
            <p:cNvCxnSpPr/>
            <p:nvPr/>
          </p:nvCxnSpPr>
          <p:spPr>
            <a:xfrm flipV="1">
              <a:off x="7781544" y="3227832"/>
              <a:ext cx="804672" cy="731520"/>
            </a:xfrm>
            <a:prstGeom prst="line">
              <a:avLst/>
            </a:prstGeom>
            <a:ln w="6350">
              <a:solidFill>
                <a:schemeClr val="tx2">
                  <a:alpha val="30000"/>
                </a:schemeClr>
              </a:solidFill>
            </a:ln>
          </p:spPr>
        </p:cxnSp>
        <p:cxnSp>
          <p:nvCxnSpPr>
            <p:cNvPr id="84" name="edge-84"/>
            <p:cNvCxnSpPr/>
            <p:nvPr/>
          </p:nvCxnSpPr>
          <p:spPr>
            <a:xfrm flipV="1">
              <a:off x="7781544" y="3666744"/>
              <a:ext cx="804672" cy="292608"/>
            </a:xfrm>
            <a:prstGeom prst="line">
              <a:avLst/>
            </a:prstGeom>
            <a:ln w="6350">
              <a:solidFill>
                <a:schemeClr val="tx2">
                  <a:alpha val="30000"/>
                </a:schemeClr>
              </a:solidFill>
            </a:ln>
          </p:spPr>
        </p:cxnSp>
        <p:cxnSp>
          <p:nvCxnSpPr>
            <p:cNvPr id="85" name="edge-85"/>
            <p:cNvCxnSpPr/>
            <p:nvPr/>
          </p:nvCxnSpPr>
          <p:spPr>
            <a:xfrm flipV="1">
              <a:off x="7781544" y="3813048"/>
              <a:ext cx="804672" cy="146304"/>
            </a:xfrm>
            <a:prstGeom prst="line">
              <a:avLst/>
            </a:prstGeom>
            <a:ln w="6350">
              <a:solidFill>
                <a:schemeClr val="tx2">
                  <a:alpha val="30000"/>
                </a:schemeClr>
              </a:solidFill>
            </a:ln>
          </p:spPr>
        </p:cxnSp>
        <p:cxnSp>
          <p:nvCxnSpPr>
            <p:cNvPr id="86" name="edge-86"/>
            <p:cNvCxnSpPr/>
            <p:nvPr/>
          </p:nvCxnSpPr>
          <p:spPr>
            <a:xfrm>
              <a:off x="7781544" y="3959352"/>
              <a:ext cx="804672" cy="0"/>
            </a:xfrm>
            <a:prstGeom prst="line">
              <a:avLst/>
            </a:prstGeom>
            <a:ln w="6350">
              <a:solidFill>
                <a:schemeClr val="tx2">
                  <a:alpha val="30000"/>
                </a:schemeClr>
              </a:solidFill>
            </a:ln>
          </p:spPr>
        </p:cxnSp>
        <p:sp>
          <p:nvSpPr>
            <p:cNvPr id="87" name="node-87"/>
            <p:cNvSpPr/>
            <p:nvPr/>
          </p:nvSpPr>
          <p:spPr>
            <a:xfrm>
              <a:off x="6757416" y="3255264"/>
              <a:ext cx="109728" cy="109728"/>
            </a:xfrm>
            <a:prstGeom prst="ellipse">
              <a:avLst/>
            </a:prstGeom>
            <a:solidFill>
              <a:schemeClr val="tx2"/>
            </a:solidFill>
            <a:ln/>
          </p:spPr>
          <p:txBody>
            <a:bodyPr/>
            <a:lstStyle/>
            <a:p>
              <a:endParaRPr lang="en-US"/>
            </a:p>
          </p:txBody>
        </p:sp>
        <p:sp>
          <p:nvSpPr>
            <p:cNvPr id="88" name="node-88"/>
            <p:cNvSpPr/>
            <p:nvPr/>
          </p:nvSpPr>
          <p:spPr>
            <a:xfrm>
              <a:off x="6757416" y="3529584"/>
              <a:ext cx="109728" cy="109728"/>
            </a:xfrm>
            <a:prstGeom prst="ellipse">
              <a:avLst/>
            </a:prstGeom>
            <a:solidFill>
              <a:schemeClr val="tx2"/>
            </a:solidFill>
            <a:ln/>
          </p:spPr>
          <p:txBody>
            <a:bodyPr/>
            <a:lstStyle/>
            <a:p>
              <a:endParaRPr lang="en-US"/>
            </a:p>
          </p:txBody>
        </p:sp>
        <p:sp>
          <p:nvSpPr>
            <p:cNvPr id="89" name="layer-label-89"/>
            <p:cNvSpPr txBox="1"/>
            <p:nvPr/>
          </p:nvSpPr>
          <p:spPr>
            <a:xfrm>
              <a:off x="6373368" y="4069080"/>
              <a:ext cx="877824"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2 inputs</a:t>
              </a:r>
            </a:p>
          </p:txBody>
        </p:sp>
        <p:sp>
          <p:nvSpPr>
            <p:cNvPr id="90" name="node-90"/>
            <p:cNvSpPr/>
            <p:nvPr/>
          </p:nvSpPr>
          <p:spPr>
            <a:xfrm>
              <a:off x="7671816" y="2880360"/>
              <a:ext cx="109728" cy="109728"/>
            </a:xfrm>
            <a:prstGeom prst="ellipse">
              <a:avLst/>
            </a:prstGeom>
            <a:solidFill>
              <a:schemeClr val="tx1"/>
            </a:solidFill>
            <a:ln/>
          </p:spPr>
          <p:txBody>
            <a:bodyPr/>
            <a:lstStyle/>
            <a:p>
              <a:endParaRPr lang="en-US"/>
            </a:p>
          </p:txBody>
        </p:sp>
        <p:sp>
          <p:nvSpPr>
            <p:cNvPr id="91" name="node-91"/>
            <p:cNvSpPr/>
            <p:nvPr/>
          </p:nvSpPr>
          <p:spPr>
            <a:xfrm>
              <a:off x="7671816" y="3026664"/>
              <a:ext cx="109728" cy="109728"/>
            </a:xfrm>
            <a:prstGeom prst="ellipse">
              <a:avLst/>
            </a:prstGeom>
            <a:solidFill>
              <a:schemeClr val="tx1"/>
            </a:solidFill>
            <a:ln/>
          </p:spPr>
          <p:txBody>
            <a:bodyPr/>
            <a:lstStyle/>
            <a:p>
              <a:endParaRPr lang="en-US"/>
            </a:p>
          </p:txBody>
        </p:sp>
        <p:sp>
          <p:nvSpPr>
            <p:cNvPr id="92" name="node-92"/>
            <p:cNvSpPr/>
            <p:nvPr/>
          </p:nvSpPr>
          <p:spPr>
            <a:xfrm>
              <a:off x="7671816" y="3172968"/>
              <a:ext cx="109728" cy="109728"/>
            </a:xfrm>
            <a:prstGeom prst="ellipse">
              <a:avLst/>
            </a:prstGeom>
            <a:solidFill>
              <a:schemeClr val="tx1"/>
            </a:solidFill>
            <a:ln/>
          </p:spPr>
          <p:txBody>
            <a:bodyPr/>
            <a:lstStyle/>
            <a:p>
              <a:endParaRPr lang="en-US"/>
            </a:p>
          </p:txBody>
        </p:sp>
        <p:sp>
          <p:nvSpPr>
            <p:cNvPr id="93" name="node-93"/>
            <p:cNvSpPr/>
            <p:nvPr/>
          </p:nvSpPr>
          <p:spPr>
            <a:xfrm>
              <a:off x="7671816" y="3611880"/>
              <a:ext cx="109728" cy="109728"/>
            </a:xfrm>
            <a:prstGeom prst="ellipse">
              <a:avLst/>
            </a:prstGeom>
            <a:solidFill>
              <a:schemeClr val="tx1"/>
            </a:solidFill>
            <a:ln/>
          </p:spPr>
          <p:txBody>
            <a:bodyPr/>
            <a:lstStyle/>
            <a:p>
              <a:endParaRPr lang="en-US"/>
            </a:p>
          </p:txBody>
        </p:sp>
        <p:sp>
          <p:nvSpPr>
            <p:cNvPr id="94" name="node-94"/>
            <p:cNvSpPr/>
            <p:nvPr/>
          </p:nvSpPr>
          <p:spPr>
            <a:xfrm>
              <a:off x="7671816" y="3758184"/>
              <a:ext cx="109728" cy="109728"/>
            </a:xfrm>
            <a:prstGeom prst="ellipse">
              <a:avLst/>
            </a:prstGeom>
            <a:solidFill>
              <a:schemeClr val="tx1"/>
            </a:solidFill>
            <a:ln/>
          </p:spPr>
          <p:txBody>
            <a:bodyPr/>
            <a:lstStyle/>
            <a:p>
              <a:endParaRPr lang="en-US"/>
            </a:p>
          </p:txBody>
        </p:sp>
        <p:sp>
          <p:nvSpPr>
            <p:cNvPr id="95" name="node-95"/>
            <p:cNvSpPr/>
            <p:nvPr/>
          </p:nvSpPr>
          <p:spPr>
            <a:xfrm>
              <a:off x="7671816" y="3904488"/>
              <a:ext cx="109728" cy="109728"/>
            </a:xfrm>
            <a:prstGeom prst="ellipse">
              <a:avLst/>
            </a:prstGeom>
            <a:solidFill>
              <a:schemeClr val="tx1"/>
            </a:solidFill>
            <a:ln/>
          </p:spPr>
          <p:txBody>
            <a:bodyPr/>
            <a:lstStyle/>
            <a:p>
              <a:endParaRPr lang="en-US"/>
            </a:p>
          </p:txBody>
        </p:sp>
        <p:sp>
          <p:nvSpPr>
            <p:cNvPr id="96" name="ellipsis-96"/>
            <p:cNvSpPr txBox="1"/>
            <p:nvPr/>
          </p:nvSpPr>
          <p:spPr>
            <a:xfrm>
              <a:off x="7543800" y="3337560"/>
              <a:ext cx="365760" cy="219456"/>
            </a:xfrm>
            <a:prstGeom prst="rect">
              <a:avLst/>
            </a:prstGeom>
            <a:noFill/>
            <a:ln/>
          </p:spPr>
          <p:txBody>
            <a:bodyPr wrap="square" lIns="0" tIns="0" rIns="0" bIns="0" rtlCol="0" anchor="ctr"/>
            <a:lstStyle/>
            <a:p>
              <a:pPr marL="0" indent="0" algn="ctr">
                <a:spcBef>
                  <a:spcPts val="0"/>
                </a:spcBef>
                <a:buNone/>
              </a:pPr>
              <a:r>
                <a:rPr lang="en-US" sz="1200" b="1" dirty="0">
                  <a:solidFill>
                    <a:schemeClr val="tx2"/>
                  </a:solidFill>
                </a:rPr>
                <a:t>⋮</a:t>
              </a:r>
            </a:p>
          </p:txBody>
        </p:sp>
        <p:sp>
          <p:nvSpPr>
            <p:cNvPr id="97" name="layer-label-97"/>
            <p:cNvSpPr txBox="1"/>
            <p:nvPr/>
          </p:nvSpPr>
          <p:spPr>
            <a:xfrm>
              <a:off x="7287768" y="4069080"/>
              <a:ext cx="877824"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16 hidden</a:t>
              </a:r>
            </a:p>
          </p:txBody>
        </p:sp>
        <p:sp>
          <p:nvSpPr>
            <p:cNvPr id="98" name="node-98"/>
            <p:cNvSpPr/>
            <p:nvPr/>
          </p:nvSpPr>
          <p:spPr>
            <a:xfrm>
              <a:off x="8586216" y="2880360"/>
              <a:ext cx="109728" cy="109728"/>
            </a:xfrm>
            <a:prstGeom prst="ellipse">
              <a:avLst/>
            </a:prstGeom>
            <a:solidFill>
              <a:schemeClr val="accent2"/>
            </a:solidFill>
            <a:ln/>
          </p:spPr>
          <p:txBody>
            <a:bodyPr/>
            <a:lstStyle/>
            <a:p>
              <a:endParaRPr lang="en-US"/>
            </a:p>
          </p:txBody>
        </p:sp>
        <p:sp>
          <p:nvSpPr>
            <p:cNvPr id="99" name="node-99"/>
            <p:cNvSpPr/>
            <p:nvPr/>
          </p:nvSpPr>
          <p:spPr>
            <a:xfrm>
              <a:off x="8586216" y="3026664"/>
              <a:ext cx="109728" cy="109728"/>
            </a:xfrm>
            <a:prstGeom prst="ellipse">
              <a:avLst/>
            </a:prstGeom>
            <a:solidFill>
              <a:schemeClr val="accent2"/>
            </a:solidFill>
            <a:ln/>
          </p:spPr>
          <p:txBody>
            <a:bodyPr/>
            <a:lstStyle/>
            <a:p>
              <a:endParaRPr lang="en-US"/>
            </a:p>
          </p:txBody>
        </p:sp>
        <p:sp>
          <p:nvSpPr>
            <p:cNvPr id="100" name="node-100"/>
            <p:cNvSpPr/>
            <p:nvPr/>
          </p:nvSpPr>
          <p:spPr>
            <a:xfrm>
              <a:off x="8586216" y="3172968"/>
              <a:ext cx="109728" cy="109728"/>
            </a:xfrm>
            <a:prstGeom prst="ellipse">
              <a:avLst/>
            </a:prstGeom>
            <a:solidFill>
              <a:schemeClr val="accent2"/>
            </a:solidFill>
            <a:ln/>
          </p:spPr>
          <p:txBody>
            <a:bodyPr/>
            <a:lstStyle/>
            <a:p>
              <a:endParaRPr lang="en-US"/>
            </a:p>
          </p:txBody>
        </p:sp>
        <p:sp>
          <p:nvSpPr>
            <p:cNvPr id="101" name="node-101"/>
            <p:cNvSpPr/>
            <p:nvPr/>
          </p:nvSpPr>
          <p:spPr>
            <a:xfrm>
              <a:off x="8586216" y="3611880"/>
              <a:ext cx="109728" cy="109728"/>
            </a:xfrm>
            <a:prstGeom prst="ellipse">
              <a:avLst/>
            </a:prstGeom>
            <a:solidFill>
              <a:schemeClr val="accent2"/>
            </a:solidFill>
            <a:ln/>
          </p:spPr>
          <p:txBody>
            <a:bodyPr/>
            <a:lstStyle/>
            <a:p>
              <a:endParaRPr lang="en-US"/>
            </a:p>
          </p:txBody>
        </p:sp>
        <p:sp>
          <p:nvSpPr>
            <p:cNvPr id="102" name="node-102"/>
            <p:cNvSpPr/>
            <p:nvPr/>
          </p:nvSpPr>
          <p:spPr>
            <a:xfrm>
              <a:off x="8586216" y="3758184"/>
              <a:ext cx="109728" cy="109728"/>
            </a:xfrm>
            <a:prstGeom prst="ellipse">
              <a:avLst/>
            </a:prstGeom>
            <a:solidFill>
              <a:schemeClr val="accent2"/>
            </a:solidFill>
            <a:ln/>
          </p:spPr>
          <p:txBody>
            <a:bodyPr/>
            <a:lstStyle/>
            <a:p>
              <a:endParaRPr lang="en-US"/>
            </a:p>
          </p:txBody>
        </p:sp>
        <p:sp>
          <p:nvSpPr>
            <p:cNvPr id="103" name="node-103"/>
            <p:cNvSpPr/>
            <p:nvPr/>
          </p:nvSpPr>
          <p:spPr>
            <a:xfrm>
              <a:off x="8586216" y="3904488"/>
              <a:ext cx="109728" cy="109728"/>
            </a:xfrm>
            <a:prstGeom prst="ellipse">
              <a:avLst/>
            </a:prstGeom>
            <a:solidFill>
              <a:schemeClr val="accent2"/>
            </a:solidFill>
            <a:ln/>
          </p:spPr>
          <p:txBody>
            <a:bodyPr/>
            <a:lstStyle/>
            <a:p>
              <a:endParaRPr lang="en-US"/>
            </a:p>
          </p:txBody>
        </p:sp>
        <p:sp>
          <p:nvSpPr>
            <p:cNvPr id="104" name="ellipsis-104"/>
            <p:cNvSpPr txBox="1"/>
            <p:nvPr/>
          </p:nvSpPr>
          <p:spPr>
            <a:xfrm>
              <a:off x="8458200" y="3337560"/>
              <a:ext cx="365760" cy="219456"/>
            </a:xfrm>
            <a:prstGeom prst="rect">
              <a:avLst/>
            </a:prstGeom>
            <a:noFill/>
            <a:ln/>
          </p:spPr>
          <p:txBody>
            <a:bodyPr wrap="square" lIns="0" tIns="0" rIns="0" bIns="0" rtlCol="0" anchor="ctr"/>
            <a:lstStyle/>
            <a:p>
              <a:pPr marL="0" indent="0" algn="ctr">
                <a:spcBef>
                  <a:spcPts val="0"/>
                </a:spcBef>
                <a:buNone/>
              </a:pPr>
              <a:r>
                <a:rPr lang="en-US" sz="1200" b="1" dirty="0">
                  <a:solidFill>
                    <a:schemeClr val="tx2"/>
                  </a:solidFill>
                </a:rPr>
                <a:t>⋮</a:t>
              </a:r>
            </a:p>
          </p:txBody>
        </p:sp>
        <p:sp>
          <p:nvSpPr>
            <p:cNvPr id="105" name="layer-label-105"/>
            <p:cNvSpPr txBox="1"/>
            <p:nvPr/>
          </p:nvSpPr>
          <p:spPr>
            <a:xfrm>
              <a:off x="8202168" y="4069080"/>
              <a:ext cx="877824"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25 outputs</a:t>
              </a:r>
            </a:p>
          </p:txBody>
        </p:sp>
        <p:sp>
          <p:nvSpPr>
            <p:cNvPr id="106" name="param-math-106"/>
            <p:cNvSpPr txBox="1"/>
            <p:nvPr/>
          </p:nvSpPr>
          <p:spPr>
            <a:xfrm>
              <a:off x="9235440" y="2880360"/>
              <a:ext cx="2404872" cy="1389888"/>
            </a:xfrm>
            <a:prstGeom prst="rect">
              <a:avLst/>
            </a:prstGeom>
            <a:noFill/>
            <a:ln/>
          </p:spPr>
          <p:txBody>
            <a:bodyPr wrap="square" lIns="0" tIns="0" rIns="0" bIns="0" rtlCol="0" anchor="ctr"/>
            <a:lstStyle/>
            <a:p>
              <a:pPr marL="0" indent="0" algn="l">
                <a:spcBef>
                  <a:spcPts val="0"/>
                </a:spcBef>
                <a:buNone/>
              </a:pPr>
              <a:r>
                <a:rPr lang="en-US" sz="1050" dirty="0">
                  <a:solidFill>
                    <a:schemeClr val="tx2"/>
                  </a:solidFill>
                </a:rPr>
                <a:t>weights + biases</a:t>
              </a:r>
            </a:p>
            <a:p>
              <a:pPr marL="0" indent="0" algn="l">
                <a:spcBef>
                  <a:spcPts val="400"/>
                </a:spcBef>
                <a:buNone/>
              </a:pPr>
              <a:r>
                <a:rPr lang="en-US" sz="1200" dirty="0">
                  <a:solidFill>
                    <a:schemeClr val="tx1"/>
                  </a:solidFill>
                </a:rPr>
                <a:t>in → hidden: 2×16 + 16 = 48</a:t>
              </a:r>
            </a:p>
            <a:p>
              <a:pPr marL="0" indent="0" algn="l">
                <a:spcBef>
                  <a:spcPts val="300"/>
                </a:spcBef>
                <a:buNone/>
              </a:pPr>
              <a:r>
                <a:rPr lang="en-US" sz="1200" dirty="0">
                  <a:solidFill>
                    <a:schemeClr val="tx1"/>
                  </a:solidFill>
                </a:rPr>
                <a:t>hidden → out: 16×25 + 25 = 425</a:t>
              </a:r>
            </a:p>
            <a:p>
              <a:pPr marL="0" indent="0" algn="l">
                <a:spcBef>
                  <a:spcPts val="500"/>
                </a:spcBef>
                <a:buNone/>
              </a:pPr>
              <a:r>
                <a:rPr lang="en-US" sz="1300" b="1" dirty="0">
                  <a:solidFill>
                    <a:schemeClr val="accent2"/>
                  </a:solidFill>
                </a:rPr>
                <a:t>total = 473</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4. Global, closed-loop</a:t>
            </a:r>
            <a:endParaRPr lang="en-US" sz="3200" dirty="0"/>
          </a:p>
        </p:txBody>
      </p:sp>
      <p:sp>
        <p:nvSpPr>
          <p:cNvPr id="3" name="voxel-448"/>
          <p:cNvSpPr/>
          <p:nvPr/>
        </p:nvSpPr>
        <p:spPr>
          <a:xfrm>
            <a:off x="571317" y="1622877"/>
            <a:ext cx="521574" cy="521574"/>
          </a:xfrm>
          <a:prstGeom prst="rect">
            <a:avLst/>
          </a:prstGeom>
          <a:solidFill>
            <a:schemeClr val="accent1"/>
          </a:solidFill>
          <a:ln/>
        </p:spPr>
        <p:txBody>
          <a:bodyPr/>
          <a:lstStyle/>
          <a:p>
            <a:endParaRPr lang="en-US"/>
          </a:p>
        </p:txBody>
      </p:sp>
      <p:sp>
        <p:nvSpPr>
          <p:cNvPr id="4" name="voxel-449"/>
          <p:cNvSpPr/>
          <p:nvPr/>
        </p:nvSpPr>
        <p:spPr>
          <a:xfrm>
            <a:off x="1138245" y="1622877"/>
            <a:ext cx="521574" cy="521574"/>
          </a:xfrm>
          <a:prstGeom prst="rect">
            <a:avLst/>
          </a:prstGeom>
          <a:solidFill>
            <a:schemeClr val="accent1"/>
          </a:solidFill>
          <a:ln/>
        </p:spPr>
        <p:txBody>
          <a:bodyPr/>
          <a:lstStyle/>
          <a:p>
            <a:endParaRPr lang="en-US"/>
          </a:p>
        </p:txBody>
      </p:sp>
      <p:sp>
        <p:nvSpPr>
          <p:cNvPr id="5" name="voxel-450"/>
          <p:cNvSpPr/>
          <p:nvPr/>
        </p:nvSpPr>
        <p:spPr>
          <a:xfrm>
            <a:off x="1705173" y="1622877"/>
            <a:ext cx="521574" cy="521574"/>
          </a:xfrm>
          <a:prstGeom prst="rect">
            <a:avLst/>
          </a:prstGeom>
          <a:solidFill>
            <a:schemeClr val="accent1"/>
          </a:solidFill>
          <a:ln/>
        </p:spPr>
        <p:txBody>
          <a:bodyPr/>
          <a:lstStyle/>
          <a:p>
            <a:endParaRPr lang="en-US"/>
          </a:p>
        </p:txBody>
      </p:sp>
      <p:sp>
        <p:nvSpPr>
          <p:cNvPr id="6" name="voxel-451"/>
          <p:cNvSpPr/>
          <p:nvPr/>
        </p:nvSpPr>
        <p:spPr>
          <a:xfrm>
            <a:off x="2272101" y="1622877"/>
            <a:ext cx="521574" cy="521574"/>
          </a:xfrm>
          <a:prstGeom prst="rect">
            <a:avLst/>
          </a:prstGeom>
          <a:solidFill>
            <a:schemeClr val="accent1"/>
          </a:solidFill>
          <a:ln/>
        </p:spPr>
        <p:txBody>
          <a:bodyPr/>
          <a:lstStyle/>
          <a:p>
            <a:endParaRPr lang="en-US"/>
          </a:p>
        </p:txBody>
      </p:sp>
      <p:sp>
        <p:nvSpPr>
          <p:cNvPr id="7" name="voxel-452"/>
          <p:cNvSpPr/>
          <p:nvPr/>
        </p:nvSpPr>
        <p:spPr>
          <a:xfrm>
            <a:off x="2839029" y="1622877"/>
            <a:ext cx="521574" cy="521574"/>
          </a:xfrm>
          <a:prstGeom prst="rect">
            <a:avLst/>
          </a:prstGeom>
          <a:solidFill>
            <a:schemeClr val="accent1"/>
          </a:solidFill>
          <a:ln/>
        </p:spPr>
        <p:txBody>
          <a:bodyPr/>
          <a:lstStyle/>
          <a:p>
            <a:endParaRPr lang="en-US"/>
          </a:p>
        </p:txBody>
      </p:sp>
      <p:sp>
        <p:nvSpPr>
          <p:cNvPr id="8" name="voxel-453"/>
          <p:cNvSpPr/>
          <p:nvPr/>
        </p:nvSpPr>
        <p:spPr>
          <a:xfrm>
            <a:off x="571317" y="2189805"/>
            <a:ext cx="521574" cy="521574"/>
          </a:xfrm>
          <a:prstGeom prst="rect">
            <a:avLst/>
          </a:prstGeom>
          <a:solidFill>
            <a:schemeClr val="accent1"/>
          </a:solidFill>
          <a:ln/>
        </p:spPr>
        <p:txBody>
          <a:bodyPr/>
          <a:lstStyle/>
          <a:p>
            <a:endParaRPr lang="en-US"/>
          </a:p>
        </p:txBody>
      </p:sp>
      <p:sp>
        <p:nvSpPr>
          <p:cNvPr id="9" name="voxel-454"/>
          <p:cNvSpPr/>
          <p:nvPr/>
        </p:nvSpPr>
        <p:spPr>
          <a:xfrm>
            <a:off x="1138245" y="2189805"/>
            <a:ext cx="521574" cy="521574"/>
          </a:xfrm>
          <a:prstGeom prst="rect">
            <a:avLst/>
          </a:prstGeom>
          <a:solidFill>
            <a:schemeClr val="accent1"/>
          </a:solidFill>
          <a:ln/>
        </p:spPr>
        <p:txBody>
          <a:bodyPr/>
          <a:lstStyle/>
          <a:p>
            <a:endParaRPr lang="en-US"/>
          </a:p>
        </p:txBody>
      </p:sp>
      <p:sp>
        <p:nvSpPr>
          <p:cNvPr id="10" name="voxel-455"/>
          <p:cNvSpPr/>
          <p:nvPr/>
        </p:nvSpPr>
        <p:spPr>
          <a:xfrm>
            <a:off x="1705173" y="2189805"/>
            <a:ext cx="521574" cy="521574"/>
          </a:xfrm>
          <a:prstGeom prst="rect">
            <a:avLst/>
          </a:prstGeom>
          <a:solidFill>
            <a:schemeClr val="accent1"/>
          </a:solidFill>
          <a:ln/>
        </p:spPr>
        <p:txBody>
          <a:bodyPr/>
          <a:lstStyle/>
          <a:p>
            <a:endParaRPr lang="en-US"/>
          </a:p>
        </p:txBody>
      </p:sp>
      <p:sp>
        <p:nvSpPr>
          <p:cNvPr id="11" name="voxel-456"/>
          <p:cNvSpPr/>
          <p:nvPr/>
        </p:nvSpPr>
        <p:spPr>
          <a:xfrm>
            <a:off x="2272101" y="2189805"/>
            <a:ext cx="521574" cy="521574"/>
          </a:xfrm>
          <a:prstGeom prst="rect">
            <a:avLst/>
          </a:prstGeom>
          <a:solidFill>
            <a:schemeClr val="accent1"/>
          </a:solidFill>
          <a:ln/>
        </p:spPr>
        <p:txBody>
          <a:bodyPr/>
          <a:lstStyle/>
          <a:p>
            <a:endParaRPr lang="en-US"/>
          </a:p>
        </p:txBody>
      </p:sp>
      <p:sp>
        <p:nvSpPr>
          <p:cNvPr id="12" name="voxel-457"/>
          <p:cNvSpPr/>
          <p:nvPr/>
        </p:nvSpPr>
        <p:spPr>
          <a:xfrm>
            <a:off x="2839029" y="2189805"/>
            <a:ext cx="521574" cy="521574"/>
          </a:xfrm>
          <a:prstGeom prst="rect">
            <a:avLst/>
          </a:prstGeom>
          <a:solidFill>
            <a:schemeClr val="accent1"/>
          </a:solidFill>
          <a:ln/>
        </p:spPr>
        <p:txBody>
          <a:bodyPr/>
          <a:lstStyle/>
          <a:p>
            <a:endParaRPr lang="en-US"/>
          </a:p>
        </p:txBody>
      </p:sp>
      <p:sp>
        <p:nvSpPr>
          <p:cNvPr id="13" name="voxel-458"/>
          <p:cNvSpPr/>
          <p:nvPr/>
        </p:nvSpPr>
        <p:spPr>
          <a:xfrm>
            <a:off x="571317" y="2756733"/>
            <a:ext cx="521574" cy="521574"/>
          </a:xfrm>
          <a:prstGeom prst="rect">
            <a:avLst/>
          </a:prstGeom>
          <a:solidFill>
            <a:schemeClr val="accent1"/>
          </a:solidFill>
          <a:ln/>
        </p:spPr>
        <p:txBody>
          <a:bodyPr/>
          <a:lstStyle/>
          <a:p>
            <a:endParaRPr lang="en-US"/>
          </a:p>
        </p:txBody>
      </p:sp>
      <p:sp>
        <p:nvSpPr>
          <p:cNvPr id="14" name="voxel-459"/>
          <p:cNvSpPr/>
          <p:nvPr/>
        </p:nvSpPr>
        <p:spPr>
          <a:xfrm>
            <a:off x="1138245" y="2756733"/>
            <a:ext cx="521574" cy="521574"/>
          </a:xfrm>
          <a:prstGeom prst="rect">
            <a:avLst/>
          </a:prstGeom>
          <a:solidFill>
            <a:schemeClr val="accent1"/>
          </a:solidFill>
          <a:ln/>
        </p:spPr>
        <p:txBody>
          <a:bodyPr/>
          <a:lstStyle/>
          <a:p>
            <a:endParaRPr lang="en-US"/>
          </a:p>
        </p:txBody>
      </p:sp>
      <p:sp>
        <p:nvSpPr>
          <p:cNvPr id="15" name="voxel-460"/>
          <p:cNvSpPr/>
          <p:nvPr/>
        </p:nvSpPr>
        <p:spPr>
          <a:xfrm>
            <a:off x="2272101" y="2756733"/>
            <a:ext cx="521574" cy="521574"/>
          </a:xfrm>
          <a:prstGeom prst="rect">
            <a:avLst/>
          </a:prstGeom>
          <a:solidFill>
            <a:schemeClr val="accent1"/>
          </a:solidFill>
          <a:ln/>
        </p:spPr>
        <p:txBody>
          <a:bodyPr/>
          <a:lstStyle/>
          <a:p>
            <a:endParaRPr lang="en-US"/>
          </a:p>
        </p:txBody>
      </p:sp>
      <p:sp>
        <p:nvSpPr>
          <p:cNvPr id="16" name="voxel-461"/>
          <p:cNvSpPr/>
          <p:nvPr/>
        </p:nvSpPr>
        <p:spPr>
          <a:xfrm>
            <a:off x="2839029" y="2756733"/>
            <a:ext cx="521574" cy="521574"/>
          </a:xfrm>
          <a:prstGeom prst="rect">
            <a:avLst/>
          </a:prstGeom>
          <a:solidFill>
            <a:schemeClr val="accent1"/>
          </a:solidFill>
          <a:ln/>
        </p:spPr>
        <p:txBody>
          <a:bodyPr/>
          <a:lstStyle/>
          <a:p>
            <a:endParaRPr lang="en-US"/>
          </a:p>
        </p:txBody>
      </p:sp>
      <p:sp>
        <p:nvSpPr>
          <p:cNvPr id="17" name="voxel-462"/>
          <p:cNvSpPr/>
          <p:nvPr/>
        </p:nvSpPr>
        <p:spPr>
          <a:xfrm>
            <a:off x="571317" y="3323661"/>
            <a:ext cx="521574" cy="521574"/>
          </a:xfrm>
          <a:prstGeom prst="rect">
            <a:avLst/>
          </a:prstGeom>
          <a:solidFill>
            <a:schemeClr val="accent1"/>
          </a:solidFill>
          <a:ln/>
        </p:spPr>
        <p:txBody>
          <a:bodyPr/>
          <a:lstStyle/>
          <a:p>
            <a:endParaRPr lang="en-US"/>
          </a:p>
        </p:txBody>
      </p:sp>
      <p:sp>
        <p:nvSpPr>
          <p:cNvPr id="18" name="voxel-463"/>
          <p:cNvSpPr/>
          <p:nvPr/>
        </p:nvSpPr>
        <p:spPr>
          <a:xfrm>
            <a:off x="1138245" y="3323661"/>
            <a:ext cx="521574" cy="521574"/>
          </a:xfrm>
          <a:prstGeom prst="rect">
            <a:avLst/>
          </a:prstGeom>
          <a:solidFill>
            <a:schemeClr val="accent1"/>
          </a:solidFill>
          <a:ln/>
        </p:spPr>
        <p:txBody>
          <a:bodyPr/>
          <a:lstStyle/>
          <a:p>
            <a:endParaRPr lang="en-US"/>
          </a:p>
        </p:txBody>
      </p:sp>
      <p:sp>
        <p:nvSpPr>
          <p:cNvPr id="19" name="voxel-464"/>
          <p:cNvSpPr/>
          <p:nvPr/>
        </p:nvSpPr>
        <p:spPr>
          <a:xfrm>
            <a:off x="2272101" y="3323661"/>
            <a:ext cx="521574" cy="521574"/>
          </a:xfrm>
          <a:prstGeom prst="rect">
            <a:avLst/>
          </a:prstGeom>
          <a:solidFill>
            <a:schemeClr val="accent1"/>
          </a:solidFill>
          <a:ln/>
        </p:spPr>
        <p:txBody>
          <a:bodyPr/>
          <a:lstStyle/>
          <a:p>
            <a:endParaRPr lang="en-US"/>
          </a:p>
        </p:txBody>
      </p:sp>
      <p:sp>
        <p:nvSpPr>
          <p:cNvPr id="20" name="voxel-465"/>
          <p:cNvSpPr/>
          <p:nvPr/>
        </p:nvSpPr>
        <p:spPr>
          <a:xfrm>
            <a:off x="2839029" y="3323661"/>
            <a:ext cx="521574" cy="521574"/>
          </a:xfrm>
          <a:prstGeom prst="rect">
            <a:avLst/>
          </a:prstGeom>
          <a:solidFill>
            <a:schemeClr val="accent1"/>
          </a:solidFill>
          <a:ln/>
        </p:spPr>
        <p:txBody>
          <a:bodyPr/>
          <a:lstStyle/>
          <a:p>
            <a:endParaRPr lang="en-US"/>
          </a:p>
        </p:txBody>
      </p:sp>
      <p:sp>
        <p:nvSpPr>
          <p:cNvPr id="21" name="voxel-466"/>
          <p:cNvSpPr/>
          <p:nvPr/>
        </p:nvSpPr>
        <p:spPr>
          <a:xfrm>
            <a:off x="571317" y="3890589"/>
            <a:ext cx="521574" cy="521574"/>
          </a:xfrm>
          <a:prstGeom prst="rect">
            <a:avLst/>
          </a:prstGeom>
          <a:solidFill>
            <a:schemeClr val="accent1"/>
          </a:solidFill>
          <a:ln/>
        </p:spPr>
        <p:txBody>
          <a:bodyPr/>
          <a:lstStyle/>
          <a:p>
            <a:endParaRPr lang="en-US"/>
          </a:p>
        </p:txBody>
      </p:sp>
      <p:sp>
        <p:nvSpPr>
          <p:cNvPr id="22" name="voxel-467"/>
          <p:cNvSpPr/>
          <p:nvPr/>
        </p:nvSpPr>
        <p:spPr>
          <a:xfrm>
            <a:off x="1138245" y="3890589"/>
            <a:ext cx="521574" cy="521574"/>
          </a:xfrm>
          <a:prstGeom prst="rect">
            <a:avLst/>
          </a:prstGeom>
          <a:solidFill>
            <a:schemeClr val="accent1"/>
          </a:solidFill>
          <a:ln/>
        </p:spPr>
        <p:txBody>
          <a:bodyPr/>
          <a:lstStyle/>
          <a:p>
            <a:endParaRPr lang="en-US"/>
          </a:p>
        </p:txBody>
      </p:sp>
      <p:sp>
        <p:nvSpPr>
          <p:cNvPr id="23" name="voxel-468"/>
          <p:cNvSpPr/>
          <p:nvPr/>
        </p:nvSpPr>
        <p:spPr>
          <a:xfrm>
            <a:off x="2272101" y="3890589"/>
            <a:ext cx="521574" cy="521574"/>
          </a:xfrm>
          <a:prstGeom prst="rect">
            <a:avLst/>
          </a:prstGeom>
          <a:solidFill>
            <a:schemeClr val="accent1"/>
          </a:solidFill>
          <a:ln/>
        </p:spPr>
        <p:txBody>
          <a:bodyPr/>
          <a:lstStyle/>
          <a:p>
            <a:endParaRPr lang="en-US"/>
          </a:p>
        </p:txBody>
      </p:sp>
      <p:sp>
        <p:nvSpPr>
          <p:cNvPr id="24" name="voxel-469"/>
          <p:cNvSpPr/>
          <p:nvPr/>
        </p:nvSpPr>
        <p:spPr>
          <a:xfrm>
            <a:off x="2839029" y="3890589"/>
            <a:ext cx="521574" cy="521574"/>
          </a:xfrm>
          <a:prstGeom prst="rect">
            <a:avLst/>
          </a:prstGeom>
          <a:solidFill>
            <a:schemeClr val="accent1"/>
          </a:solidFill>
          <a:ln/>
        </p:spPr>
        <p:txBody>
          <a:bodyPr/>
          <a:lstStyle/>
          <a:p>
            <a:endParaRPr lang="en-US"/>
          </a:p>
        </p:txBody>
      </p:sp>
      <p:sp>
        <p:nvSpPr>
          <p:cNvPr id="25" name="outline-470"/>
          <p:cNvSpPr/>
          <p:nvPr/>
        </p:nvSpPr>
        <p:spPr>
          <a:xfrm>
            <a:off x="475488" y="1527048"/>
            <a:ext cx="2980944" cy="2980944"/>
          </a:xfrm>
          <a:prstGeom prst="rect">
            <a:avLst/>
          </a:prstGeom>
          <a:ln w="38100">
            <a:solidFill>
              <a:schemeClr val="accent5"/>
            </a:solidFill>
            <a:prstDash val="solid"/>
          </a:ln>
        </p:spPr>
        <p:txBody>
          <a:bodyPr/>
          <a:lstStyle/>
          <a:p>
            <a:endParaRPr lang="en-US"/>
          </a:p>
        </p:txBody>
      </p:sp>
      <p:sp>
        <p:nvSpPr>
          <p:cNvPr id="26" name="text-471"/>
          <p:cNvSpPr txBox="1"/>
          <p:nvPr/>
        </p:nvSpPr>
        <p:spPr>
          <a:xfrm>
            <a:off x="548640" y="4617720"/>
            <a:ext cx="2971800" cy="731520"/>
          </a:xfrm>
          <a:prstGeom prst="rect">
            <a:avLst/>
          </a:prstGeom>
          <a:noFill/>
          <a:ln/>
        </p:spPr>
        <p:txBody>
          <a:bodyPr wrap="square" lIns="0" tIns="0" rIns="0" bIns="0" rtlCol="0" anchor="t"/>
          <a:lstStyle/>
          <a:p>
            <a:pPr marL="0" indent="0">
              <a:buNone/>
            </a:pPr>
            <a:r>
              <a:rPr lang="en-US" sz="1300" dirty="0">
                <a:solidFill>
                  <a:schemeClr val="tx2"/>
                </a:solidFill>
              </a:rPr>
              <a:t>One network sees every cell and drives every cell</a:t>
            </a:r>
            <a:endParaRPr lang="en-US" sz="1300" dirty="0"/>
          </a:p>
        </p:txBody>
      </p:sp>
      <p:sp>
        <p:nvSpPr>
          <p:cNvPr id="27" name="pill-472"/>
          <p:cNvSpPr/>
          <p:nvPr/>
        </p:nvSpPr>
        <p:spPr>
          <a:xfrm>
            <a:off x="3840480" y="1600200"/>
            <a:ext cx="2651760" cy="502920"/>
          </a:xfrm>
          <a:prstGeom prst="roundRect">
            <a:avLst>
              <a:gd name="adj" fmla="val 50000"/>
            </a:avLst>
          </a:prstGeom>
          <a:solidFill>
            <a:schemeClr val="bg2"/>
          </a:solidFill>
          <a:ln/>
        </p:spPr>
        <p:txBody>
          <a:bodyPr/>
          <a:lstStyle/>
          <a:p>
            <a:endParaRPr lang="en-US"/>
          </a:p>
        </p:txBody>
      </p:sp>
      <p:sp>
        <p:nvSpPr>
          <p:cNvPr id="28" name="pill-text-473"/>
          <p:cNvSpPr txBox="1"/>
          <p:nvPr/>
        </p:nvSpPr>
        <p:spPr>
          <a:xfrm>
            <a:off x="3840480" y="1600200"/>
            <a:ext cx="2651760" cy="502920"/>
          </a:xfrm>
          <a:prstGeom prst="rect">
            <a:avLst/>
          </a:prstGeom>
          <a:noFill/>
          <a:ln/>
        </p:spPr>
        <p:txBody>
          <a:bodyPr wrap="square" lIns="0" tIns="0" rIns="0" bIns="0" rtlCol="0" anchor="ctr"/>
          <a:lstStyle/>
          <a:p>
            <a:pPr marL="0" indent="0" algn="ctr">
              <a:buNone/>
            </a:pPr>
            <a:r>
              <a:rPr lang="en-US" sz="1400" dirty="0">
                <a:solidFill>
                  <a:schemeClr val="tx1"/>
                </a:solidFill>
              </a:rPr>
              <a:t>clock: sin, cos (2)</a:t>
            </a:r>
            <a:endParaRPr lang="en-US" sz="1400" dirty="0"/>
          </a:p>
        </p:txBody>
      </p:sp>
      <p:sp>
        <p:nvSpPr>
          <p:cNvPr id="29" name="pill-474"/>
          <p:cNvSpPr/>
          <p:nvPr/>
        </p:nvSpPr>
        <p:spPr>
          <a:xfrm>
            <a:off x="3840480" y="2240280"/>
            <a:ext cx="2651760" cy="502920"/>
          </a:xfrm>
          <a:prstGeom prst="roundRect">
            <a:avLst>
              <a:gd name="adj" fmla="val 50000"/>
            </a:avLst>
          </a:prstGeom>
          <a:solidFill>
            <a:schemeClr val="bg2"/>
          </a:solidFill>
          <a:ln/>
        </p:spPr>
        <p:txBody>
          <a:bodyPr/>
          <a:lstStyle/>
          <a:p>
            <a:endParaRPr lang="en-US"/>
          </a:p>
        </p:txBody>
      </p:sp>
      <p:sp>
        <p:nvSpPr>
          <p:cNvPr id="30" name="pill-text-475"/>
          <p:cNvSpPr txBox="1"/>
          <p:nvPr/>
        </p:nvSpPr>
        <p:spPr>
          <a:xfrm>
            <a:off x="3840480" y="2240280"/>
            <a:ext cx="2651760" cy="502920"/>
          </a:xfrm>
          <a:prstGeom prst="rect">
            <a:avLst/>
          </a:prstGeom>
          <a:noFill/>
          <a:ln/>
        </p:spPr>
        <p:txBody>
          <a:bodyPr wrap="square" lIns="0" tIns="0" rIns="0" bIns="0" rtlCol="0" anchor="ctr"/>
          <a:lstStyle/>
          <a:p>
            <a:pPr marL="0" indent="0" algn="ctr">
              <a:buNone/>
            </a:pPr>
            <a:r>
              <a:rPr lang="en-US" sz="1400" dirty="0">
                <a:solidFill>
                  <a:schemeClr val="tx1"/>
                </a:solidFill>
              </a:rPr>
              <a:t>every cell's strain: 25 × 2 (50)</a:t>
            </a:r>
            <a:endParaRPr lang="en-US" sz="1400" dirty="0"/>
          </a:p>
        </p:txBody>
      </p:sp>
      <p:sp>
        <p:nvSpPr>
          <p:cNvPr id="31" name="arrow-476"/>
          <p:cNvSpPr/>
          <p:nvPr/>
        </p:nvSpPr>
        <p:spPr>
          <a:xfrm>
            <a:off x="6583680" y="2171700"/>
            <a:ext cx="365760" cy="0"/>
          </a:xfrm>
          <a:prstGeom prst="line">
            <a:avLst/>
          </a:prstGeom>
          <a:noFill/>
          <a:ln w="25400">
            <a:solidFill>
              <a:schemeClr val="tx2"/>
            </a:solidFill>
            <a:prstDash val="solid"/>
            <a:tailEnd type="triangle"/>
          </a:ln>
        </p:spPr>
        <p:txBody>
          <a:bodyPr/>
          <a:lstStyle/>
          <a:p>
            <a:endParaRPr lang="en-US"/>
          </a:p>
        </p:txBody>
      </p:sp>
      <p:sp>
        <p:nvSpPr>
          <p:cNvPr id="32" name="net-477"/>
          <p:cNvSpPr/>
          <p:nvPr/>
        </p:nvSpPr>
        <p:spPr>
          <a:xfrm>
            <a:off x="7040880" y="1668780"/>
            <a:ext cx="1371600" cy="1005840"/>
          </a:xfrm>
          <a:prstGeom prst="roundRect">
            <a:avLst>
              <a:gd name="adj" fmla="val 9091"/>
            </a:avLst>
          </a:prstGeom>
          <a:solidFill>
            <a:schemeClr val="tx1"/>
          </a:solidFill>
          <a:ln/>
        </p:spPr>
        <p:txBody>
          <a:bodyPr/>
          <a:lstStyle/>
          <a:p>
            <a:endParaRPr lang="en-US"/>
          </a:p>
        </p:txBody>
      </p:sp>
      <p:sp>
        <p:nvSpPr>
          <p:cNvPr id="33" name="net-text-478"/>
          <p:cNvSpPr txBox="1"/>
          <p:nvPr/>
        </p:nvSpPr>
        <p:spPr>
          <a:xfrm>
            <a:off x="7040880" y="1668780"/>
            <a:ext cx="1371600" cy="1005840"/>
          </a:xfrm>
          <a:prstGeom prst="rect">
            <a:avLst/>
          </a:prstGeom>
          <a:noFill/>
          <a:ln/>
        </p:spPr>
        <p:txBody>
          <a:bodyPr wrap="square" lIns="0" tIns="0" rIns="0" bIns="0" rtlCol="0" anchor="ctr"/>
          <a:lstStyle/>
          <a:p>
            <a:pPr marL="0" indent="0" algn="ctr">
              <a:buNone/>
            </a:pPr>
            <a:r>
              <a:rPr lang="en-US" sz="1500" b="1" dirty="0">
                <a:solidFill>
                  <a:schemeClr val="bg1"/>
                </a:solidFill>
              </a:rPr>
              <a:t>network</a:t>
            </a:r>
          </a:p>
          <a:p>
            <a:pPr marL="0" indent="0" algn="ctr">
              <a:buNone/>
            </a:pPr>
            <a:r>
              <a:rPr lang="en-US" sz="1100" dirty="0">
                <a:solidFill>
                  <a:schemeClr val="bg1"/>
                </a:solidFill>
              </a:rPr>
              <a:t>16 hidden</a:t>
            </a:r>
            <a:endParaRPr lang="en-US" sz="1500" dirty="0"/>
          </a:p>
        </p:txBody>
      </p:sp>
      <p:sp>
        <p:nvSpPr>
          <p:cNvPr id="34" name="arrow-479"/>
          <p:cNvSpPr/>
          <p:nvPr/>
        </p:nvSpPr>
        <p:spPr>
          <a:xfrm>
            <a:off x="8503920" y="2171700"/>
            <a:ext cx="365760" cy="0"/>
          </a:xfrm>
          <a:prstGeom prst="line">
            <a:avLst/>
          </a:prstGeom>
          <a:noFill/>
          <a:ln w="25400">
            <a:solidFill>
              <a:schemeClr val="tx2"/>
            </a:solidFill>
            <a:prstDash val="solid"/>
            <a:tailEnd type="triangle"/>
          </a:ln>
        </p:spPr>
        <p:txBody>
          <a:bodyPr/>
          <a:lstStyle/>
          <a:p>
            <a:endParaRPr lang="en-US"/>
          </a:p>
        </p:txBody>
      </p:sp>
      <p:sp>
        <p:nvSpPr>
          <p:cNvPr id="35" name="pill-480"/>
          <p:cNvSpPr/>
          <p:nvPr/>
        </p:nvSpPr>
        <p:spPr>
          <a:xfrm>
            <a:off x="8961120" y="1897380"/>
            <a:ext cx="2651760" cy="548640"/>
          </a:xfrm>
          <a:prstGeom prst="roundRect">
            <a:avLst>
              <a:gd name="adj" fmla="val 50000"/>
            </a:avLst>
          </a:prstGeom>
          <a:solidFill>
            <a:schemeClr val="accent2"/>
          </a:solidFill>
          <a:ln/>
        </p:spPr>
        <p:txBody>
          <a:bodyPr/>
          <a:lstStyle/>
          <a:p>
            <a:endParaRPr lang="en-US"/>
          </a:p>
        </p:txBody>
      </p:sp>
      <p:sp>
        <p:nvSpPr>
          <p:cNvPr id="36" name="pill-text-481"/>
          <p:cNvSpPr txBox="1"/>
          <p:nvPr/>
        </p:nvSpPr>
        <p:spPr>
          <a:xfrm>
            <a:off x="8961120" y="1897380"/>
            <a:ext cx="2651760" cy="548640"/>
          </a:xfrm>
          <a:prstGeom prst="rect">
            <a:avLst/>
          </a:prstGeom>
          <a:noFill/>
          <a:ln/>
        </p:spPr>
        <p:txBody>
          <a:bodyPr wrap="square" lIns="0" tIns="0" rIns="0" bIns="0" rtlCol="0" anchor="ctr"/>
          <a:lstStyle/>
          <a:p>
            <a:pPr marL="0" indent="0" algn="ctr">
              <a:buNone/>
            </a:pPr>
            <a:r>
              <a:rPr lang="en-US" sz="1400" dirty="0">
                <a:solidFill>
                  <a:schemeClr val="tx1"/>
                </a:solidFill>
              </a:rPr>
              <a:t>1 command per grid cell</a:t>
            </a:r>
            <a:endParaRPr lang="en-US" sz="1400" dirty="0"/>
          </a:p>
        </p:txBody>
      </p:sp>
      <p:sp>
        <p:nvSpPr>
          <p:cNvPr id="37" name="text-482"/>
          <p:cNvSpPr txBox="1"/>
          <p:nvPr/>
        </p:nvSpPr>
        <p:spPr>
          <a:xfrm>
            <a:off x="3840480" y="3840480"/>
            <a:ext cx="2377440" cy="822960"/>
          </a:xfrm>
          <a:prstGeom prst="rect">
            <a:avLst/>
          </a:prstGeom>
          <a:noFill/>
          <a:ln/>
        </p:spPr>
        <p:txBody>
          <a:bodyPr wrap="square" lIns="0" tIns="0" rIns="0" bIns="0" rtlCol="0" anchor="b"/>
          <a:lstStyle/>
          <a:p>
            <a:pPr marL="0" indent="0">
              <a:buNone/>
            </a:pPr>
            <a:r>
              <a:rPr lang="en-US" sz="4400" b="1" dirty="0">
                <a:solidFill>
                  <a:schemeClr val="accent2"/>
                </a:solidFill>
              </a:rPr>
              <a:t>1,273</a:t>
            </a:r>
            <a:endParaRPr lang="en-US" sz="4400" dirty="0"/>
          </a:p>
        </p:txBody>
      </p:sp>
      <p:sp>
        <p:nvSpPr>
          <p:cNvPr id="38" name="text-483"/>
          <p:cNvSpPr txBox="1"/>
          <p:nvPr/>
        </p:nvSpPr>
        <p:spPr>
          <a:xfrm>
            <a:off x="3840480" y="4709160"/>
            <a:ext cx="2377440" cy="731520"/>
          </a:xfrm>
          <a:prstGeom prst="rect">
            <a:avLst/>
          </a:prstGeom>
          <a:noFill/>
          <a:ln/>
        </p:spPr>
        <p:txBody>
          <a:bodyPr wrap="square" lIns="0" tIns="0" rIns="0" bIns="0" rtlCol="0" anchor="t"/>
          <a:lstStyle/>
          <a:p>
            <a:pPr marL="0" indent="0">
              <a:buNone/>
            </a:pPr>
            <a:r>
              <a:rPr lang="en-US" sz="1400" dirty="0">
                <a:solidFill>
                  <a:schemeClr val="tx2"/>
                </a:solidFill>
              </a:rPr>
              <a:t>genes on a 5×5 grid</a:t>
            </a:r>
            <a:endParaRPr lang="en-US" sz="1400" dirty="0"/>
          </a:p>
        </p:txBody>
      </p:sp>
      <p:sp>
        <p:nvSpPr>
          <p:cNvPr id="39" name="text-484"/>
          <p:cNvSpPr txBox="1"/>
          <p:nvPr/>
        </p:nvSpPr>
        <p:spPr>
          <a:xfrm>
            <a:off x="6492240" y="4425696"/>
            <a:ext cx="5150815" cy="1463040"/>
          </a:xfrm>
          <a:prstGeom prst="rect">
            <a:avLst/>
          </a:prstGeom>
          <a:noFill/>
          <a:ln/>
        </p:spPr>
        <p:txBody>
          <a:bodyPr wrap="square" lIns="0" tIns="0" rIns="0" bIns="0" rtlCol="0" anchor="t"/>
          <a:lstStyle/>
          <a:p>
            <a:pPr marL="0" indent="0">
              <a:buNone/>
            </a:pPr>
            <a:r>
              <a:rPr lang="en-US" sz="1600" dirty="0">
                <a:solidFill>
                  <a:schemeClr val="tx1"/>
                </a:solidFill>
              </a:rPr>
              <a:t>Sees the whole body's shape at once, and can coordinate every muscle with everything else. The most expressive brain, and by far the biggest genome to search.</a:t>
            </a:r>
            <a:endParaRPr lang="en-US" sz="1600" dirty="0"/>
          </a:p>
        </p:txBody>
      </p:sp>
      <p:sp>
        <p:nvSpPr>
          <p:cNvPr id="40"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19</a:t>
            </a:fld>
            <a:endParaRPr lang="en-US"/>
          </a:p>
        </p:txBody>
      </p:sp>
      <p:grpSp>
        <p:nvGrpSpPr>
          <p:cNvPr id="138" name="nn-diagram"/>
          <p:cNvGrpSpPr/>
          <p:nvPr/>
        </p:nvGrpSpPr>
        <p:grpSpPr>
          <a:xfrm>
            <a:off x="6400800" y="2880360"/>
            <a:ext cx="5239512" cy="1389888"/>
            <a:chOff x="6400800" y="2880360"/>
            <a:chExt cx="5239512" cy="1389888"/>
          </a:xfrm>
        </p:grpSpPr>
        <p:cxnSp>
          <p:nvCxnSpPr>
            <p:cNvPr id="41" name="edge-41"/>
            <p:cNvCxnSpPr/>
            <p:nvPr/>
          </p:nvCxnSpPr>
          <p:spPr>
            <a:xfrm>
              <a:off x="6867144" y="2935224"/>
              <a:ext cx="804672" cy="0"/>
            </a:xfrm>
            <a:prstGeom prst="line">
              <a:avLst/>
            </a:prstGeom>
            <a:ln w="6350">
              <a:solidFill>
                <a:schemeClr val="tx2">
                  <a:alpha val="30000"/>
                </a:schemeClr>
              </a:solidFill>
            </a:ln>
          </p:spPr>
        </p:cxnSp>
        <p:cxnSp>
          <p:nvCxnSpPr>
            <p:cNvPr id="42" name="edge-42"/>
            <p:cNvCxnSpPr/>
            <p:nvPr/>
          </p:nvCxnSpPr>
          <p:spPr>
            <a:xfrm>
              <a:off x="6867144" y="2935224"/>
              <a:ext cx="804672" cy="146304"/>
            </a:xfrm>
            <a:prstGeom prst="line">
              <a:avLst/>
            </a:prstGeom>
            <a:ln w="6350">
              <a:solidFill>
                <a:schemeClr val="tx2">
                  <a:alpha val="30000"/>
                </a:schemeClr>
              </a:solidFill>
            </a:ln>
          </p:spPr>
        </p:cxnSp>
        <p:cxnSp>
          <p:nvCxnSpPr>
            <p:cNvPr id="43" name="edge-43"/>
            <p:cNvCxnSpPr/>
            <p:nvPr/>
          </p:nvCxnSpPr>
          <p:spPr>
            <a:xfrm>
              <a:off x="6867144" y="2935224"/>
              <a:ext cx="804672" cy="292608"/>
            </a:xfrm>
            <a:prstGeom prst="line">
              <a:avLst/>
            </a:prstGeom>
            <a:ln w="6350">
              <a:solidFill>
                <a:schemeClr val="tx2">
                  <a:alpha val="30000"/>
                </a:schemeClr>
              </a:solidFill>
            </a:ln>
          </p:spPr>
        </p:cxnSp>
        <p:cxnSp>
          <p:nvCxnSpPr>
            <p:cNvPr id="44" name="edge-44"/>
            <p:cNvCxnSpPr/>
            <p:nvPr/>
          </p:nvCxnSpPr>
          <p:spPr>
            <a:xfrm>
              <a:off x="6867144" y="2935224"/>
              <a:ext cx="804672" cy="731520"/>
            </a:xfrm>
            <a:prstGeom prst="line">
              <a:avLst/>
            </a:prstGeom>
            <a:ln w="6350">
              <a:solidFill>
                <a:schemeClr val="tx2">
                  <a:alpha val="30000"/>
                </a:schemeClr>
              </a:solidFill>
            </a:ln>
          </p:spPr>
        </p:cxnSp>
        <p:cxnSp>
          <p:nvCxnSpPr>
            <p:cNvPr id="45" name="edge-45"/>
            <p:cNvCxnSpPr/>
            <p:nvPr/>
          </p:nvCxnSpPr>
          <p:spPr>
            <a:xfrm>
              <a:off x="6867144" y="2935224"/>
              <a:ext cx="804672" cy="877824"/>
            </a:xfrm>
            <a:prstGeom prst="line">
              <a:avLst/>
            </a:prstGeom>
            <a:ln w="6350">
              <a:solidFill>
                <a:schemeClr val="tx2">
                  <a:alpha val="30000"/>
                </a:schemeClr>
              </a:solidFill>
            </a:ln>
          </p:spPr>
        </p:cxnSp>
        <p:cxnSp>
          <p:nvCxnSpPr>
            <p:cNvPr id="46" name="edge-46"/>
            <p:cNvCxnSpPr/>
            <p:nvPr/>
          </p:nvCxnSpPr>
          <p:spPr>
            <a:xfrm>
              <a:off x="6867144" y="2935224"/>
              <a:ext cx="804672" cy="1024128"/>
            </a:xfrm>
            <a:prstGeom prst="line">
              <a:avLst/>
            </a:prstGeom>
            <a:ln w="6350">
              <a:solidFill>
                <a:schemeClr val="tx2">
                  <a:alpha val="30000"/>
                </a:schemeClr>
              </a:solidFill>
            </a:ln>
          </p:spPr>
        </p:cxnSp>
        <p:cxnSp>
          <p:nvCxnSpPr>
            <p:cNvPr id="47" name="edge-47"/>
            <p:cNvCxnSpPr/>
            <p:nvPr/>
          </p:nvCxnSpPr>
          <p:spPr>
            <a:xfrm flipV="1">
              <a:off x="6867144" y="2935224"/>
              <a:ext cx="804672" cy="146304"/>
            </a:xfrm>
            <a:prstGeom prst="line">
              <a:avLst/>
            </a:prstGeom>
            <a:ln w="6350">
              <a:solidFill>
                <a:schemeClr val="tx2">
                  <a:alpha val="30000"/>
                </a:schemeClr>
              </a:solidFill>
            </a:ln>
          </p:spPr>
        </p:cxnSp>
        <p:cxnSp>
          <p:nvCxnSpPr>
            <p:cNvPr id="48" name="edge-48"/>
            <p:cNvCxnSpPr/>
            <p:nvPr/>
          </p:nvCxnSpPr>
          <p:spPr>
            <a:xfrm>
              <a:off x="6867144" y="3081528"/>
              <a:ext cx="804672" cy="0"/>
            </a:xfrm>
            <a:prstGeom prst="line">
              <a:avLst/>
            </a:prstGeom>
            <a:ln w="6350">
              <a:solidFill>
                <a:schemeClr val="tx2">
                  <a:alpha val="30000"/>
                </a:schemeClr>
              </a:solidFill>
            </a:ln>
          </p:spPr>
        </p:cxnSp>
        <p:cxnSp>
          <p:nvCxnSpPr>
            <p:cNvPr id="49" name="edge-49"/>
            <p:cNvCxnSpPr/>
            <p:nvPr/>
          </p:nvCxnSpPr>
          <p:spPr>
            <a:xfrm>
              <a:off x="6867144" y="3081528"/>
              <a:ext cx="804672" cy="146304"/>
            </a:xfrm>
            <a:prstGeom prst="line">
              <a:avLst/>
            </a:prstGeom>
            <a:ln w="6350">
              <a:solidFill>
                <a:schemeClr val="tx2">
                  <a:alpha val="30000"/>
                </a:schemeClr>
              </a:solidFill>
            </a:ln>
          </p:spPr>
        </p:cxnSp>
        <p:cxnSp>
          <p:nvCxnSpPr>
            <p:cNvPr id="50" name="edge-50"/>
            <p:cNvCxnSpPr/>
            <p:nvPr/>
          </p:nvCxnSpPr>
          <p:spPr>
            <a:xfrm>
              <a:off x="6867144" y="3081528"/>
              <a:ext cx="804672" cy="585216"/>
            </a:xfrm>
            <a:prstGeom prst="line">
              <a:avLst/>
            </a:prstGeom>
            <a:ln w="6350">
              <a:solidFill>
                <a:schemeClr val="tx2">
                  <a:alpha val="30000"/>
                </a:schemeClr>
              </a:solidFill>
            </a:ln>
          </p:spPr>
        </p:cxnSp>
        <p:cxnSp>
          <p:nvCxnSpPr>
            <p:cNvPr id="51" name="edge-51"/>
            <p:cNvCxnSpPr/>
            <p:nvPr/>
          </p:nvCxnSpPr>
          <p:spPr>
            <a:xfrm>
              <a:off x="6867144" y="3081528"/>
              <a:ext cx="804672" cy="731520"/>
            </a:xfrm>
            <a:prstGeom prst="line">
              <a:avLst/>
            </a:prstGeom>
            <a:ln w="6350">
              <a:solidFill>
                <a:schemeClr val="tx2">
                  <a:alpha val="30000"/>
                </a:schemeClr>
              </a:solidFill>
            </a:ln>
          </p:spPr>
        </p:cxnSp>
        <p:cxnSp>
          <p:nvCxnSpPr>
            <p:cNvPr id="52" name="edge-52"/>
            <p:cNvCxnSpPr/>
            <p:nvPr/>
          </p:nvCxnSpPr>
          <p:spPr>
            <a:xfrm>
              <a:off x="6867144" y="3081528"/>
              <a:ext cx="804672" cy="877824"/>
            </a:xfrm>
            <a:prstGeom prst="line">
              <a:avLst/>
            </a:prstGeom>
            <a:ln w="6350">
              <a:solidFill>
                <a:schemeClr val="tx2">
                  <a:alpha val="30000"/>
                </a:schemeClr>
              </a:solidFill>
            </a:ln>
          </p:spPr>
        </p:cxnSp>
        <p:cxnSp>
          <p:nvCxnSpPr>
            <p:cNvPr id="53" name="edge-53"/>
            <p:cNvCxnSpPr/>
            <p:nvPr/>
          </p:nvCxnSpPr>
          <p:spPr>
            <a:xfrm flipV="1">
              <a:off x="6867144" y="2935224"/>
              <a:ext cx="804672" cy="292608"/>
            </a:xfrm>
            <a:prstGeom prst="line">
              <a:avLst/>
            </a:prstGeom>
            <a:ln w="6350">
              <a:solidFill>
                <a:schemeClr val="tx2">
                  <a:alpha val="30000"/>
                </a:schemeClr>
              </a:solidFill>
            </a:ln>
          </p:spPr>
        </p:cxnSp>
        <p:cxnSp>
          <p:nvCxnSpPr>
            <p:cNvPr id="54" name="edge-54"/>
            <p:cNvCxnSpPr/>
            <p:nvPr/>
          </p:nvCxnSpPr>
          <p:spPr>
            <a:xfrm flipV="1">
              <a:off x="6867144" y="3081528"/>
              <a:ext cx="804672" cy="146304"/>
            </a:xfrm>
            <a:prstGeom prst="line">
              <a:avLst/>
            </a:prstGeom>
            <a:ln w="6350">
              <a:solidFill>
                <a:schemeClr val="tx2">
                  <a:alpha val="30000"/>
                </a:schemeClr>
              </a:solidFill>
            </a:ln>
          </p:spPr>
        </p:cxnSp>
        <p:cxnSp>
          <p:nvCxnSpPr>
            <p:cNvPr id="55" name="edge-55"/>
            <p:cNvCxnSpPr/>
            <p:nvPr/>
          </p:nvCxnSpPr>
          <p:spPr>
            <a:xfrm>
              <a:off x="6867144" y="3227832"/>
              <a:ext cx="804672" cy="0"/>
            </a:xfrm>
            <a:prstGeom prst="line">
              <a:avLst/>
            </a:prstGeom>
            <a:ln w="6350">
              <a:solidFill>
                <a:schemeClr val="tx2">
                  <a:alpha val="30000"/>
                </a:schemeClr>
              </a:solidFill>
            </a:ln>
          </p:spPr>
        </p:cxnSp>
        <p:cxnSp>
          <p:nvCxnSpPr>
            <p:cNvPr id="56" name="edge-56"/>
            <p:cNvCxnSpPr/>
            <p:nvPr/>
          </p:nvCxnSpPr>
          <p:spPr>
            <a:xfrm>
              <a:off x="6867144" y="3227832"/>
              <a:ext cx="804672" cy="438912"/>
            </a:xfrm>
            <a:prstGeom prst="line">
              <a:avLst/>
            </a:prstGeom>
            <a:ln w="6350">
              <a:solidFill>
                <a:schemeClr val="tx2">
                  <a:alpha val="30000"/>
                </a:schemeClr>
              </a:solidFill>
            </a:ln>
          </p:spPr>
        </p:cxnSp>
        <p:cxnSp>
          <p:nvCxnSpPr>
            <p:cNvPr id="57" name="edge-57"/>
            <p:cNvCxnSpPr/>
            <p:nvPr/>
          </p:nvCxnSpPr>
          <p:spPr>
            <a:xfrm>
              <a:off x="6867144" y="3227832"/>
              <a:ext cx="804672" cy="585216"/>
            </a:xfrm>
            <a:prstGeom prst="line">
              <a:avLst/>
            </a:prstGeom>
            <a:ln w="6350">
              <a:solidFill>
                <a:schemeClr val="tx2">
                  <a:alpha val="30000"/>
                </a:schemeClr>
              </a:solidFill>
            </a:ln>
          </p:spPr>
        </p:cxnSp>
        <p:cxnSp>
          <p:nvCxnSpPr>
            <p:cNvPr id="58" name="edge-58"/>
            <p:cNvCxnSpPr/>
            <p:nvPr/>
          </p:nvCxnSpPr>
          <p:spPr>
            <a:xfrm>
              <a:off x="6867144" y="3227832"/>
              <a:ext cx="804672" cy="731520"/>
            </a:xfrm>
            <a:prstGeom prst="line">
              <a:avLst/>
            </a:prstGeom>
            <a:ln w="6350">
              <a:solidFill>
                <a:schemeClr val="tx2">
                  <a:alpha val="30000"/>
                </a:schemeClr>
              </a:solidFill>
            </a:ln>
          </p:spPr>
        </p:cxnSp>
        <p:cxnSp>
          <p:nvCxnSpPr>
            <p:cNvPr id="59" name="edge-59"/>
            <p:cNvCxnSpPr/>
            <p:nvPr/>
          </p:nvCxnSpPr>
          <p:spPr>
            <a:xfrm flipV="1">
              <a:off x="6867144" y="2935224"/>
              <a:ext cx="804672" cy="731520"/>
            </a:xfrm>
            <a:prstGeom prst="line">
              <a:avLst/>
            </a:prstGeom>
            <a:ln w="6350">
              <a:solidFill>
                <a:schemeClr val="tx2">
                  <a:alpha val="30000"/>
                </a:schemeClr>
              </a:solidFill>
            </a:ln>
          </p:spPr>
        </p:cxnSp>
        <p:cxnSp>
          <p:nvCxnSpPr>
            <p:cNvPr id="60" name="edge-60"/>
            <p:cNvCxnSpPr/>
            <p:nvPr/>
          </p:nvCxnSpPr>
          <p:spPr>
            <a:xfrm flipV="1">
              <a:off x="6867144" y="3081528"/>
              <a:ext cx="804672" cy="585216"/>
            </a:xfrm>
            <a:prstGeom prst="line">
              <a:avLst/>
            </a:prstGeom>
            <a:ln w="6350">
              <a:solidFill>
                <a:schemeClr val="tx2">
                  <a:alpha val="30000"/>
                </a:schemeClr>
              </a:solidFill>
            </a:ln>
          </p:spPr>
        </p:cxnSp>
        <p:cxnSp>
          <p:nvCxnSpPr>
            <p:cNvPr id="61" name="edge-61"/>
            <p:cNvCxnSpPr/>
            <p:nvPr/>
          </p:nvCxnSpPr>
          <p:spPr>
            <a:xfrm flipV="1">
              <a:off x="6867144" y="3227832"/>
              <a:ext cx="804672" cy="438912"/>
            </a:xfrm>
            <a:prstGeom prst="line">
              <a:avLst/>
            </a:prstGeom>
            <a:ln w="6350">
              <a:solidFill>
                <a:schemeClr val="tx2">
                  <a:alpha val="30000"/>
                </a:schemeClr>
              </a:solidFill>
            </a:ln>
          </p:spPr>
        </p:cxnSp>
        <p:cxnSp>
          <p:nvCxnSpPr>
            <p:cNvPr id="62" name="edge-62"/>
            <p:cNvCxnSpPr/>
            <p:nvPr/>
          </p:nvCxnSpPr>
          <p:spPr>
            <a:xfrm>
              <a:off x="6867144" y="3666744"/>
              <a:ext cx="804672" cy="0"/>
            </a:xfrm>
            <a:prstGeom prst="line">
              <a:avLst/>
            </a:prstGeom>
            <a:ln w="6350">
              <a:solidFill>
                <a:schemeClr val="tx2">
                  <a:alpha val="30000"/>
                </a:schemeClr>
              </a:solidFill>
            </a:ln>
          </p:spPr>
        </p:cxnSp>
        <p:cxnSp>
          <p:nvCxnSpPr>
            <p:cNvPr id="63" name="edge-63"/>
            <p:cNvCxnSpPr/>
            <p:nvPr/>
          </p:nvCxnSpPr>
          <p:spPr>
            <a:xfrm>
              <a:off x="6867144" y="3666744"/>
              <a:ext cx="804672" cy="146304"/>
            </a:xfrm>
            <a:prstGeom prst="line">
              <a:avLst/>
            </a:prstGeom>
            <a:ln w="6350">
              <a:solidFill>
                <a:schemeClr val="tx2">
                  <a:alpha val="30000"/>
                </a:schemeClr>
              </a:solidFill>
            </a:ln>
          </p:spPr>
        </p:cxnSp>
        <p:cxnSp>
          <p:nvCxnSpPr>
            <p:cNvPr id="64" name="edge-64"/>
            <p:cNvCxnSpPr/>
            <p:nvPr/>
          </p:nvCxnSpPr>
          <p:spPr>
            <a:xfrm>
              <a:off x="6867144" y="3666744"/>
              <a:ext cx="804672" cy="292608"/>
            </a:xfrm>
            <a:prstGeom prst="line">
              <a:avLst/>
            </a:prstGeom>
            <a:ln w="6350">
              <a:solidFill>
                <a:schemeClr val="tx2">
                  <a:alpha val="30000"/>
                </a:schemeClr>
              </a:solidFill>
            </a:ln>
          </p:spPr>
        </p:cxnSp>
        <p:cxnSp>
          <p:nvCxnSpPr>
            <p:cNvPr id="65" name="edge-65"/>
            <p:cNvCxnSpPr/>
            <p:nvPr/>
          </p:nvCxnSpPr>
          <p:spPr>
            <a:xfrm flipV="1">
              <a:off x="6867144" y="2935224"/>
              <a:ext cx="804672" cy="877824"/>
            </a:xfrm>
            <a:prstGeom prst="line">
              <a:avLst/>
            </a:prstGeom>
            <a:ln w="6350">
              <a:solidFill>
                <a:schemeClr val="tx2">
                  <a:alpha val="30000"/>
                </a:schemeClr>
              </a:solidFill>
            </a:ln>
          </p:spPr>
        </p:cxnSp>
        <p:cxnSp>
          <p:nvCxnSpPr>
            <p:cNvPr id="66" name="edge-66"/>
            <p:cNvCxnSpPr/>
            <p:nvPr/>
          </p:nvCxnSpPr>
          <p:spPr>
            <a:xfrm flipV="1">
              <a:off x="6867144" y="3081528"/>
              <a:ext cx="804672" cy="731520"/>
            </a:xfrm>
            <a:prstGeom prst="line">
              <a:avLst/>
            </a:prstGeom>
            <a:ln w="6350">
              <a:solidFill>
                <a:schemeClr val="tx2">
                  <a:alpha val="30000"/>
                </a:schemeClr>
              </a:solidFill>
            </a:ln>
          </p:spPr>
        </p:cxnSp>
        <p:cxnSp>
          <p:nvCxnSpPr>
            <p:cNvPr id="67" name="edge-67"/>
            <p:cNvCxnSpPr/>
            <p:nvPr/>
          </p:nvCxnSpPr>
          <p:spPr>
            <a:xfrm flipV="1">
              <a:off x="6867144" y="3227832"/>
              <a:ext cx="804672" cy="585216"/>
            </a:xfrm>
            <a:prstGeom prst="line">
              <a:avLst/>
            </a:prstGeom>
            <a:ln w="6350">
              <a:solidFill>
                <a:schemeClr val="tx2">
                  <a:alpha val="30000"/>
                </a:schemeClr>
              </a:solidFill>
            </a:ln>
          </p:spPr>
        </p:cxnSp>
        <p:cxnSp>
          <p:nvCxnSpPr>
            <p:cNvPr id="68" name="edge-68"/>
            <p:cNvCxnSpPr/>
            <p:nvPr/>
          </p:nvCxnSpPr>
          <p:spPr>
            <a:xfrm flipV="1">
              <a:off x="6867144" y="3666744"/>
              <a:ext cx="804672" cy="146304"/>
            </a:xfrm>
            <a:prstGeom prst="line">
              <a:avLst/>
            </a:prstGeom>
            <a:ln w="6350">
              <a:solidFill>
                <a:schemeClr val="tx2">
                  <a:alpha val="30000"/>
                </a:schemeClr>
              </a:solidFill>
            </a:ln>
          </p:spPr>
        </p:cxnSp>
        <p:cxnSp>
          <p:nvCxnSpPr>
            <p:cNvPr id="69" name="edge-69"/>
            <p:cNvCxnSpPr/>
            <p:nvPr/>
          </p:nvCxnSpPr>
          <p:spPr>
            <a:xfrm>
              <a:off x="6867144" y="3813048"/>
              <a:ext cx="804672" cy="0"/>
            </a:xfrm>
            <a:prstGeom prst="line">
              <a:avLst/>
            </a:prstGeom>
            <a:ln w="6350">
              <a:solidFill>
                <a:schemeClr val="tx2">
                  <a:alpha val="30000"/>
                </a:schemeClr>
              </a:solidFill>
            </a:ln>
          </p:spPr>
        </p:cxnSp>
        <p:cxnSp>
          <p:nvCxnSpPr>
            <p:cNvPr id="70" name="edge-70"/>
            <p:cNvCxnSpPr/>
            <p:nvPr/>
          </p:nvCxnSpPr>
          <p:spPr>
            <a:xfrm>
              <a:off x="6867144" y="3813048"/>
              <a:ext cx="804672" cy="146304"/>
            </a:xfrm>
            <a:prstGeom prst="line">
              <a:avLst/>
            </a:prstGeom>
            <a:ln w="6350">
              <a:solidFill>
                <a:schemeClr val="tx2">
                  <a:alpha val="30000"/>
                </a:schemeClr>
              </a:solidFill>
            </a:ln>
          </p:spPr>
        </p:cxnSp>
        <p:cxnSp>
          <p:nvCxnSpPr>
            <p:cNvPr id="71" name="edge-71"/>
            <p:cNvCxnSpPr/>
            <p:nvPr/>
          </p:nvCxnSpPr>
          <p:spPr>
            <a:xfrm flipV="1">
              <a:off x="6867144" y="2935224"/>
              <a:ext cx="804672" cy="1024128"/>
            </a:xfrm>
            <a:prstGeom prst="line">
              <a:avLst/>
            </a:prstGeom>
            <a:ln w="6350">
              <a:solidFill>
                <a:schemeClr val="tx2">
                  <a:alpha val="30000"/>
                </a:schemeClr>
              </a:solidFill>
            </a:ln>
          </p:spPr>
        </p:cxnSp>
        <p:cxnSp>
          <p:nvCxnSpPr>
            <p:cNvPr id="72" name="edge-72"/>
            <p:cNvCxnSpPr/>
            <p:nvPr/>
          </p:nvCxnSpPr>
          <p:spPr>
            <a:xfrm flipV="1">
              <a:off x="6867144" y="3081528"/>
              <a:ext cx="804672" cy="877824"/>
            </a:xfrm>
            <a:prstGeom prst="line">
              <a:avLst/>
            </a:prstGeom>
            <a:ln w="6350">
              <a:solidFill>
                <a:schemeClr val="tx2">
                  <a:alpha val="30000"/>
                </a:schemeClr>
              </a:solidFill>
            </a:ln>
          </p:spPr>
        </p:cxnSp>
        <p:cxnSp>
          <p:nvCxnSpPr>
            <p:cNvPr id="73" name="edge-73"/>
            <p:cNvCxnSpPr/>
            <p:nvPr/>
          </p:nvCxnSpPr>
          <p:spPr>
            <a:xfrm flipV="1">
              <a:off x="6867144" y="3227832"/>
              <a:ext cx="804672" cy="731520"/>
            </a:xfrm>
            <a:prstGeom prst="line">
              <a:avLst/>
            </a:prstGeom>
            <a:ln w="6350">
              <a:solidFill>
                <a:schemeClr val="tx2">
                  <a:alpha val="30000"/>
                </a:schemeClr>
              </a:solidFill>
            </a:ln>
          </p:spPr>
        </p:cxnSp>
        <p:cxnSp>
          <p:nvCxnSpPr>
            <p:cNvPr id="74" name="edge-74"/>
            <p:cNvCxnSpPr/>
            <p:nvPr/>
          </p:nvCxnSpPr>
          <p:spPr>
            <a:xfrm flipV="1">
              <a:off x="6867144" y="3666744"/>
              <a:ext cx="804672" cy="292608"/>
            </a:xfrm>
            <a:prstGeom prst="line">
              <a:avLst/>
            </a:prstGeom>
            <a:ln w="6350">
              <a:solidFill>
                <a:schemeClr val="tx2">
                  <a:alpha val="30000"/>
                </a:schemeClr>
              </a:solidFill>
            </a:ln>
          </p:spPr>
        </p:cxnSp>
        <p:cxnSp>
          <p:nvCxnSpPr>
            <p:cNvPr id="75" name="edge-75"/>
            <p:cNvCxnSpPr/>
            <p:nvPr/>
          </p:nvCxnSpPr>
          <p:spPr>
            <a:xfrm flipV="1">
              <a:off x="6867144" y="3813048"/>
              <a:ext cx="804672" cy="146304"/>
            </a:xfrm>
            <a:prstGeom prst="line">
              <a:avLst/>
            </a:prstGeom>
            <a:ln w="6350">
              <a:solidFill>
                <a:schemeClr val="tx2">
                  <a:alpha val="30000"/>
                </a:schemeClr>
              </a:solidFill>
            </a:ln>
          </p:spPr>
        </p:cxnSp>
        <p:cxnSp>
          <p:nvCxnSpPr>
            <p:cNvPr id="76" name="edge-76"/>
            <p:cNvCxnSpPr/>
            <p:nvPr/>
          </p:nvCxnSpPr>
          <p:spPr>
            <a:xfrm>
              <a:off x="6867144" y="3959352"/>
              <a:ext cx="804672" cy="0"/>
            </a:xfrm>
            <a:prstGeom prst="line">
              <a:avLst/>
            </a:prstGeom>
            <a:ln w="6350">
              <a:solidFill>
                <a:schemeClr val="tx2">
                  <a:alpha val="30000"/>
                </a:schemeClr>
              </a:solidFill>
            </a:ln>
          </p:spPr>
        </p:cxnSp>
        <p:cxnSp>
          <p:nvCxnSpPr>
            <p:cNvPr id="77" name="edge-77"/>
            <p:cNvCxnSpPr/>
            <p:nvPr/>
          </p:nvCxnSpPr>
          <p:spPr>
            <a:xfrm>
              <a:off x="7781544" y="2935224"/>
              <a:ext cx="804672" cy="0"/>
            </a:xfrm>
            <a:prstGeom prst="line">
              <a:avLst/>
            </a:prstGeom>
            <a:ln w="6350">
              <a:solidFill>
                <a:schemeClr val="tx2">
                  <a:alpha val="30000"/>
                </a:schemeClr>
              </a:solidFill>
            </a:ln>
          </p:spPr>
        </p:cxnSp>
        <p:cxnSp>
          <p:nvCxnSpPr>
            <p:cNvPr id="78" name="edge-78"/>
            <p:cNvCxnSpPr/>
            <p:nvPr/>
          </p:nvCxnSpPr>
          <p:spPr>
            <a:xfrm>
              <a:off x="7781544" y="2935224"/>
              <a:ext cx="804672" cy="146304"/>
            </a:xfrm>
            <a:prstGeom prst="line">
              <a:avLst/>
            </a:prstGeom>
            <a:ln w="6350">
              <a:solidFill>
                <a:schemeClr val="tx2">
                  <a:alpha val="30000"/>
                </a:schemeClr>
              </a:solidFill>
            </a:ln>
          </p:spPr>
        </p:cxnSp>
        <p:cxnSp>
          <p:nvCxnSpPr>
            <p:cNvPr id="79" name="edge-79"/>
            <p:cNvCxnSpPr/>
            <p:nvPr/>
          </p:nvCxnSpPr>
          <p:spPr>
            <a:xfrm>
              <a:off x="7781544" y="2935224"/>
              <a:ext cx="804672" cy="292608"/>
            </a:xfrm>
            <a:prstGeom prst="line">
              <a:avLst/>
            </a:prstGeom>
            <a:ln w="6350">
              <a:solidFill>
                <a:schemeClr val="tx2">
                  <a:alpha val="30000"/>
                </a:schemeClr>
              </a:solidFill>
            </a:ln>
          </p:spPr>
        </p:cxnSp>
        <p:cxnSp>
          <p:nvCxnSpPr>
            <p:cNvPr id="80" name="edge-80"/>
            <p:cNvCxnSpPr/>
            <p:nvPr/>
          </p:nvCxnSpPr>
          <p:spPr>
            <a:xfrm>
              <a:off x="7781544" y="2935224"/>
              <a:ext cx="804672" cy="731520"/>
            </a:xfrm>
            <a:prstGeom prst="line">
              <a:avLst/>
            </a:prstGeom>
            <a:ln w="6350">
              <a:solidFill>
                <a:schemeClr val="tx2">
                  <a:alpha val="30000"/>
                </a:schemeClr>
              </a:solidFill>
            </a:ln>
          </p:spPr>
        </p:cxnSp>
        <p:cxnSp>
          <p:nvCxnSpPr>
            <p:cNvPr id="81" name="edge-81"/>
            <p:cNvCxnSpPr/>
            <p:nvPr/>
          </p:nvCxnSpPr>
          <p:spPr>
            <a:xfrm>
              <a:off x="7781544" y="2935224"/>
              <a:ext cx="804672" cy="877824"/>
            </a:xfrm>
            <a:prstGeom prst="line">
              <a:avLst/>
            </a:prstGeom>
            <a:ln w="6350">
              <a:solidFill>
                <a:schemeClr val="tx2">
                  <a:alpha val="30000"/>
                </a:schemeClr>
              </a:solidFill>
            </a:ln>
          </p:spPr>
        </p:cxnSp>
        <p:cxnSp>
          <p:nvCxnSpPr>
            <p:cNvPr id="82" name="edge-82"/>
            <p:cNvCxnSpPr/>
            <p:nvPr/>
          </p:nvCxnSpPr>
          <p:spPr>
            <a:xfrm>
              <a:off x="7781544" y="2935224"/>
              <a:ext cx="804672" cy="1024128"/>
            </a:xfrm>
            <a:prstGeom prst="line">
              <a:avLst/>
            </a:prstGeom>
            <a:ln w="6350">
              <a:solidFill>
                <a:schemeClr val="tx2">
                  <a:alpha val="30000"/>
                </a:schemeClr>
              </a:solidFill>
            </a:ln>
          </p:spPr>
        </p:cxnSp>
        <p:cxnSp>
          <p:nvCxnSpPr>
            <p:cNvPr id="83" name="edge-83"/>
            <p:cNvCxnSpPr/>
            <p:nvPr/>
          </p:nvCxnSpPr>
          <p:spPr>
            <a:xfrm flipV="1">
              <a:off x="7781544" y="2935224"/>
              <a:ext cx="804672" cy="146304"/>
            </a:xfrm>
            <a:prstGeom prst="line">
              <a:avLst/>
            </a:prstGeom>
            <a:ln w="6350">
              <a:solidFill>
                <a:schemeClr val="tx2">
                  <a:alpha val="30000"/>
                </a:schemeClr>
              </a:solidFill>
            </a:ln>
          </p:spPr>
        </p:cxnSp>
        <p:cxnSp>
          <p:nvCxnSpPr>
            <p:cNvPr id="84" name="edge-84"/>
            <p:cNvCxnSpPr/>
            <p:nvPr/>
          </p:nvCxnSpPr>
          <p:spPr>
            <a:xfrm>
              <a:off x="7781544" y="3081528"/>
              <a:ext cx="804672" cy="0"/>
            </a:xfrm>
            <a:prstGeom prst="line">
              <a:avLst/>
            </a:prstGeom>
            <a:ln w="6350">
              <a:solidFill>
                <a:schemeClr val="tx2">
                  <a:alpha val="30000"/>
                </a:schemeClr>
              </a:solidFill>
            </a:ln>
          </p:spPr>
        </p:cxnSp>
        <p:cxnSp>
          <p:nvCxnSpPr>
            <p:cNvPr id="85" name="edge-85"/>
            <p:cNvCxnSpPr/>
            <p:nvPr/>
          </p:nvCxnSpPr>
          <p:spPr>
            <a:xfrm>
              <a:off x="7781544" y="3081528"/>
              <a:ext cx="804672" cy="146304"/>
            </a:xfrm>
            <a:prstGeom prst="line">
              <a:avLst/>
            </a:prstGeom>
            <a:ln w="6350">
              <a:solidFill>
                <a:schemeClr val="tx2">
                  <a:alpha val="30000"/>
                </a:schemeClr>
              </a:solidFill>
            </a:ln>
          </p:spPr>
        </p:cxnSp>
        <p:cxnSp>
          <p:nvCxnSpPr>
            <p:cNvPr id="86" name="edge-86"/>
            <p:cNvCxnSpPr/>
            <p:nvPr/>
          </p:nvCxnSpPr>
          <p:spPr>
            <a:xfrm>
              <a:off x="7781544" y="3081528"/>
              <a:ext cx="804672" cy="585216"/>
            </a:xfrm>
            <a:prstGeom prst="line">
              <a:avLst/>
            </a:prstGeom>
            <a:ln w="6350">
              <a:solidFill>
                <a:schemeClr val="tx2">
                  <a:alpha val="30000"/>
                </a:schemeClr>
              </a:solidFill>
            </a:ln>
          </p:spPr>
        </p:cxnSp>
        <p:cxnSp>
          <p:nvCxnSpPr>
            <p:cNvPr id="87" name="edge-87"/>
            <p:cNvCxnSpPr/>
            <p:nvPr/>
          </p:nvCxnSpPr>
          <p:spPr>
            <a:xfrm>
              <a:off x="7781544" y="3081528"/>
              <a:ext cx="804672" cy="731520"/>
            </a:xfrm>
            <a:prstGeom prst="line">
              <a:avLst/>
            </a:prstGeom>
            <a:ln w="6350">
              <a:solidFill>
                <a:schemeClr val="tx2">
                  <a:alpha val="30000"/>
                </a:schemeClr>
              </a:solidFill>
            </a:ln>
          </p:spPr>
        </p:cxnSp>
        <p:cxnSp>
          <p:nvCxnSpPr>
            <p:cNvPr id="88" name="edge-88"/>
            <p:cNvCxnSpPr/>
            <p:nvPr/>
          </p:nvCxnSpPr>
          <p:spPr>
            <a:xfrm>
              <a:off x="7781544" y="3081528"/>
              <a:ext cx="804672" cy="877824"/>
            </a:xfrm>
            <a:prstGeom prst="line">
              <a:avLst/>
            </a:prstGeom>
            <a:ln w="6350">
              <a:solidFill>
                <a:schemeClr val="tx2">
                  <a:alpha val="30000"/>
                </a:schemeClr>
              </a:solidFill>
            </a:ln>
          </p:spPr>
        </p:cxnSp>
        <p:cxnSp>
          <p:nvCxnSpPr>
            <p:cNvPr id="89" name="edge-89"/>
            <p:cNvCxnSpPr/>
            <p:nvPr/>
          </p:nvCxnSpPr>
          <p:spPr>
            <a:xfrm flipV="1">
              <a:off x="7781544" y="2935224"/>
              <a:ext cx="804672" cy="292608"/>
            </a:xfrm>
            <a:prstGeom prst="line">
              <a:avLst/>
            </a:prstGeom>
            <a:ln w="6350">
              <a:solidFill>
                <a:schemeClr val="tx2">
                  <a:alpha val="30000"/>
                </a:schemeClr>
              </a:solidFill>
            </a:ln>
          </p:spPr>
        </p:cxnSp>
        <p:cxnSp>
          <p:nvCxnSpPr>
            <p:cNvPr id="90" name="edge-90"/>
            <p:cNvCxnSpPr/>
            <p:nvPr/>
          </p:nvCxnSpPr>
          <p:spPr>
            <a:xfrm flipV="1">
              <a:off x="7781544" y="3081528"/>
              <a:ext cx="804672" cy="146304"/>
            </a:xfrm>
            <a:prstGeom prst="line">
              <a:avLst/>
            </a:prstGeom>
            <a:ln w="6350">
              <a:solidFill>
                <a:schemeClr val="tx2">
                  <a:alpha val="30000"/>
                </a:schemeClr>
              </a:solidFill>
            </a:ln>
          </p:spPr>
        </p:cxnSp>
        <p:cxnSp>
          <p:nvCxnSpPr>
            <p:cNvPr id="91" name="edge-91"/>
            <p:cNvCxnSpPr/>
            <p:nvPr/>
          </p:nvCxnSpPr>
          <p:spPr>
            <a:xfrm>
              <a:off x="7781544" y="3227832"/>
              <a:ext cx="804672" cy="0"/>
            </a:xfrm>
            <a:prstGeom prst="line">
              <a:avLst/>
            </a:prstGeom>
            <a:ln w="6350">
              <a:solidFill>
                <a:schemeClr val="tx2">
                  <a:alpha val="30000"/>
                </a:schemeClr>
              </a:solidFill>
            </a:ln>
          </p:spPr>
        </p:cxnSp>
        <p:cxnSp>
          <p:nvCxnSpPr>
            <p:cNvPr id="92" name="edge-92"/>
            <p:cNvCxnSpPr/>
            <p:nvPr/>
          </p:nvCxnSpPr>
          <p:spPr>
            <a:xfrm>
              <a:off x="7781544" y="3227832"/>
              <a:ext cx="804672" cy="438912"/>
            </a:xfrm>
            <a:prstGeom prst="line">
              <a:avLst/>
            </a:prstGeom>
            <a:ln w="6350">
              <a:solidFill>
                <a:schemeClr val="tx2">
                  <a:alpha val="30000"/>
                </a:schemeClr>
              </a:solidFill>
            </a:ln>
          </p:spPr>
        </p:cxnSp>
        <p:cxnSp>
          <p:nvCxnSpPr>
            <p:cNvPr id="93" name="edge-93"/>
            <p:cNvCxnSpPr/>
            <p:nvPr/>
          </p:nvCxnSpPr>
          <p:spPr>
            <a:xfrm>
              <a:off x="7781544" y="3227832"/>
              <a:ext cx="804672" cy="585216"/>
            </a:xfrm>
            <a:prstGeom prst="line">
              <a:avLst/>
            </a:prstGeom>
            <a:ln w="6350">
              <a:solidFill>
                <a:schemeClr val="tx2">
                  <a:alpha val="30000"/>
                </a:schemeClr>
              </a:solidFill>
            </a:ln>
          </p:spPr>
        </p:cxnSp>
        <p:cxnSp>
          <p:nvCxnSpPr>
            <p:cNvPr id="94" name="edge-94"/>
            <p:cNvCxnSpPr/>
            <p:nvPr/>
          </p:nvCxnSpPr>
          <p:spPr>
            <a:xfrm>
              <a:off x="7781544" y="3227832"/>
              <a:ext cx="804672" cy="731520"/>
            </a:xfrm>
            <a:prstGeom prst="line">
              <a:avLst/>
            </a:prstGeom>
            <a:ln w="6350">
              <a:solidFill>
                <a:schemeClr val="tx2">
                  <a:alpha val="30000"/>
                </a:schemeClr>
              </a:solidFill>
            </a:ln>
          </p:spPr>
        </p:cxnSp>
        <p:cxnSp>
          <p:nvCxnSpPr>
            <p:cNvPr id="95" name="edge-95"/>
            <p:cNvCxnSpPr/>
            <p:nvPr/>
          </p:nvCxnSpPr>
          <p:spPr>
            <a:xfrm flipV="1">
              <a:off x="7781544" y="2935224"/>
              <a:ext cx="804672" cy="731520"/>
            </a:xfrm>
            <a:prstGeom prst="line">
              <a:avLst/>
            </a:prstGeom>
            <a:ln w="6350">
              <a:solidFill>
                <a:schemeClr val="tx2">
                  <a:alpha val="30000"/>
                </a:schemeClr>
              </a:solidFill>
            </a:ln>
          </p:spPr>
        </p:cxnSp>
        <p:cxnSp>
          <p:nvCxnSpPr>
            <p:cNvPr id="96" name="edge-96"/>
            <p:cNvCxnSpPr/>
            <p:nvPr/>
          </p:nvCxnSpPr>
          <p:spPr>
            <a:xfrm flipV="1">
              <a:off x="7781544" y="3081528"/>
              <a:ext cx="804672" cy="585216"/>
            </a:xfrm>
            <a:prstGeom prst="line">
              <a:avLst/>
            </a:prstGeom>
            <a:ln w="6350">
              <a:solidFill>
                <a:schemeClr val="tx2">
                  <a:alpha val="30000"/>
                </a:schemeClr>
              </a:solidFill>
            </a:ln>
          </p:spPr>
        </p:cxnSp>
        <p:cxnSp>
          <p:nvCxnSpPr>
            <p:cNvPr id="97" name="edge-97"/>
            <p:cNvCxnSpPr/>
            <p:nvPr/>
          </p:nvCxnSpPr>
          <p:spPr>
            <a:xfrm flipV="1">
              <a:off x="7781544" y="3227832"/>
              <a:ext cx="804672" cy="438912"/>
            </a:xfrm>
            <a:prstGeom prst="line">
              <a:avLst/>
            </a:prstGeom>
            <a:ln w="6350">
              <a:solidFill>
                <a:schemeClr val="tx2">
                  <a:alpha val="30000"/>
                </a:schemeClr>
              </a:solidFill>
            </a:ln>
          </p:spPr>
        </p:cxnSp>
        <p:cxnSp>
          <p:nvCxnSpPr>
            <p:cNvPr id="98" name="edge-98"/>
            <p:cNvCxnSpPr/>
            <p:nvPr/>
          </p:nvCxnSpPr>
          <p:spPr>
            <a:xfrm>
              <a:off x="7781544" y="3666744"/>
              <a:ext cx="804672" cy="0"/>
            </a:xfrm>
            <a:prstGeom prst="line">
              <a:avLst/>
            </a:prstGeom>
            <a:ln w="6350">
              <a:solidFill>
                <a:schemeClr val="tx2">
                  <a:alpha val="30000"/>
                </a:schemeClr>
              </a:solidFill>
            </a:ln>
          </p:spPr>
        </p:cxnSp>
        <p:cxnSp>
          <p:nvCxnSpPr>
            <p:cNvPr id="99" name="edge-99"/>
            <p:cNvCxnSpPr/>
            <p:nvPr/>
          </p:nvCxnSpPr>
          <p:spPr>
            <a:xfrm>
              <a:off x="7781544" y="3666744"/>
              <a:ext cx="804672" cy="146304"/>
            </a:xfrm>
            <a:prstGeom prst="line">
              <a:avLst/>
            </a:prstGeom>
            <a:ln w="6350">
              <a:solidFill>
                <a:schemeClr val="tx2">
                  <a:alpha val="30000"/>
                </a:schemeClr>
              </a:solidFill>
            </a:ln>
          </p:spPr>
        </p:cxnSp>
        <p:cxnSp>
          <p:nvCxnSpPr>
            <p:cNvPr id="100" name="edge-100"/>
            <p:cNvCxnSpPr/>
            <p:nvPr/>
          </p:nvCxnSpPr>
          <p:spPr>
            <a:xfrm>
              <a:off x="7781544" y="3666744"/>
              <a:ext cx="804672" cy="292608"/>
            </a:xfrm>
            <a:prstGeom prst="line">
              <a:avLst/>
            </a:prstGeom>
            <a:ln w="6350">
              <a:solidFill>
                <a:schemeClr val="tx2">
                  <a:alpha val="30000"/>
                </a:schemeClr>
              </a:solidFill>
            </a:ln>
          </p:spPr>
        </p:cxnSp>
        <p:cxnSp>
          <p:nvCxnSpPr>
            <p:cNvPr id="101" name="edge-101"/>
            <p:cNvCxnSpPr/>
            <p:nvPr/>
          </p:nvCxnSpPr>
          <p:spPr>
            <a:xfrm flipV="1">
              <a:off x="7781544" y="2935224"/>
              <a:ext cx="804672" cy="877824"/>
            </a:xfrm>
            <a:prstGeom prst="line">
              <a:avLst/>
            </a:prstGeom>
            <a:ln w="6350">
              <a:solidFill>
                <a:schemeClr val="tx2">
                  <a:alpha val="30000"/>
                </a:schemeClr>
              </a:solidFill>
            </a:ln>
          </p:spPr>
        </p:cxnSp>
        <p:cxnSp>
          <p:nvCxnSpPr>
            <p:cNvPr id="102" name="edge-102"/>
            <p:cNvCxnSpPr/>
            <p:nvPr/>
          </p:nvCxnSpPr>
          <p:spPr>
            <a:xfrm flipV="1">
              <a:off x="7781544" y="3081528"/>
              <a:ext cx="804672" cy="731520"/>
            </a:xfrm>
            <a:prstGeom prst="line">
              <a:avLst/>
            </a:prstGeom>
            <a:ln w="6350">
              <a:solidFill>
                <a:schemeClr val="tx2">
                  <a:alpha val="30000"/>
                </a:schemeClr>
              </a:solidFill>
            </a:ln>
          </p:spPr>
        </p:cxnSp>
        <p:cxnSp>
          <p:nvCxnSpPr>
            <p:cNvPr id="103" name="edge-103"/>
            <p:cNvCxnSpPr/>
            <p:nvPr/>
          </p:nvCxnSpPr>
          <p:spPr>
            <a:xfrm flipV="1">
              <a:off x="7781544" y="3227832"/>
              <a:ext cx="804672" cy="585216"/>
            </a:xfrm>
            <a:prstGeom prst="line">
              <a:avLst/>
            </a:prstGeom>
            <a:ln w="6350">
              <a:solidFill>
                <a:schemeClr val="tx2">
                  <a:alpha val="30000"/>
                </a:schemeClr>
              </a:solidFill>
            </a:ln>
          </p:spPr>
        </p:cxnSp>
        <p:cxnSp>
          <p:nvCxnSpPr>
            <p:cNvPr id="104" name="edge-104"/>
            <p:cNvCxnSpPr/>
            <p:nvPr/>
          </p:nvCxnSpPr>
          <p:spPr>
            <a:xfrm flipV="1">
              <a:off x="7781544" y="3666744"/>
              <a:ext cx="804672" cy="146304"/>
            </a:xfrm>
            <a:prstGeom prst="line">
              <a:avLst/>
            </a:prstGeom>
            <a:ln w="6350">
              <a:solidFill>
                <a:schemeClr val="tx2">
                  <a:alpha val="30000"/>
                </a:schemeClr>
              </a:solidFill>
            </a:ln>
          </p:spPr>
        </p:cxnSp>
        <p:cxnSp>
          <p:nvCxnSpPr>
            <p:cNvPr id="105" name="edge-105"/>
            <p:cNvCxnSpPr/>
            <p:nvPr/>
          </p:nvCxnSpPr>
          <p:spPr>
            <a:xfrm>
              <a:off x="7781544" y="3813048"/>
              <a:ext cx="804672" cy="0"/>
            </a:xfrm>
            <a:prstGeom prst="line">
              <a:avLst/>
            </a:prstGeom>
            <a:ln w="6350">
              <a:solidFill>
                <a:schemeClr val="tx2">
                  <a:alpha val="30000"/>
                </a:schemeClr>
              </a:solidFill>
            </a:ln>
          </p:spPr>
        </p:cxnSp>
        <p:cxnSp>
          <p:nvCxnSpPr>
            <p:cNvPr id="106" name="edge-106"/>
            <p:cNvCxnSpPr/>
            <p:nvPr/>
          </p:nvCxnSpPr>
          <p:spPr>
            <a:xfrm>
              <a:off x="7781544" y="3813048"/>
              <a:ext cx="804672" cy="146304"/>
            </a:xfrm>
            <a:prstGeom prst="line">
              <a:avLst/>
            </a:prstGeom>
            <a:ln w="6350">
              <a:solidFill>
                <a:schemeClr val="tx2">
                  <a:alpha val="30000"/>
                </a:schemeClr>
              </a:solidFill>
            </a:ln>
          </p:spPr>
        </p:cxnSp>
        <p:cxnSp>
          <p:nvCxnSpPr>
            <p:cNvPr id="107" name="edge-107"/>
            <p:cNvCxnSpPr/>
            <p:nvPr/>
          </p:nvCxnSpPr>
          <p:spPr>
            <a:xfrm flipV="1">
              <a:off x="7781544" y="2935224"/>
              <a:ext cx="804672" cy="1024128"/>
            </a:xfrm>
            <a:prstGeom prst="line">
              <a:avLst/>
            </a:prstGeom>
            <a:ln w="6350">
              <a:solidFill>
                <a:schemeClr val="tx2">
                  <a:alpha val="30000"/>
                </a:schemeClr>
              </a:solidFill>
            </a:ln>
          </p:spPr>
        </p:cxnSp>
        <p:cxnSp>
          <p:nvCxnSpPr>
            <p:cNvPr id="108" name="edge-108"/>
            <p:cNvCxnSpPr/>
            <p:nvPr/>
          </p:nvCxnSpPr>
          <p:spPr>
            <a:xfrm flipV="1">
              <a:off x="7781544" y="3081528"/>
              <a:ext cx="804672" cy="877824"/>
            </a:xfrm>
            <a:prstGeom prst="line">
              <a:avLst/>
            </a:prstGeom>
            <a:ln w="6350">
              <a:solidFill>
                <a:schemeClr val="tx2">
                  <a:alpha val="30000"/>
                </a:schemeClr>
              </a:solidFill>
            </a:ln>
          </p:spPr>
        </p:cxnSp>
        <p:cxnSp>
          <p:nvCxnSpPr>
            <p:cNvPr id="109" name="edge-109"/>
            <p:cNvCxnSpPr/>
            <p:nvPr/>
          </p:nvCxnSpPr>
          <p:spPr>
            <a:xfrm flipV="1">
              <a:off x="7781544" y="3227832"/>
              <a:ext cx="804672" cy="731520"/>
            </a:xfrm>
            <a:prstGeom prst="line">
              <a:avLst/>
            </a:prstGeom>
            <a:ln w="6350">
              <a:solidFill>
                <a:schemeClr val="tx2">
                  <a:alpha val="30000"/>
                </a:schemeClr>
              </a:solidFill>
            </a:ln>
          </p:spPr>
        </p:cxnSp>
        <p:cxnSp>
          <p:nvCxnSpPr>
            <p:cNvPr id="110" name="edge-110"/>
            <p:cNvCxnSpPr/>
            <p:nvPr/>
          </p:nvCxnSpPr>
          <p:spPr>
            <a:xfrm flipV="1">
              <a:off x="7781544" y="3666744"/>
              <a:ext cx="804672" cy="292608"/>
            </a:xfrm>
            <a:prstGeom prst="line">
              <a:avLst/>
            </a:prstGeom>
            <a:ln w="6350">
              <a:solidFill>
                <a:schemeClr val="tx2">
                  <a:alpha val="30000"/>
                </a:schemeClr>
              </a:solidFill>
            </a:ln>
          </p:spPr>
        </p:cxnSp>
        <p:cxnSp>
          <p:nvCxnSpPr>
            <p:cNvPr id="111" name="edge-111"/>
            <p:cNvCxnSpPr/>
            <p:nvPr/>
          </p:nvCxnSpPr>
          <p:spPr>
            <a:xfrm flipV="1">
              <a:off x="7781544" y="3813048"/>
              <a:ext cx="804672" cy="146304"/>
            </a:xfrm>
            <a:prstGeom prst="line">
              <a:avLst/>
            </a:prstGeom>
            <a:ln w="6350">
              <a:solidFill>
                <a:schemeClr val="tx2">
                  <a:alpha val="30000"/>
                </a:schemeClr>
              </a:solidFill>
            </a:ln>
          </p:spPr>
        </p:cxnSp>
        <p:cxnSp>
          <p:nvCxnSpPr>
            <p:cNvPr id="112" name="edge-112"/>
            <p:cNvCxnSpPr/>
            <p:nvPr/>
          </p:nvCxnSpPr>
          <p:spPr>
            <a:xfrm>
              <a:off x="7781544" y="3959352"/>
              <a:ext cx="804672" cy="0"/>
            </a:xfrm>
            <a:prstGeom prst="line">
              <a:avLst/>
            </a:prstGeom>
            <a:ln w="6350">
              <a:solidFill>
                <a:schemeClr val="tx2">
                  <a:alpha val="30000"/>
                </a:schemeClr>
              </a:solidFill>
            </a:ln>
          </p:spPr>
        </p:cxnSp>
        <p:sp>
          <p:nvSpPr>
            <p:cNvPr id="113" name="node-113"/>
            <p:cNvSpPr/>
            <p:nvPr/>
          </p:nvSpPr>
          <p:spPr>
            <a:xfrm>
              <a:off x="6757416" y="2880360"/>
              <a:ext cx="109728" cy="109728"/>
            </a:xfrm>
            <a:prstGeom prst="ellipse">
              <a:avLst/>
            </a:prstGeom>
            <a:solidFill>
              <a:schemeClr val="tx2"/>
            </a:solidFill>
            <a:ln/>
          </p:spPr>
          <p:txBody>
            <a:bodyPr/>
            <a:lstStyle/>
            <a:p>
              <a:endParaRPr lang="en-US"/>
            </a:p>
          </p:txBody>
        </p:sp>
        <p:sp>
          <p:nvSpPr>
            <p:cNvPr id="114" name="node-114"/>
            <p:cNvSpPr/>
            <p:nvPr/>
          </p:nvSpPr>
          <p:spPr>
            <a:xfrm>
              <a:off x="6757416" y="3026664"/>
              <a:ext cx="109728" cy="109728"/>
            </a:xfrm>
            <a:prstGeom prst="ellipse">
              <a:avLst/>
            </a:prstGeom>
            <a:solidFill>
              <a:schemeClr val="tx2"/>
            </a:solidFill>
            <a:ln/>
          </p:spPr>
          <p:txBody>
            <a:bodyPr/>
            <a:lstStyle/>
            <a:p>
              <a:endParaRPr lang="en-US"/>
            </a:p>
          </p:txBody>
        </p:sp>
        <p:sp>
          <p:nvSpPr>
            <p:cNvPr id="115" name="node-115"/>
            <p:cNvSpPr/>
            <p:nvPr/>
          </p:nvSpPr>
          <p:spPr>
            <a:xfrm>
              <a:off x="6757416" y="3172968"/>
              <a:ext cx="109728" cy="109728"/>
            </a:xfrm>
            <a:prstGeom prst="ellipse">
              <a:avLst/>
            </a:prstGeom>
            <a:solidFill>
              <a:schemeClr val="tx2"/>
            </a:solidFill>
            <a:ln/>
          </p:spPr>
          <p:txBody>
            <a:bodyPr/>
            <a:lstStyle/>
            <a:p>
              <a:endParaRPr lang="en-US"/>
            </a:p>
          </p:txBody>
        </p:sp>
        <p:sp>
          <p:nvSpPr>
            <p:cNvPr id="116" name="node-116"/>
            <p:cNvSpPr/>
            <p:nvPr/>
          </p:nvSpPr>
          <p:spPr>
            <a:xfrm>
              <a:off x="6757416" y="3611880"/>
              <a:ext cx="109728" cy="109728"/>
            </a:xfrm>
            <a:prstGeom prst="ellipse">
              <a:avLst/>
            </a:prstGeom>
            <a:solidFill>
              <a:schemeClr val="tx2"/>
            </a:solidFill>
            <a:ln/>
          </p:spPr>
          <p:txBody>
            <a:bodyPr/>
            <a:lstStyle/>
            <a:p>
              <a:endParaRPr lang="en-US"/>
            </a:p>
          </p:txBody>
        </p:sp>
        <p:sp>
          <p:nvSpPr>
            <p:cNvPr id="117" name="node-117"/>
            <p:cNvSpPr/>
            <p:nvPr/>
          </p:nvSpPr>
          <p:spPr>
            <a:xfrm>
              <a:off x="6757416" y="3758184"/>
              <a:ext cx="109728" cy="109728"/>
            </a:xfrm>
            <a:prstGeom prst="ellipse">
              <a:avLst/>
            </a:prstGeom>
            <a:solidFill>
              <a:schemeClr val="tx2"/>
            </a:solidFill>
            <a:ln/>
          </p:spPr>
          <p:txBody>
            <a:bodyPr/>
            <a:lstStyle/>
            <a:p>
              <a:endParaRPr lang="en-US"/>
            </a:p>
          </p:txBody>
        </p:sp>
        <p:sp>
          <p:nvSpPr>
            <p:cNvPr id="118" name="node-118"/>
            <p:cNvSpPr/>
            <p:nvPr/>
          </p:nvSpPr>
          <p:spPr>
            <a:xfrm>
              <a:off x="6757416" y="3904488"/>
              <a:ext cx="109728" cy="109728"/>
            </a:xfrm>
            <a:prstGeom prst="ellipse">
              <a:avLst/>
            </a:prstGeom>
            <a:solidFill>
              <a:schemeClr val="tx2"/>
            </a:solidFill>
            <a:ln/>
          </p:spPr>
          <p:txBody>
            <a:bodyPr/>
            <a:lstStyle/>
            <a:p>
              <a:endParaRPr lang="en-US"/>
            </a:p>
          </p:txBody>
        </p:sp>
        <p:sp>
          <p:nvSpPr>
            <p:cNvPr id="119" name="ellipsis-119"/>
            <p:cNvSpPr txBox="1"/>
            <p:nvPr/>
          </p:nvSpPr>
          <p:spPr>
            <a:xfrm>
              <a:off x="6629400" y="3337560"/>
              <a:ext cx="365760" cy="219456"/>
            </a:xfrm>
            <a:prstGeom prst="rect">
              <a:avLst/>
            </a:prstGeom>
            <a:noFill/>
            <a:ln/>
          </p:spPr>
          <p:txBody>
            <a:bodyPr wrap="square" lIns="0" tIns="0" rIns="0" bIns="0" rtlCol="0" anchor="ctr"/>
            <a:lstStyle/>
            <a:p>
              <a:pPr marL="0" indent="0" algn="ctr">
                <a:spcBef>
                  <a:spcPts val="0"/>
                </a:spcBef>
                <a:buNone/>
              </a:pPr>
              <a:r>
                <a:rPr lang="en-US" sz="1200" b="1" dirty="0">
                  <a:solidFill>
                    <a:schemeClr val="tx2"/>
                  </a:solidFill>
                </a:rPr>
                <a:t>⋮</a:t>
              </a:r>
            </a:p>
          </p:txBody>
        </p:sp>
        <p:sp>
          <p:nvSpPr>
            <p:cNvPr id="120" name="layer-label-120"/>
            <p:cNvSpPr txBox="1"/>
            <p:nvPr/>
          </p:nvSpPr>
          <p:spPr>
            <a:xfrm>
              <a:off x="6373368" y="4069080"/>
              <a:ext cx="877824"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52 inputs</a:t>
              </a:r>
            </a:p>
          </p:txBody>
        </p:sp>
        <p:sp>
          <p:nvSpPr>
            <p:cNvPr id="121" name="node-121"/>
            <p:cNvSpPr/>
            <p:nvPr/>
          </p:nvSpPr>
          <p:spPr>
            <a:xfrm>
              <a:off x="7671816" y="2880360"/>
              <a:ext cx="109728" cy="109728"/>
            </a:xfrm>
            <a:prstGeom prst="ellipse">
              <a:avLst/>
            </a:prstGeom>
            <a:solidFill>
              <a:schemeClr val="tx1"/>
            </a:solidFill>
            <a:ln/>
          </p:spPr>
          <p:txBody>
            <a:bodyPr/>
            <a:lstStyle/>
            <a:p>
              <a:endParaRPr lang="en-US"/>
            </a:p>
          </p:txBody>
        </p:sp>
        <p:sp>
          <p:nvSpPr>
            <p:cNvPr id="122" name="node-122"/>
            <p:cNvSpPr/>
            <p:nvPr/>
          </p:nvSpPr>
          <p:spPr>
            <a:xfrm>
              <a:off x="7671816" y="3026664"/>
              <a:ext cx="109728" cy="109728"/>
            </a:xfrm>
            <a:prstGeom prst="ellipse">
              <a:avLst/>
            </a:prstGeom>
            <a:solidFill>
              <a:schemeClr val="tx1"/>
            </a:solidFill>
            <a:ln/>
          </p:spPr>
          <p:txBody>
            <a:bodyPr/>
            <a:lstStyle/>
            <a:p>
              <a:endParaRPr lang="en-US"/>
            </a:p>
          </p:txBody>
        </p:sp>
        <p:sp>
          <p:nvSpPr>
            <p:cNvPr id="123" name="node-123"/>
            <p:cNvSpPr/>
            <p:nvPr/>
          </p:nvSpPr>
          <p:spPr>
            <a:xfrm>
              <a:off x="7671816" y="3172968"/>
              <a:ext cx="109728" cy="109728"/>
            </a:xfrm>
            <a:prstGeom prst="ellipse">
              <a:avLst/>
            </a:prstGeom>
            <a:solidFill>
              <a:schemeClr val="tx1"/>
            </a:solidFill>
            <a:ln/>
          </p:spPr>
          <p:txBody>
            <a:bodyPr/>
            <a:lstStyle/>
            <a:p>
              <a:endParaRPr lang="en-US"/>
            </a:p>
          </p:txBody>
        </p:sp>
        <p:sp>
          <p:nvSpPr>
            <p:cNvPr id="124" name="node-124"/>
            <p:cNvSpPr/>
            <p:nvPr/>
          </p:nvSpPr>
          <p:spPr>
            <a:xfrm>
              <a:off x="7671816" y="3611880"/>
              <a:ext cx="109728" cy="109728"/>
            </a:xfrm>
            <a:prstGeom prst="ellipse">
              <a:avLst/>
            </a:prstGeom>
            <a:solidFill>
              <a:schemeClr val="tx1"/>
            </a:solidFill>
            <a:ln/>
          </p:spPr>
          <p:txBody>
            <a:bodyPr/>
            <a:lstStyle/>
            <a:p>
              <a:endParaRPr lang="en-US"/>
            </a:p>
          </p:txBody>
        </p:sp>
        <p:sp>
          <p:nvSpPr>
            <p:cNvPr id="125" name="node-125"/>
            <p:cNvSpPr/>
            <p:nvPr/>
          </p:nvSpPr>
          <p:spPr>
            <a:xfrm>
              <a:off x="7671816" y="3758184"/>
              <a:ext cx="109728" cy="109728"/>
            </a:xfrm>
            <a:prstGeom prst="ellipse">
              <a:avLst/>
            </a:prstGeom>
            <a:solidFill>
              <a:schemeClr val="tx1"/>
            </a:solidFill>
            <a:ln/>
          </p:spPr>
          <p:txBody>
            <a:bodyPr/>
            <a:lstStyle/>
            <a:p>
              <a:endParaRPr lang="en-US"/>
            </a:p>
          </p:txBody>
        </p:sp>
        <p:sp>
          <p:nvSpPr>
            <p:cNvPr id="126" name="node-126"/>
            <p:cNvSpPr/>
            <p:nvPr/>
          </p:nvSpPr>
          <p:spPr>
            <a:xfrm>
              <a:off x="7671816" y="3904488"/>
              <a:ext cx="109728" cy="109728"/>
            </a:xfrm>
            <a:prstGeom prst="ellipse">
              <a:avLst/>
            </a:prstGeom>
            <a:solidFill>
              <a:schemeClr val="tx1"/>
            </a:solidFill>
            <a:ln/>
          </p:spPr>
          <p:txBody>
            <a:bodyPr/>
            <a:lstStyle/>
            <a:p>
              <a:endParaRPr lang="en-US"/>
            </a:p>
          </p:txBody>
        </p:sp>
        <p:sp>
          <p:nvSpPr>
            <p:cNvPr id="127" name="ellipsis-127"/>
            <p:cNvSpPr txBox="1"/>
            <p:nvPr/>
          </p:nvSpPr>
          <p:spPr>
            <a:xfrm>
              <a:off x="7543800" y="3337560"/>
              <a:ext cx="365760" cy="219456"/>
            </a:xfrm>
            <a:prstGeom prst="rect">
              <a:avLst/>
            </a:prstGeom>
            <a:noFill/>
            <a:ln/>
          </p:spPr>
          <p:txBody>
            <a:bodyPr wrap="square" lIns="0" tIns="0" rIns="0" bIns="0" rtlCol="0" anchor="ctr"/>
            <a:lstStyle/>
            <a:p>
              <a:pPr marL="0" indent="0" algn="ctr">
                <a:spcBef>
                  <a:spcPts val="0"/>
                </a:spcBef>
                <a:buNone/>
              </a:pPr>
              <a:r>
                <a:rPr lang="en-US" sz="1200" b="1" dirty="0">
                  <a:solidFill>
                    <a:schemeClr val="tx2"/>
                  </a:solidFill>
                </a:rPr>
                <a:t>⋮</a:t>
              </a:r>
            </a:p>
          </p:txBody>
        </p:sp>
        <p:sp>
          <p:nvSpPr>
            <p:cNvPr id="128" name="layer-label-128"/>
            <p:cNvSpPr txBox="1"/>
            <p:nvPr/>
          </p:nvSpPr>
          <p:spPr>
            <a:xfrm>
              <a:off x="7287768" y="4069080"/>
              <a:ext cx="877824"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16 hidden</a:t>
              </a:r>
            </a:p>
          </p:txBody>
        </p:sp>
        <p:sp>
          <p:nvSpPr>
            <p:cNvPr id="129" name="node-129"/>
            <p:cNvSpPr/>
            <p:nvPr/>
          </p:nvSpPr>
          <p:spPr>
            <a:xfrm>
              <a:off x="8586216" y="2880360"/>
              <a:ext cx="109728" cy="109728"/>
            </a:xfrm>
            <a:prstGeom prst="ellipse">
              <a:avLst/>
            </a:prstGeom>
            <a:solidFill>
              <a:schemeClr val="accent2"/>
            </a:solidFill>
            <a:ln/>
          </p:spPr>
          <p:txBody>
            <a:bodyPr/>
            <a:lstStyle/>
            <a:p>
              <a:endParaRPr lang="en-US"/>
            </a:p>
          </p:txBody>
        </p:sp>
        <p:sp>
          <p:nvSpPr>
            <p:cNvPr id="130" name="node-130"/>
            <p:cNvSpPr/>
            <p:nvPr/>
          </p:nvSpPr>
          <p:spPr>
            <a:xfrm>
              <a:off x="8586216" y="3026664"/>
              <a:ext cx="109728" cy="109728"/>
            </a:xfrm>
            <a:prstGeom prst="ellipse">
              <a:avLst/>
            </a:prstGeom>
            <a:solidFill>
              <a:schemeClr val="accent2"/>
            </a:solidFill>
            <a:ln/>
          </p:spPr>
          <p:txBody>
            <a:bodyPr/>
            <a:lstStyle/>
            <a:p>
              <a:endParaRPr lang="en-US"/>
            </a:p>
          </p:txBody>
        </p:sp>
        <p:sp>
          <p:nvSpPr>
            <p:cNvPr id="131" name="node-131"/>
            <p:cNvSpPr/>
            <p:nvPr/>
          </p:nvSpPr>
          <p:spPr>
            <a:xfrm>
              <a:off x="8586216" y="3172968"/>
              <a:ext cx="109728" cy="109728"/>
            </a:xfrm>
            <a:prstGeom prst="ellipse">
              <a:avLst/>
            </a:prstGeom>
            <a:solidFill>
              <a:schemeClr val="accent2"/>
            </a:solidFill>
            <a:ln/>
          </p:spPr>
          <p:txBody>
            <a:bodyPr/>
            <a:lstStyle/>
            <a:p>
              <a:endParaRPr lang="en-US"/>
            </a:p>
          </p:txBody>
        </p:sp>
        <p:sp>
          <p:nvSpPr>
            <p:cNvPr id="132" name="node-132"/>
            <p:cNvSpPr/>
            <p:nvPr/>
          </p:nvSpPr>
          <p:spPr>
            <a:xfrm>
              <a:off x="8586216" y="3611880"/>
              <a:ext cx="109728" cy="109728"/>
            </a:xfrm>
            <a:prstGeom prst="ellipse">
              <a:avLst/>
            </a:prstGeom>
            <a:solidFill>
              <a:schemeClr val="accent2"/>
            </a:solidFill>
            <a:ln/>
          </p:spPr>
          <p:txBody>
            <a:bodyPr/>
            <a:lstStyle/>
            <a:p>
              <a:endParaRPr lang="en-US"/>
            </a:p>
          </p:txBody>
        </p:sp>
        <p:sp>
          <p:nvSpPr>
            <p:cNvPr id="133" name="node-133"/>
            <p:cNvSpPr/>
            <p:nvPr/>
          </p:nvSpPr>
          <p:spPr>
            <a:xfrm>
              <a:off x="8586216" y="3758184"/>
              <a:ext cx="109728" cy="109728"/>
            </a:xfrm>
            <a:prstGeom prst="ellipse">
              <a:avLst/>
            </a:prstGeom>
            <a:solidFill>
              <a:schemeClr val="accent2"/>
            </a:solidFill>
            <a:ln/>
          </p:spPr>
          <p:txBody>
            <a:bodyPr/>
            <a:lstStyle/>
            <a:p>
              <a:endParaRPr lang="en-US"/>
            </a:p>
          </p:txBody>
        </p:sp>
        <p:sp>
          <p:nvSpPr>
            <p:cNvPr id="134" name="node-134"/>
            <p:cNvSpPr/>
            <p:nvPr/>
          </p:nvSpPr>
          <p:spPr>
            <a:xfrm>
              <a:off x="8586216" y="3904488"/>
              <a:ext cx="109728" cy="109728"/>
            </a:xfrm>
            <a:prstGeom prst="ellipse">
              <a:avLst/>
            </a:prstGeom>
            <a:solidFill>
              <a:schemeClr val="accent2"/>
            </a:solidFill>
            <a:ln/>
          </p:spPr>
          <p:txBody>
            <a:bodyPr/>
            <a:lstStyle/>
            <a:p>
              <a:endParaRPr lang="en-US"/>
            </a:p>
          </p:txBody>
        </p:sp>
        <p:sp>
          <p:nvSpPr>
            <p:cNvPr id="135" name="ellipsis-135"/>
            <p:cNvSpPr txBox="1"/>
            <p:nvPr/>
          </p:nvSpPr>
          <p:spPr>
            <a:xfrm>
              <a:off x="8458200" y="3337560"/>
              <a:ext cx="365760" cy="219456"/>
            </a:xfrm>
            <a:prstGeom prst="rect">
              <a:avLst/>
            </a:prstGeom>
            <a:noFill/>
            <a:ln/>
          </p:spPr>
          <p:txBody>
            <a:bodyPr wrap="square" lIns="0" tIns="0" rIns="0" bIns="0" rtlCol="0" anchor="ctr"/>
            <a:lstStyle/>
            <a:p>
              <a:pPr marL="0" indent="0" algn="ctr">
                <a:spcBef>
                  <a:spcPts val="0"/>
                </a:spcBef>
                <a:buNone/>
              </a:pPr>
              <a:r>
                <a:rPr lang="en-US" sz="1200" b="1" dirty="0">
                  <a:solidFill>
                    <a:schemeClr val="tx2"/>
                  </a:solidFill>
                </a:rPr>
                <a:t>⋮</a:t>
              </a:r>
            </a:p>
          </p:txBody>
        </p:sp>
        <p:sp>
          <p:nvSpPr>
            <p:cNvPr id="136" name="layer-label-136"/>
            <p:cNvSpPr txBox="1"/>
            <p:nvPr/>
          </p:nvSpPr>
          <p:spPr>
            <a:xfrm>
              <a:off x="8202168" y="4069080"/>
              <a:ext cx="877824"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25 outputs</a:t>
              </a:r>
            </a:p>
          </p:txBody>
        </p:sp>
        <p:sp>
          <p:nvSpPr>
            <p:cNvPr id="137" name="param-math-137"/>
            <p:cNvSpPr txBox="1"/>
            <p:nvPr/>
          </p:nvSpPr>
          <p:spPr>
            <a:xfrm>
              <a:off x="9235440" y="2880360"/>
              <a:ext cx="2404872" cy="1389888"/>
            </a:xfrm>
            <a:prstGeom prst="rect">
              <a:avLst/>
            </a:prstGeom>
            <a:noFill/>
            <a:ln/>
          </p:spPr>
          <p:txBody>
            <a:bodyPr wrap="square" lIns="0" tIns="0" rIns="0" bIns="0" rtlCol="0" anchor="ctr"/>
            <a:lstStyle/>
            <a:p>
              <a:pPr marL="0" indent="0" algn="l">
                <a:spcBef>
                  <a:spcPts val="0"/>
                </a:spcBef>
                <a:buNone/>
              </a:pPr>
              <a:r>
                <a:rPr lang="en-US" sz="1050" dirty="0">
                  <a:solidFill>
                    <a:schemeClr val="tx2"/>
                  </a:solidFill>
                </a:rPr>
                <a:t>weights + biases</a:t>
              </a:r>
            </a:p>
            <a:p>
              <a:pPr marL="0" indent="0" algn="l">
                <a:spcBef>
                  <a:spcPts val="400"/>
                </a:spcBef>
                <a:buNone/>
              </a:pPr>
              <a:r>
                <a:rPr lang="en-US" sz="1200" dirty="0">
                  <a:solidFill>
                    <a:schemeClr val="tx1"/>
                  </a:solidFill>
                </a:rPr>
                <a:t>in → hidden: 52×16 + 16 = 848</a:t>
              </a:r>
            </a:p>
            <a:p>
              <a:pPr marL="0" indent="0" algn="l">
                <a:spcBef>
                  <a:spcPts val="300"/>
                </a:spcBef>
                <a:buNone/>
              </a:pPr>
              <a:r>
                <a:rPr lang="en-US" sz="1200" dirty="0">
                  <a:solidFill>
                    <a:schemeClr val="tx1"/>
                  </a:solidFill>
                </a:rPr>
                <a:t>hidden → out: 16×25 + 25 = 425</a:t>
              </a:r>
            </a:p>
            <a:p>
              <a:pPr marL="0" indent="0" algn="l">
                <a:spcBef>
                  <a:spcPts val="500"/>
                </a:spcBef>
                <a:buNone/>
              </a:pPr>
              <a:r>
                <a:rPr lang="en-US" sz="1300" b="1" dirty="0">
                  <a:solidFill>
                    <a:schemeClr val="accent2"/>
                  </a:solidFill>
                </a:rPr>
                <a:t>total = 1,273</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Choosing a brain</a:t>
            </a:r>
            <a:endParaRPr lang="en-US" sz="3200" dirty="0"/>
          </a:p>
        </p:txBody>
      </p:sp>
      <p:graphicFrame>
        <p:nvGraphicFramePr>
          <p:cNvPr id="20" name="table-485"/>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2514600"/>
        </p:xfrm>
        <a:graphic>
          <a:graphicData uri="http://schemas.openxmlformats.org/drawingml/2006/table">
            <a:tbl>
              <a:tblPr/>
              <a:tblGrid>
                <a:gridCol w="237744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16152">
                  <a:extLst>
                    <a:ext uri="{9D8B030D-6E8A-4147-A177-3AD203B41FA5}">
                      <a16:colId xmlns:a16="http://schemas.microsoft.com/office/drawing/2014/main" val="20004"/>
                    </a:ext>
                  </a:extLst>
                </a:gridCol>
              </a:tblGrid>
              <a:tr h="502920">
                <a:tc>
                  <a:txBody>
                    <a:bodyPr/>
                    <a:lstStyle/>
                    <a:p>
                      <a:pPr marL="0" indent="0">
                        <a:buNone/>
                      </a:pPr>
                      <a:r>
                        <a:rPr lang="en-US" sz="1400" b="1" dirty="0">
                          <a:solidFill>
                            <a:schemeClr val="bg1"/>
                          </a:solidFill>
                        </a:rPr>
                        <a:t>Brain</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Flags</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Inputs</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Outputs</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Genes (5×5)</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02920">
                <a:tc>
                  <a:txBody>
                    <a:bodyPr/>
                    <a:lstStyle/>
                    <a:p>
                      <a:pPr marL="0" indent="0">
                        <a:buNone/>
                      </a:pPr>
                      <a:r>
                        <a:rPr lang="en-US" sz="1400" dirty="0">
                          <a:solidFill>
                            <a:schemeClr val="tx1"/>
                          </a:solidFill>
                        </a:rPr>
                        <a:t>1. Local, open-loop</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--controller local --loop open</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clock + position</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1 per copy</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49</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02920">
                <a:tc>
                  <a:txBody>
                    <a:bodyPr/>
                    <a:lstStyle/>
                    <a:p>
                      <a:pPr marL="0" indent="0">
                        <a:buNone/>
                      </a:pPr>
                      <a:r>
                        <a:rPr lang="en-US" sz="1400" dirty="0">
                          <a:solidFill>
                            <a:schemeClr val="tx1"/>
                          </a:solidFill>
                        </a:rPr>
                        <a:t>2. Local, closed-loop</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--controller local --loop closed</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 own and neighbors' strain</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1 per copy</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129</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02920">
                <a:tc>
                  <a:txBody>
                    <a:bodyPr/>
                    <a:lstStyle/>
                    <a:p>
                      <a:pPr marL="0" indent="0">
                        <a:buNone/>
                      </a:pPr>
                      <a:r>
                        <a:rPr lang="en-US" sz="1400" dirty="0">
                          <a:solidFill>
                            <a:schemeClr val="tx1"/>
                          </a:solidFill>
                        </a:rPr>
                        <a:t>3. Global, open-loop</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--controller global --loop open</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clock</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1 per grid cell</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473</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02920">
                <a:tc>
                  <a:txBody>
                    <a:bodyPr/>
                    <a:lstStyle/>
                    <a:p>
                      <a:pPr marL="0" indent="0">
                        <a:buNone/>
                      </a:pPr>
                      <a:r>
                        <a:rPr lang="en-US" sz="1400" dirty="0">
                          <a:solidFill>
                            <a:schemeClr val="tx1"/>
                          </a:solidFill>
                        </a:rPr>
                        <a:t>4. Global, closed-loop</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--controller global --loop closed</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 every cell's strain</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1 per grid cell</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1,273</a:t>
                      </a:r>
                      <a:endParaRPr lang="en-US" sz="1400" dirty="0"/>
                    </a:p>
                  </a:txBody>
                  <a:tcPr anchor="ctr">
                    <a:lnL w="12700" cap="flat" cmpd="sng" algn="ctr">
                      <a:solidFill>
                        <a:srgbClr val="F2F4F5"/>
                      </a:solidFill>
                      <a:prstDash val="solid"/>
                      <a:round/>
                      <a:headEnd type="none" w="med" len="med"/>
                      <a:tailEnd type="none" w="med" len="med"/>
                    </a:lnL>
                    <a:lnR w="12700" cap="flat" cmpd="sng" algn="ctr">
                      <a:solidFill>
                        <a:srgbClr val="F2F4F5"/>
                      </a:solidFill>
                      <a:prstDash val="solid"/>
                      <a:round/>
                      <a:headEnd type="none" w="med" len="med"/>
                      <a:tailEnd type="none" w="med" len="med"/>
                    </a:lnR>
                    <a:lnT w="12700" cap="flat" cmpd="sng" algn="ctr">
                      <a:solidFill>
                        <a:srgbClr val="F2F4F5"/>
                      </a:solidFill>
                      <a:prstDash val="solid"/>
                      <a:round/>
                      <a:headEnd type="none" w="med" len="med"/>
                      <a:tailEnd type="none" w="med" len="med"/>
                    </a:lnT>
                    <a:lnB w="12700" cap="flat" cmpd="sng" algn="ctr">
                      <a:solidFill>
                        <a:srgbClr val="F2F4F5"/>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4" name="bullets-486"/>
          <p:cNvSpPr txBox="1"/>
          <p:nvPr/>
        </p:nvSpPr>
        <p:spPr>
          <a:xfrm>
            <a:off x="548640" y="4434840"/>
            <a:ext cx="11094415" cy="164592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All four fit any body on the grid, so all four work for a fixed body and for co-design</a:t>
            </a:r>
            <a:endParaRPr lang="en-US" sz="1600" dirty="0"/>
          </a:p>
          <a:p>
            <a:pPr marL="228600" indent="-228600">
              <a:spcAft>
                <a:spcPts val="800"/>
              </a:spcAft>
              <a:buSzPct val="100000"/>
              <a:buChar char="•"/>
            </a:pPr>
            <a:r>
              <a:rPr lang="en-US" sz="1600" dirty="0">
                <a:solidFill>
                  <a:schemeClr val="tx1"/>
                </a:solidFill>
              </a:rPr>
              <a:t>All four share a clock (one cycle every 25 steps, --period) as a source of rhythm</a:t>
            </a:r>
            <a:endParaRPr lang="en-US" sz="1600" dirty="0"/>
          </a:p>
          <a:p>
            <a:pPr marL="228600" indent="-228600">
              <a:spcAft>
                <a:spcPts val="800"/>
              </a:spcAft>
              <a:buSzPct val="100000"/>
              <a:buChar char="•"/>
            </a:pPr>
            <a:r>
              <a:rPr lang="en-US" sz="1600" dirty="0">
                <a:solidFill>
                  <a:schemeClr val="tx1"/>
                </a:solidFill>
              </a:rPr>
              <a:t>For Parts 1 and 2: pick one, or compare several, and say why</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You choose the network's shape</a:t>
            </a:r>
            <a:endParaRPr lang="en-US" sz="3200" dirty="0"/>
          </a:p>
        </p:txBody>
      </p:sp>
      <p:sp>
        <p:nvSpPr>
          <p:cNvPr id="26" name="subtitle-26"/>
          <p:cNvSpPr txBox="1"/>
          <p:nvPr/>
        </p:nvSpPr>
        <p:spPr>
          <a:xfrm>
            <a:off x="548640" y="1097280"/>
            <a:ext cx="11091672" cy="320040"/>
          </a:xfrm>
          <a:prstGeom prst="rect">
            <a:avLst/>
          </a:prstGeom>
          <a:noFill/>
          <a:ln/>
        </p:spPr>
        <p:txBody>
          <a:bodyPr wrap="square" lIns="0" tIns="0" rIns="0" bIns="0" rtlCol="0" anchor="t"/>
          <a:lstStyle/>
          <a:p>
            <a:pPr marL="0" indent="0" algn="l">
              <a:spcBef>
                <a:spcPts val="0"/>
              </a:spcBef>
              <a:buNone/>
            </a:pPr>
            <a:r>
              <a:rPr lang="en-US" sz="1400" dirty="0">
                <a:solidFill>
                  <a:schemeClr val="tx2"/>
                </a:solidFill>
              </a:rPr>
              <a:t>Any of the four brains can be wider or deeper. Shown for brain 2 (local, closed-loop): 14 inputs, 1 output.</a:t>
            </a:r>
          </a:p>
        </p:txBody>
      </p:sp>
      <p:grpSp>
        <p:nvGrpSpPr>
          <p:cNvPr id="107" name="card-default"/>
          <p:cNvGrpSpPr/>
          <p:nvPr/>
        </p:nvGrpSpPr>
        <p:grpSpPr>
          <a:xfrm>
            <a:off x="548640" y="1600200"/>
            <a:ext cx="3502152" cy="3108960"/>
            <a:chOff x="548640" y="1600200"/>
            <a:chExt cx="3502152" cy="3108960"/>
          </a:xfrm>
        </p:grpSpPr>
        <p:sp>
          <p:nvSpPr>
            <p:cNvPr id="27" name="card-27"/>
            <p:cNvSpPr/>
            <p:nvPr/>
          </p:nvSpPr>
          <p:spPr>
            <a:xfrm>
              <a:off x="548640" y="1600200"/>
              <a:ext cx="3502152" cy="3108960"/>
            </a:xfrm>
            <a:prstGeom prst="roundRect">
              <a:avLst>
                <a:gd name="adj" fmla="val 5000"/>
              </a:avLst>
            </a:prstGeom>
            <a:solidFill>
              <a:schemeClr val="bg2"/>
            </a:solidFill>
            <a:ln/>
          </p:spPr>
          <p:txBody>
            <a:bodyPr/>
            <a:lstStyle/>
            <a:p>
              <a:endParaRPr lang="en-US"/>
            </a:p>
          </p:txBody>
        </p:sp>
        <p:sp>
          <p:nvSpPr>
            <p:cNvPr id="28" name="card-title-28"/>
            <p:cNvSpPr txBox="1"/>
            <p:nvPr/>
          </p:nvSpPr>
          <p:spPr>
            <a:xfrm>
              <a:off x="777240" y="1783080"/>
              <a:ext cx="3044952" cy="274320"/>
            </a:xfrm>
            <a:prstGeom prst="rect">
              <a:avLst/>
            </a:prstGeom>
            <a:noFill/>
            <a:ln/>
          </p:spPr>
          <p:txBody>
            <a:bodyPr wrap="square" lIns="0" tIns="0" rIns="0" bIns="0" rtlCol="0" anchor="t"/>
            <a:lstStyle/>
            <a:p>
              <a:pPr marL="0" indent="0" algn="l">
                <a:spcBef>
                  <a:spcPts val="0"/>
                </a:spcBef>
                <a:buNone/>
              </a:pPr>
              <a:r>
                <a:rPr lang="en-US" sz="1600" b="1" dirty="0">
                  <a:solidFill>
                    <a:schemeClr val="tx1"/>
                  </a:solidFill>
                </a:rPr>
                <a:t>Default</a:t>
              </a:r>
            </a:p>
          </p:txBody>
        </p:sp>
        <p:sp>
          <p:nvSpPr>
            <p:cNvPr id="29" name="card-flag-29"/>
            <p:cNvSpPr txBox="1"/>
            <p:nvPr/>
          </p:nvSpPr>
          <p:spPr>
            <a:xfrm>
              <a:off x="777240" y="2103120"/>
              <a:ext cx="3044952" cy="274320"/>
            </a:xfrm>
            <a:prstGeom prst="rect">
              <a:avLst/>
            </a:prstGeom>
            <a:noFill/>
            <a:ln/>
          </p:spPr>
          <p:txBody>
            <a:bodyPr wrap="square" lIns="0" tIns="0" rIns="0" bIns="0" rtlCol="0" anchor="t"/>
            <a:lstStyle/>
            <a:p>
              <a:pPr marL="0" indent="0" algn="l">
                <a:spcBef>
                  <a:spcPts val="0"/>
                </a:spcBef>
                <a:buNone/>
              </a:pPr>
              <a:r>
                <a:rPr lang="en-US" sz="1400" dirty="0">
                  <a:solidFill>
                    <a:schemeClr val="accent1"/>
                  </a:solidFill>
                  <a:latin typeface="Courier New" pitchFamily="34" charset="0"/>
                  <a:ea typeface="Courier New" pitchFamily="34" charset="-122"/>
                  <a:cs typeface="Courier New" pitchFamily="34" charset="-120"/>
                </a:rPr>
                <a:t>--hidden 8</a:t>
              </a:r>
            </a:p>
          </p:txBody>
        </p:sp>
        <p:cxnSp>
          <p:nvCxnSpPr>
            <p:cNvPr id="30" name="edge-30"/>
            <p:cNvCxnSpPr/>
            <p:nvPr/>
          </p:nvCxnSpPr>
          <p:spPr>
            <a:xfrm>
              <a:off x="1641348" y="2569464"/>
              <a:ext cx="603504" cy="16002"/>
            </a:xfrm>
            <a:prstGeom prst="line">
              <a:avLst/>
            </a:prstGeom>
            <a:ln w="6350">
              <a:solidFill>
                <a:schemeClr val="tx2">
                  <a:alpha val="30000"/>
                </a:schemeClr>
              </a:solidFill>
            </a:ln>
          </p:spPr>
        </p:cxnSp>
        <p:cxnSp>
          <p:nvCxnSpPr>
            <p:cNvPr id="31" name="edge-31"/>
            <p:cNvCxnSpPr/>
            <p:nvPr/>
          </p:nvCxnSpPr>
          <p:spPr>
            <a:xfrm>
              <a:off x="1641348" y="2569464"/>
              <a:ext cx="603504" cy="157734"/>
            </a:xfrm>
            <a:prstGeom prst="line">
              <a:avLst/>
            </a:prstGeom>
            <a:ln w="6350">
              <a:solidFill>
                <a:schemeClr val="tx2">
                  <a:alpha val="30000"/>
                </a:schemeClr>
              </a:solidFill>
            </a:ln>
          </p:spPr>
        </p:cxnSp>
        <p:cxnSp>
          <p:nvCxnSpPr>
            <p:cNvPr id="32" name="edge-32"/>
            <p:cNvCxnSpPr/>
            <p:nvPr/>
          </p:nvCxnSpPr>
          <p:spPr>
            <a:xfrm>
              <a:off x="1641348" y="2569464"/>
              <a:ext cx="603504" cy="299466"/>
            </a:xfrm>
            <a:prstGeom prst="line">
              <a:avLst/>
            </a:prstGeom>
            <a:ln w="6350">
              <a:solidFill>
                <a:schemeClr val="tx2">
                  <a:alpha val="30000"/>
                </a:schemeClr>
              </a:solidFill>
            </a:ln>
          </p:spPr>
        </p:cxnSp>
        <p:cxnSp>
          <p:nvCxnSpPr>
            <p:cNvPr id="33" name="edge-33"/>
            <p:cNvCxnSpPr/>
            <p:nvPr/>
          </p:nvCxnSpPr>
          <p:spPr>
            <a:xfrm>
              <a:off x="1641348" y="2569464"/>
              <a:ext cx="603504" cy="441198"/>
            </a:xfrm>
            <a:prstGeom prst="line">
              <a:avLst/>
            </a:prstGeom>
            <a:ln w="6350">
              <a:solidFill>
                <a:schemeClr val="tx2">
                  <a:alpha val="30000"/>
                </a:schemeClr>
              </a:solidFill>
            </a:ln>
          </p:spPr>
        </p:cxnSp>
        <p:cxnSp>
          <p:nvCxnSpPr>
            <p:cNvPr id="34" name="edge-34"/>
            <p:cNvCxnSpPr/>
            <p:nvPr/>
          </p:nvCxnSpPr>
          <p:spPr>
            <a:xfrm>
              <a:off x="1641348" y="2569464"/>
              <a:ext cx="603504" cy="582930"/>
            </a:xfrm>
            <a:prstGeom prst="line">
              <a:avLst/>
            </a:prstGeom>
            <a:ln w="6350">
              <a:solidFill>
                <a:schemeClr val="tx2">
                  <a:alpha val="30000"/>
                </a:schemeClr>
              </a:solidFill>
            </a:ln>
          </p:spPr>
        </p:cxnSp>
        <p:cxnSp>
          <p:nvCxnSpPr>
            <p:cNvPr id="35" name="edge-35"/>
            <p:cNvCxnSpPr/>
            <p:nvPr/>
          </p:nvCxnSpPr>
          <p:spPr>
            <a:xfrm>
              <a:off x="1641348" y="2569464"/>
              <a:ext cx="603504" cy="724662"/>
            </a:xfrm>
            <a:prstGeom prst="line">
              <a:avLst/>
            </a:prstGeom>
            <a:ln w="6350">
              <a:solidFill>
                <a:schemeClr val="tx2">
                  <a:alpha val="30000"/>
                </a:schemeClr>
              </a:solidFill>
            </a:ln>
          </p:spPr>
        </p:cxnSp>
        <p:cxnSp>
          <p:nvCxnSpPr>
            <p:cNvPr id="36" name="edge-36"/>
            <p:cNvCxnSpPr/>
            <p:nvPr/>
          </p:nvCxnSpPr>
          <p:spPr>
            <a:xfrm>
              <a:off x="1641348" y="2569464"/>
              <a:ext cx="603504" cy="866394"/>
            </a:xfrm>
            <a:prstGeom prst="line">
              <a:avLst/>
            </a:prstGeom>
            <a:ln w="6350">
              <a:solidFill>
                <a:schemeClr val="tx2">
                  <a:alpha val="30000"/>
                </a:schemeClr>
              </a:solidFill>
            </a:ln>
          </p:spPr>
        </p:cxnSp>
        <p:cxnSp>
          <p:nvCxnSpPr>
            <p:cNvPr id="37" name="edge-37"/>
            <p:cNvCxnSpPr/>
            <p:nvPr/>
          </p:nvCxnSpPr>
          <p:spPr>
            <a:xfrm>
              <a:off x="1641348" y="2569464"/>
              <a:ext cx="603504" cy="1008126"/>
            </a:xfrm>
            <a:prstGeom prst="line">
              <a:avLst/>
            </a:prstGeom>
            <a:ln w="6350">
              <a:solidFill>
                <a:schemeClr val="tx2">
                  <a:alpha val="30000"/>
                </a:schemeClr>
              </a:solidFill>
            </a:ln>
          </p:spPr>
        </p:cxnSp>
        <p:cxnSp>
          <p:nvCxnSpPr>
            <p:cNvPr id="38" name="edge-38"/>
            <p:cNvCxnSpPr/>
            <p:nvPr/>
          </p:nvCxnSpPr>
          <p:spPr>
            <a:xfrm flipV="1">
              <a:off x="1641348" y="2585466"/>
              <a:ext cx="603504" cy="130302"/>
            </a:xfrm>
            <a:prstGeom prst="line">
              <a:avLst/>
            </a:prstGeom>
            <a:ln w="6350">
              <a:solidFill>
                <a:schemeClr val="tx2">
                  <a:alpha val="30000"/>
                </a:schemeClr>
              </a:solidFill>
            </a:ln>
          </p:spPr>
        </p:cxnSp>
        <p:cxnSp>
          <p:nvCxnSpPr>
            <p:cNvPr id="39" name="edge-39"/>
            <p:cNvCxnSpPr/>
            <p:nvPr/>
          </p:nvCxnSpPr>
          <p:spPr>
            <a:xfrm>
              <a:off x="1641348" y="2715768"/>
              <a:ext cx="603504" cy="11430"/>
            </a:xfrm>
            <a:prstGeom prst="line">
              <a:avLst/>
            </a:prstGeom>
            <a:ln w="6350">
              <a:solidFill>
                <a:schemeClr val="tx2">
                  <a:alpha val="30000"/>
                </a:schemeClr>
              </a:solidFill>
            </a:ln>
          </p:spPr>
        </p:cxnSp>
        <p:cxnSp>
          <p:nvCxnSpPr>
            <p:cNvPr id="40" name="edge-40"/>
            <p:cNvCxnSpPr/>
            <p:nvPr/>
          </p:nvCxnSpPr>
          <p:spPr>
            <a:xfrm>
              <a:off x="1641348" y="2715768"/>
              <a:ext cx="603504" cy="153162"/>
            </a:xfrm>
            <a:prstGeom prst="line">
              <a:avLst/>
            </a:prstGeom>
            <a:ln w="6350">
              <a:solidFill>
                <a:schemeClr val="tx2">
                  <a:alpha val="30000"/>
                </a:schemeClr>
              </a:solidFill>
            </a:ln>
          </p:spPr>
        </p:cxnSp>
        <p:cxnSp>
          <p:nvCxnSpPr>
            <p:cNvPr id="41" name="edge-41"/>
            <p:cNvCxnSpPr/>
            <p:nvPr/>
          </p:nvCxnSpPr>
          <p:spPr>
            <a:xfrm>
              <a:off x="1641348" y="2715768"/>
              <a:ext cx="603504" cy="294894"/>
            </a:xfrm>
            <a:prstGeom prst="line">
              <a:avLst/>
            </a:prstGeom>
            <a:ln w="6350">
              <a:solidFill>
                <a:schemeClr val="tx2">
                  <a:alpha val="30000"/>
                </a:schemeClr>
              </a:solidFill>
            </a:ln>
          </p:spPr>
        </p:cxnSp>
        <p:cxnSp>
          <p:nvCxnSpPr>
            <p:cNvPr id="42" name="edge-42"/>
            <p:cNvCxnSpPr/>
            <p:nvPr/>
          </p:nvCxnSpPr>
          <p:spPr>
            <a:xfrm>
              <a:off x="1641348" y="2715768"/>
              <a:ext cx="603504" cy="436626"/>
            </a:xfrm>
            <a:prstGeom prst="line">
              <a:avLst/>
            </a:prstGeom>
            <a:ln w="6350">
              <a:solidFill>
                <a:schemeClr val="tx2">
                  <a:alpha val="30000"/>
                </a:schemeClr>
              </a:solidFill>
            </a:ln>
          </p:spPr>
        </p:cxnSp>
        <p:cxnSp>
          <p:nvCxnSpPr>
            <p:cNvPr id="43" name="edge-43"/>
            <p:cNvCxnSpPr/>
            <p:nvPr/>
          </p:nvCxnSpPr>
          <p:spPr>
            <a:xfrm>
              <a:off x="1641348" y="2715768"/>
              <a:ext cx="603504" cy="578358"/>
            </a:xfrm>
            <a:prstGeom prst="line">
              <a:avLst/>
            </a:prstGeom>
            <a:ln w="6350">
              <a:solidFill>
                <a:schemeClr val="tx2">
                  <a:alpha val="30000"/>
                </a:schemeClr>
              </a:solidFill>
            </a:ln>
          </p:spPr>
        </p:cxnSp>
        <p:cxnSp>
          <p:nvCxnSpPr>
            <p:cNvPr id="44" name="edge-44"/>
            <p:cNvCxnSpPr/>
            <p:nvPr/>
          </p:nvCxnSpPr>
          <p:spPr>
            <a:xfrm>
              <a:off x="1641348" y="2715768"/>
              <a:ext cx="603504" cy="720090"/>
            </a:xfrm>
            <a:prstGeom prst="line">
              <a:avLst/>
            </a:prstGeom>
            <a:ln w="6350">
              <a:solidFill>
                <a:schemeClr val="tx2">
                  <a:alpha val="30000"/>
                </a:schemeClr>
              </a:solidFill>
            </a:ln>
          </p:spPr>
        </p:cxnSp>
        <p:cxnSp>
          <p:nvCxnSpPr>
            <p:cNvPr id="45" name="edge-45"/>
            <p:cNvCxnSpPr/>
            <p:nvPr/>
          </p:nvCxnSpPr>
          <p:spPr>
            <a:xfrm>
              <a:off x="1641348" y="2715768"/>
              <a:ext cx="603504" cy="861822"/>
            </a:xfrm>
            <a:prstGeom prst="line">
              <a:avLst/>
            </a:prstGeom>
            <a:ln w="6350">
              <a:solidFill>
                <a:schemeClr val="tx2">
                  <a:alpha val="30000"/>
                </a:schemeClr>
              </a:solidFill>
            </a:ln>
          </p:spPr>
        </p:cxnSp>
        <p:cxnSp>
          <p:nvCxnSpPr>
            <p:cNvPr id="46" name="edge-46"/>
            <p:cNvCxnSpPr/>
            <p:nvPr/>
          </p:nvCxnSpPr>
          <p:spPr>
            <a:xfrm flipV="1">
              <a:off x="1641348" y="2585466"/>
              <a:ext cx="603504" cy="276606"/>
            </a:xfrm>
            <a:prstGeom prst="line">
              <a:avLst/>
            </a:prstGeom>
            <a:ln w="6350">
              <a:solidFill>
                <a:schemeClr val="tx2">
                  <a:alpha val="30000"/>
                </a:schemeClr>
              </a:solidFill>
            </a:ln>
          </p:spPr>
        </p:cxnSp>
        <p:cxnSp>
          <p:nvCxnSpPr>
            <p:cNvPr id="47" name="edge-47"/>
            <p:cNvCxnSpPr/>
            <p:nvPr/>
          </p:nvCxnSpPr>
          <p:spPr>
            <a:xfrm flipV="1">
              <a:off x="1641348" y="2727198"/>
              <a:ext cx="603504" cy="134874"/>
            </a:xfrm>
            <a:prstGeom prst="line">
              <a:avLst/>
            </a:prstGeom>
            <a:ln w="6350">
              <a:solidFill>
                <a:schemeClr val="tx2">
                  <a:alpha val="30000"/>
                </a:schemeClr>
              </a:solidFill>
            </a:ln>
          </p:spPr>
        </p:cxnSp>
        <p:cxnSp>
          <p:nvCxnSpPr>
            <p:cNvPr id="48" name="edge-48"/>
            <p:cNvCxnSpPr/>
            <p:nvPr/>
          </p:nvCxnSpPr>
          <p:spPr>
            <a:xfrm>
              <a:off x="1641348" y="2862072"/>
              <a:ext cx="603504" cy="6858"/>
            </a:xfrm>
            <a:prstGeom prst="line">
              <a:avLst/>
            </a:prstGeom>
            <a:ln w="6350">
              <a:solidFill>
                <a:schemeClr val="tx2">
                  <a:alpha val="30000"/>
                </a:schemeClr>
              </a:solidFill>
            </a:ln>
          </p:spPr>
        </p:cxnSp>
        <p:cxnSp>
          <p:nvCxnSpPr>
            <p:cNvPr id="49" name="edge-49"/>
            <p:cNvCxnSpPr/>
            <p:nvPr/>
          </p:nvCxnSpPr>
          <p:spPr>
            <a:xfrm>
              <a:off x="1641348" y="2862072"/>
              <a:ext cx="603504" cy="148590"/>
            </a:xfrm>
            <a:prstGeom prst="line">
              <a:avLst/>
            </a:prstGeom>
            <a:ln w="6350">
              <a:solidFill>
                <a:schemeClr val="tx2">
                  <a:alpha val="30000"/>
                </a:schemeClr>
              </a:solidFill>
            </a:ln>
          </p:spPr>
        </p:cxnSp>
        <p:cxnSp>
          <p:nvCxnSpPr>
            <p:cNvPr id="50" name="edge-50"/>
            <p:cNvCxnSpPr/>
            <p:nvPr/>
          </p:nvCxnSpPr>
          <p:spPr>
            <a:xfrm>
              <a:off x="1641348" y="2862072"/>
              <a:ext cx="603504" cy="290322"/>
            </a:xfrm>
            <a:prstGeom prst="line">
              <a:avLst/>
            </a:prstGeom>
            <a:ln w="6350">
              <a:solidFill>
                <a:schemeClr val="tx2">
                  <a:alpha val="30000"/>
                </a:schemeClr>
              </a:solidFill>
            </a:ln>
          </p:spPr>
        </p:cxnSp>
        <p:cxnSp>
          <p:nvCxnSpPr>
            <p:cNvPr id="51" name="edge-51"/>
            <p:cNvCxnSpPr/>
            <p:nvPr/>
          </p:nvCxnSpPr>
          <p:spPr>
            <a:xfrm>
              <a:off x="1641348" y="2862072"/>
              <a:ext cx="603504" cy="432054"/>
            </a:xfrm>
            <a:prstGeom prst="line">
              <a:avLst/>
            </a:prstGeom>
            <a:ln w="6350">
              <a:solidFill>
                <a:schemeClr val="tx2">
                  <a:alpha val="30000"/>
                </a:schemeClr>
              </a:solidFill>
            </a:ln>
          </p:spPr>
        </p:cxnSp>
        <p:cxnSp>
          <p:nvCxnSpPr>
            <p:cNvPr id="52" name="edge-52"/>
            <p:cNvCxnSpPr/>
            <p:nvPr/>
          </p:nvCxnSpPr>
          <p:spPr>
            <a:xfrm>
              <a:off x="1641348" y="2862072"/>
              <a:ext cx="603504" cy="573786"/>
            </a:xfrm>
            <a:prstGeom prst="line">
              <a:avLst/>
            </a:prstGeom>
            <a:ln w="6350">
              <a:solidFill>
                <a:schemeClr val="tx2">
                  <a:alpha val="30000"/>
                </a:schemeClr>
              </a:solidFill>
            </a:ln>
          </p:spPr>
        </p:cxnSp>
        <p:cxnSp>
          <p:nvCxnSpPr>
            <p:cNvPr id="53" name="edge-53"/>
            <p:cNvCxnSpPr/>
            <p:nvPr/>
          </p:nvCxnSpPr>
          <p:spPr>
            <a:xfrm>
              <a:off x="1641348" y="2862072"/>
              <a:ext cx="603504" cy="715518"/>
            </a:xfrm>
            <a:prstGeom prst="line">
              <a:avLst/>
            </a:prstGeom>
            <a:ln w="6350">
              <a:solidFill>
                <a:schemeClr val="tx2">
                  <a:alpha val="30000"/>
                </a:schemeClr>
              </a:solidFill>
            </a:ln>
          </p:spPr>
        </p:cxnSp>
        <p:cxnSp>
          <p:nvCxnSpPr>
            <p:cNvPr id="54" name="edge-54"/>
            <p:cNvCxnSpPr/>
            <p:nvPr/>
          </p:nvCxnSpPr>
          <p:spPr>
            <a:xfrm flipV="1">
              <a:off x="1641348" y="2585466"/>
              <a:ext cx="603504" cy="715518"/>
            </a:xfrm>
            <a:prstGeom prst="line">
              <a:avLst/>
            </a:prstGeom>
            <a:ln w="6350">
              <a:solidFill>
                <a:schemeClr val="tx2">
                  <a:alpha val="30000"/>
                </a:schemeClr>
              </a:solidFill>
            </a:ln>
          </p:spPr>
        </p:cxnSp>
        <p:cxnSp>
          <p:nvCxnSpPr>
            <p:cNvPr id="55" name="edge-55"/>
            <p:cNvCxnSpPr/>
            <p:nvPr/>
          </p:nvCxnSpPr>
          <p:spPr>
            <a:xfrm flipV="1">
              <a:off x="1641348" y="2727198"/>
              <a:ext cx="603504" cy="573786"/>
            </a:xfrm>
            <a:prstGeom prst="line">
              <a:avLst/>
            </a:prstGeom>
            <a:ln w="6350">
              <a:solidFill>
                <a:schemeClr val="tx2">
                  <a:alpha val="30000"/>
                </a:schemeClr>
              </a:solidFill>
            </a:ln>
          </p:spPr>
        </p:cxnSp>
        <p:cxnSp>
          <p:nvCxnSpPr>
            <p:cNvPr id="56" name="edge-56"/>
            <p:cNvCxnSpPr/>
            <p:nvPr/>
          </p:nvCxnSpPr>
          <p:spPr>
            <a:xfrm flipV="1">
              <a:off x="1641348" y="2868930"/>
              <a:ext cx="603504" cy="432054"/>
            </a:xfrm>
            <a:prstGeom prst="line">
              <a:avLst/>
            </a:prstGeom>
            <a:ln w="6350">
              <a:solidFill>
                <a:schemeClr val="tx2">
                  <a:alpha val="30000"/>
                </a:schemeClr>
              </a:solidFill>
            </a:ln>
          </p:spPr>
        </p:cxnSp>
        <p:cxnSp>
          <p:nvCxnSpPr>
            <p:cNvPr id="57" name="edge-57"/>
            <p:cNvCxnSpPr/>
            <p:nvPr/>
          </p:nvCxnSpPr>
          <p:spPr>
            <a:xfrm flipV="1">
              <a:off x="1641348" y="3010662"/>
              <a:ext cx="603504" cy="290322"/>
            </a:xfrm>
            <a:prstGeom prst="line">
              <a:avLst/>
            </a:prstGeom>
            <a:ln w="6350">
              <a:solidFill>
                <a:schemeClr val="tx2">
                  <a:alpha val="30000"/>
                </a:schemeClr>
              </a:solidFill>
            </a:ln>
          </p:spPr>
        </p:cxnSp>
        <p:cxnSp>
          <p:nvCxnSpPr>
            <p:cNvPr id="58" name="edge-58"/>
            <p:cNvCxnSpPr/>
            <p:nvPr/>
          </p:nvCxnSpPr>
          <p:spPr>
            <a:xfrm flipV="1">
              <a:off x="1641348" y="3152394"/>
              <a:ext cx="603504" cy="148590"/>
            </a:xfrm>
            <a:prstGeom prst="line">
              <a:avLst/>
            </a:prstGeom>
            <a:ln w="6350">
              <a:solidFill>
                <a:schemeClr val="tx2">
                  <a:alpha val="30000"/>
                </a:schemeClr>
              </a:solidFill>
            </a:ln>
          </p:spPr>
        </p:cxnSp>
        <p:cxnSp>
          <p:nvCxnSpPr>
            <p:cNvPr id="59" name="edge-59"/>
            <p:cNvCxnSpPr/>
            <p:nvPr/>
          </p:nvCxnSpPr>
          <p:spPr>
            <a:xfrm flipV="1">
              <a:off x="1641348" y="3294126"/>
              <a:ext cx="603504" cy="6858"/>
            </a:xfrm>
            <a:prstGeom prst="line">
              <a:avLst/>
            </a:prstGeom>
            <a:ln w="6350">
              <a:solidFill>
                <a:schemeClr val="tx2">
                  <a:alpha val="30000"/>
                </a:schemeClr>
              </a:solidFill>
            </a:ln>
          </p:spPr>
        </p:cxnSp>
        <p:cxnSp>
          <p:nvCxnSpPr>
            <p:cNvPr id="60" name="edge-60"/>
            <p:cNvCxnSpPr/>
            <p:nvPr/>
          </p:nvCxnSpPr>
          <p:spPr>
            <a:xfrm>
              <a:off x="1641348" y="3300984"/>
              <a:ext cx="603504" cy="134874"/>
            </a:xfrm>
            <a:prstGeom prst="line">
              <a:avLst/>
            </a:prstGeom>
            <a:ln w="6350">
              <a:solidFill>
                <a:schemeClr val="tx2">
                  <a:alpha val="30000"/>
                </a:schemeClr>
              </a:solidFill>
            </a:ln>
          </p:spPr>
        </p:cxnSp>
        <p:cxnSp>
          <p:nvCxnSpPr>
            <p:cNvPr id="61" name="edge-61"/>
            <p:cNvCxnSpPr/>
            <p:nvPr/>
          </p:nvCxnSpPr>
          <p:spPr>
            <a:xfrm>
              <a:off x="1641348" y="3300984"/>
              <a:ext cx="603504" cy="276606"/>
            </a:xfrm>
            <a:prstGeom prst="line">
              <a:avLst/>
            </a:prstGeom>
            <a:ln w="6350">
              <a:solidFill>
                <a:schemeClr val="tx2">
                  <a:alpha val="30000"/>
                </a:schemeClr>
              </a:solidFill>
            </a:ln>
          </p:spPr>
        </p:cxnSp>
        <p:cxnSp>
          <p:nvCxnSpPr>
            <p:cNvPr id="62" name="edge-62"/>
            <p:cNvCxnSpPr/>
            <p:nvPr/>
          </p:nvCxnSpPr>
          <p:spPr>
            <a:xfrm flipV="1">
              <a:off x="1641348" y="2585466"/>
              <a:ext cx="603504" cy="861822"/>
            </a:xfrm>
            <a:prstGeom prst="line">
              <a:avLst/>
            </a:prstGeom>
            <a:ln w="6350">
              <a:solidFill>
                <a:schemeClr val="tx2">
                  <a:alpha val="30000"/>
                </a:schemeClr>
              </a:solidFill>
            </a:ln>
          </p:spPr>
        </p:cxnSp>
        <p:cxnSp>
          <p:nvCxnSpPr>
            <p:cNvPr id="63" name="edge-63"/>
            <p:cNvCxnSpPr/>
            <p:nvPr/>
          </p:nvCxnSpPr>
          <p:spPr>
            <a:xfrm flipV="1">
              <a:off x="1641348" y="2727198"/>
              <a:ext cx="603504" cy="720090"/>
            </a:xfrm>
            <a:prstGeom prst="line">
              <a:avLst/>
            </a:prstGeom>
            <a:ln w="6350">
              <a:solidFill>
                <a:schemeClr val="tx2">
                  <a:alpha val="30000"/>
                </a:schemeClr>
              </a:solidFill>
            </a:ln>
          </p:spPr>
        </p:cxnSp>
        <p:cxnSp>
          <p:nvCxnSpPr>
            <p:cNvPr id="64" name="edge-64"/>
            <p:cNvCxnSpPr/>
            <p:nvPr/>
          </p:nvCxnSpPr>
          <p:spPr>
            <a:xfrm flipV="1">
              <a:off x="1641348" y="2868930"/>
              <a:ext cx="603504" cy="578358"/>
            </a:xfrm>
            <a:prstGeom prst="line">
              <a:avLst/>
            </a:prstGeom>
            <a:ln w="6350">
              <a:solidFill>
                <a:schemeClr val="tx2">
                  <a:alpha val="30000"/>
                </a:schemeClr>
              </a:solidFill>
            </a:ln>
          </p:spPr>
        </p:cxnSp>
        <p:cxnSp>
          <p:nvCxnSpPr>
            <p:cNvPr id="65" name="edge-65"/>
            <p:cNvCxnSpPr/>
            <p:nvPr/>
          </p:nvCxnSpPr>
          <p:spPr>
            <a:xfrm flipV="1">
              <a:off x="1641348" y="3010662"/>
              <a:ext cx="603504" cy="436626"/>
            </a:xfrm>
            <a:prstGeom prst="line">
              <a:avLst/>
            </a:prstGeom>
            <a:ln w="6350">
              <a:solidFill>
                <a:schemeClr val="tx2">
                  <a:alpha val="30000"/>
                </a:schemeClr>
              </a:solidFill>
            </a:ln>
          </p:spPr>
        </p:cxnSp>
        <p:cxnSp>
          <p:nvCxnSpPr>
            <p:cNvPr id="66" name="edge-66"/>
            <p:cNvCxnSpPr/>
            <p:nvPr/>
          </p:nvCxnSpPr>
          <p:spPr>
            <a:xfrm flipV="1">
              <a:off x="1641348" y="3152394"/>
              <a:ext cx="603504" cy="294894"/>
            </a:xfrm>
            <a:prstGeom prst="line">
              <a:avLst/>
            </a:prstGeom>
            <a:ln w="6350">
              <a:solidFill>
                <a:schemeClr val="tx2">
                  <a:alpha val="30000"/>
                </a:schemeClr>
              </a:solidFill>
            </a:ln>
          </p:spPr>
        </p:cxnSp>
        <p:cxnSp>
          <p:nvCxnSpPr>
            <p:cNvPr id="67" name="edge-67"/>
            <p:cNvCxnSpPr/>
            <p:nvPr/>
          </p:nvCxnSpPr>
          <p:spPr>
            <a:xfrm flipV="1">
              <a:off x="1641348" y="3294126"/>
              <a:ext cx="603504" cy="153162"/>
            </a:xfrm>
            <a:prstGeom prst="line">
              <a:avLst/>
            </a:prstGeom>
            <a:ln w="6350">
              <a:solidFill>
                <a:schemeClr val="tx2">
                  <a:alpha val="30000"/>
                </a:schemeClr>
              </a:solidFill>
            </a:ln>
          </p:spPr>
        </p:cxnSp>
        <p:cxnSp>
          <p:nvCxnSpPr>
            <p:cNvPr id="68" name="edge-68"/>
            <p:cNvCxnSpPr/>
            <p:nvPr/>
          </p:nvCxnSpPr>
          <p:spPr>
            <a:xfrm flipV="1">
              <a:off x="1641348" y="3435858"/>
              <a:ext cx="603504" cy="11430"/>
            </a:xfrm>
            <a:prstGeom prst="line">
              <a:avLst/>
            </a:prstGeom>
            <a:ln w="6350">
              <a:solidFill>
                <a:schemeClr val="tx2">
                  <a:alpha val="30000"/>
                </a:schemeClr>
              </a:solidFill>
            </a:ln>
          </p:spPr>
        </p:cxnSp>
        <p:cxnSp>
          <p:nvCxnSpPr>
            <p:cNvPr id="69" name="edge-69"/>
            <p:cNvCxnSpPr/>
            <p:nvPr/>
          </p:nvCxnSpPr>
          <p:spPr>
            <a:xfrm>
              <a:off x="1641348" y="3447288"/>
              <a:ext cx="603504" cy="130302"/>
            </a:xfrm>
            <a:prstGeom prst="line">
              <a:avLst/>
            </a:prstGeom>
            <a:ln w="6350">
              <a:solidFill>
                <a:schemeClr val="tx2">
                  <a:alpha val="30000"/>
                </a:schemeClr>
              </a:solidFill>
            </a:ln>
          </p:spPr>
        </p:cxnSp>
        <p:cxnSp>
          <p:nvCxnSpPr>
            <p:cNvPr id="70" name="edge-70"/>
            <p:cNvCxnSpPr/>
            <p:nvPr/>
          </p:nvCxnSpPr>
          <p:spPr>
            <a:xfrm flipV="1">
              <a:off x="1641348" y="2585466"/>
              <a:ext cx="603504" cy="1008126"/>
            </a:xfrm>
            <a:prstGeom prst="line">
              <a:avLst/>
            </a:prstGeom>
            <a:ln w="6350">
              <a:solidFill>
                <a:schemeClr val="tx2">
                  <a:alpha val="30000"/>
                </a:schemeClr>
              </a:solidFill>
            </a:ln>
          </p:spPr>
        </p:cxnSp>
        <p:cxnSp>
          <p:nvCxnSpPr>
            <p:cNvPr id="71" name="edge-71"/>
            <p:cNvCxnSpPr/>
            <p:nvPr/>
          </p:nvCxnSpPr>
          <p:spPr>
            <a:xfrm flipV="1">
              <a:off x="1641348" y="2727198"/>
              <a:ext cx="603504" cy="866394"/>
            </a:xfrm>
            <a:prstGeom prst="line">
              <a:avLst/>
            </a:prstGeom>
            <a:ln w="6350">
              <a:solidFill>
                <a:schemeClr val="tx2">
                  <a:alpha val="30000"/>
                </a:schemeClr>
              </a:solidFill>
            </a:ln>
          </p:spPr>
        </p:cxnSp>
        <p:cxnSp>
          <p:nvCxnSpPr>
            <p:cNvPr id="72" name="edge-72"/>
            <p:cNvCxnSpPr/>
            <p:nvPr/>
          </p:nvCxnSpPr>
          <p:spPr>
            <a:xfrm flipV="1">
              <a:off x="1641348" y="2868930"/>
              <a:ext cx="603504" cy="724662"/>
            </a:xfrm>
            <a:prstGeom prst="line">
              <a:avLst/>
            </a:prstGeom>
            <a:ln w="6350">
              <a:solidFill>
                <a:schemeClr val="tx2">
                  <a:alpha val="30000"/>
                </a:schemeClr>
              </a:solidFill>
            </a:ln>
          </p:spPr>
        </p:cxnSp>
        <p:cxnSp>
          <p:nvCxnSpPr>
            <p:cNvPr id="73" name="edge-73"/>
            <p:cNvCxnSpPr/>
            <p:nvPr/>
          </p:nvCxnSpPr>
          <p:spPr>
            <a:xfrm flipV="1">
              <a:off x="1641348" y="3010662"/>
              <a:ext cx="603504" cy="582930"/>
            </a:xfrm>
            <a:prstGeom prst="line">
              <a:avLst/>
            </a:prstGeom>
            <a:ln w="6350">
              <a:solidFill>
                <a:schemeClr val="tx2">
                  <a:alpha val="30000"/>
                </a:schemeClr>
              </a:solidFill>
            </a:ln>
          </p:spPr>
        </p:cxnSp>
        <p:cxnSp>
          <p:nvCxnSpPr>
            <p:cNvPr id="74" name="edge-74"/>
            <p:cNvCxnSpPr/>
            <p:nvPr/>
          </p:nvCxnSpPr>
          <p:spPr>
            <a:xfrm flipV="1">
              <a:off x="1641348" y="3152394"/>
              <a:ext cx="603504" cy="441198"/>
            </a:xfrm>
            <a:prstGeom prst="line">
              <a:avLst/>
            </a:prstGeom>
            <a:ln w="6350">
              <a:solidFill>
                <a:schemeClr val="tx2">
                  <a:alpha val="30000"/>
                </a:schemeClr>
              </a:solidFill>
            </a:ln>
          </p:spPr>
        </p:cxnSp>
        <p:cxnSp>
          <p:nvCxnSpPr>
            <p:cNvPr id="75" name="edge-75"/>
            <p:cNvCxnSpPr/>
            <p:nvPr/>
          </p:nvCxnSpPr>
          <p:spPr>
            <a:xfrm flipV="1">
              <a:off x="1641348" y="3294126"/>
              <a:ext cx="603504" cy="299466"/>
            </a:xfrm>
            <a:prstGeom prst="line">
              <a:avLst/>
            </a:prstGeom>
            <a:ln w="6350">
              <a:solidFill>
                <a:schemeClr val="tx2">
                  <a:alpha val="30000"/>
                </a:schemeClr>
              </a:solidFill>
            </a:ln>
          </p:spPr>
        </p:cxnSp>
        <p:cxnSp>
          <p:nvCxnSpPr>
            <p:cNvPr id="76" name="edge-76"/>
            <p:cNvCxnSpPr/>
            <p:nvPr/>
          </p:nvCxnSpPr>
          <p:spPr>
            <a:xfrm flipV="1">
              <a:off x="1641348" y="3435858"/>
              <a:ext cx="603504" cy="157734"/>
            </a:xfrm>
            <a:prstGeom prst="line">
              <a:avLst/>
            </a:prstGeom>
            <a:ln w="6350">
              <a:solidFill>
                <a:schemeClr val="tx2">
                  <a:alpha val="30000"/>
                </a:schemeClr>
              </a:solidFill>
            </a:ln>
          </p:spPr>
        </p:cxnSp>
        <p:cxnSp>
          <p:nvCxnSpPr>
            <p:cNvPr id="77" name="edge-77"/>
            <p:cNvCxnSpPr/>
            <p:nvPr/>
          </p:nvCxnSpPr>
          <p:spPr>
            <a:xfrm flipV="1">
              <a:off x="1641348" y="3577590"/>
              <a:ext cx="603504" cy="16002"/>
            </a:xfrm>
            <a:prstGeom prst="line">
              <a:avLst/>
            </a:prstGeom>
            <a:ln w="6350">
              <a:solidFill>
                <a:schemeClr val="tx2">
                  <a:alpha val="30000"/>
                </a:schemeClr>
              </a:solidFill>
            </a:ln>
          </p:spPr>
        </p:cxnSp>
        <p:cxnSp>
          <p:nvCxnSpPr>
            <p:cNvPr id="78" name="edge-78"/>
            <p:cNvCxnSpPr/>
            <p:nvPr/>
          </p:nvCxnSpPr>
          <p:spPr>
            <a:xfrm>
              <a:off x="2354580" y="2585466"/>
              <a:ext cx="603504" cy="496062"/>
            </a:xfrm>
            <a:prstGeom prst="line">
              <a:avLst/>
            </a:prstGeom>
            <a:ln w="6350">
              <a:solidFill>
                <a:schemeClr val="tx2">
                  <a:alpha val="30000"/>
                </a:schemeClr>
              </a:solidFill>
            </a:ln>
          </p:spPr>
        </p:cxnSp>
        <p:cxnSp>
          <p:nvCxnSpPr>
            <p:cNvPr id="79" name="edge-79"/>
            <p:cNvCxnSpPr/>
            <p:nvPr/>
          </p:nvCxnSpPr>
          <p:spPr>
            <a:xfrm>
              <a:off x="2354580" y="2727198"/>
              <a:ext cx="603504" cy="354330"/>
            </a:xfrm>
            <a:prstGeom prst="line">
              <a:avLst/>
            </a:prstGeom>
            <a:ln w="6350">
              <a:solidFill>
                <a:schemeClr val="tx2">
                  <a:alpha val="30000"/>
                </a:schemeClr>
              </a:solidFill>
            </a:ln>
          </p:spPr>
        </p:cxnSp>
        <p:cxnSp>
          <p:nvCxnSpPr>
            <p:cNvPr id="80" name="edge-80"/>
            <p:cNvCxnSpPr/>
            <p:nvPr/>
          </p:nvCxnSpPr>
          <p:spPr>
            <a:xfrm>
              <a:off x="2354580" y="2868930"/>
              <a:ext cx="603504" cy="212598"/>
            </a:xfrm>
            <a:prstGeom prst="line">
              <a:avLst/>
            </a:prstGeom>
            <a:ln w="6350">
              <a:solidFill>
                <a:schemeClr val="tx2">
                  <a:alpha val="30000"/>
                </a:schemeClr>
              </a:solidFill>
            </a:ln>
          </p:spPr>
        </p:cxnSp>
        <p:cxnSp>
          <p:nvCxnSpPr>
            <p:cNvPr id="81" name="edge-81"/>
            <p:cNvCxnSpPr/>
            <p:nvPr/>
          </p:nvCxnSpPr>
          <p:spPr>
            <a:xfrm>
              <a:off x="2354580" y="3010662"/>
              <a:ext cx="603504" cy="70866"/>
            </a:xfrm>
            <a:prstGeom prst="line">
              <a:avLst/>
            </a:prstGeom>
            <a:ln w="6350">
              <a:solidFill>
                <a:schemeClr val="tx2">
                  <a:alpha val="30000"/>
                </a:schemeClr>
              </a:solidFill>
            </a:ln>
          </p:spPr>
        </p:cxnSp>
        <p:cxnSp>
          <p:nvCxnSpPr>
            <p:cNvPr id="82" name="edge-82"/>
            <p:cNvCxnSpPr/>
            <p:nvPr/>
          </p:nvCxnSpPr>
          <p:spPr>
            <a:xfrm flipV="1">
              <a:off x="2354580" y="3081528"/>
              <a:ext cx="603504" cy="70866"/>
            </a:xfrm>
            <a:prstGeom prst="line">
              <a:avLst/>
            </a:prstGeom>
            <a:ln w="6350">
              <a:solidFill>
                <a:schemeClr val="tx2">
                  <a:alpha val="30000"/>
                </a:schemeClr>
              </a:solidFill>
            </a:ln>
          </p:spPr>
        </p:cxnSp>
        <p:cxnSp>
          <p:nvCxnSpPr>
            <p:cNvPr id="83" name="edge-83"/>
            <p:cNvCxnSpPr/>
            <p:nvPr/>
          </p:nvCxnSpPr>
          <p:spPr>
            <a:xfrm flipV="1">
              <a:off x="2354580" y="3081528"/>
              <a:ext cx="603504" cy="212598"/>
            </a:xfrm>
            <a:prstGeom prst="line">
              <a:avLst/>
            </a:prstGeom>
            <a:ln w="6350">
              <a:solidFill>
                <a:schemeClr val="tx2">
                  <a:alpha val="30000"/>
                </a:schemeClr>
              </a:solidFill>
            </a:ln>
          </p:spPr>
        </p:cxnSp>
        <p:cxnSp>
          <p:nvCxnSpPr>
            <p:cNvPr id="84" name="edge-84"/>
            <p:cNvCxnSpPr/>
            <p:nvPr/>
          </p:nvCxnSpPr>
          <p:spPr>
            <a:xfrm flipV="1">
              <a:off x="2354580" y="3081528"/>
              <a:ext cx="603504" cy="354330"/>
            </a:xfrm>
            <a:prstGeom prst="line">
              <a:avLst/>
            </a:prstGeom>
            <a:ln w="6350">
              <a:solidFill>
                <a:schemeClr val="tx2">
                  <a:alpha val="30000"/>
                </a:schemeClr>
              </a:solidFill>
            </a:ln>
          </p:spPr>
        </p:cxnSp>
        <p:cxnSp>
          <p:nvCxnSpPr>
            <p:cNvPr id="85" name="edge-85"/>
            <p:cNvCxnSpPr/>
            <p:nvPr/>
          </p:nvCxnSpPr>
          <p:spPr>
            <a:xfrm flipV="1">
              <a:off x="2354580" y="3081528"/>
              <a:ext cx="603504" cy="496062"/>
            </a:xfrm>
            <a:prstGeom prst="line">
              <a:avLst/>
            </a:prstGeom>
            <a:ln w="6350">
              <a:solidFill>
                <a:schemeClr val="tx2">
                  <a:alpha val="30000"/>
                </a:schemeClr>
              </a:solidFill>
            </a:ln>
          </p:spPr>
        </p:cxnSp>
        <p:sp>
          <p:nvSpPr>
            <p:cNvPr id="86" name="node-86"/>
            <p:cNvSpPr/>
            <p:nvPr/>
          </p:nvSpPr>
          <p:spPr>
            <a:xfrm>
              <a:off x="1531620" y="2514600"/>
              <a:ext cx="109728" cy="109728"/>
            </a:xfrm>
            <a:prstGeom prst="ellipse">
              <a:avLst/>
            </a:prstGeom>
            <a:solidFill>
              <a:schemeClr val="tx2"/>
            </a:solidFill>
            <a:ln/>
          </p:spPr>
          <p:txBody>
            <a:bodyPr/>
            <a:lstStyle/>
            <a:p>
              <a:endParaRPr lang="en-US"/>
            </a:p>
          </p:txBody>
        </p:sp>
        <p:sp>
          <p:nvSpPr>
            <p:cNvPr id="87" name="node-87"/>
            <p:cNvSpPr/>
            <p:nvPr/>
          </p:nvSpPr>
          <p:spPr>
            <a:xfrm>
              <a:off x="1531620" y="2660904"/>
              <a:ext cx="109728" cy="109728"/>
            </a:xfrm>
            <a:prstGeom prst="ellipse">
              <a:avLst/>
            </a:prstGeom>
            <a:solidFill>
              <a:schemeClr val="tx2"/>
            </a:solidFill>
            <a:ln/>
          </p:spPr>
          <p:txBody>
            <a:bodyPr/>
            <a:lstStyle/>
            <a:p>
              <a:endParaRPr lang="en-US"/>
            </a:p>
          </p:txBody>
        </p:sp>
        <p:sp>
          <p:nvSpPr>
            <p:cNvPr id="88" name="node-88"/>
            <p:cNvSpPr/>
            <p:nvPr/>
          </p:nvSpPr>
          <p:spPr>
            <a:xfrm>
              <a:off x="1531620" y="2807208"/>
              <a:ext cx="109728" cy="109728"/>
            </a:xfrm>
            <a:prstGeom prst="ellipse">
              <a:avLst/>
            </a:prstGeom>
            <a:solidFill>
              <a:schemeClr val="tx2"/>
            </a:solidFill>
            <a:ln/>
          </p:spPr>
          <p:txBody>
            <a:bodyPr/>
            <a:lstStyle/>
            <a:p>
              <a:endParaRPr lang="en-US"/>
            </a:p>
          </p:txBody>
        </p:sp>
        <p:sp>
          <p:nvSpPr>
            <p:cNvPr id="89" name="node-89"/>
            <p:cNvSpPr/>
            <p:nvPr/>
          </p:nvSpPr>
          <p:spPr>
            <a:xfrm>
              <a:off x="1531620" y="3246120"/>
              <a:ext cx="109728" cy="109728"/>
            </a:xfrm>
            <a:prstGeom prst="ellipse">
              <a:avLst/>
            </a:prstGeom>
            <a:solidFill>
              <a:schemeClr val="tx2"/>
            </a:solidFill>
            <a:ln/>
          </p:spPr>
          <p:txBody>
            <a:bodyPr/>
            <a:lstStyle/>
            <a:p>
              <a:endParaRPr lang="en-US"/>
            </a:p>
          </p:txBody>
        </p:sp>
        <p:sp>
          <p:nvSpPr>
            <p:cNvPr id="90" name="node-90"/>
            <p:cNvSpPr/>
            <p:nvPr/>
          </p:nvSpPr>
          <p:spPr>
            <a:xfrm>
              <a:off x="1531620" y="3392424"/>
              <a:ext cx="109728" cy="109728"/>
            </a:xfrm>
            <a:prstGeom prst="ellipse">
              <a:avLst/>
            </a:prstGeom>
            <a:solidFill>
              <a:schemeClr val="tx2"/>
            </a:solidFill>
            <a:ln/>
          </p:spPr>
          <p:txBody>
            <a:bodyPr/>
            <a:lstStyle/>
            <a:p>
              <a:endParaRPr lang="en-US"/>
            </a:p>
          </p:txBody>
        </p:sp>
        <p:sp>
          <p:nvSpPr>
            <p:cNvPr id="91" name="node-91"/>
            <p:cNvSpPr/>
            <p:nvPr/>
          </p:nvSpPr>
          <p:spPr>
            <a:xfrm>
              <a:off x="1531620" y="3538728"/>
              <a:ext cx="109728" cy="109728"/>
            </a:xfrm>
            <a:prstGeom prst="ellipse">
              <a:avLst/>
            </a:prstGeom>
            <a:solidFill>
              <a:schemeClr val="tx2"/>
            </a:solidFill>
            <a:ln/>
          </p:spPr>
          <p:txBody>
            <a:bodyPr/>
            <a:lstStyle/>
            <a:p>
              <a:endParaRPr lang="en-US"/>
            </a:p>
          </p:txBody>
        </p:sp>
        <p:sp>
          <p:nvSpPr>
            <p:cNvPr id="92" name="ellipsis-92"/>
            <p:cNvSpPr txBox="1"/>
            <p:nvPr/>
          </p:nvSpPr>
          <p:spPr>
            <a:xfrm>
              <a:off x="1403604" y="2971800"/>
              <a:ext cx="365760" cy="219456"/>
            </a:xfrm>
            <a:prstGeom prst="rect">
              <a:avLst/>
            </a:prstGeom>
            <a:noFill/>
            <a:ln/>
          </p:spPr>
          <p:txBody>
            <a:bodyPr wrap="square" lIns="0" tIns="0" rIns="0" bIns="0" rtlCol="0" anchor="ctr"/>
            <a:lstStyle/>
            <a:p>
              <a:pPr marL="0" indent="0" algn="ctr">
                <a:spcBef>
                  <a:spcPts val="0"/>
                </a:spcBef>
                <a:buNone/>
              </a:pPr>
              <a:r>
                <a:rPr lang="en-US" sz="1200" b="1" dirty="0">
                  <a:solidFill>
                    <a:schemeClr val="tx2"/>
                  </a:solidFill>
                </a:rPr>
                <a:t>⋮</a:t>
              </a:r>
            </a:p>
          </p:txBody>
        </p:sp>
        <p:sp>
          <p:nvSpPr>
            <p:cNvPr id="93" name="layer-label-93"/>
            <p:cNvSpPr txBox="1"/>
            <p:nvPr/>
          </p:nvSpPr>
          <p:spPr>
            <a:xfrm>
              <a:off x="1248156" y="3703320"/>
              <a:ext cx="676656"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14 in</a:t>
              </a:r>
            </a:p>
          </p:txBody>
        </p:sp>
        <p:sp>
          <p:nvSpPr>
            <p:cNvPr id="94" name="node-94"/>
            <p:cNvSpPr/>
            <p:nvPr/>
          </p:nvSpPr>
          <p:spPr>
            <a:xfrm>
              <a:off x="2244852" y="2530602"/>
              <a:ext cx="109728" cy="109728"/>
            </a:xfrm>
            <a:prstGeom prst="ellipse">
              <a:avLst/>
            </a:prstGeom>
            <a:solidFill>
              <a:schemeClr val="tx1"/>
            </a:solidFill>
            <a:ln/>
          </p:spPr>
          <p:txBody>
            <a:bodyPr/>
            <a:lstStyle/>
            <a:p>
              <a:endParaRPr lang="en-US"/>
            </a:p>
          </p:txBody>
        </p:sp>
        <p:sp>
          <p:nvSpPr>
            <p:cNvPr id="95" name="node-95"/>
            <p:cNvSpPr/>
            <p:nvPr/>
          </p:nvSpPr>
          <p:spPr>
            <a:xfrm>
              <a:off x="2244852" y="2672334"/>
              <a:ext cx="109728" cy="109728"/>
            </a:xfrm>
            <a:prstGeom prst="ellipse">
              <a:avLst/>
            </a:prstGeom>
            <a:solidFill>
              <a:schemeClr val="tx1"/>
            </a:solidFill>
            <a:ln/>
          </p:spPr>
          <p:txBody>
            <a:bodyPr/>
            <a:lstStyle/>
            <a:p>
              <a:endParaRPr lang="en-US"/>
            </a:p>
          </p:txBody>
        </p:sp>
        <p:sp>
          <p:nvSpPr>
            <p:cNvPr id="96" name="node-96"/>
            <p:cNvSpPr/>
            <p:nvPr/>
          </p:nvSpPr>
          <p:spPr>
            <a:xfrm>
              <a:off x="2244852" y="2814066"/>
              <a:ext cx="109728" cy="109728"/>
            </a:xfrm>
            <a:prstGeom prst="ellipse">
              <a:avLst/>
            </a:prstGeom>
            <a:solidFill>
              <a:schemeClr val="tx1"/>
            </a:solidFill>
            <a:ln/>
          </p:spPr>
          <p:txBody>
            <a:bodyPr/>
            <a:lstStyle/>
            <a:p>
              <a:endParaRPr lang="en-US"/>
            </a:p>
          </p:txBody>
        </p:sp>
        <p:sp>
          <p:nvSpPr>
            <p:cNvPr id="97" name="node-97"/>
            <p:cNvSpPr/>
            <p:nvPr/>
          </p:nvSpPr>
          <p:spPr>
            <a:xfrm>
              <a:off x="2244852" y="2955798"/>
              <a:ext cx="109728" cy="109728"/>
            </a:xfrm>
            <a:prstGeom prst="ellipse">
              <a:avLst/>
            </a:prstGeom>
            <a:solidFill>
              <a:schemeClr val="tx1"/>
            </a:solidFill>
            <a:ln/>
          </p:spPr>
          <p:txBody>
            <a:bodyPr/>
            <a:lstStyle/>
            <a:p>
              <a:endParaRPr lang="en-US"/>
            </a:p>
          </p:txBody>
        </p:sp>
        <p:sp>
          <p:nvSpPr>
            <p:cNvPr id="98" name="node-98"/>
            <p:cNvSpPr/>
            <p:nvPr/>
          </p:nvSpPr>
          <p:spPr>
            <a:xfrm>
              <a:off x="2244852" y="3097530"/>
              <a:ext cx="109728" cy="109728"/>
            </a:xfrm>
            <a:prstGeom prst="ellipse">
              <a:avLst/>
            </a:prstGeom>
            <a:solidFill>
              <a:schemeClr val="tx1"/>
            </a:solidFill>
            <a:ln/>
          </p:spPr>
          <p:txBody>
            <a:bodyPr/>
            <a:lstStyle/>
            <a:p>
              <a:endParaRPr lang="en-US"/>
            </a:p>
          </p:txBody>
        </p:sp>
        <p:sp>
          <p:nvSpPr>
            <p:cNvPr id="99" name="node-99"/>
            <p:cNvSpPr/>
            <p:nvPr/>
          </p:nvSpPr>
          <p:spPr>
            <a:xfrm>
              <a:off x="2244852" y="3239262"/>
              <a:ext cx="109728" cy="109728"/>
            </a:xfrm>
            <a:prstGeom prst="ellipse">
              <a:avLst/>
            </a:prstGeom>
            <a:solidFill>
              <a:schemeClr val="tx1"/>
            </a:solidFill>
            <a:ln/>
          </p:spPr>
          <p:txBody>
            <a:bodyPr/>
            <a:lstStyle/>
            <a:p>
              <a:endParaRPr lang="en-US"/>
            </a:p>
          </p:txBody>
        </p:sp>
        <p:sp>
          <p:nvSpPr>
            <p:cNvPr id="100" name="node-100"/>
            <p:cNvSpPr/>
            <p:nvPr/>
          </p:nvSpPr>
          <p:spPr>
            <a:xfrm>
              <a:off x="2244852" y="3380994"/>
              <a:ext cx="109728" cy="109728"/>
            </a:xfrm>
            <a:prstGeom prst="ellipse">
              <a:avLst/>
            </a:prstGeom>
            <a:solidFill>
              <a:schemeClr val="tx1"/>
            </a:solidFill>
            <a:ln/>
          </p:spPr>
          <p:txBody>
            <a:bodyPr/>
            <a:lstStyle/>
            <a:p>
              <a:endParaRPr lang="en-US"/>
            </a:p>
          </p:txBody>
        </p:sp>
        <p:sp>
          <p:nvSpPr>
            <p:cNvPr id="101" name="node-101"/>
            <p:cNvSpPr/>
            <p:nvPr/>
          </p:nvSpPr>
          <p:spPr>
            <a:xfrm>
              <a:off x="2244852" y="3522726"/>
              <a:ext cx="109728" cy="109728"/>
            </a:xfrm>
            <a:prstGeom prst="ellipse">
              <a:avLst/>
            </a:prstGeom>
            <a:solidFill>
              <a:schemeClr val="tx1"/>
            </a:solidFill>
            <a:ln/>
          </p:spPr>
          <p:txBody>
            <a:bodyPr/>
            <a:lstStyle/>
            <a:p>
              <a:endParaRPr lang="en-US"/>
            </a:p>
          </p:txBody>
        </p:sp>
        <p:sp>
          <p:nvSpPr>
            <p:cNvPr id="102" name="layer-label-102"/>
            <p:cNvSpPr txBox="1"/>
            <p:nvPr/>
          </p:nvSpPr>
          <p:spPr>
            <a:xfrm>
              <a:off x="1961388" y="3703320"/>
              <a:ext cx="676656"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8</a:t>
              </a:r>
            </a:p>
          </p:txBody>
        </p:sp>
        <p:sp>
          <p:nvSpPr>
            <p:cNvPr id="103" name="node-103"/>
            <p:cNvSpPr/>
            <p:nvPr/>
          </p:nvSpPr>
          <p:spPr>
            <a:xfrm>
              <a:off x="2958084" y="3026664"/>
              <a:ext cx="109728" cy="109728"/>
            </a:xfrm>
            <a:prstGeom prst="ellipse">
              <a:avLst/>
            </a:prstGeom>
            <a:solidFill>
              <a:schemeClr val="accent1"/>
            </a:solidFill>
            <a:ln/>
          </p:spPr>
          <p:txBody>
            <a:bodyPr/>
            <a:lstStyle/>
            <a:p>
              <a:endParaRPr lang="en-US"/>
            </a:p>
          </p:txBody>
        </p:sp>
        <p:sp>
          <p:nvSpPr>
            <p:cNvPr id="104" name="layer-label-104"/>
            <p:cNvSpPr txBox="1"/>
            <p:nvPr/>
          </p:nvSpPr>
          <p:spPr>
            <a:xfrm>
              <a:off x="2674620" y="3703320"/>
              <a:ext cx="676656"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1 out</a:t>
              </a:r>
            </a:p>
          </p:txBody>
        </p:sp>
        <p:sp>
          <p:nvSpPr>
            <p:cNvPr id="105" name="card-genes-105"/>
            <p:cNvSpPr txBox="1"/>
            <p:nvPr/>
          </p:nvSpPr>
          <p:spPr>
            <a:xfrm>
              <a:off x="777240" y="3995928"/>
              <a:ext cx="3044952" cy="384048"/>
            </a:xfrm>
            <a:prstGeom prst="rect">
              <a:avLst/>
            </a:prstGeom>
            <a:noFill/>
            <a:ln/>
          </p:spPr>
          <p:txBody>
            <a:bodyPr wrap="square" lIns="0" tIns="0" rIns="0" bIns="0" rtlCol="0" anchor="b"/>
            <a:lstStyle/>
            <a:p>
              <a:pPr marL="0" indent="0" algn="l">
                <a:spcBef>
                  <a:spcPts val="0"/>
                </a:spcBef>
                <a:buNone/>
              </a:pPr>
              <a:r>
                <a:rPr lang="en-US" sz="2400" b="1" dirty="0">
                  <a:solidFill>
                    <a:schemeClr val="accent1"/>
                  </a:solidFill>
                </a:rPr>
                <a:t>129</a:t>
              </a:r>
              <a:r>
                <a:rPr lang="en-US" sz="1300" dirty="0">
                  <a:solidFill>
                    <a:schemeClr val="tx2"/>
                  </a:solidFill>
                </a:rPr>
                <a:t>  genes</a:t>
              </a:r>
            </a:p>
          </p:txBody>
        </p:sp>
        <p:sp>
          <p:nvSpPr>
            <p:cNvPr id="106" name="card-math-106"/>
            <p:cNvSpPr txBox="1"/>
            <p:nvPr/>
          </p:nvSpPr>
          <p:spPr>
            <a:xfrm>
              <a:off x="777240" y="4398264"/>
              <a:ext cx="3044952" cy="219456"/>
            </a:xfrm>
            <a:prstGeom prst="rect">
              <a:avLst/>
            </a:prstGeom>
            <a:noFill/>
            <a:ln/>
          </p:spPr>
          <p:txBody>
            <a:bodyPr wrap="square" lIns="0" tIns="0" rIns="0" bIns="0" rtlCol="0" anchor="t"/>
            <a:lstStyle/>
            <a:p>
              <a:pPr marL="0" indent="0" algn="l">
                <a:spcBef>
                  <a:spcPts val="0"/>
                </a:spcBef>
                <a:buNone/>
              </a:pPr>
              <a:r>
                <a:rPr lang="en-US" sz="1100" dirty="0">
                  <a:solidFill>
                    <a:schemeClr val="tx2"/>
                  </a:solidFill>
                </a:rPr>
                <a:t>120 + 9  (one term per layer)</a:t>
              </a:r>
            </a:p>
          </p:txBody>
        </p:sp>
      </p:grpSp>
      <p:grpSp>
        <p:nvGrpSpPr>
          <p:cNvPr id="173" name="card-wider"/>
          <p:cNvGrpSpPr/>
          <p:nvPr/>
        </p:nvGrpSpPr>
        <p:grpSpPr>
          <a:xfrm>
            <a:off x="4343400" y="1600200"/>
            <a:ext cx="3502152" cy="3108960"/>
            <a:chOff x="4343400" y="1600200"/>
            <a:chExt cx="3502152" cy="3108960"/>
          </a:xfrm>
        </p:grpSpPr>
        <p:sp>
          <p:nvSpPr>
            <p:cNvPr id="108" name="card-108"/>
            <p:cNvSpPr/>
            <p:nvPr/>
          </p:nvSpPr>
          <p:spPr>
            <a:xfrm>
              <a:off x="4343400" y="1600200"/>
              <a:ext cx="3502152" cy="3108960"/>
            </a:xfrm>
            <a:prstGeom prst="roundRect">
              <a:avLst>
                <a:gd name="adj" fmla="val 5000"/>
              </a:avLst>
            </a:prstGeom>
            <a:solidFill>
              <a:schemeClr val="bg2"/>
            </a:solidFill>
            <a:ln/>
          </p:spPr>
          <p:txBody>
            <a:bodyPr/>
            <a:lstStyle/>
            <a:p>
              <a:endParaRPr lang="en-US"/>
            </a:p>
          </p:txBody>
        </p:sp>
        <p:sp>
          <p:nvSpPr>
            <p:cNvPr id="109" name="card-title-109"/>
            <p:cNvSpPr txBox="1"/>
            <p:nvPr/>
          </p:nvSpPr>
          <p:spPr>
            <a:xfrm>
              <a:off x="4572000" y="1783080"/>
              <a:ext cx="3044952" cy="274320"/>
            </a:xfrm>
            <a:prstGeom prst="rect">
              <a:avLst/>
            </a:prstGeom>
            <a:noFill/>
            <a:ln/>
          </p:spPr>
          <p:txBody>
            <a:bodyPr wrap="square" lIns="0" tIns="0" rIns="0" bIns="0" rtlCol="0" anchor="t"/>
            <a:lstStyle/>
            <a:p>
              <a:pPr marL="0" indent="0" algn="l">
                <a:spcBef>
                  <a:spcPts val="0"/>
                </a:spcBef>
                <a:buNone/>
              </a:pPr>
              <a:r>
                <a:rPr lang="en-US" sz="1600" b="1" dirty="0">
                  <a:solidFill>
                    <a:schemeClr val="tx1"/>
                  </a:solidFill>
                </a:rPr>
                <a:t>Wider</a:t>
              </a:r>
            </a:p>
          </p:txBody>
        </p:sp>
        <p:sp>
          <p:nvSpPr>
            <p:cNvPr id="110" name="card-flag-110"/>
            <p:cNvSpPr txBox="1"/>
            <p:nvPr/>
          </p:nvSpPr>
          <p:spPr>
            <a:xfrm>
              <a:off x="4572000" y="2103120"/>
              <a:ext cx="3044952" cy="274320"/>
            </a:xfrm>
            <a:prstGeom prst="rect">
              <a:avLst/>
            </a:prstGeom>
            <a:noFill/>
            <a:ln/>
          </p:spPr>
          <p:txBody>
            <a:bodyPr wrap="square" lIns="0" tIns="0" rIns="0" bIns="0" rtlCol="0" anchor="t"/>
            <a:lstStyle/>
            <a:p>
              <a:pPr marL="0" indent="0" algn="l">
                <a:spcBef>
                  <a:spcPts val="0"/>
                </a:spcBef>
                <a:buNone/>
              </a:pPr>
              <a:r>
                <a:rPr lang="en-US" sz="1400" dirty="0">
                  <a:solidFill>
                    <a:schemeClr val="accent1"/>
                  </a:solidFill>
                  <a:latin typeface="Courier New" pitchFamily="34" charset="0"/>
                  <a:ea typeface="Courier New" pitchFamily="34" charset="-122"/>
                  <a:cs typeface="Courier New" pitchFamily="34" charset="-120"/>
                </a:rPr>
                <a:t>--hidden 32</a:t>
              </a:r>
            </a:p>
          </p:txBody>
        </p:sp>
        <p:cxnSp>
          <p:nvCxnSpPr>
            <p:cNvPr id="111" name="edge-111"/>
            <p:cNvCxnSpPr/>
            <p:nvPr/>
          </p:nvCxnSpPr>
          <p:spPr>
            <a:xfrm>
              <a:off x="5436108" y="2569464"/>
              <a:ext cx="603504" cy="0"/>
            </a:xfrm>
            <a:prstGeom prst="line">
              <a:avLst/>
            </a:prstGeom>
            <a:ln w="6350">
              <a:solidFill>
                <a:schemeClr val="tx2">
                  <a:alpha val="30000"/>
                </a:schemeClr>
              </a:solidFill>
            </a:ln>
          </p:spPr>
        </p:cxnSp>
        <p:cxnSp>
          <p:nvCxnSpPr>
            <p:cNvPr id="112" name="edge-112"/>
            <p:cNvCxnSpPr/>
            <p:nvPr/>
          </p:nvCxnSpPr>
          <p:spPr>
            <a:xfrm>
              <a:off x="5436108" y="2569464"/>
              <a:ext cx="603504" cy="146304"/>
            </a:xfrm>
            <a:prstGeom prst="line">
              <a:avLst/>
            </a:prstGeom>
            <a:ln w="6350">
              <a:solidFill>
                <a:schemeClr val="tx2">
                  <a:alpha val="30000"/>
                </a:schemeClr>
              </a:solidFill>
            </a:ln>
          </p:spPr>
        </p:cxnSp>
        <p:cxnSp>
          <p:nvCxnSpPr>
            <p:cNvPr id="113" name="edge-113"/>
            <p:cNvCxnSpPr/>
            <p:nvPr/>
          </p:nvCxnSpPr>
          <p:spPr>
            <a:xfrm>
              <a:off x="5436108" y="2569464"/>
              <a:ext cx="603504" cy="292608"/>
            </a:xfrm>
            <a:prstGeom prst="line">
              <a:avLst/>
            </a:prstGeom>
            <a:ln w="6350">
              <a:solidFill>
                <a:schemeClr val="tx2">
                  <a:alpha val="30000"/>
                </a:schemeClr>
              </a:solidFill>
            </a:ln>
          </p:spPr>
        </p:cxnSp>
        <p:cxnSp>
          <p:nvCxnSpPr>
            <p:cNvPr id="114" name="edge-114"/>
            <p:cNvCxnSpPr/>
            <p:nvPr/>
          </p:nvCxnSpPr>
          <p:spPr>
            <a:xfrm>
              <a:off x="5436108" y="2569464"/>
              <a:ext cx="603504" cy="731520"/>
            </a:xfrm>
            <a:prstGeom prst="line">
              <a:avLst/>
            </a:prstGeom>
            <a:ln w="6350">
              <a:solidFill>
                <a:schemeClr val="tx2">
                  <a:alpha val="30000"/>
                </a:schemeClr>
              </a:solidFill>
            </a:ln>
          </p:spPr>
        </p:cxnSp>
        <p:cxnSp>
          <p:nvCxnSpPr>
            <p:cNvPr id="115" name="edge-115"/>
            <p:cNvCxnSpPr/>
            <p:nvPr/>
          </p:nvCxnSpPr>
          <p:spPr>
            <a:xfrm>
              <a:off x="5436108" y="2569464"/>
              <a:ext cx="603504" cy="877824"/>
            </a:xfrm>
            <a:prstGeom prst="line">
              <a:avLst/>
            </a:prstGeom>
            <a:ln w="6350">
              <a:solidFill>
                <a:schemeClr val="tx2">
                  <a:alpha val="30000"/>
                </a:schemeClr>
              </a:solidFill>
            </a:ln>
          </p:spPr>
        </p:cxnSp>
        <p:cxnSp>
          <p:nvCxnSpPr>
            <p:cNvPr id="116" name="edge-116"/>
            <p:cNvCxnSpPr/>
            <p:nvPr/>
          </p:nvCxnSpPr>
          <p:spPr>
            <a:xfrm>
              <a:off x="5436108" y="2569464"/>
              <a:ext cx="603504" cy="1024128"/>
            </a:xfrm>
            <a:prstGeom prst="line">
              <a:avLst/>
            </a:prstGeom>
            <a:ln w="6350">
              <a:solidFill>
                <a:schemeClr val="tx2">
                  <a:alpha val="30000"/>
                </a:schemeClr>
              </a:solidFill>
            </a:ln>
          </p:spPr>
        </p:cxnSp>
        <p:cxnSp>
          <p:nvCxnSpPr>
            <p:cNvPr id="117" name="edge-117"/>
            <p:cNvCxnSpPr/>
            <p:nvPr/>
          </p:nvCxnSpPr>
          <p:spPr>
            <a:xfrm flipV="1">
              <a:off x="5436108" y="2569464"/>
              <a:ext cx="603504" cy="146304"/>
            </a:xfrm>
            <a:prstGeom prst="line">
              <a:avLst/>
            </a:prstGeom>
            <a:ln w="6350">
              <a:solidFill>
                <a:schemeClr val="tx2">
                  <a:alpha val="30000"/>
                </a:schemeClr>
              </a:solidFill>
            </a:ln>
          </p:spPr>
        </p:cxnSp>
        <p:cxnSp>
          <p:nvCxnSpPr>
            <p:cNvPr id="118" name="edge-118"/>
            <p:cNvCxnSpPr/>
            <p:nvPr/>
          </p:nvCxnSpPr>
          <p:spPr>
            <a:xfrm>
              <a:off x="5436108" y="2715768"/>
              <a:ext cx="603504" cy="0"/>
            </a:xfrm>
            <a:prstGeom prst="line">
              <a:avLst/>
            </a:prstGeom>
            <a:ln w="6350">
              <a:solidFill>
                <a:schemeClr val="tx2">
                  <a:alpha val="30000"/>
                </a:schemeClr>
              </a:solidFill>
            </a:ln>
          </p:spPr>
        </p:cxnSp>
        <p:cxnSp>
          <p:nvCxnSpPr>
            <p:cNvPr id="119" name="edge-119"/>
            <p:cNvCxnSpPr/>
            <p:nvPr/>
          </p:nvCxnSpPr>
          <p:spPr>
            <a:xfrm>
              <a:off x="5436108" y="2715768"/>
              <a:ext cx="603504" cy="146304"/>
            </a:xfrm>
            <a:prstGeom prst="line">
              <a:avLst/>
            </a:prstGeom>
            <a:ln w="6350">
              <a:solidFill>
                <a:schemeClr val="tx2">
                  <a:alpha val="30000"/>
                </a:schemeClr>
              </a:solidFill>
            </a:ln>
          </p:spPr>
        </p:cxnSp>
        <p:cxnSp>
          <p:nvCxnSpPr>
            <p:cNvPr id="120" name="edge-120"/>
            <p:cNvCxnSpPr/>
            <p:nvPr/>
          </p:nvCxnSpPr>
          <p:spPr>
            <a:xfrm>
              <a:off x="5436108" y="2715768"/>
              <a:ext cx="603504" cy="585216"/>
            </a:xfrm>
            <a:prstGeom prst="line">
              <a:avLst/>
            </a:prstGeom>
            <a:ln w="6350">
              <a:solidFill>
                <a:schemeClr val="tx2">
                  <a:alpha val="30000"/>
                </a:schemeClr>
              </a:solidFill>
            </a:ln>
          </p:spPr>
        </p:cxnSp>
        <p:cxnSp>
          <p:nvCxnSpPr>
            <p:cNvPr id="121" name="edge-121"/>
            <p:cNvCxnSpPr/>
            <p:nvPr/>
          </p:nvCxnSpPr>
          <p:spPr>
            <a:xfrm>
              <a:off x="5436108" y="2715768"/>
              <a:ext cx="603504" cy="731520"/>
            </a:xfrm>
            <a:prstGeom prst="line">
              <a:avLst/>
            </a:prstGeom>
            <a:ln w="6350">
              <a:solidFill>
                <a:schemeClr val="tx2">
                  <a:alpha val="30000"/>
                </a:schemeClr>
              </a:solidFill>
            </a:ln>
          </p:spPr>
        </p:cxnSp>
        <p:cxnSp>
          <p:nvCxnSpPr>
            <p:cNvPr id="122" name="edge-122"/>
            <p:cNvCxnSpPr/>
            <p:nvPr/>
          </p:nvCxnSpPr>
          <p:spPr>
            <a:xfrm>
              <a:off x="5436108" y="2715768"/>
              <a:ext cx="603504" cy="877824"/>
            </a:xfrm>
            <a:prstGeom prst="line">
              <a:avLst/>
            </a:prstGeom>
            <a:ln w="6350">
              <a:solidFill>
                <a:schemeClr val="tx2">
                  <a:alpha val="30000"/>
                </a:schemeClr>
              </a:solidFill>
            </a:ln>
          </p:spPr>
        </p:cxnSp>
        <p:cxnSp>
          <p:nvCxnSpPr>
            <p:cNvPr id="123" name="edge-123"/>
            <p:cNvCxnSpPr/>
            <p:nvPr/>
          </p:nvCxnSpPr>
          <p:spPr>
            <a:xfrm flipV="1">
              <a:off x="5436108" y="2569464"/>
              <a:ext cx="603504" cy="292608"/>
            </a:xfrm>
            <a:prstGeom prst="line">
              <a:avLst/>
            </a:prstGeom>
            <a:ln w="6350">
              <a:solidFill>
                <a:schemeClr val="tx2">
                  <a:alpha val="30000"/>
                </a:schemeClr>
              </a:solidFill>
            </a:ln>
          </p:spPr>
        </p:cxnSp>
        <p:cxnSp>
          <p:nvCxnSpPr>
            <p:cNvPr id="124" name="edge-124"/>
            <p:cNvCxnSpPr/>
            <p:nvPr/>
          </p:nvCxnSpPr>
          <p:spPr>
            <a:xfrm flipV="1">
              <a:off x="5436108" y="2715768"/>
              <a:ext cx="603504" cy="146304"/>
            </a:xfrm>
            <a:prstGeom prst="line">
              <a:avLst/>
            </a:prstGeom>
            <a:ln w="6350">
              <a:solidFill>
                <a:schemeClr val="tx2">
                  <a:alpha val="30000"/>
                </a:schemeClr>
              </a:solidFill>
            </a:ln>
          </p:spPr>
        </p:cxnSp>
        <p:cxnSp>
          <p:nvCxnSpPr>
            <p:cNvPr id="125" name="edge-125"/>
            <p:cNvCxnSpPr/>
            <p:nvPr/>
          </p:nvCxnSpPr>
          <p:spPr>
            <a:xfrm>
              <a:off x="5436108" y="2862072"/>
              <a:ext cx="603504" cy="0"/>
            </a:xfrm>
            <a:prstGeom prst="line">
              <a:avLst/>
            </a:prstGeom>
            <a:ln w="6350">
              <a:solidFill>
                <a:schemeClr val="tx2">
                  <a:alpha val="30000"/>
                </a:schemeClr>
              </a:solidFill>
            </a:ln>
          </p:spPr>
        </p:cxnSp>
        <p:cxnSp>
          <p:nvCxnSpPr>
            <p:cNvPr id="126" name="edge-126"/>
            <p:cNvCxnSpPr/>
            <p:nvPr/>
          </p:nvCxnSpPr>
          <p:spPr>
            <a:xfrm>
              <a:off x="5436108" y="2862072"/>
              <a:ext cx="603504" cy="438912"/>
            </a:xfrm>
            <a:prstGeom prst="line">
              <a:avLst/>
            </a:prstGeom>
            <a:ln w="6350">
              <a:solidFill>
                <a:schemeClr val="tx2">
                  <a:alpha val="30000"/>
                </a:schemeClr>
              </a:solidFill>
            </a:ln>
          </p:spPr>
        </p:cxnSp>
        <p:cxnSp>
          <p:nvCxnSpPr>
            <p:cNvPr id="127" name="edge-127"/>
            <p:cNvCxnSpPr/>
            <p:nvPr/>
          </p:nvCxnSpPr>
          <p:spPr>
            <a:xfrm>
              <a:off x="5436108" y="2862072"/>
              <a:ext cx="603504" cy="585216"/>
            </a:xfrm>
            <a:prstGeom prst="line">
              <a:avLst/>
            </a:prstGeom>
            <a:ln w="6350">
              <a:solidFill>
                <a:schemeClr val="tx2">
                  <a:alpha val="30000"/>
                </a:schemeClr>
              </a:solidFill>
            </a:ln>
          </p:spPr>
        </p:cxnSp>
        <p:cxnSp>
          <p:nvCxnSpPr>
            <p:cNvPr id="128" name="edge-128"/>
            <p:cNvCxnSpPr/>
            <p:nvPr/>
          </p:nvCxnSpPr>
          <p:spPr>
            <a:xfrm>
              <a:off x="5436108" y="2862072"/>
              <a:ext cx="603504" cy="731520"/>
            </a:xfrm>
            <a:prstGeom prst="line">
              <a:avLst/>
            </a:prstGeom>
            <a:ln w="6350">
              <a:solidFill>
                <a:schemeClr val="tx2">
                  <a:alpha val="30000"/>
                </a:schemeClr>
              </a:solidFill>
            </a:ln>
          </p:spPr>
        </p:cxnSp>
        <p:cxnSp>
          <p:nvCxnSpPr>
            <p:cNvPr id="129" name="edge-129"/>
            <p:cNvCxnSpPr/>
            <p:nvPr/>
          </p:nvCxnSpPr>
          <p:spPr>
            <a:xfrm flipV="1">
              <a:off x="5436108" y="2569464"/>
              <a:ext cx="603504" cy="731520"/>
            </a:xfrm>
            <a:prstGeom prst="line">
              <a:avLst/>
            </a:prstGeom>
            <a:ln w="6350">
              <a:solidFill>
                <a:schemeClr val="tx2">
                  <a:alpha val="30000"/>
                </a:schemeClr>
              </a:solidFill>
            </a:ln>
          </p:spPr>
        </p:cxnSp>
        <p:cxnSp>
          <p:nvCxnSpPr>
            <p:cNvPr id="130" name="edge-130"/>
            <p:cNvCxnSpPr/>
            <p:nvPr/>
          </p:nvCxnSpPr>
          <p:spPr>
            <a:xfrm flipV="1">
              <a:off x="5436108" y="2715768"/>
              <a:ext cx="603504" cy="585216"/>
            </a:xfrm>
            <a:prstGeom prst="line">
              <a:avLst/>
            </a:prstGeom>
            <a:ln w="6350">
              <a:solidFill>
                <a:schemeClr val="tx2">
                  <a:alpha val="30000"/>
                </a:schemeClr>
              </a:solidFill>
            </a:ln>
          </p:spPr>
        </p:cxnSp>
        <p:cxnSp>
          <p:nvCxnSpPr>
            <p:cNvPr id="131" name="edge-131"/>
            <p:cNvCxnSpPr/>
            <p:nvPr/>
          </p:nvCxnSpPr>
          <p:spPr>
            <a:xfrm flipV="1">
              <a:off x="5436108" y="2862072"/>
              <a:ext cx="603504" cy="438912"/>
            </a:xfrm>
            <a:prstGeom prst="line">
              <a:avLst/>
            </a:prstGeom>
            <a:ln w="6350">
              <a:solidFill>
                <a:schemeClr val="tx2">
                  <a:alpha val="30000"/>
                </a:schemeClr>
              </a:solidFill>
            </a:ln>
          </p:spPr>
        </p:cxnSp>
        <p:cxnSp>
          <p:nvCxnSpPr>
            <p:cNvPr id="132" name="edge-132"/>
            <p:cNvCxnSpPr/>
            <p:nvPr/>
          </p:nvCxnSpPr>
          <p:spPr>
            <a:xfrm>
              <a:off x="5436108" y="3300984"/>
              <a:ext cx="603504" cy="0"/>
            </a:xfrm>
            <a:prstGeom prst="line">
              <a:avLst/>
            </a:prstGeom>
            <a:ln w="6350">
              <a:solidFill>
                <a:schemeClr val="tx2">
                  <a:alpha val="30000"/>
                </a:schemeClr>
              </a:solidFill>
            </a:ln>
          </p:spPr>
        </p:cxnSp>
        <p:cxnSp>
          <p:nvCxnSpPr>
            <p:cNvPr id="133" name="edge-133"/>
            <p:cNvCxnSpPr/>
            <p:nvPr/>
          </p:nvCxnSpPr>
          <p:spPr>
            <a:xfrm>
              <a:off x="5436108" y="3300984"/>
              <a:ext cx="603504" cy="146304"/>
            </a:xfrm>
            <a:prstGeom prst="line">
              <a:avLst/>
            </a:prstGeom>
            <a:ln w="6350">
              <a:solidFill>
                <a:schemeClr val="tx2">
                  <a:alpha val="30000"/>
                </a:schemeClr>
              </a:solidFill>
            </a:ln>
          </p:spPr>
        </p:cxnSp>
        <p:cxnSp>
          <p:nvCxnSpPr>
            <p:cNvPr id="134" name="edge-134"/>
            <p:cNvCxnSpPr/>
            <p:nvPr/>
          </p:nvCxnSpPr>
          <p:spPr>
            <a:xfrm>
              <a:off x="5436108" y="3300984"/>
              <a:ext cx="603504" cy="292608"/>
            </a:xfrm>
            <a:prstGeom prst="line">
              <a:avLst/>
            </a:prstGeom>
            <a:ln w="6350">
              <a:solidFill>
                <a:schemeClr val="tx2">
                  <a:alpha val="30000"/>
                </a:schemeClr>
              </a:solidFill>
            </a:ln>
          </p:spPr>
        </p:cxnSp>
        <p:cxnSp>
          <p:nvCxnSpPr>
            <p:cNvPr id="135" name="edge-135"/>
            <p:cNvCxnSpPr/>
            <p:nvPr/>
          </p:nvCxnSpPr>
          <p:spPr>
            <a:xfrm flipV="1">
              <a:off x="5436108" y="2569464"/>
              <a:ext cx="603504" cy="877824"/>
            </a:xfrm>
            <a:prstGeom prst="line">
              <a:avLst/>
            </a:prstGeom>
            <a:ln w="6350">
              <a:solidFill>
                <a:schemeClr val="tx2">
                  <a:alpha val="30000"/>
                </a:schemeClr>
              </a:solidFill>
            </a:ln>
          </p:spPr>
        </p:cxnSp>
        <p:cxnSp>
          <p:nvCxnSpPr>
            <p:cNvPr id="136" name="edge-136"/>
            <p:cNvCxnSpPr/>
            <p:nvPr/>
          </p:nvCxnSpPr>
          <p:spPr>
            <a:xfrm flipV="1">
              <a:off x="5436108" y="2715768"/>
              <a:ext cx="603504" cy="731520"/>
            </a:xfrm>
            <a:prstGeom prst="line">
              <a:avLst/>
            </a:prstGeom>
            <a:ln w="6350">
              <a:solidFill>
                <a:schemeClr val="tx2">
                  <a:alpha val="30000"/>
                </a:schemeClr>
              </a:solidFill>
            </a:ln>
          </p:spPr>
        </p:cxnSp>
        <p:cxnSp>
          <p:nvCxnSpPr>
            <p:cNvPr id="137" name="edge-137"/>
            <p:cNvCxnSpPr/>
            <p:nvPr/>
          </p:nvCxnSpPr>
          <p:spPr>
            <a:xfrm flipV="1">
              <a:off x="5436108" y="2862072"/>
              <a:ext cx="603504" cy="585216"/>
            </a:xfrm>
            <a:prstGeom prst="line">
              <a:avLst/>
            </a:prstGeom>
            <a:ln w="6350">
              <a:solidFill>
                <a:schemeClr val="tx2">
                  <a:alpha val="30000"/>
                </a:schemeClr>
              </a:solidFill>
            </a:ln>
          </p:spPr>
        </p:cxnSp>
        <p:cxnSp>
          <p:nvCxnSpPr>
            <p:cNvPr id="138" name="edge-138"/>
            <p:cNvCxnSpPr/>
            <p:nvPr/>
          </p:nvCxnSpPr>
          <p:spPr>
            <a:xfrm flipV="1">
              <a:off x="5436108" y="3300984"/>
              <a:ext cx="603504" cy="146304"/>
            </a:xfrm>
            <a:prstGeom prst="line">
              <a:avLst/>
            </a:prstGeom>
            <a:ln w="6350">
              <a:solidFill>
                <a:schemeClr val="tx2">
                  <a:alpha val="30000"/>
                </a:schemeClr>
              </a:solidFill>
            </a:ln>
          </p:spPr>
        </p:cxnSp>
        <p:cxnSp>
          <p:nvCxnSpPr>
            <p:cNvPr id="139" name="edge-139"/>
            <p:cNvCxnSpPr/>
            <p:nvPr/>
          </p:nvCxnSpPr>
          <p:spPr>
            <a:xfrm>
              <a:off x="5436108" y="3447288"/>
              <a:ext cx="603504" cy="0"/>
            </a:xfrm>
            <a:prstGeom prst="line">
              <a:avLst/>
            </a:prstGeom>
            <a:ln w="6350">
              <a:solidFill>
                <a:schemeClr val="tx2">
                  <a:alpha val="30000"/>
                </a:schemeClr>
              </a:solidFill>
            </a:ln>
          </p:spPr>
        </p:cxnSp>
        <p:cxnSp>
          <p:nvCxnSpPr>
            <p:cNvPr id="140" name="edge-140"/>
            <p:cNvCxnSpPr/>
            <p:nvPr/>
          </p:nvCxnSpPr>
          <p:spPr>
            <a:xfrm>
              <a:off x="5436108" y="3447288"/>
              <a:ext cx="603504" cy="146304"/>
            </a:xfrm>
            <a:prstGeom prst="line">
              <a:avLst/>
            </a:prstGeom>
            <a:ln w="6350">
              <a:solidFill>
                <a:schemeClr val="tx2">
                  <a:alpha val="30000"/>
                </a:schemeClr>
              </a:solidFill>
            </a:ln>
          </p:spPr>
        </p:cxnSp>
        <p:cxnSp>
          <p:nvCxnSpPr>
            <p:cNvPr id="141" name="edge-141"/>
            <p:cNvCxnSpPr/>
            <p:nvPr/>
          </p:nvCxnSpPr>
          <p:spPr>
            <a:xfrm flipV="1">
              <a:off x="5436108" y="2569464"/>
              <a:ext cx="603504" cy="1024128"/>
            </a:xfrm>
            <a:prstGeom prst="line">
              <a:avLst/>
            </a:prstGeom>
            <a:ln w="6350">
              <a:solidFill>
                <a:schemeClr val="tx2">
                  <a:alpha val="30000"/>
                </a:schemeClr>
              </a:solidFill>
            </a:ln>
          </p:spPr>
        </p:cxnSp>
        <p:cxnSp>
          <p:nvCxnSpPr>
            <p:cNvPr id="142" name="edge-142"/>
            <p:cNvCxnSpPr/>
            <p:nvPr/>
          </p:nvCxnSpPr>
          <p:spPr>
            <a:xfrm flipV="1">
              <a:off x="5436108" y="2715768"/>
              <a:ext cx="603504" cy="877824"/>
            </a:xfrm>
            <a:prstGeom prst="line">
              <a:avLst/>
            </a:prstGeom>
            <a:ln w="6350">
              <a:solidFill>
                <a:schemeClr val="tx2">
                  <a:alpha val="30000"/>
                </a:schemeClr>
              </a:solidFill>
            </a:ln>
          </p:spPr>
        </p:cxnSp>
        <p:cxnSp>
          <p:nvCxnSpPr>
            <p:cNvPr id="143" name="edge-143"/>
            <p:cNvCxnSpPr/>
            <p:nvPr/>
          </p:nvCxnSpPr>
          <p:spPr>
            <a:xfrm flipV="1">
              <a:off x="5436108" y="2862072"/>
              <a:ext cx="603504" cy="731520"/>
            </a:xfrm>
            <a:prstGeom prst="line">
              <a:avLst/>
            </a:prstGeom>
            <a:ln w="6350">
              <a:solidFill>
                <a:schemeClr val="tx2">
                  <a:alpha val="30000"/>
                </a:schemeClr>
              </a:solidFill>
            </a:ln>
          </p:spPr>
        </p:cxnSp>
        <p:cxnSp>
          <p:nvCxnSpPr>
            <p:cNvPr id="144" name="edge-144"/>
            <p:cNvCxnSpPr/>
            <p:nvPr/>
          </p:nvCxnSpPr>
          <p:spPr>
            <a:xfrm flipV="1">
              <a:off x="5436108" y="3300984"/>
              <a:ext cx="603504" cy="292608"/>
            </a:xfrm>
            <a:prstGeom prst="line">
              <a:avLst/>
            </a:prstGeom>
            <a:ln w="6350">
              <a:solidFill>
                <a:schemeClr val="tx2">
                  <a:alpha val="30000"/>
                </a:schemeClr>
              </a:solidFill>
            </a:ln>
          </p:spPr>
        </p:cxnSp>
        <p:cxnSp>
          <p:nvCxnSpPr>
            <p:cNvPr id="145" name="edge-145"/>
            <p:cNvCxnSpPr/>
            <p:nvPr/>
          </p:nvCxnSpPr>
          <p:spPr>
            <a:xfrm flipV="1">
              <a:off x="5436108" y="3447288"/>
              <a:ext cx="603504" cy="146304"/>
            </a:xfrm>
            <a:prstGeom prst="line">
              <a:avLst/>
            </a:prstGeom>
            <a:ln w="6350">
              <a:solidFill>
                <a:schemeClr val="tx2">
                  <a:alpha val="30000"/>
                </a:schemeClr>
              </a:solidFill>
            </a:ln>
          </p:spPr>
        </p:cxnSp>
        <p:cxnSp>
          <p:nvCxnSpPr>
            <p:cNvPr id="146" name="edge-146"/>
            <p:cNvCxnSpPr/>
            <p:nvPr/>
          </p:nvCxnSpPr>
          <p:spPr>
            <a:xfrm>
              <a:off x="5436108" y="3593592"/>
              <a:ext cx="603504" cy="0"/>
            </a:xfrm>
            <a:prstGeom prst="line">
              <a:avLst/>
            </a:prstGeom>
            <a:ln w="6350">
              <a:solidFill>
                <a:schemeClr val="tx2">
                  <a:alpha val="30000"/>
                </a:schemeClr>
              </a:solidFill>
            </a:ln>
          </p:spPr>
        </p:cxnSp>
        <p:cxnSp>
          <p:nvCxnSpPr>
            <p:cNvPr id="147" name="edge-147"/>
            <p:cNvCxnSpPr/>
            <p:nvPr/>
          </p:nvCxnSpPr>
          <p:spPr>
            <a:xfrm>
              <a:off x="6149340" y="2569464"/>
              <a:ext cx="603504" cy="512064"/>
            </a:xfrm>
            <a:prstGeom prst="line">
              <a:avLst/>
            </a:prstGeom>
            <a:ln w="6350">
              <a:solidFill>
                <a:schemeClr val="tx2">
                  <a:alpha val="30000"/>
                </a:schemeClr>
              </a:solidFill>
            </a:ln>
          </p:spPr>
        </p:cxnSp>
        <p:cxnSp>
          <p:nvCxnSpPr>
            <p:cNvPr id="148" name="edge-148"/>
            <p:cNvCxnSpPr/>
            <p:nvPr/>
          </p:nvCxnSpPr>
          <p:spPr>
            <a:xfrm>
              <a:off x="6149340" y="2715768"/>
              <a:ext cx="603504" cy="365760"/>
            </a:xfrm>
            <a:prstGeom prst="line">
              <a:avLst/>
            </a:prstGeom>
            <a:ln w="6350">
              <a:solidFill>
                <a:schemeClr val="tx2">
                  <a:alpha val="30000"/>
                </a:schemeClr>
              </a:solidFill>
            </a:ln>
          </p:spPr>
        </p:cxnSp>
        <p:cxnSp>
          <p:nvCxnSpPr>
            <p:cNvPr id="149" name="edge-149"/>
            <p:cNvCxnSpPr/>
            <p:nvPr/>
          </p:nvCxnSpPr>
          <p:spPr>
            <a:xfrm>
              <a:off x="6149340" y="2862072"/>
              <a:ext cx="603504" cy="219456"/>
            </a:xfrm>
            <a:prstGeom prst="line">
              <a:avLst/>
            </a:prstGeom>
            <a:ln w="6350">
              <a:solidFill>
                <a:schemeClr val="tx2">
                  <a:alpha val="30000"/>
                </a:schemeClr>
              </a:solidFill>
            </a:ln>
          </p:spPr>
        </p:cxnSp>
        <p:cxnSp>
          <p:nvCxnSpPr>
            <p:cNvPr id="150" name="edge-150"/>
            <p:cNvCxnSpPr/>
            <p:nvPr/>
          </p:nvCxnSpPr>
          <p:spPr>
            <a:xfrm flipV="1">
              <a:off x="6149340" y="3081528"/>
              <a:ext cx="603504" cy="219456"/>
            </a:xfrm>
            <a:prstGeom prst="line">
              <a:avLst/>
            </a:prstGeom>
            <a:ln w="6350">
              <a:solidFill>
                <a:schemeClr val="tx2">
                  <a:alpha val="30000"/>
                </a:schemeClr>
              </a:solidFill>
            </a:ln>
          </p:spPr>
        </p:cxnSp>
        <p:cxnSp>
          <p:nvCxnSpPr>
            <p:cNvPr id="151" name="edge-151"/>
            <p:cNvCxnSpPr/>
            <p:nvPr/>
          </p:nvCxnSpPr>
          <p:spPr>
            <a:xfrm flipV="1">
              <a:off x="6149340" y="3081528"/>
              <a:ext cx="603504" cy="365760"/>
            </a:xfrm>
            <a:prstGeom prst="line">
              <a:avLst/>
            </a:prstGeom>
            <a:ln w="6350">
              <a:solidFill>
                <a:schemeClr val="tx2">
                  <a:alpha val="30000"/>
                </a:schemeClr>
              </a:solidFill>
            </a:ln>
          </p:spPr>
        </p:cxnSp>
        <p:cxnSp>
          <p:nvCxnSpPr>
            <p:cNvPr id="152" name="edge-152"/>
            <p:cNvCxnSpPr/>
            <p:nvPr/>
          </p:nvCxnSpPr>
          <p:spPr>
            <a:xfrm flipV="1">
              <a:off x="6149340" y="3081528"/>
              <a:ext cx="603504" cy="512064"/>
            </a:xfrm>
            <a:prstGeom prst="line">
              <a:avLst/>
            </a:prstGeom>
            <a:ln w="6350">
              <a:solidFill>
                <a:schemeClr val="tx2">
                  <a:alpha val="30000"/>
                </a:schemeClr>
              </a:solidFill>
            </a:ln>
          </p:spPr>
        </p:cxnSp>
        <p:sp>
          <p:nvSpPr>
            <p:cNvPr id="153" name="node-153"/>
            <p:cNvSpPr/>
            <p:nvPr/>
          </p:nvSpPr>
          <p:spPr>
            <a:xfrm>
              <a:off x="5326380" y="2514600"/>
              <a:ext cx="109728" cy="109728"/>
            </a:xfrm>
            <a:prstGeom prst="ellipse">
              <a:avLst/>
            </a:prstGeom>
            <a:solidFill>
              <a:schemeClr val="tx2"/>
            </a:solidFill>
            <a:ln/>
          </p:spPr>
          <p:txBody>
            <a:bodyPr/>
            <a:lstStyle/>
            <a:p>
              <a:endParaRPr lang="en-US"/>
            </a:p>
          </p:txBody>
        </p:sp>
        <p:sp>
          <p:nvSpPr>
            <p:cNvPr id="154" name="node-154"/>
            <p:cNvSpPr/>
            <p:nvPr/>
          </p:nvSpPr>
          <p:spPr>
            <a:xfrm>
              <a:off x="5326380" y="2660904"/>
              <a:ext cx="109728" cy="109728"/>
            </a:xfrm>
            <a:prstGeom prst="ellipse">
              <a:avLst/>
            </a:prstGeom>
            <a:solidFill>
              <a:schemeClr val="tx2"/>
            </a:solidFill>
            <a:ln/>
          </p:spPr>
          <p:txBody>
            <a:bodyPr/>
            <a:lstStyle/>
            <a:p>
              <a:endParaRPr lang="en-US"/>
            </a:p>
          </p:txBody>
        </p:sp>
        <p:sp>
          <p:nvSpPr>
            <p:cNvPr id="155" name="node-155"/>
            <p:cNvSpPr/>
            <p:nvPr/>
          </p:nvSpPr>
          <p:spPr>
            <a:xfrm>
              <a:off x="5326380" y="2807208"/>
              <a:ext cx="109728" cy="109728"/>
            </a:xfrm>
            <a:prstGeom prst="ellipse">
              <a:avLst/>
            </a:prstGeom>
            <a:solidFill>
              <a:schemeClr val="tx2"/>
            </a:solidFill>
            <a:ln/>
          </p:spPr>
          <p:txBody>
            <a:bodyPr/>
            <a:lstStyle/>
            <a:p>
              <a:endParaRPr lang="en-US"/>
            </a:p>
          </p:txBody>
        </p:sp>
        <p:sp>
          <p:nvSpPr>
            <p:cNvPr id="156" name="node-156"/>
            <p:cNvSpPr/>
            <p:nvPr/>
          </p:nvSpPr>
          <p:spPr>
            <a:xfrm>
              <a:off x="5326380" y="3246120"/>
              <a:ext cx="109728" cy="109728"/>
            </a:xfrm>
            <a:prstGeom prst="ellipse">
              <a:avLst/>
            </a:prstGeom>
            <a:solidFill>
              <a:schemeClr val="tx2"/>
            </a:solidFill>
            <a:ln/>
          </p:spPr>
          <p:txBody>
            <a:bodyPr/>
            <a:lstStyle/>
            <a:p>
              <a:endParaRPr lang="en-US"/>
            </a:p>
          </p:txBody>
        </p:sp>
        <p:sp>
          <p:nvSpPr>
            <p:cNvPr id="157" name="node-157"/>
            <p:cNvSpPr/>
            <p:nvPr/>
          </p:nvSpPr>
          <p:spPr>
            <a:xfrm>
              <a:off x="5326380" y="3392424"/>
              <a:ext cx="109728" cy="109728"/>
            </a:xfrm>
            <a:prstGeom prst="ellipse">
              <a:avLst/>
            </a:prstGeom>
            <a:solidFill>
              <a:schemeClr val="tx2"/>
            </a:solidFill>
            <a:ln/>
          </p:spPr>
          <p:txBody>
            <a:bodyPr/>
            <a:lstStyle/>
            <a:p>
              <a:endParaRPr lang="en-US"/>
            </a:p>
          </p:txBody>
        </p:sp>
        <p:sp>
          <p:nvSpPr>
            <p:cNvPr id="158" name="node-158"/>
            <p:cNvSpPr/>
            <p:nvPr/>
          </p:nvSpPr>
          <p:spPr>
            <a:xfrm>
              <a:off x="5326380" y="3538728"/>
              <a:ext cx="109728" cy="109728"/>
            </a:xfrm>
            <a:prstGeom prst="ellipse">
              <a:avLst/>
            </a:prstGeom>
            <a:solidFill>
              <a:schemeClr val="tx2"/>
            </a:solidFill>
            <a:ln/>
          </p:spPr>
          <p:txBody>
            <a:bodyPr/>
            <a:lstStyle/>
            <a:p>
              <a:endParaRPr lang="en-US"/>
            </a:p>
          </p:txBody>
        </p:sp>
        <p:sp>
          <p:nvSpPr>
            <p:cNvPr id="159" name="ellipsis-159"/>
            <p:cNvSpPr txBox="1"/>
            <p:nvPr/>
          </p:nvSpPr>
          <p:spPr>
            <a:xfrm>
              <a:off x="5198364" y="2971800"/>
              <a:ext cx="365760" cy="219456"/>
            </a:xfrm>
            <a:prstGeom prst="rect">
              <a:avLst/>
            </a:prstGeom>
            <a:noFill/>
            <a:ln/>
          </p:spPr>
          <p:txBody>
            <a:bodyPr wrap="square" lIns="0" tIns="0" rIns="0" bIns="0" rtlCol="0" anchor="ctr"/>
            <a:lstStyle/>
            <a:p>
              <a:pPr marL="0" indent="0" algn="ctr">
                <a:spcBef>
                  <a:spcPts val="0"/>
                </a:spcBef>
                <a:buNone/>
              </a:pPr>
              <a:r>
                <a:rPr lang="en-US" sz="1200" b="1" dirty="0">
                  <a:solidFill>
                    <a:schemeClr val="tx2"/>
                  </a:solidFill>
                </a:rPr>
                <a:t>⋮</a:t>
              </a:r>
            </a:p>
          </p:txBody>
        </p:sp>
        <p:sp>
          <p:nvSpPr>
            <p:cNvPr id="160" name="layer-label-160"/>
            <p:cNvSpPr txBox="1"/>
            <p:nvPr/>
          </p:nvSpPr>
          <p:spPr>
            <a:xfrm>
              <a:off x="5042916" y="3703320"/>
              <a:ext cx="676656"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14 in</a:t>
              </a:r>
            </a:p>
          </p:txBody>
        </p:sp>
        <p:sp>
          <p:nvSpPr>
            <p:cNvPr id="161" name="node-161"/>
            <p:cNvSpPr/>
            <p:nvPr/>
          </p:nvSpPr>
          <p:spPr>
            <a:xfrm>
              <a:off x="6039612" y="2514600"/>
              <a:ext cx="109728" cy="109728"/>
            </a:xfrm>
            <a:prstGeom prst="ellipse">
              <a:avLst/>
            </a:prstGeom>
            <a:solidFill>
              <a:schemeClr val="tx1"/>
            </a:solidFill>
            <a:ln/>
          </p:spPr>
          <p:txBody>
            <a:bodyPr/>
            <a:lstStyle/>
            <a:p>
              <a:endParaRPr lang="en-US"/>
            </a:p>
          </p:txBody>
        </p:sp>
        <p:sp>
          <p:nvSpPr>
            <p:cNvPr id="162" name="node-162"/>
            <p:cNvSpPr/>
            <p:nvPr/>
          </p:nvSpPr>
          <p:spPr>
            <a:xfrm>
              <a:off x="6039612" y="2660904"/>
              <a:ext cx="109728" cy="109728"/>
            </a:xfrm>
            <a:prstGeom prst="ellipse">
              <a:avLst/>
            </a:prstGeom>
            <a:solidFill>
              <a:schemeClr val="tx1"/>
            </a:solidFill>
            <a:ln/>
          </p:spPr>
          <p:txBody>
            <a:bodyPr/>
            <a:lstStyle/>
            <a:p>
              <a:endParaRPr lang="en-US"/>
            </a:p>
          </p:txBody>
        </p:sp>
        <p:sp>
          <p:nvSpPr>
            <p:cNvPr id="163" name="node-163"/>
            <p:cNvSpPr/>
            <p:nvPr/>
          </p:nvSpPr>
          <p:spPr>
            <a:xfrm>
              <a:off x="6039612" y="2807208"/>
              <a:ext cx="109728" cy="109728"/>
            </a:xfrm>
            <a:prstGeom prst="ellipse">
              <a:avLst/>
            </a:prstGeom>
            <a:solidFill>
              <a:schemeClr val="tx1"/>
            </a:solidFill>
            <a:ln/>
          </p:spPr>
          <p:txBody>
            <a:bodyPr/>
            <a:lstStyle/>
            <a:p>
              <a:endParaRPr lang="en-US"/>
            </a:p>
          </p:txBody>
        </p:sp>
        <p:sp>
          <p:nvSpPr>
            <p:cNvPr id="164" name="node-164"/>
            <p:cNvSpPr/>
            <p:nvPr/>
          </p:nvSpPr>
          <p:spPr>
            <a:xfrm>
              <a:off x="6039612" y="3246120"/>
              <a:ext cx="109728" cy="109728"/>
            </a:xfrm>
            <a:prstGeom prst="ellipse">
              <a:avLst/>
            </a:prstGeom>
            <a:solidFill>
              <a:schemeClr val="tx1"/>
            </a:solidFill>
            <a:ln/>
          </p:spPr>
          <p:txBody>
            <a:bodyPr/>
            <a:lstStyle/>
            <a:p>
              <a:endParaRPr lang="en-US"/>
            </a:p>
          </p:txBody>
        </p:sp>
        <p:sp>
          <p:nvSpPr>
            <p:cNvPr id="165" name="node-165"/>
            <p:cNvSpPr/>
            <p:nvPr/>
          </p:nvSpPr>
          <p:spPr>
            <a:xfrm>
              <a:off x="6039612" y="3392424"/>
              <a:ext cx="109728" cy="109728"/>
            </a:xfrm>
            <a:prstGeom prst="ellipse">
              <a:avLst/>
            </a:prstGeom>
            <a:solidFill>
              <a:schemeClr val="tx1"/>
            </a:solidFill>
            <a:ln/>
          </p:spPr>
          <p:txBody>
            <a:bodyPr/>
            <a:lstStyle/>
            <a:p>
              <a:endParaRPr lang="en-US"/>
            </a:p>
          </p:txBody>
        </p:sp>
        <p:sp>
          <p:nvSpPr>
            <p:cNvPr id="166" name="node-166"/>
            <p:cNvSpPr/>
            <p:nvPr/>
          </p:nvSpPr>
          <p:spPr>
            <a:xfrm>
              <a:off x="6039612" y="3538728"/>
              <a:ext cx="109728" cy="109728"/>
            </a:xfrm>
            <a:prstGeom prst="ellipse">
              <a:avLst/>
            </a:prstGeom>
            <a:solidFill>
              <a:schemeClr val="tx1"/>
            </a:solidFill>
            <a:ln/>
          </p:spPr>
          <p:txBody>
            <a:bodyPr/>
            <a:lstStyle/>
            <a:p>
              <a:endParaRPr lang="en-US"/>
            </a:p>
          </p:txBody>
        </p:sp>
        <p:sp>
          <p:nvSpPr>
            <p:cNvPr id="167" name="ellipsis-167"/>
            <p:cNvSpPr txBox="1"/>
            <p:nvPr/>
          </p:nvSpPr>
          <p:spPr>
            <a:xfrm>
              <a:off x="5911596" y="2971800"/>
              <a:ext cx="365760" cy="219456"/>
            </a:xfrm>
            <a:prstGeom prst="rect">
              <a:avLst/>
            </a:prstGeom>
            <a:noFill/>
            <a:ln/>
          </p:spPr>
          <p:txBody>
            <a:bodyPr wrap="square" lIns="0" tIns="0" rIns="0" bIns="0" rtlCol="0" anchor="ctr"/>
            <a:lstStyle/>
            <a:p>
              <a:pPr marL="0" indent="0" algn="ctr">
                <a:spcBef>
                  <a:spcPts val="0"/>
                </a:spcBef>
                <a:buNone/>
              </a:pPr>
              <a:r>
                <a:rPr lang="en-US" sz="1200" b="1" dirty="0">
                  <a:solidFill>
                    <a:schemeClr val="tx2"/>
                  </a:solidFill>
                </a:rPr>
                <a:t>⋮</a:t>
              </a:r>
            </a:p>
          </p:txBody>
        </p:sp>
        <p:sp>
          <p:nvSpPr>
            <p:cNvPr id="168" name="layer-label-168"/>
            <p:cNvSpPr txBox="1"/>
            <p:nvPr/>
          </p:nvSpPr>
          <p:spPr>
            <a:xfrm>
              <a:off x="5756148" y="3703320"/>
              <a:ext cx="676656"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32</a:t>
              </a:r>
            </a:p>
          </p:txBody>
        </p:sp>
        <p:sp>
          <p:nvSpPr>
            <p:cNvPr id="169" name="node-169"/>
            <p:cNvSpPr/>
            <p:nvPr/>
          </p:nvSpPr>
          <p:spPr>
            <a:xfrm>
              <a:off x="6752844" y="3026664"/>
              <a:ext cx="109728" cy="109728"/>
            </a:xfrm>
            <a:prstGeom prst="ellipse">
              <a:avLst/>
            </a:prstGeom>
            <a:solidFill>
              <a:schemeClr val="accent1"/>
            </a:solidFill>
            <a:ln/>
          </p:spPr>
          <p:txBody>
            <a:bodyPr/>
            <a:lstStyle/>
            <a:p>
              <a:endParaRPr lang="en-US"/>
            </a:p>
          </p:txBody>
        </p:sp>
        <p:sp>
          <p:nvSpPr>
            <p:cNvPr id="170" name="layer-label-170"/>
            <p:cNvSpPr txBox="1"/>
            <p:nvPr/>
          </p:nvSpPr>
          <p:spPr>
            <a:xfrm>
              <a:off x="6469380" y="3703320"/>
              <a:ext cx="676656"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1 out</a:t>
              </a:r>
            </a:p>
          </p:txBody>
        </p:sp>
        <p:sp>
          <p:nvSpPr>
            <p:cNvPr id="171" name="card-genes-171"/>
            <p:cNvSpPr txBox="1"/>
            <p:nvPr/>
          </p:nvSpPr>
          <p:spPr>
            <a:xfrm>
              <a:off x="4572000" y="3995928"/>
              <a:ext cx="3044952" cy="384048"/>
            </a:xfrm>
            <a:prstGeom prst="rect">
              <a:avLst/>
            </a:prstGeom>
            <a:noFill/>
            <a:ln/>
          </p:spPr>
          <p:txBody>
            <a:bodyPr wrap="square" lIns="0" tIns="0" rIns="0" bIns="0" rtlCol="0" anchor="b"/>
            <a:lstStyle/>
            <a:p>
              <a:pPr marL="0" indent="0" algn="l">
                <a:spcBef>
                  <a:spcPts val="0"/>
                </a:spcBef>
                <a:buNone/>
              </a:pPr>
              <a:r>
                <a:rPr lang="en-US" sz="2400" b="1" dirty="0">
                  <a:solidFill>
                    <a:schemeClr val="accent1"/>
                  </a:solidFill>
                </a:rPr>
                <a:t>513</a:t>
              </a:r>
              <a:r>
                <a:rPr lang="en-US" sz="1300" dirty="0">
                  <a:solidFill>
                    <a:schemeClr val="tx2"/>
                  </a:solidFill>
                </a:rPr>
                <a:t>  genes</a:t>
              </a:r>
            </a:p>
          </p:txBody>
        </p:sp>
        <p:sp>
          <p:nvSpPr>
            <p:cNvPr id="172" name="card-math-172"/>
            <p:cNvSpPr txBox="1"/>
            <p:nvPr/>
          </p:nvSpPr>
          <p:spPr>
            <a:xfrm>
              <a:off x="4572000" y="4398264"/>
              <a:ext cx="3044952" cy="219456"/>
            </a:xfrm>
            <a:prstGeom prst="rect">
              <a:avLst/>
            </a:prstGeom>
            <a:noFill/>
            <a:ln/>
          </p:spPr>
          <p:txBody>
            <a:bodyPr wrap="square" lIns="0" tIns="0" rIns="0" bIns="0" rtlCol="0" anchor="t"/>
            <a:lstStyle/>
            <a:p>
              <a:pPr marL="0" indent="0" algn="l">
                <a:spcBef>
                  <a:spcPts val="0"/>
                </a:spcBef>
                <a:buNone/>
              </a:pPr>
              <a:r>
                <a:rPr lang="en-US" sz="1100" dirty="0">
                  <a:solidFill>
                    <a:schemeClr val="tx2"/>
                  </a:solidFill>
                </a:rPr>
                <a:t>480 + 33  (one term per layer)</a:t>
              </a:r>
            </a:p>
          </p:txBody>
        </p:sp>
      </p:grpSp>
      <p:grpSp>
        <p:nvGrpSpPr>
          <p:cNvPr id="327" name="card-deeper"/>
          <p:cNvGrpSpPr/>
          <p:nvPr/>
        </p:nvGrpSpPr>
        <p:grpSpPr>
          <a:xfrm>
            <a:off x="8138160" y="1600200"/>
            <a:ext cx="3502152" cy="3108960"/>
            <a:chOff x="8138160" y="1600200"/>
            <a:chExt cx="3502152" cy="3108960"/>
          </a:xfrm>
        </p:grpSpPr>
        <p:sp>
          <p:nvSpPr>
            <p:cNvPr id="174" name="card-174"/>
            <p:cNvSpPr/>
            <p:nvPr/>
          </p:nvSpPr>
          <p:spPr>
            <a:xfrm>
              <a:off x="8138160" y="1600200"/>
              <a:ext cx="3502152" cy="3108960"/>
            </a:xfrm>
            <a:prstGeom prst="roundRect">
              <a:avLst>
                <a:gd name="adj" fmla="val 5000"/>
              </a:avLst>
            </a:prstGeom>
            <a:solidFill>
              <a:schemeClr val="bg2"/>
            </a:solidFill>
            <a:ln/>
          </p:spPr>
          <p:txBody>
            <a:bodyPr/>
            <a:lstStyle/>
            <a:p>
              <a:endParaRPr lang="en-US"/>
            </a:p>
          </p:txBody>
        </p:sp>
        <p:sp>
          <p:nvSpPr>
            <p:cNvPr id="175" name="card-title-175"/>
            <p:cNvSpPr txBox="1"/>
            <p:nvPr/>
          </p:nvSpPr>
          <p:spPr>
            <a:xfrm>
              <a:off x="8366760" y="1783080"/>
              <a:ext cx="3044952" cy="274320"/>
            </a:xfrm>
            <a:prstGeom prst="rect">
              <a:avLst/>
            </a:prstGeom>
            <a:noFill/>
            <a:ln/>
          </p:spPr>
          <p:txBody>
            <a:bodyPr wrap="square" lIns="0" tIns="0" rIns="0" bIns="0" rtlCol="0" anchor="t"/>
            <a:lstStyle/>
            <a:p>
              <a:pPr marL="0" indent="0" algn="l">
                <a:spcBef>
                  <a:spcPts val="0"/>
                </a:spcBef>
                <a:buNone/>
              </a:pPr>
              <a:r>
                <a:rPr lang="en-US" sz="1600" b="1" dirty="0">
                  <a:solidFill>
                    <a:schemeClr val="tx1"/>
                  </a:solidFill>
                </a:rPr>
                <a:t>Deeper</a:t>
              </a:r>
            </a:p>
          </p:txBody>
        </p:sp>
        <p:sp>
          <p:nvSpPr>
            <p:cNvPr id="176" name="card-flag-176"/>
            <p:cNvSpPr txBox="1"/>
            <p:nvPr/>
          </p:nvSpPr>
          <p:spPr>
            <a:xfrm>
              <a:off x="8366760" y="2103120"/>
              <a:ext cx="3044952" cy="274320"/>
            </a:xfrm>
            <a:prstGeom prst="rect">
              <a:avLst/>
            </a:prstGeom>
            <a:noFill/>
            <a:ln/>
          </p:spPr>
          <p:txBody>
            <a:bodyPr wrap="square" lIns="0" tIns="0" rIns="0" bIns="0" rtlCol="0" anchor="t"/>
            <a:lstStyle/>
            <a:p>
              <a:pPr marL="0" indent="0" algn="l">
                <a:spcBef>
                  <a:spcPts val="0"/>
                </a:spcBef>
                <a:buNone/>
              </a:pPr>
              <a:r>
                <a:rPr lang="en-US" sz="1400" dirty="0">
                  <a:solidFill>
                    <a:schemeClr val="accent1"/>
                  </a:solidFill>
                  <a:latin typeface="Courier New" pitchFamily="34" charset="0"/>
                  <a:ea typeface="Courier New" pitchFamily="34" charset="-122"/>
                  <a:cs typeface="Courier New" pitchFamily="34" charset="-120"/>
                </a:rPr>
                <a:t>--hidden 8 8</a:t>
              </a:r>
            </a:p>
          </p:txBody>
        </p:sp>
        <p:cxnSp>
          <p:nvCxnSpPr>
            <p:cNvPr id="177" name="edge-177"/>
            <p:cNvCxnSpPr/>
            <p:nvPr/>
          </p:nvCxnSpPr>
          <p:spPr>
            <a:xfrm>
              <a:off x="8874252" y="2569464"/>
              <a:ext cx="603504" cy="16002"/>
            </a:xfrm>
            <a:prstGeom prst="line">
              <a:avLst/>
            </a:prstGeom>
            <a:ln w="6350">
              <a:solidFill>
                <a:schemeClr val="tx2">
                  <a:alpha val="30000"/>
                </a:schemeClr>
              </a:solidFill>
            </a:ln>
          </p:spPr>
        </p:cxnSp>
        <p:cxnSp>
          <p:nvCxnSpPr>
            <p:cNvPr id="178" name="edge-178"/>
            <p:cNvCxnSpPr/>
            <p:nvPr/>
          </p:nvCxnSpPr>
          <p:spPr>
            <a:xfrm>
              <a:off x="8874252" y="2569464"/>
              <a:ext cx="603504" cy="157734"/>
            </a:xfrm>
            <a:prstGeom prst="line">
              <a:avLst/>
            </a:prstGeom>
            <a:ln w="6350">
              <a:solidFill>
                <a:schemeClr val="tx2">
                  <a:alpha val="30000"/>
                </a:schemeClr>
              </a:solidFill>
            </a:ln>
          </p:spPr>
        </p:cxnSp>
        <p:cxnSp>
          <p:nvCxnSpPr>
            <p:cNvPr id="179" name="edge-179"/>
            <p:cNvCxnSpPr/>
            <p:nvPr/>
          </p:nvCxnSpPr>
          <p:spPr>
            <a:xfrm>
              <a:off x="8874252" y="2569464"/>
              <a:ext cx="603504" cy="299466"/>
            </a:xfrm>
            <a:prstGeom prst="line">
              <a:avLst/>
            </a:prstGeom>
            <a:ln w="6350">
              <a:solidFill>
                <a:schemeClr val="tx2">
                  <a:alpha val="30000"/>
                </a:schemeClr>
              </a:solidFill>
            </a:ln>
          </p:spPr>
        </p:cxnSp>
        <p:cxnSp>
          <p:nvCxnSpPr>
            <p:cNvPr id="180" name="edge-180"/>
            <p:cNvCxnSpPr/>
            <p:nvPr/>
          </p:nvCxnSpPr>
          <p:spPr>
            <a:xfrm>
              <a:off x="8874252" y="2569464"/>
              <a:ext cx="603504" cy="441198"/>
            </a:xfrm>
            <a:prstGeom prst="line">
              <a:avLst/>
            </a:prstGeom>
            <a:ln w="6350">
              <a:solidFill>
                <a:schemeClr val="tx2">
                  <a:alpha val="30000"/>
                </a:schemeClr>
              </a:solidFill>
            </a:ln>
          </p:spPr>
        </p:cxnSp>
        <p:cxnSp>
          <p:nvCxnSpPr>
            <p:cNvPr id="181" name="edge-181"/>
            <p:cNvCxnSpPr/>
            <p:nvPr/>
          </p:nvCxnSpPr>
          <p:spPr>
            <a:xfrm>
              <a:off x="8874252" y="2569464"/>
              <a:ext cx="603504" cy="582930"/>
            </a:xfrm>
            <a:prstGeom prst="line">
              <a:avLst/>
            </a:prstGeom>
            <a:ln w="6350">
              <a:solidFill>
                <a:schemeClr val="tx2">
                  <a:alpha val="30000"/>
                </a:schemeClr>
              </a:solidFill>
            </a:ln>
          </p:spPr>
        </p:cxnSp>
        <p:cxnSp>
          <p:nvCxnSpPr>
            <p:cNvPr id="182" name="edge-182"/>
            <p:cNvCxnSpPr/>
            <p:nvPr/>
          </p:nvCxnSpPr>
          <p:spPr>
            <a:xfrm>
              <a:off x="8874252" y="2569464"/>
              <a:ext cx="603504" cy="724662"/>
            </a:xfrm>
            <a:prstGeom prst="line">
              <a:avLst/>
            </a:prstGeom>
            <a:ln w="6350">
              <a:solidFill>
                <a:schemeClr val="tx2">
                  <a:alpha val="30000"/>
                </a:schemeClr>
              </a:solidFill>
            </a:ln>
          </p:spPr>
        </p:cxnSp>
        <p:cxnSp>
          <p:nvCxnSpPr>
            <p:cNvPr id="183" name="edge-183"/>
            <p:cNvCxnSpPr/>
            <p:nvPr/>
          </p:nvCxnSpPr>
          <p:spPr>
            <a:xfrm>
              <a:off x="8874252" y="2569464"/>
              <a:ext cx="603504" cy="866394"/>
            </a:xfrm>
            <a:prstGeom prst="line">
              <a:avLst/>
            </a:prstGeom>
            <a:ln w="6350">
              <a:solidFill>
                <a:schemeClr val="tx2">
                  <a:alpha val="30000"/>
                </a:schemeClr>
              </a:solidFill>
            </a:ln>
          </p:spPr>
        </p:cxnSp>
        <p:cxnSp>
          <p:nvCxnSpPr>
            <p:cNvPr id="184" name="edge-184"/>
            <p:cNvCxnSpPr/>
            <p:nvPr/>
          </p:nvCxnSpPr>
          <p:spPr>
            <a:xfrm>
              <a:off x="8874252" y="2569464"/>
              <a:ext cx="603504" cy="1008126"/>
            </a:xfrm>
            <a:prstGeom prst="line">
              <a:avLst/>
            </a:prstGeom>
            <a:ln w="6350">
              <a:solidFill>
                <a:schemeClr val="tx2">
                  <a:alpha val="30000"/>
                </a:schemeClr>
              </a:solidFill>
            </a:ln>
          </p:spPr>
        </p:cxnSp>
        <p:cxnSp>
          <p:nvCxnSpPr>
            <p:cNvPr id="185" name="edge-185"/>
            <p:cNvCxnSpPr/>
            <p:nvPr/>
          </p:nvCxnSpPr>
          <p:spPr>
            <a:xfrm flipV="1">
              <a:off x="8874252" y="2585466"/>
              <a:ext cx="603504" cy="130302"/>
            </a:xfrm>
            <a:prstGeom prst="line">
              <a:avLst/>
            </a:prstGeom>
            <a:ln w="6350">
              <a:solidFill>
                <a:schemeClr val="tx2">
                  <a:alpha val="30000"/>
                </a:schemeClr>
              </a:solidFill>
            </a:ln>
          </p:spPr>
        </p:cxnSp>
        <p:cxnSp>
          <p:nvCxnSpPr>
            <p:cNvPr id="186" name="edge-186"/>
            <p:cNvCxnSpPr/>
            <p:nvPr/>
          </p:nvCxnSpPr>
          <p:spPr>
            <a:xfrm>
              <a:off x="8874252" y="2715768"/>
              <a:ext cx="603504" cy="11430"/>
            </a:xfrm>
            <a:prstGeom prst="line">
              <a:avLst/>
            </a:prstGeom>
            <a:ln w="6350">
              <a:solidFill>
                <a:schemeClr val="tx2">
                  <a:alpha val="30000"/>
                </a:schemeClr>
              </a:solidFill>
            </a:ln>
          </p:spPr>
        </p:cxnSp>
        <p:cxnSp>
          <p:nvCxnSpPr>
            <p:cNvPr id="187" name="edge-187"/>
            <p:cNvCxnSpPr/>
            <p:nvPr/>
          </p:nvCxnSpPr>
          <p:spPr>
            <a:xfrm>
              <a:off x="8874252" y="2715768"/>
              <a:ext cx="603504" cy="153162"/>
            </a:xfrm>
            <a:prstGeom prst="line">
              <a:avLst/>
            </a:prstGeom>
            <a:ln w="6350">
              <a:solidFill>
                <a:schemeClr val="tx2">
                  <a:alpha val="30000"/>
                </a:schemeClr>
              </a:solidFill>
            </a:ln>
          </p:spPr>
        </p:cxnSp>
        <p:cxnSp>
          <p:nvCxnSpPr>
            <p:cNvPr id="188" name="edge-188"/>
            <p:cNvCxnSpPr/>
            <p:nvPr/>
          </p:nvCxnSpPr>
          <p:spPr>
            <a:xfrm>
              <a:off x="8874252" y="2715768"/>
              <a:ext cx="603504" cy="294894"/>
            </a:xfrm>
            <a:prstGeom prst="line">
              <a:avLst/>
            </a:prstGeom>
            <a:ln w="6350">
              <a:solidFill>
                <a:schemeClr val="tx2">
                  <a:alpha val="30000"/>
                </a:schemeClr>
              </a:solidFill>
            </a:ln>
          </p:spPr>
        </p:cxnSp>
        <p:cxnSp>
          <p:nvCxnSpPr>
            <p:cNvPr id="189" name="edge-189"/>
            <p:cNvCxnSpPr/>
            <p:nvPr/>
          </p:nvCxnSpPr>
          <p:spPr>
            <a:xfrm>
              <a:off x="8874252" y="2715768"/>
              <a:ext cx="603504" cy="436626"/>
            </a:xfrm>
            <a:prstGeom prst="line">
              <a:avLst/>
            </a:prstGeom>
            <a:ln w="6350">
              <a:solidFill>
                <a:schemeClr val="tx2">
                  <a:alpha val="30000"/>
                </a:schemeClr>
              </a:solidFill>
            </a:ln>
          </p:spPr>
        </p:cxnSp>
        <p:cxnSp>
          <p:nvCxnSpPr>
            <p:cNvPr id="190" name="edge-190"/>
            <p:cNvCxnSpPr/>
            <p:nvPr/>
          </p:nvCxnSpPr>
          <p:spPr>
            <a:xfrm>
              <a:off x="8874252" y="2715768"/>
              <a:ext cx="603504" cy="578358"/>
            </a:xfrm>
            <a:prstGeom prst="line">
              <a:avLst/>
            </a:prstGeom>
            <a:ln w="6350">
              <a:solidFill>
                <a:schemeClr val="tx2">
                  <a:alpha val="30000"/>
                </a:schemeClr>
              </a:solidFill>
            </a:ln>
          </p:spPr>
        </p:cxnSp>
        <p:cxnSp>
          <p:nvCxnSpPr>
            <p:cNvPr id="191" name="edge-191"/>
            <p:cNvCxnSpPr/>
            <p:nvPr/>
          </p:nvCxnSpPr>
          <p:spPr>
            <a:xfrm>
              <a:off x="8874252" y="2715768"/>
              <a:ext cx="603504" cy="720090"/>
            </a:xfrm>
            <a:prstGeom prst="line">
              <a:avLst/>
            </a:prstGeom>
            <a:ln w="6350">
              <a:solidFill>
                <a:schemeClr val="tx2">
                  <a:alpha val="30000"/>
                </a:schemeClr>
              </a:solidFill>
            </a:ln>
          </p:spPr>
        </p:cxnSp>
        <p:cxnSp>
          <p:nvCxnSpPr>
            <p:cNvPr id="192" name="edge-192"/>
            <p:cNvCxnSpPr/>
            <p:nvPr/>
          </p:nvCxnSpPr>
          <p:spPr>
            <a:xfrm>
              <a:off x="8874252" y="2715768"/>
              <a:ext cx="603504" cy="861822"/>
            </a:xfrm>
            <a:prstGeom prst="line">
              <a:avLst/>
            </a:prstGeom>
            <a:ln w="6350">
              <a:solidFill>
                <a:schemeClr val="tx2">
                  <a:alpha val="30000"/>
                </a:schemeClr>
              </a:solidFill>
            </a:ln>
          </p:spPr>
        </p:cxnSp>
        <p:cxnSp>
          <p:nvCxnSpPr>
            <p:cNvPr id="193" name="edge-193"/>
            <p:cNvCxnSpPr/>
            <p:nvPr/>
          </p:nvCxnSpPr>
          <p:spPr>
            <a:xfrm flipV="1">
              <a:off x="8874252" y="2585466"/>
              <a:ext cx="603504" cy="276606"/>
            </a:xfrm>
            <a:prstGeom prst="line">
              <a:avLst/>
            </a:prstGeom>
            <a:ln w="6350">
              <a:solidFill>
                <a:schemeClr val="tx2">
                  <a:alpha val="30000"/>
                </a:schemeClr>
              </a:solidFill>
            </a:ln>
          </p:spPr>
        </p:cxnSp>
        <p:cxnSp>
          <p:nvCxnSpPr>
            <p:cNvPr id="194" name="edge-194"/>
            <p:cNvCxnSpPr/>
            <p:nvPr/>
          </p:nvCxnSpPr>
          <p:spPr>
            <a:xfrm flipV="1">
              <a:off x="8874252" y="2727198"/>
              <a:ext cx="603504" cy="134874"/>
            </a:xfrm>
            <a:prstGeom prst="line">
              <a:avLst/>
            </a:prstGeom>
            <a:ln w="6350">
              <a:solidFill>
                <a:schemeClr val="tx2">
                  <a:alpha val="30000"/>
                </a:schemeClr>
              </a:solidFill>
            </a:ln>
          </p:spPr>
        </p:cxnSp>
        <p:cxnSp>
          <p:nvCxnSpPr>
            <p:cNvPr id="195" name="edge-195"/>
            <p:cNvCxnSpPr/>
            <p:nvPr/>
          </p:nvCxnSpPr>
          <p:spPr>
            <a:xfrm>
              <a:off x="8874252" y="2862072"/>
              <a:ext cx="603504" cy="6858"/>
            </a:xfrm>
            <a:prstGeom prst="line">
              <a:avLst/>
            </a:prstGeom>
            <a:ln w="6350">
              <a:solidFill>
                <a:schemeClr val="tx2">
                  <a:alpha val="30000"/>
                </a:schemeClr>
              </a:solidFill>
            </a:ln>
          </p:spPr>
        </p:cxnSp>
        <p:cxnSp>
          <p:nvCxnSpPr>
            <p:cNvPr id="196" name="edge-196"/>
            <p:cNvCxnSpPr/>
            <p:nvPr/>
          </p:nvCxnSpPr>
          <p:spPr>
            <a:xfrm>
              <a:off x="8874252" y="2862072"/>
              <a:ext cx="603504" cy="148590"/>
            </a:xfrm>
            <a:prstGeom prst="line">
              <a:avLst/>
            </a:prstGeom>
            <a:ln w="6350">
              <a:solidFill>
                <a:schemeClr val="tx2">
                  <a:alpha val="30000"/>
                </a:schemeClr>
              </a:solidFill>
            </a:ln>
          </p:spPr>
        </p:cxnSp>
        <p:cxnSp>
          <p:nvCxnSpPr>
            <p:cNvPr id="197" name="edge-197"/>
            <p:cNvCxnSpPr/>
            <p:nvPr/>
          </p:nvCxnSpPr>
          <p:spPr>
            <a:xfrm>
              <a:off x="8874252" y="2862072"/>
              <a:ext cx="603504" cy="290322"/>
            </a:xfrm>
            <a:prstGeom prst="line">
              <a:avLst/>
            </a:prstGeom>
            <a:ln w="6350">
              <a:solidFill>
                <a:schemeClr val="tx2">
                  <a:alpha val="30000"/>
                </a:schemeClr>
              </a:solidFill>
            </a:ln>
          </p:spPr>
        </p:cxnSp>
        <p:cxnSp>
          <p:nvCxnSpPr>
            <p:cNvPr id="198" name="edge-198"/>
            <p:cNvCxnSpPr/>
            <p:nvPr/>
          </p:nvCxnSpPr>
          <p:spPr>
            <a:xfrm>
              <a:off x="8874252" y="2862072"/>
              <a:ext cx="603504" cy="432054"/>
            </a:xfrm>
            <a:prstGeom prst="line">
              <a:avLst/>
            </a:prstGeom>
            <a:ln w="6350">
              <a:solidFill>
                <a:schemeClr val="tx2">
                  <a:alpha val="30000"/>
                </a:schemeClr>
              </a:solidFill>
            </a:ln>
          </p:spPr>
        </p:cxnSp>
        <p:cxnSp>
          <p:nvCxnSpPr>
            <p:cNvPr id="199" name="edge-199"/>
            <p:cNvCxnSpPr/>
            <p:nvPr/>
          </p:nvCxnSpPr>
          <p:spPr>
            <a:xfrm>
              <a:off x="8874252" y="2862072"/>
              <a:ext cx="603504" cy="573786"/>
            </a:xfrm>
            <a:prstGeom prst="line">
              <a:avLst/>
            </a:prstGeom>
            <a:ln w="6350">
              <a:solidFill>
                <a:schemeClr val="tx2">
                  <a:alpha val="30000"/>
                </a:schemeClr>
              </a:solidFill>
            </a:ln>
          </p:spPr>
        </p:cxnSp>
        <p:cxnSp>
          <p:nvCxnSpPr>
            <p:cNvPr id="200" name="edge-200"/>
            <p:cNvCxnSpPr/>
            <p:nvPr/>
          </p:nvCxnSpPr>
          <p:spPr>
            <a:xfrm>
              <a:off x="8874252" y="2862072"/>
              <a:ext cx="603504" cy="715518"/>
            </a:xfrm>
            <a:prstGeom prst="line">
              <a:avLst/>
            </a:prstGeom>
            <a:ln w="6350">
              <a:solidFill>
                <a:schemeClr val="tx2">
                  <a:alpha val="30000"/>
                </a:schemeClr>
              </a:solidFill>
            </a:ln>
          </p:spPr>
        </p:cxnSp>
        <p:cxnSp>
          <p:nvCxnSpPr>
            <p:cNvPr id="201" name="edge-201"/>
            <p:cNvCxnSpPr/>
            <p:nvPr/>
          </p:nvCxnSpPr>
          <p:spPr>
            <a:xfrm flipV="1">
              <a:off x="8874252" y="2585466"/>
              <a:ext cx="603504" cy="715518"/>
            </a:xfrm>
            <a:prstGeom prst="line">
              <a:avLst/>
            </a:prstGeom>
            <a:ln w="6350">
              <a:solidFill>
                <a:schemeClr val="tx2">
                  <a:alpha val="30000"/>
                </a:schemeClr>
              </a:solidFill>
            </a:ln>
          </p:spPr>
        </p:cxnSp>
        <p:cxnSp>
          <p:nvCxnSpPr>
            <p:cNvPr id="202" name="edge-202"/>
            <p:cNvCxnSpPr/>
            <p:nvPr/>
          </p:nvCxnSpPr>
          <p:spPr>
            <a:xfrm flipV="1">
              <a:off x="8874252" y="2727198"/>
              <a:ext cx="603504" cy="573786"/>
            </a:xfrm>
            <a:prstGeom prst="line">
              <a:avLst/>
            </a:prstGeom>
            <a:ln w="6350">
              <a:solidFill>
                <a:schemeClr val="tx2">
                  <a:alpha val="30000"/>
                </a:schemeClr>
              </a:solidFill>
            </a:ln>
          </p:spPr>
        </p:cxnSp>
        <p:cxnSp>
          <p:nvCxnSpPr>
            <p:cNvPr id="203" name="edge-203"/>
            <p:cNvCxnSpPr/>
            <p:nvPr/>
          </p:nvCxnSpPr>
          <p:spPr>
            <a:xfrm flipV="1">
              <a:off x="8874252" y="2868930"/>
              <a:ext cx="603504" cy="432054"/>
            </a:xfrm>
            <a:prstGeom prst="line">
              <a:avLst/>
            </a:prstGeom>
            <a:ln w="6350">
              <a:solidFill>
                <a:schemeClr val="tx2">
                  <a:alpha val="30000"/>
                </a:schemeClr>
              </a:solidFill>
            </a:ln>
          </p:spPr>
        </p:cxnSp>
        <p:cxnSp>
          <p:nvCxnSpPr>
            <p:cNvPr id="204" name="edge-204"/>
            <p:cNvCxnSpPr/>
            <p:nvPr/>
          </p:nvCxnSpPr>
          <p:spPr>
            <a:xfrm flipV="1">
              <a:off x="8874252" y="3010662"/>
              <a:ext cx="603504" cy="290322"/>
            </a:xfrm>
            <a:prstGeom prst="line">
              <a:avLst/>
            </a:prstGeom>
            <a:ln w="6350">
              <a:solidFill>
                <a:schemeClr val="tx2">
                  <a:alpha val="30000"/>
                </a:schemeClr>
              </a:solidFill>
            </a:ln>
          </p:spPr>
        </p:cxnSp>
        <p:cxnSp>
          <p:nvCxnSpPr>
            <p:cNvPr id="205" name="edge-205"/>
            <p:cNvCxnSpPr/>
            <p:nvPr/>
          </p:nvCxnSpPr>
          <p:spPr>
            <a:xfrm flipV="1">
              <a:off x="8874252" y="3152394"/>
              <a:ext cx="603504" cy="148590"/>
            </a:xfrm>
            <a:prstGeom prst="line">
              <a:avLst/>
            </a:prstGeom>
            <a:ln w="6350">
              <a:solidFill>
                <a:schemeClr val="tx2">
                  <a:alpha val="30000"/>
                </a:schemeClr>
              </a:solidFill>
            </a:ln>
          </p:spPr>
        </p:cxnSp>
        <p:cxnSp>
          <p:nvCxnSpPr>
            <p:cNvPr id="206" name="edge-206"/>
            <p:cNvCxnSpPr/>
            <p:nvPr/>
          </p:nvCxnSpPr>
          <p:spPr>
            <a:xfrm flipV="1">
              <a:off x="8874252" y="3294126"/>
              <a:ext cx="603504" cy="6858"/>
            </a:xfrm>
            <a:prstGeom prst="line">
              <a:avLst/>
            </a:prstGeom>
            <a:ln w="6350">
              <a:solidFill>
                <a:schemeClr val="tx2">
                  <a:alpha val="30000"/>
                </a:schemeClr>
              </a:solidFill>
            </a:ln>
          </p:spPr>
        </p:cxnSp>
        <p:cxnSp>
          <p:nvCxnSpPr>
            <p:cNvPr id="207" name="edge-207"/>
            <p:cNvCxnSpPr/>
            <p:nvPr/>
          </p:nvCxnSpPr>
          <p:spPr>
            <a:xfrm>
              <a:off x="8874252" y="3300984"/>
              <a:ext cx="603504" cy="134874"/>
            </a:xfrm>
            <a:prstGeom prst="line">
              <a:avLst/>
            </a:prstGeom>
            <a:ln w="6350">
              <a:solidFill>
                <a:schemeClr val="tx2">
                  <a:alpha val="30000"/>
                </a:schemeClr>
              </a:solidFill>
            </a:ln>
          </p:spPr>
        </p:cxnSp>
        <p:cxnSp>
          <p:nvCxnSpPr>
            <p:cNvPr id="208" name="edge-208"/>
            <p:cNvCxnSpPr/>
            <p:nvPr/>
          </p:nvCxnSpPr>
          <p:spPr>
            <a:xfrm>
              <a:off x="8874252" y="3300984"/>
              <a:ext cx="603504" cy="276606"/>
            </a:xfrm>
            <a:prstGeom prst="line">
              <a:avLst/>
            </a:prstGeom>
            <a:ln w="6350">
              <a:solidFill>
                <a:schemeClr val="tx2">
                  <a:alpha val="30000"/>
                </a:schemeClr>
              </a:solidFill>
            </a:ln>
          </p:spPr>
        </p:cxnSp>
        <p:cxnSp>
          <p:nvCxnSpPr>
            <p:cNvPr id="209" name="edge-209"/>
            <p:cNvCxnSpPr/>
            <p:nvPr/>
          </p:nvCxnSpPr>
          <p:spPr>
            <a:xfrm flipV="1">
              <a:off x="8874252" y="2585466"/>
              <a:ext cx="603504" cy="861822"/>
            </a:xfrm>
            <a:prstGeom prst="line">
              <a:avLst/>
            </a:prstGeom>
            <a:ln w="6350">
              <a:solidFill>
                <a:schemeClr val="tx2">
                  <a:alpha val="30000"/>
                </a:schemeClr>
              </a:solidFill>
            </a:ln>
          </p:spPr>
        </p:cxnSp>
        <p:cxnSp>
          <p:nvCxnSpPr>
            <p:cNvPr id="210" name="edge-210"/>
            <p:cNvCxnSpPr/>
            <p:nvPr/>
          </p:nvCxnSpPr>
          <p:spPr>
            <a:xfrm flipV="1">
              <a:off x="8874252" y="2727198"/>
              <a:ext cx="603504" cy="720090"/>
            </a:xfrm>
            <a:prstGeom prst="line">
              <a:avLst/>
            </a:prstGeom>
            <a:ln w="6350">
              <a:solidFill>
                <a:schemeClr val="tx2">
                  <a:alpha val="30000"/>
                </a:schemeClr>
              </a:solidFill>
            </a:ln>
          </p:spPr>
        </p:cxnSp>
        <p:cxnSp>
          <p:nvCxnSpPr>
            <p:cNvPr id="211" name="edge-211"/>
            <p:cNvCxnSpPr/>
            <p:nvPr/>
          </p:nvCxnSpPr>
          <p:spPr>
            <a:xfrm flipV="1">
              <a:off x="8874252" y="2868930"/>
              <a:ext cx="603504" cy="578358"/>
            </a:xfrm>
            <a:prstGeom prst="line">
              <a:avLst/>
            </a:prstGeom>
            <a:ln w="6350">
              <a:solidFill>
                <a:schemeClr val="tx2">
                  <a:alpha val="30000"/>
                </a:schemeClr>
              </a:solidFill>
            </a:ln>
          </p:spPr>
        </p:cxnSp>
        <p:cxnSp>
          <p:nvCxnSpPr>
            <p:cNvPr id="212" name="edge-212"/>
            <p:cNvCxnSpPr/>
            <p:nvPr/>
          </p:nvCxnSpPr>
          <p:spPr>
            <a:xfrm flipV="1">
              <a:off x="8874252" y="3010662"/>
              <a:ext cx="603504" cy="436626"/>
            </a:xfrm>
            <a:prstGeom prst="line">
              <a:avLst/>
            </a:prstGeom>
            <a:ln w="6350">
              <a:solidFill>
                <a:schemeClr val="tx2">
                  <a:alpha val="30000"/>
                </a:schemeClr>
              </a:solidFill>
            </a:ln>
          </p:spPr>
        </p:cxnSp>
        <p:cxnSp>
          <p:nvCxnSpPr>
            <p:cNvPr id="213" name="edge-213"/>
            <p:cNvCxnSpPr/>
            <p:nvPr/>
          </p:nvCxnSpPr>
          <p:spPr>
            <a:xfrm flipV="1">
              <a:off x="8874252" y="3152394"/>
              <a:ext cx="603504" cy="294894"/>
            </a:xfrm>
            <a:prstGeom prst="line">
              <a:avLst/>
            </a:prstGeom>
            <a:ln w="6350">
              <a:solidFill>
                <a:schemeClr val="tx2">
                  <a:alpha val="30000"/>
                </a:schemeClr>
              </a:solidFill>
            </a:ln>
          </p:spPr>
        </p:cxnSp>
        <p:cxnSp>
          <p:nvCxnSpPr>
            <p:cNvPr id="214" name="edge-214"/>
            <p:cNvCxnSpPr/>
            <p:nvPr/>
          </p:nvCxnSpPr>
          <p:spPr>
            <a:xfrm flipV="1">
              <a:off x="8874252" y="3294126"/>
              <a:ext cx="603504" cy="153162"/>
            </a:xfrm>
            <a:prstGeom prst="line">
              <a:avLst/>
            </a:prstGeom>
            <a:ln w="6350">
              <a:solidFill>
                <a:schemeClr val="tx2">
                  <a:alpha val="30000"/>
                </a:schemeClr>
              </a:solidFill>
            </a:ln>
          </p:spPr>
        </p:cxnSp>
        <p:cxnSp>
          <p:nvCxnSpPr>
            <p:cNvPr id="215" name="edge-215"/>
            <p:cNvCxnSpPr/>
            <p:nvPr/>
          </p:nvCxnSpPr>
          <p:spPr>
            <a:xfrm flipV="1">
              <a:off x="8874252" y="3435858"/>
              <a:ext cx="603504" cy="11430"/>
            </a:xfrm>
            <a:prstGeom prst="line">
              <a:avLst/>
            </a:prstGeom>
            <a:ln w="6350">
              <a:solidFill>
                <a:schemeClr val="tx2">
                  <a:alpha val="30000"/>
                </a:schemeClr>
              </a:solidFill>
            </a:ln>
          </p:spPr>
        </p:cxnSp>
        <p:cxnSp>
          <p:nvCxnSpPr>
            <p:cNvPr id="216" name="edge-216"/>
            <p:cNvCxnSpPr/>
            <p:nvPr/>
          </p:nvCxnSpPr>
          <p:spPr>
            <a:xfrm>
              <a:off x="8874252" y="3447288"/>
              <a:ext cx="603504" cy="130302"/>
            </a:xfrm>
            <a:prstGeom prst="line">
              <a:avLst/>
            </a:prstGeom>
            <a:ln w="6350">
              <a:solidFill>
                <a:schemeClr val="tx2">
                  <a:alpha val="30000"/>
                </a:schemeClr>
              </a:solidFill>
            </a:ln>
          </p:spPr>
        </p:cxnSp>
        <p:cxnSp>
          <p:nvCxnSpPr>
            <p:cNvPr id="217" name="edge-217"/>
            <p:cNvCxnSpPr/>
            <p:nvPr/>
          </p:nvCxnSpPr>
          <p:spPr>
            <a:xfrm flipV="1">
              <a:off x="8874252" y="2585466"/>
              <a:ext cx="603504" cy="1008126"/>
            </a:xfrm>
            <a:prstGeom prst="line">
              <a:avLst/>
            </a:prstGeom>
            <a:ln w="6350">
              <a:solidFill>
                <a:schemeClr val="tx2">
                  <a:alpha val="30000"/>
                </a:schemeClr>
              </a:solidFill>
            </a:ln>
          </p:spPr>
        </p:cxnSp>
        <p:cxnSp>
          <p:nvCxnSpPr>
            <p:cNvPr id="218" name="edge-218"/>
            <p:cNvCxnSpPr/>
            <p:nvPr/>
          </p:nvCxnSpPr>
          <p:spPr>
            <a:xfrm flipV="1">
              <a:off x="8874252" y="2727198"/>
              <a:ext cx="603504" cy="866394"/>
            </a:xfrm>
            <a:prstGeom prst="line">
              <a:avLst/>
            </a:prstGeom>
            <a:ln w="6350">
              <a:solidFill>
                <a:schemeClr val="tx2">
                  <a:alpha val="30000"/>
                </a:schemeClr>
              </a:solidFill>
            </a:ln>
          </p:spPr>
        </p:cxnSp>
        <p:cxnSp>
          <p:nvCxnSpPr>
            <p:cNvPr id="219" name="edge-219"/>
            <p:cNvCxnSpPr/>
            <p:nvPr/>
          </p:nvCxnSpPr>
          <p:spPr>
            <a:xfrm flipV="1">
              <a:off x="8874252" y="2868930"/>
              <a:ext cx="603504" cy="724662"/>
            </a:xfrm>
            <a:prstGeom prst="line">
              <a:avLst/>
            </a:prstGeom>
            <a:ln w="6350">
              <a:solidFill>
                <a:schemeClr val="tx2">
                  <a:alpha val="30000"/>
                </a:schemeClr>
              </a:solidFill>
            </a:ln>
          </p:spPr>
        </p:cxnSp>
        <p:cxnSp>
          <p:nvCxnSpPr>
            <p:cNvPr id="220" name="edge-220"/>
            <p:cNvCxnSpPr/>
            <p:nvPr/>
          </p:nvCxnSpPr>
          <p:spPr>
            <a:xfrm flipV="1">
              <a:off x="8874252" y="3010662"/>
              <a:ext cx="603504" cy="582930"/>
            </a:xfrm>
            <a:prstGeom prst="line">
              <a:avLst/>
            </a:prstGeom>
            <a:ln w="6350">
              <a:solidFill>
                <a:schemeClr val="tx2">
                  <a:alpha val="30000"/>
                </a:schemeClr>
              </a:solidFill>
            </a:ln>
          </p:spPr>
        </p:cxnSp>
        <p:cxnSp>
          <p:nvCxnSpPr>
            <p:cNvPr id="221" name="edge-221"/>
            <p:cNvCxnSpPr/>
            <p:nvPr/>
          </p:nvCxnSpPr>
          <p:spPr>
            <a:xfrm flipV="1">
              <a:off x="8874252" y="3152394"/>
              <a:ext cx="603504" cy="441198"/>
            </a:xfrm>
            <a:prstGeom prst="line">
              <a:avLst/>
            </a:prstGeom>
            <a:ln w="6350">
              <a:solidFill>
                <a:schemeClr val="tx2">
                  <a:alpha val="30000"/>
                </a:schemeClr>
              </a:solidFill>
            </a:ln>
          </p:spPr>
        </p:cxnSp>
        <p:cxnSp>
          <p:nvCxnSpPr>
            <p:cNvPr id="222" name="edge-222"/>
            <p:cNvCxnSpPr/>
            <p:nvPr/>
          </p:nvCxnSpPr>
          <p:spPr>
            <a:xfrm flipV="1">
              <a:off x="8874252" y="3294126"/>
              <a:ext cx="603504" cy="299466"/>
            </a:xfrm>
            <a:prstGeom prst="line">
              <a:avLst/>
            </a:prstGeom>
            <a:ln w="6350">
              <a:solidFill>
                <a:schemeClr val="tx2">
                  <a:alpha val="30000"/>
                </a:schemeClr>
              </a:solidFill>
            </a:ln>
          </p:spPr>
        </p:cxnSp>
        <p:cxnSp>
          <p:nvCxnSpPr>
            <p:cNvPr id="223" name="edge-223"/>
            <p:cNvCxnSpPr/>
            <p:nvPr/>
          </p:nvCxnSpPr>
          <p:spPr>
            <a:xfrm flipV="1">
              <a:off x="8874252" y="3435858"/>
              <a:ext cx="603504" cy="157734"/>
            </a:xfrm>
            <a:prstGeom prst="line">
              <a:avLst/>
            </a:prstGeom>
            <a:ln w="6350">
              <a:solidFill>
                <a:schemeClr val="tx2">
                  <a:alpha val="30000"/>
                </a:schemeClr>
              </a:solidFill>
            </a:ln>
          </p:spPr>
        </p:cxnSp>
        <p:cxnSp>
          <p:nvCxnSpPr>
            <p:cNvPr id="224" name="edge-224"/>
            <p:cNvCxnSpPr/>
            <p:nvPr/>
          </p:nvCxnSpPr>
          <p:spPr>
            <a:xfrm flipV="1">
              <a:off x="8874252" y="3577590"/>
              <a:ext cx="603504" cy="16002"/>
            </a:xfrm>
            <a:prstGeom prst="line">
              <a:avLst/>
            </a:prstGeom>
            <a:ln w="6350">
              <a:solidFill>
                <a:schemeClr val="tx2">
                  <a:alpha val="30000"/>
                </a:schemeClr>
              </a:solidFill>
            </a:ln>
          </p:spPr>
        </p:cxnSp>
        <p:cxnSp>
          <p:nvCxnSpPr>
            <p:cNvPr id="225" name="edge-225"/>
            <p:cNvCxnSpPr/>
            <p:nvPr/>
          </p:nvCxnSpPr>
          <p:spPr>
            <a:xfrm>
              <a:off x="9587484" y="2585466"/>
              <a:ext cx="603504" cy="0"/>
            </a:xfrm>
            <a:prstGeom prst="line">
              <a:avLst/>
            </a:prstGeom>
            <a:ln w="6350">
              <a:solidFill>
                <a:schemeClr val="tx2">
                  <a:alpha val="30000"/>
                </a:schemeClr>
              </a:solidFill>
            </a:ln>
          </p:spPr>
        </p:cxnSp>
        <p:cxnSp>
          <p:nvCxnSpPr>
            <p:cNvPr id="226" name="edge-226"/>
            <p:cNvCxnSpPr/>
            <p:nvPr/>
          </p:nvCxnSpPr>
          <p:spPr>
            <a:xfrm>
              <a:off x="9587484" y="2585466"/>
              <a:ext cx="603504" cy="141732"/>
            </a:xfrm>
            <a:prstGeom prst="line">
              <a:avLst/>
            </a:prstGeom>
            <a:ln w="6350">
              <a:solidFill>
                <a:schemeClr val="tx2">
                  <a:alpha val="30000"/>
                </a:schemeClr>
              </a:solidFill>
            </a:ln>
          </p:spPr>
        </p:cxnSp>
        <p:cxnSp>
          <p:nvCxnSpPr>
            <p:cNvPr id="227" name="edge-227"/>
            <p:cNvCxnSpPr/>
            <p:nvPr/>
          </p:nvCxnSpPr>
          <p:spPr>
            <a:xfrm>
              <a:off x="9587484" y="2585466"/>
              <a:ext cx="603504" cy="283464"/>
            </a:xfrm>
            <a:prstGeom prst="line">
              <a:avLst/>
            </a:prstGeom>
            <a:ln w="6350">
              <a:solidFill>
                <a:schemeClr val="tx2">
                  <a:alpha val="30000"/>
                </a:schemeClr>
              </a:solidFill>
            </a:ln>
          </p:spPr>
        </p:cxnSp>
        <p:cxnSp>
          <p:nvCxnSpPr>
            <p:cNvPr id="228" name="edge-228"/>
            <p:cNvCxnSpPr/>
            <p:nvPr/>
          </p:nvCxnSpPr>
          <p:spPr>
            <a:xfrm>
              <a:off x="9587484" y="2585466"/>
              <a:ext cx="603504" cy="425196"/>
            </a:xfrm>
            <a:prstGeom prst="line">
              <a:avLst/>
            </a:prstGeom>
            <a:ln w="6350">
              <a:solidFill>
                <a:schemeClr val="tx2">
                  <a:alpha val="30000"/>
                </a:schemeClr>
              </a:solidFill>
            </a:ln>
          </p:spPr>
        </p:cxnSp>
        <p:cxnSp>
          <p:nvCxnSpPr>
            <p:cNvPr id="229" name="edge-229"/>
            <p:cNvCxnSpPr/>
            <p:nvPr/>
          </p:nvCxnSpPr>
          <p:spPr>
            <a:xfrm>
              <a:off x="9587484" y="2585466"/>
              <a:ext cx="603504" cy="566928"/>
            </a:xfrm>
            <a:prstGeom prst="line">
              <a:avLst/>
            </a:prstGeom>
            <a:ln w="6350">
              <a:solidFill>
                <a:schemeClr val="tx2">
                  <a:alpha val="30000"/>
                </a:schemeClr>
              </a:solidFill>
            </a:ln>
          </p:spPr>
        </p:cxnSp>
        <p:cxnSp>
          <p:nvCxnSpPr>
            <p:cNvPr id="230" name="edge-230"/>
            <p:cNvCxnSpPr/>
            <p:nvPr/>
          </p:nvCxnSpPr>
          <p:spPr>
            <a:xfrm>
              <a:off x="9587484" y="2585466"/>
              <a:ext cx="603504" cy="708660"/>
            </a:xfrm>
            <a:prstGeom prst="line">
              <a:avLst/>
            </a:prstGeom>
            <a:ln w="6350">
              <a:solidFill>
                <a:schemeClr val="tx2">
                  <a:alpha val="30000"/>
                </a:schemeClr>
              </a:solidFill>
            </a:ln>
          </p:spPr>
        </p:cxnSp>
        <p:cxnSp>
          <p:nvCxnSpPr>
            <p:cNvPr id="231" name="edge-231"/>
            <p:cNvCxnSpPr/>
            <p:nvPr/>
          </p:nvCxnSpPr>
          <p:spPr>
            <a:xfrm>
              <a:off x="9587484" y="2585466"/>
              <a:ext cx="603504" cy="850392"/>
            </a:xfrm>
            <a:prstGeom prst="line">
              <a:avLst/>
            </a:prstGeom>
            <a:ln w="6350">
              <a:solidFill>
                <a:schemeClr val="tx2">
                  <a:alpha val="30000"/>
                </a:schemeClr>
              </a:solidFill>
            </a:ln>
          </p:spPr>
        </p:cxnSp>
        <p:cxnSp>
          <p:nvCxnSpPr>
            <p:cNvPr id="232" name="edge-232"/>
            <p:cNvCxnSpPr/>
            <p:nvPr/>
          </p:nvCxnSpPr>
          <p:spPr>
            <a:xfrm>
              <a:off x="9587484" y="2585466"/>
              <a:ext cx="603504" cy="992124"/>
            </a:xfrm>
            <a:prstGeom prst="line">
              <a:avLst/>
            </a:prstGeom>
            <a:ln w="6350">
              <a:solidFill>
                <a:schemeClr val="tx2">
                  <a:alpha val="30000"/>
                </a:schemeClr>
              </a:solidFill>
            </a:ln>
          </p:spPr>
        </p:cxnSp>
        <p:cxnSp>
          <p:nvCxnSpPr>
            <p:cNvPr id="233" name="edge-233"/>
            <p:cNvCxnSpPr/>
            <p:nvPr/>
          </p:nvCxnSpPr>
          <p:spPr>
            <a:xfrm flipV="1">
              <a:off x="9587484" y="2585466"/>
              <a:ext cx="603504" cy="141732"/>
            </a:xfrm>
            <a:prstGeom prst="line">
              <a:avLst/>
            </a:prstGeom>
            <a:ln w="6350">
              <a:solidFill>
                <a:schemeClr val="tx2">
                  <a:alpha val="30000"/>
                </a:schemeClr>
              </a:solidFill>
            </a:ln>
          </p:spPr>
        </p:cxnSp>
        <p:cxnSp>
          <p:nvCxnSpPr>
            <p:cNvPr id="234" name="edge-234"/>
            <p:cNvCxnSpPr/>
            <p:nvPr/>
          </p:nvCxnSpPr>
          <p:spPr>
            <a:xfrm>
              <a:off x="9587484" y="2727198"/>
              <a:ext cx="603504" cy="0"/>
            </a:xfrm>
            <a:prstGeom prst="line">
              <a:avLst/>
            </a:prstGeom>
            <a:ln w="6350">
              <a:solidFill>
                <a:schemeClr val="tx2">
                  <a:alpha val="30000"/>
                </a:schemeClr>
              </a:solidFill>
            </a:ln>
          </p:spPr>
        </p:cxnSp>
        <p:cxnSp>
          <p:nvCxnSpPr>
            <p:cNvPr id="235" name="edge-235"/>
            <p:cNvCxnSpPr/>
            <p:nvPr/>
          </p:nvCxnSpPr>
          <p:spPr>
            <a:xfrm>
              <a:off x="9587484" y="2727198"/>
              <a:ext cx="603504" cy="141732"/>
            </a:xfrm>
            <a:prstGeom prst="line">
              <a:avLst/>
            </a:prstGeom>
            <a:ln w="6350">
              <a:solidFill>
                <a:schemeClr val="tx2">
                  <a:alpha val="30000"/>
                </a:schemeClr>
              </a:solidFill>
            </a:ln>
          </p:spPr>
        </p:cxnSp>
        <p:cxnSp>
          <p:nvCxnSpPr>
            <p:cNvPr id="236" name="edge-236"/>
            <p:cNvCxnSpPr/>
            <p:nvPr/>
          </p:nvCxnSpPr>
          <p:spPr>
            <a:xfrm>
              <a:off x="9587484" y="2727198"/>
              <a:ext cx="603504" cy="283464"/>
            </a:xfrm>
            <a:prstGeom prst="line">
              <a:avLst/>
            </a:prstGeom>
            <a:ln w="6350">
              <a:solidFill>
                <a:schemeClr val="tx2">
                  <a:alpha val="30000"/>
                </a:schemeClr>
              </a:solidFill>
            </a:ln>
          </p:spPr>
        </p:cxnSp>
        <p:cxnSp>
          <p:nvCxnSpPr>
            <p:cNvPr id="237" name="edge-237"/>
            <p:cNvCxnSpPr/>
            <p:nvPr/>
          </p:nvCxnSpPr>
          <p:spPr>
            <a:xfrm>
              <a:off x="9587484" y="2727198"/>
              <a:ext cx="603504" cy="425196"/>
            </a:xfrm>
            <a:prstGeom prst="line">
              <a:avLst/>
            </a:prstGeom>
            <a:ln w="6350">
              <a:solidFill>
                <a:schemeClr val="tx2">
                  <a:alpha val="30000"/>
                </a:schemeClr>
              </a:solidFill>
            </a:ln>
          </p:spPr>
        </p:cxnSp>
        <p:cxnSp>
          <p:nvCxnSpPr>
            <p:cNvPr id="238" name="edge-238"/>
            <p:cNvCxnSpPr/>
            <p:nvPr/>
          </p:nvCxnSpPr>
          <p:spPr>
            <a:xfrm>
              <a:off x="9587484" y="2727198"/>
              <a:ext cx="603504" cy="566928"/>
            </a:xfrm>
            <a:prstGeom prst="line">
              <a:avLst/>
            </a:prstGeom>
            <a:ln w="6350">
              <a:solidFill>
                <a:schemeClr val="tx2">
                  <a:alpha val="30000"/>
                </a:schemeClr>
              </a:solidFill>
            </a:ln>
          </p:spPr>
        </p:cxnSp>
        <p:cxnSp>
          <p:nvCxnSpPr>
            <p:cNvPr id="239" name="edge-239"/>
            <p:cNvCxnSpPr/>
            <p:nvPr/>
          </p:nvCxnSpPr>
          <p:spPr>
            <a:xfrm>
              <a:off x="9587484" y="2727198"/>
              <a:ext cx="603504" cy="708660"/>
            </a:xfrm>
            <a:prstGeom prst="line">
              <a:avLst/>
            </a:prstGeom>
            <a:ln w="6350">
              <a:solidFill>
                <a:schemeClr val="tx2">
                  <a:alpha val="30000"/>
                </a:schemeClr>
              </a:solidFill>
            </a:ln>
          </p:spPr>
        </p:cxnSp>
        <p:cxnSp>
          <p:nvCxnSpPr>
            <p:cNvPr id="240" name="edge-240"/>
            <p:cNvCxnSpPr/>
            <p:nvPr/>
          </p:nvCxnSpPr>
          <p:spPr>
            <a:xfrm>
              <a:off x="9587484" y="2727198"/>
              <a:ext cx="603504" cy="850392"/>
            </a:xfrm>
            <a:prstGeom prst="line">
              <a:avLst/>
            </a:prstGeom>
            <a:ln w="6350">
              <a:solidFill>
                <a:schemeClr val="tx2">
                  <a:alpha val="30000"/>
                </a:schemeClr>
              </a:solidFill>
            </a:ln>
          </p:spPr>
        </p:cxnSp>
        <p:cxnSp>
          <p:nvCxnSpPr>
            <p:cNvPr id="241" name="edge-241"/>
            <p:cNvCxnSpPr/>
            <p:nvPr/>
          </p:nvCxnSpPr>
          <p:spPr>
            <a:xfrm flipV="1">
              <a:off x="9587484" y="2585466"/>
              <a:ext cx="603504" cy="283464"/>
            </a:xfrm>
            <a:prstGeom prst="line">
              <a:avLst/>
            </a:prstGeom>
            <a:ln w="6350">
              <a:solidFill>
                <a:schemeClr val="tx2">
                  <a:alpha val="30000"/>
                </a:schemeClr>
              </a:solidFill>
            </a:ln>
          </p:spPr>
        </p:cxnSp>
        <p:cxnSp>
          <p:nvCxnSpPr>
            <p:cNvPr id="242" name="edge-242"/>
            <p:cNvCxnSpPr/>
            <p:nvPr/>
          </p:nvCxnSpPr>
          <p:spPr>
            <a:xfrm flipV="1">
              <a:off x="9587484" y="2727198"/>
              <a:ext cx="603504" cy="141732"/>
            </a:xfrm>
            <a:prstGeom prst="line">
              <a:avLst/>
            </a:prstGeom>
            <a:ln w="6350">
              <a:solidFill>
                <a:schemeClr val="tx2">
                  <a:alpha val="30000"/>
                </a:schemeClr>
              </a:solidFill>
            </a:ln>
          </p:spPr>
        </p:cxnSp>
        <p:cxnSp>
          <p:nvCxnSpPr>
            <p:cNvPr id="243" name="edge-243"/>
            <p:cNvCxnSpPr/>
            <p:nvPr/>
          </p:nvCxnSpPr>
          <p:spPr>
            <a:xfrm>
              <a:off x="9587484" y="2868930"/>
              <a:ext cx="603504" cy="0"/>
            </a:xfrm>
            <a:prstGeom prst="line">
              <a:avLst/>
            </a:prstGeom>
            <a:ln w="6350">
              <a:solidFill>
                <a:schemeClr val="tx2">
                  <a:alpha val="30000"/>
                </a:schemeClr>
              </a:solidFill>
            </a:ln>
          </p:spPr>
        </p:cxnSp>
        <p:cxnSp>
          <p:nvCxnSpPr>
            <p:cNvPr id="244" name="edge-244"/>
            <p:cNvCxnSpPr/>
            <p:nvPr/>
          </p:nvCxnSpPr>
          <p:spPr>
            <a:xfrm>
              <a:off x="9587484" y="2868930"/>
              <a:ext cx="603504" cy="141732"/>
            </a:xfrm>
            <a:prstGeom prst="line">
              <a:avLst/>
            </a:prstGeom>
            <a:ln w="6350">
              <a:solidFill>
                <a:schemeClr val="tx2">
                  <a:alpha val="30000"/>
                </a:schemeClr>
              </a:solidFill>
            </a:ln>
          </p:spPr>
        </p:cxnSp>
        <p:cxnSp>
          <p:nvCxnSpPr>
            <p:cNvPr id="245" name="edge-245"/>
            <p:cNvCxnSpPr/>
            <p:nvPr/>
          </p:nvCxnSpPr>
          <p:spPr>
            <a:xfrm>
              <a:off x="9587484" y="2868930"/>
              <a:ext cx="603504" cy="283464"/>
            </a:xfrm>
            <a:prstGeom prst="line">
              <a:avLst/>
            </a:prstGeom>
            <a:ln w="6350">
              <a:solidFill>
                <a:schemeClr val="tx2">
                  <a:alpha val="30000"/>
                </a:schemeClr>
              </a:solidFill>
            </a:ln>
          </p:spPr>
        </p:cxnSp>
        <p:cxnSp>
          <p:nvCxnSpPr>
            <p:cNvPr id="246" name="edge-246"/>
            <p:cNvCxnSpPr/>
            <p:nvPr/>
          </p:nvCxnSpPr>
          <p:spPr>
            <a:xfrm>
              <a:off x="9587484" y="2868930"/>
              <a:ext cx="603504" cy="425196"/>
            </a:xfrm>
            <a:prstGeom prst="line">
              <a:avLst/>
            </a:prstGeom>
            <a:ln w="6350">
              <a:solidFill>
                <a:schemeClr val="tx2">
                  <a:alpha val="30000"/>
                </a:schemeClr>
              </a:solidFill>
            </a:ln>
          </p:spPr>
        </p:cxnSp>
        <p:cxnSp>
          <p:nvCxnSpPr>
            <p:cNvPr id="247" name="edge-247"/>
            <p:cNvCxnSpPr/>
            <p:nvPr/>
          </p:nvCxnSpPr>
          <p:spPr>
            <a:xfrm>
              <a:off x="9587484" y="2868930"/>
              <a:ext cx="603504" cy="566928"/>
            </a:xfrm>
            <a:prstGeom prst="line">
              <a:avLst/>
            </a:prstGeom>
            <a:ln w="6350">
              <a:solidFill>
                <a:schemeClr val="tx2">
                  <a:alpha val="30000"/>
                </a:schemeClr>
              </a:solidFill>
            </a:ln>
          </p:spPr>
        </p:cxnSp>
        <p:cxnSp>
          <p:nvCxnSpPr>
            <p:cNvPr id="248" name="edge-248"/>
            <p:cNvCxnSpPr/>
            <p:nvPr/>
          </p:nvCxnSpPr>
          <p:spPr>
            <a:xfrm>
              <a:off x="9587484" y="2868930"/>
              <a:ext cx="603504" cy="708660"/>
            </a:xfrm>
            <a:prstGeom prst="line">
              <a:avLst/>
            </a:prstGeom>
            <a:ln w="6350">
              <a:solidFill>
                <a:schemeClr val="tx2">
                  <a:alpha val="30000"/>
                </a:schemeClr>
              </a:solidFill>
            </a:ln>
          </p:spPr>
        </p:cxnSp>
        <p:cxnSp>
          <p:nvCxnSpPr>
            <p:cNvPr id="249" name="edge-249"/>
            <p:cNvCxnSpPr/>
            <p:nvPr/>
          </p:nvCxnSpPr>
          <p:spPr>
            <a:xfrm flipV="1">
              <a:off x="9587484" y="2585466"/>
              <a:ext cx="603504" cy="425196"/>
            </a:xfrm>
            <a:prstGeom prst="line">
              <a:avLst/>
            </a:prstGeom>
            <a:ln w="6350">
              <a:solidFill>
                <a:schemeClr val="tx2">
                  <a:alpha val="30000"/>
                </a:schemeClr>
              </a:solidFill>
            </a:ln>
          </p:spPr>
        </p:cxnSp>
        <p:cxnSp>
          <p:nvCxnSpPr>
            <p:cNvPr id="250" name="edge-250"/>
            <p:cNvCxnSpPr/>
            <p:nvPr/>
          </p:nvCxnSpPr>
          <p:spPr>
            <a:xfrm flipV="1">
              <a:off x="9587484" y="2727198"/>
              <a:ext cx="603504" cy="283464"/>
            </a:xfrm>
            <a:prstGeom prst="line">
              <a:avLst/>
            </a:prstGeom>
            <a:ln w="6350">
              <a:solidFill>
                <a:schemeClr val="tx2">
                  <a:alpha val="30000"/>
                </a:schemeClr>
              </a:solidFill>
            </a:ln>
          </p:spPr>
        </p:cxnSp>
        <p:cxnSp>
          <p:nvCxnSpPr>
            <p:cNvPr id="251" name="edge-251"/>
            <p:cNvCxnSpPr/>
            <p:nvPr/>
          </p:nvCxnSpPr>
          <p:spPr>
            <a:xfrm flipV="1">
              <a:off x="9587484" y="2868930"/>
              <a:ext cx="603504" cy="141732"/>
            </a:xfrm>
            <a:prstGeom prst="line">
              <a:avLst/>
            </a:prstGeom>
            <a:ln w="6350">
              <a:solidFill>
                <a:schemeClr val="tx2">
                  <a:alpha val="30000"/>
                </a:schemeClr>
              </a:solidFill>
            </a:ln>
          </p:spPr>
        </p:cxnSp>
        <p:cxnSp>
          <p:nvCxnSpPr>
            <p:cNvPr id="252" name="edge-252"/>
            <p:cNvCxnSpPr/>
            <p:nvPr/>
          </p:nvCxnSpPr>
          <p:spPr>
            <a:xfrm>
              <a:off x="9587484" y="3010662"/>
              <a:ext cx="603504" cy="0"/>
            </a:xfrm>
            <a:prstGeom prst="line">
              <a:avLst/>
            </a:prstGeom>
            <a:ln w="6350">
              <a:solidFill>
                <a:schemeClr val="tx2">
                  <a:alpha val="30000"/>
                </a:schemeClr>
              </a:solidFill>
            </a:ln>
          </p:spPr>
        </p:cxnSp>
        <p:cxnSp>
          <p:nvCxnSpPr>
            <p:cNvPr id="253" name="edge-253"/>
            <p:cNvCxnSpPr/>
            <p:nvPr/>
          </p:nvCxnSpPr>
          <p:spPr>
            <a:xfrm>
              <a:off x="9587484" y="3010662"/>
              <a:ext cx="603504" cy="141732"/>
            </a:xfrm>
            <a:prstGeom prst="line">
              <a:avLst/>
            </a:prstGeom>
            <a:ln w="6350">
              <a:solidFill>
                <a:schemeClr val="tx2">
                  <a:alpha val="30000"/>
                </a:schemeClr>
              </a:solidFill>
            </a:ln>
          </p:spPr>
        </p:cxnSp>
        <p:cxnSp>
          <p:nvCxnSpPr>
            <p:cNvPr id="254" name="edge-254"/>
            <p:cNvCxnSpPr/>
            <p:nvPr/>
          </p:nvCxnSpPr>
          <p:spPr>
            <a:xfrm>
              <a:off x="9587484" y="3010662"/>
              <a:ext cx="603504" cy="283464"/>
            </a:xfrm>
            <a:prstGeom prst="line">
              <a:avLst/>
            </a:prstGeom>
            <a:ln w="6350">
              <a:solidFill>
                <a:schemeClr val="tx2">
                  <a:alpha val="30000"/>
                </a:schemeClr>
              </a:solidFill>
            </a:ln>
          </p:spPr>
        </p:cxnSp>
        <p:cxnSp>
          <p:nvCxnSpPr>
            <p:cNvPr id="255" name="edge-255"/>
            <p:cNvCxnSpPr/>
            <p:nvPr/>
          </p:nvCxnSpPr>
          <p:spPr>
            <a:xfrm>
              <a:off x="9587484" y="3010662"/>
              <a:ext cx="603504" cy="425196"/>
            </a:xfrm>
            <a:prstGeom prst="line">
              <a:avLst/>
            </a:prstGeom>
            <a:ln w="6350">
              <a:solidFill>
                <a:schemeClr val="tx2">
                  <a:alpha val="30000"/>
                </a:schemeClr>
              </a:solidFill>
            </a:ln>
          </p:spPr>
        </p:cxnSp>
        <p:cxnSp>
          <p:nvCxnSpPr>
            <p:cNvPr id="256" name="edge-256"/>
            <p:cNvCxnSpPr/>
            <p:nvPr/>
          </p:nvCxnSpPr>
          <p:spPr>
            <a:xfrm>
              <a:off x="9587484" y="3010662"/>
              <a:ext cx="603504" cy="566928"/>
            </a:xfrm>
            <a:prstGeom prst="line">
              <a:avLst/>
            </a:prstGeom>
            <a:ln w="6350">
              <a:solidFill>
                <a:schemeClr val="tx2">
                  <a:alpha val="30000"/>
                </a:schemeClr>
              </a:solidFill>
            </a:ln>
          </p:spPr>
        </p:cxnSp>
        <p:cxnSp>
          <p:nvCxnSpPr>
            <p:cNvPr id="257" name="edge-257"/>
            <p:cNvCxnSpPr/>
            <p:nvPr/>
          </p:nvCxnSpPr>
          <p:spPr>
            <a:xfrm flipV="1">
              <a:off x="9587484" y="2585466"/>
              <a:ext cx="603504" cy="566928"/>
            </a:xfrm>
            <a:prstGeom prst="line">
              <a:avLst/>
            </a:prstGeom>
            <a:ln w="6350">
              <a:solidFill>
                <a:schemeClr val="tx2">
                  <a:alpha val="30000"/>
                </a:schemeClr>
              </a:solidFill>
            </a:ln>
          </p:spPr>
        </p:cxnSp>
        <p:cxnSp>
          <p:nvCxnSpPr>
            <p:cNvPr id="258" name="edge-258"/>
            <p:cNvCxnSpPr/>
            <p:nvPr/>
          </p:nvCxnSpPr>
          <p:spPr>
            <a:xfrm flipV="1">
              <a:off x="9587484" y="2727198"/>
              <a:ext cx="603504" cy="425196"/>
            </a:xfrm>
            <a:prstGeom prst="line">
              <a:avLst/>
            </a:prstGeom>
            <a:ln w="6350">
              <a:solidFill>
                <a:schemeClr val="tx2">
                  <a:alpha val="30000"/>
                </a:schemeClr>
              </a:solidFill>
            </a:ln>
          </p:spPr>
        </p:cxnSp>
        <p:cxnSp>
          <p:nvCxnSpPr>
            <p:cNvPr id="259" name="edge-259"/>
            <p:cNvCxnSpPr/>
            <p:nvPr/>
          </p:nvCxnSpPr>
          <p:spPr>
            <a:xfrm flipV="1">
              <a:off x="9587484" y="2868930"/>
              <a:ext cx="603504" cy="283464"/>
            </a:xfrm>
            <a:prstGeom prst="line">
              <a:avLst/>
            </a:prstGeom>
            <a:ln w="6350">
              <a:solidFill>
                <a:schemeClr val="tx2">
                  <a:alpha val="30000"/>
                </a:schemeClr>
              </a:solidFill>
            </a:ln>
          </p:spPr>
        </p:cxnSp>
        <p:cxnSp>
          <p:nvCxnSpPr>
            <p:cNvPr id="260" name="edge-260"/>
            <p:cNvCxnSpPr/>
            <p:nvPr/>
          </p:nvCxnSpPr>
          <p:spPr>
            <a:xfrm flipV="1">
              <a:off x="9587484" y="3010662"/>
              <a:ext cx="603504" cy="141732"/>
            </a:xfrm>
            <a:prstGeom prst="line">
              <a:avLst/>
            </a:prstGeom>
            <a:ln w="6350">
              <a:solidFill>
                <a:schemeClr val="tx2">
                  <a:alpha val="30000"/>
                </a:schemeClr>
              </a:solidFill>
            </a:ln>
          </p:spPr>
        </p:cxnSp>
        <p:cxnSp>
          <p:nvCxnSpPr>
            <p:cNvPr id="261" name="edge-261"/>
            <p:cNvCxnSpPr/>
            <p:nvPr/>
          </p:nvCxnSpPr>
          <p:spPr>
            <a:xfrm>
              <a:off x="9587484" y="3152394"/>
              <a:ext cx="603504" cy="0"/>
            </a:xfrm>
            <a:prstGeom prst="line">
              <a:avLst/>
            </a:prstGeom>
            <a:ln w="6350">
              <a:solidFill>
                <a:schemeClr val="tx2">
                  <a:alpha val="30000"/>
                </a:schemeClr>
              </a:solidFill>
            </a:ln>
          </p:spPr>
        </p:cxnSp>
        <p:cxnSp>
          <p:nvCxnSpPr>
            <p:cNvPr id="262" name="edge-262"/>
            <p:cNvCxnSpPr/>
            <p:nvPr/>
          </p:nvCxnSpPr>
          <p:spPr>
            <a:xfrm>
              <a:off x="9587484" y="3152394"/>
              <a:ext cx="603504" cy="141732"/>
            </a:xfrm>
            <a:prstGeom prst="line">
              <a:avLst/>
            </a:prstGeom>
            <a:ln w="6350">
              <a:solidFill>
                <a:schemeClr val="tx2">
                  <a:alpha val="30000"/>
                </a:schemeClr>
              </a:solidFill>
            </a:ln>
          </p:spPr>
        </p:cxnSp>
        <p:cxnSp>
          <p:nvCxnSpPr>
            <p:cNvPr id="263" name="edge-263"/>
            <p:cNvCxnSpPr/>
            <p:nvPr/>
          </p:nvCxnSpPr>
          <p:spPr>
            <a:xfrm>
              <a:off x="9587484" y="3152394"/>
              <a:ext cx="603504" cy="283464"/>
            </a:xfrm>
            <a:prstGeom prst="line">
              <a:avLst/>
            </a:prstGeom>
            <a:ln w="6350">
              <a:solidFill>
                <a:schemeClr val="tx2">
                  <a:alpha val="30000"/>
                </a:schemeClr>
              </a:solidFill>
            </a:ln>
          </p:spPr>
        </p:cxnSp>
        <p:cxnSp>
          <p:nvCxnSpPr>
            <p:cNvPr id="264" name="edge-264"/>
            <p:cNvCxnSpPr/>
            <p:nvPr/>
          </p:nvCxnSpPr>
          <p:spPr>
            <a:xfrm>
              <a:off x="9587484" y="3152394"/>
              <a:ext cx="603504" cy="425196"/>
            </a:xfrm>
            <a:prstGeom prst="line">
              <a:avLst/>
            </a:prstGeom>
            <a:ln w="6350">
              <a:solidFill>
                <a:schemeClr val="tx2">
                  <a:alpha val="30000"/>
                </a:schemeClr>
              </a:solidFill>
            </a:ln>
          </p:spPr>
        </p:cxnSp>
        <p:cxnSp>
          <p:nvCxnSpPr>
            <p:cNvPr id="265" name="edge-265"/>
            <p:cNvCxnSpPr/>
            <p:nvPr/>
          </p:nvCxnSpPr>
          <p:spPr>
            <a:xfrm flipV="1">
              <a:off x="9587484" y="2585466"/>
              <a:ext cx="603504" cy="708660"/>
            </a:xfrm>
            <a:prstGeom prst="line">
              <a:avLst/>
            </a:prstGeom>
            <a:ln w="6350">
              <a:solidFill>
                <a:schemeClr val="tx2">
                  <a:alpha val="30000"/>
                </a:schemeClr>
              </a:solidFill>
            </a:ln>
          </p:spPr>
        </p:cxnSp>
        <p:cxnSp>
          <p:nvCxnSpPr>
            <p:cNvPr id="266" name="edge-266"/>
            <p:cNvCxnSpPr/>
            <p:nvPr/>
          </p:nvCxnSpPr>
          <p:spPr>
            <a:xfrm flipV="1">
              <a:off x="9587484" y="2727198"/>
              <a:ext cx="603504" cy="566928"/>
            </a:xfrm>
            <a:prstGeom prst="line">
              <a:avLst/>
            </a:prstGeom>
            <a:ln w="6350">
              <a:solidFill>
                <a:schemeClr val="tx2">
                  <a:alpha val="30000"/>
                </a:schemeClr>
              </a:solidFill>
            </a:ln>
          </p:spPr>
        </p:cxnSp>
        <p:cxnSp>
          <p:nvCxnSpPr>
            <p:cNvPr id="267" name="edge-267"/>
            <p:cNvCxnSpPr/>
            <p:nvPr/>
          </p:nvCxnSpPr>
          <p:spPr>
            <a:xfrm flipV="1">
              <a:off x="9587484" y="2868930"/>
              <a:ext cx="603504" cy="425196"/>
            </a:xfrm>
            <a:prstGeom prst="line">
              <a:avLst/>
            </a:prstGeom>
            <a:ln w="6350">
              <a:solidFill>
                <a:schemeClr val="tx2">
                  <a:alpha val="30000"/>
                </a:schemeClr>
              </a:solidFill>
            </a:ln>
          </p:spPr>
        </p:cxnSp>
        <p:cxnSp>
          <p:nvCxnSpPr>
            <p:cNvPr id="268" name="edge-268"/>
            <p:cNvCxnSpPr/>
            <p:nvPr/>
          </p:nvCxnSpPr>
          <p:spPr>
            <a:xfrm flipV="1">
              <a:off x="9587484" y="3010662"/>
              <a:ext cx="603504" cy="283464"/>
            </a:xfrm>
            <a:prstGeom prst="line">
              <a:avLst/>
            </a:prstGeom>
            <a:ln w="6350">
              <a:solidFill>
                <a:schemeClr val="tx2">
                  <a:alpha val="30000"/>
                </a:schemeClr>
              </a:solidFill>
            </a:ln>
          </p:spPr>
        </p:cxnSp>
        <p:cxnSp>
          <p:nvCxnSpPr>
            <p:cNvPr id="269" name="edge-269"/>
            <p:cNvCxnSpPr/>
            <p:nvPr/>
          </p:nvCxnSpPr>
          <p:spPr>
            <a:xfrm flipV="1">
              <a:off x="9587484" y="3152394"/>
              <a:ext cx="603504" cy="141732"/>
            </a:xfrm>
            <a:prstGeom prst="line">
              <a:avLst/>
            </a:prstGeom>
            <a:ln w="6350">
              <a:solidFill>
                <a:schemeClr val="tx2">
                  <a:alpha val="30000"/>
                </a:schemeClr>
              </a:solidFill>
            </a:ln>
          </p:spPr>
        </p:cxnSp>
        <p:cxnSp>
          <p:nvCxnSpPr>
            <p:cNvPr id="270" name="edge-270"/>
            <p:cNvCxnSpPr/>
            <p:nvPr/>
          </p:nvCxnSpPr>
          <p:spPr>
            <a:xfrm>
              <a:off x="9587484" y="3294126"/>
              <a:ext cx="603504" cy="0"/>
            </a:xfrm>
            <a:prstGeom prst="line">
              <a:avLst/>
            </a:prstGeom>
            <a:ln w="6350">
              <a:solidFill>
                <a:schemeClr val="tx2">
                  <a:alpha val="30000"/>
                </a:schemeClr>
              </a:solidFill>
            </a:ln>
          </p:spPr>
        </p:cxnSp>
        <p:cxnSp>
          <p:nvCxnSpPr>
            <p:cNvPr id="271" name="edge-271"/>
            <p:cNvCxnSpPr/>
            <p:nvPr/>
          </p:nvCxnSpPr>
          <p:spPr>
            <a:xfrm>
              <a:off x="9587484" y="3294126"/>
              <a:ext cx="603504" cy="141732"/>
            </a:xfrm>
            <a:prstGeom prst="line">
              <a:avLst/>
            </a:prstGeom>
            <a:ln w="6350">
              <a:solidFill>
                <a:schemeClr val="tx2">
                  <a:alpha val="30000"/>
                </a:schemeClr>
              </a:solidFill>
            </a:ln>
          </p:spPr>
        </p:cxnSp>
        <p:cxnSp>
          <p:nvCxnSpPr>
            <p:cNvPr id="272" name="edge-272"/>
            <p:cNvCxnSpPr/>
            <p:nvPr/>
          </p:nvCxnSpPr>
          <p:spPr>
            <a:xfrm>
              <a:off x="9587484" y="3294126"/>
              <a:ext cx="603504" cy="283464"/>
            </a:xfrm>
            <a:prstGeom prst="line">
              <a:avLst/>
            </a:prstGeom>
            <a:ln w="6350">
              <a:solidFill>
                <a:schemeClr val="tx2">
                  <a:alpha val="30000"/>
                </a:schemeClr>
              </a:solidFill>
            </a:ln>
          </p:spPr>
        </p:cxnSp>
        <p:cxnSp>
          <p:nvCxnSpPr>
            <p:cNvPr id="273" name="edge-273"/>
            <p:cNvCxnSpPr/>
            <p:nvPr/>
          </p:nvCxnSpPr>
          <p:spPr>
            <a:xfrm flipV="1">
              <a:off x="9587484" y="2585466"/>
              <a:ext cx="603504" cy="850392"/>
            </a:xfrm>
            <a:prstGeom prst="line">
              <a:avLst/>
            </a:prstGeom>
            <a:ln w="6350">
              <a:solidFill>
                <a:schemeClr val="tx2">
                  <a:alpha val="30000"/>
                </a:schemeClr>
              </a:solidFill>
            </a:ln>
          </p:spPr>
        </p:cxnSp>
        <p:cxnSp>
          <p:nvCxnSpPr>
            <p:cNvPr id="274" name="edge-274"/>
            <p:cNvCxnSpPr/>
            <p:nvPr/>
          </p:nvCxnSpPr>
          <p:spPr>
            <a:xfrm flipV="1">
              <a:off x="9587484" y="2727198"/>
              <a:ext cx="603504" cy="708660"/>
            </a:xfrm>
            <a:prstGeom prst="line">
              <a:avLst/>
            </a:prstGeom>
            <a:ln w="6350">
              <a:solidFill>
                <a:schemeClr val="tx2">
                  <a:alpha val="30000"/>
                </a:schemeClr>
              </a:solidFill>
            </a:ln>
          </p:spPr>
        </p:cxnSp>
        <p:cxnSp>
          <p:nvCxnSpPr>
            <p:cNvPr id="275" name="edge-275"/>
            <p:cNvCxnSpPr/>
            <p:nvPr/>
          </p:nvCxnSpPr>
          <p:spPr>
            <a:xfrm flipV="1">
              <a:off x="9587484" y="2868930"/>
              <a:ext cx="603504" cy="566928"/>
            </a:xfrm>
            <a:prstGeom prst="line">
              <a:avLst/>
            </a:prstGeom>
            <a:ln w="6350">
              <a:solidFill>
                <a:schemeClr val="tx2">
                  <a:alpha val="30000"/>
                </a:schemeClr>
              </a:solidFill>
            </a:ln>
          </p:spPr>
        </p:cxnSp>
        <p:cxnSp>
          <p:nvCxnSpPr>
            <p:cNvPr id="276" name="edge-276"/>
            <p:cNvCxnSpPr/>
            <p:nvPr/>
          </p:nvCxnSpPr>
          <p:spPr>
            <a:xfrm flipV="1">
              <a:off x="9587484" y="3010662"/>
              <a:ext cx="603504" cy="425196"/>
            </a:xfrm>
            <a:prstGeom prst="line">
              <a:avLst/>
            </a:prstGeom>
            <a:ln w="6350">
              <a:solidFill>
                <a:schemeClr val="tx2">
                  <a:alpha val="30000"/>
                </a:schemeClr>
              </a:solidFill>
            </a:ln>
          </p:spPr>
        </p:cxnSp>
        <p:cxnSp>
          <p:nvCxnSpPr>
            <p:cNvPr id="277" name="edge-277"/>
            <p:cNvCxnSpPr/>
            <p:nvPr/>
          </p:nvCxnSpPr>
          <p:spPr>
            <a:xfrm flipV="1">
              <a:off x="9587484" y="3152394"/>
              <a:ext cx="603504" cy="283464"/>
            </a:xfrm>
            <a:prstGeom prst="line">
              <a:avLst/>
            </a:prstGeom>
            <a:ln w="6350">
              <a:solidFill>
                <a:schemeClr val="tx2">
                  <a:alpha val="30000"/>
                </a:schemeClr>
              </a:solidFill>
            </a:ln>
          </p:spPr>
        </p:cxnSp>
        <p:cxnSp>
          <p:nvCxnSpPr>
            <p:cNvPr id="278" name="edge-278"/>
            <p:cNvCxnSpPr/>
            <p:nvPr/>
          </p:nvCxnSpPr>
          <p:spPr>
            <a:xfrm flipV="1">
              <a:off x="9587484" y="3294126"/>
              <a:ext cx="603504" cy="141732"/>
            </a:xfrm>
            <a:prstGeom prst="line">
              <a:avLst/>
            </a:prstGeom>
            <a:ln w="6350">
              <a:solidFill>
                <a:schemeClr val="tx2">
                  <a:alpha val="30000"/>
                </a:schemeClr>
              </a:solidFill>
            </a:ln>
          </p:spPr>
        </p:cxnSp>
        <p:cxnSp>
          <p:nvCxnSpPr>
            <p:cNvPr id="279" name="edge-279"/>
            <p:cNvCxnSpPr/>
            <p:nvPr/>
          </p:nvCxnSpPr>
          <p:spPr>
            <a:xfrm>
              <a:off x="9587484" y="3435858"/>
              <a:ext cx="603504" cy="0"/>
            </a:xfrm>
            <a:prstGeom prst="line">
              <a:avLst/>
            </a:prstGeom>
            <a:ln w="6350">
              <a:solidFill>
                <a:schemeClr val="tx2">
                  <a:alpha val="30000"/>
                </a:schemeClr>
              </a:solidFill>
            </a:ln>
          </p:spPr>
        </p:cxnSp>
        <p:cxnSp>
          <p:nvCxnSpPr>
            <p:cNvPr id="280" name="edge-280"/>
            <p:cNvCxnSpPr/>
            <p:nvPr/>
          </p:nvCxnSpPr>
          <p:spPr>
            <a:xfrm>
              <a:off x="9587484" y="3435858"/>
              <a:ext cx="603504" cy="141732"/>
            </a:xfrm>
            <a:prstGeom prst="line">
              <a:avLst/>
            </a:prstGeom>
            <a:ln w="6350">
              <a:solidFill>
                <a:schemeClr val="tx2">
                  <a:alpha val="30000"/>
                </a:schemeClr>
              </a:solidFill>
            </a:ln>
          </p:spPr>
        </p:cxnSp>
        <p:cxnSp>
          <p:nvCxnSpPr>
            <p:cNvPr id="281" name="edge-281"/>
            <p:cNvCxnSpPr/>
            <p:nvPr/>
          </p:nvCxnSpPr>
          <p:spPr>
            <a:xfrm flipV="1">
              <a:off x="9587484" y="2585466"/>
              <a:ext cx="603504" cy="992124"/>
            </a:xfrm>
            <a:prstGeom prst="line">
              <a:avLst/>
            </a:prstGeom>
            <a:ln w="6350">
              <a:solidFill>
                <a:schemeClr val="tx2">
                  <a:alpha val="30000"/>
                </a:schemeClr>
              </a:solidFill>
            </a:ln>
          </p:spPr>
        </p:cxnSp>
        <p:cxnSp>
          <p:nvCxnSpPr>
            <p:cNvPr id="282" name="edge-282"/>
            <p:cNvCxnSpPr/>
            <p:nvPr/>
          </p:nvCxnSpPr>
          <p:spPr>
            <a:xfrm flipV="1">
              <a:off x="9587484" y="2727198"/>
              <a:ext cx="603504" cy="850392"/>
            </a:xfrm>
            <a:prstGeom prst="line">
              <a:avLst/>
            </a:prstGeom>
            <a:ln w="6350">
              <a:solidFill>
                <a:schemeClr val="tx2">
                  <a:alpha val="30000"/>
                </a:schemeClr>
              </a:solidFill>
            </a:ln>
          </p:spPr>
        </p:cxnSp>
        <p:cxnSp>
          <p:nvCxnSpPr>
            <p:cNvPr id="283" name="edge-283"/>
            <p:cNvCxnSpPr/>
            <p:nvPr/>
          </p:nvCxnSpPr>
          <p:spPr>
            <a:xfrm flipV="1">
              <a:off x="9587484" y="2868930"/>
              <a:ext cx="603504" cy="708660"/>
            </a:xfrm>
            <a:prstGeom prst="line">
              <a:avLst/>
            </a:prstGeom>
            <a:ln w="6350">
              <a:solidFill>
                <a:schemeClr val="tx2">
                  <a:alpha val="30000"/>
                </a:schemeClr>
              </a:solidFill>
            </a:ln>
          </p:spPr>
        </p:cxnSp>
        <p:cxnSp>
          <p:nvCxnSpPr>
            <p:cNvPr id="284" name="edge-284"/>
            <p:cNvCxnSpPr/>
            <p:nvPr/>
          </p:nvCxnSpPr>
          <p:spPr>
            <a:xfrm flipV="1">
              <a:off x="9587484" y="3010662"/>
              <a:ext cx="603504" cy="566928"/>
            </a:xfrm>
            <a:prstGeom prst="line">
              <a:avLst/>
            </a:prstGeom>
            <a:ln w="6350">
              <a:solidFill>
                <a:schemeClr val="tx2">
                  <a:alpha val="30000"/>
                </a:schemeClr>
              </a:solidFill>
            </a:ln>
          </p:spPr>
        </p:cxnSp>
        <p:cxnSp>
          <p:nvCxnSpPr>
            <p:cNvPr id="285" name="edge-285"/>
            <p:cNvCxnSpPr/>
            <p:nvPr/>
          </p:nvCxnSpPr>
          <p:spPr>
            <a:xfrm flipV="1">
              <a:off x="9587484" y="3152394"/>
              <a:ext cx="603504" cy="425196"/>
            </a:xfrm>
            <a:prstGeom prst="line">
              <a:avLst/>
            </a:prstGeom>
            <a:ln w="6350">
              <a:solidFill>
                <a:schemeClr val="tx2">
                  <a:alpha val="30000"/>
                </a:schemeClr>
              </a:solidFill>
            </a:ln>
          </p:spPr>
        </p:cxnSp>
        <p:cxnSp>
          <p:nvCxnSpPr>
            <p:cNvPr id="286" name="edge-286"/>
            <p:cNvCxnSpPr/>
            <p:nvPr/>
          </p:nvCxnSpPr>
          <p:spPr>
            <a:xfrm flipV="1">
              <a:off x="9587484" y="3294126"/>
              <a:ext cx="603504" cy="283464"/>
            </a:xfrm>
            <a:prstGeom prst="line">
              <a:avLst/>
            </a:prstGeom>
            <a:ln w="6350">
              <a:solidFill>
                <a:schemeClr val="tx2">
                  <a:alpha val="30000"/>
                </a:schemeClr>
              </a:solidFill>
            </a:ln>
          </p:spPr>
        </p:cxnSp>
        <p:cxnSp>
          <p:nvCxnSpPr>
            <p:cNvPr id="287" name="edge-287"/>
            <p:cNvCxnSpPr/>
            <p:nvPr/>
          </p:nvCxnSpPr>
          <p:spPr>
            <a:xfrm flipV="1">
              <a:off x="9587484" y="3435858"/>
              <a:ext cx="603504" cy="141732"/>
            </a:xfrm>
            <a:prstGeom prst="line">
              <a:avLst/>
            </a:prstGeom>
            <a:ln w="6350">
              <a:solidFill>
                <a:schemeClr val="tx2">
                  <a:alpha val="30000"/>
                </a:schemeClr>
              </a:solidFill>
            </a:ln>
          </p:spPr>
        </p:cxnSp>
        <p:cxnSp>
          <p:nvCxnSpPr>
            <p:cNvPr id="288" name="edge-288"/>
            <p:cNvCxnSpPr/>
            <p:nvPr/>
          </p:nvCxnSpPr>
          <p:spPr>
            <a:xfrm>
              <a:off x="9587484" y="3577590"/>
              <a:ext cx="603504" cy="0"/>
            </a:xfrm>
            <a:prstGeom prst="line">
              <a:avLst/>
            </a:prstGeom>
            <a:ln w="6350">
              <a:solidFill>
                <a:schemeClr val="tx2">
                  <a:alpha val="30000"/>
                </a:schemeClr>
              </a:solidFill>
            </a:ln>
          </p:spPr>
        </p:cxnSp>
        <p:cxnSp>
          <p:nvCxnSpPr>
            <p:cNvPr id="289" name="edge-289"/>
            <p:cNvCxnSpPr/>
            <p:nvPr/>
          </p:nvCxnSpPr>
          <p:spPr>
            <a:xfrm>
              <a:off x="10300716" y="2585466"/>
              <a:ext cx="603504" cy="496062"/>
            </a:xfrm>
            <a:prstGeom prst="line">
              <a:avLst/>
            </a:prstGeom>
            <a:ln w="6350">
              <a:solidFill>
                <a:schemeClr val="tx2">
                  <a:alpha val="30000"/>
                </a:schemeClr>
              </a:solidFill>
            </a:ln>
          </p:spPr>
        </p:cxnSp>
        <p:cxnSp>
          <p:nvCxnSpPr>
            <p:cNvPr id="290" name="edge-290"/>
            <p:cNvCxnSpPr/>
            <p:nvPr/>
          </p:nvCxnSpPr>
          <p:spPr>
            <a:xfrm>
              <a:off x="10300716" y="2727198"/>
              <a:ext cx="603504" cy="354330"/>
            </a:xfrm>
            <a:prstGeom prst="line">
              <a:avLst/>
            </a:prstGeom>
            <a:ln w="6350">
              <a:solidFill>
                <a:schemeClr val="tx2">
                  <a:alpha val="30000"/>
                </a:schemeClr>
              </a:solidFill>
            </a:ln>
          </p:spPr>
        </p:cxnSp>
        <p:cxnSp>
          <p:nvCxnSpPr>
            <p:cNvPr id="291" name="edge-291"/>
            <p:cNvCxnSpPr/>
            <p:nvPr/>
          </p:nvCxnSpPr>
          <p:spPr>
            <a:xfrm>
              <a:off x="10300716" y="2868930"/>
              <a:ext cx="603504" cy="212598"/>
            </a:xfrm>
            <a:prstGeom prst="line">
              <a:avLst/>
            </a:prstGeom>
            <a:ln w="6350">
              <a:solidFill>
                <a:schemeClr val="tx2">
                  <a:alpha val="30000"/>
                </a:schemeClr>
              </a:solidFill>
            </a:ln>
          </p:spPr>
        </p:cxnSp>
        <p:cxnSp>
          <p:nvCxnSpPr>
            <p:cNvPr id="292" name="edge-292"/>
            <p:cNvCxnSpPr/>
            <p:nvPr/>
          </p:nvCxnSpPr>
          <p:spPr>
            <a:xfrm>
              <a:off x="10300716" y="3010662"/>
              <a:ext cx="603504" cy="70866"/>
            </a:xfrm>
            <a:prstGeom prst="line">
              <a:avLst/>
            </a:prstGeom>
            <a:ln w="6350">
              <a:solidFill>
                <a:schemeClr val="tx2">
                  <a:alpha val="30000"/>
                </a:schemeClr>
              </a:solidFill>
            </a:ln>
          </p:spPr>
        </p:cxnSp>
        <p:cxnSp>
          <p:nvCxnSpPr>
            <p:cNvPr id="293" name="edge-293"/>
            <p:cNvCxnSpPr/>
            <p:nvPr/>
          </p:nvCxnSpPr>
          <p:spPr>
            <a:xfrm flipV="1">
              <a:off x="10300716" y="3081528"/>
              <a:ext cx="603504" cy="70866"/>
            </a:xfrm>
            <a:prstGeom prst="line">
              <a:avLst/>
            </a:prstGeom>
            <a:ln w="6350">
              <a:solidFill>
                <a:schemeClr val="tx2">
                  <a:alpha val="30000"/>
                </a:schemeClr>
              </a:solidFill>
            </a:ln>
          </p:spPr>
        </p:cxnSp>
        <p:cxnSp>
          <p:nvCxnSpPr>
            <p:cNvPr id="294" name="edge-294"/>
            <p:cNvCxnSpPr/>
            <p:nvPr/>
          </p:nvCxnSpPr>
          <p:spPr>
            <a:xfrm flipV="1">
              <a:off x="10300716" y="3081528"/>
              <a:ext cx="603504" cy="212598"/>
            </a:xfrm>
            <a:prstGeom prst="line">
              <a:avLst/>
            </a:prstGeom>
            <a:ln w="6350">
              <a:solidFill>
                <a:schemeClr val="tx2">
                  <a:alpha val="30000"/>
                </a:schemeClr>
              </a:solidFill>
            </a:ln>
          </p:spPr>
        </p:cxnSp>
        <p:cxnSp>
          <p:nvCxnSpPr>
            <p:cNvPr id="295" name="edge-295"/>
            <p:cNvCxnSpPr/>
            <p:nvPr/>
          </p:nvCxnSpPr>
          <p:spPr>
            <a:xfrm flipV="1">
              <a:off x="10300716" y="3081528"/>
              <a:ext cx="603504" cy="354330"/>
            </a:xfrm>
            <a:prstGeom prst="line">
              <a:avLst/>
            </a:prstGeom>
            <a:ln w="6350">
              <a:solidFill>
                <a:schemeClr val="tx2">
                  <a:alpha val="30000"/>
                </a:schemeClr>
              </a:solidFill>
            </a:ln>
          </p:spPr>
        </p:cxnSp>
        <p:cxnSp>
          <p:nvCxnSpPr>
            <p:cNvPr id="296" name="edge-296"/>
            <p:cNvCxnSpPr/>
            <p:nvPr/>
          </p:nvCxnSpPr>
          <p:spPr>
            <a:xfrm flipV="1">
              <a:off x="10300716" y="3081528"/>
              <a:ext cx="603504" cy="496062"/>
            </a:xfrm>
            <a:prstGeom prst="line">
              <a:avLst/>
            </a:prstGeom>
            <a:ln w="6350">
              <a:solidFill>
                <a:schemeClr val="tx2">
                  <a:alpha val="30000"/>
                </a:schemeClr>
              </a:solidFill>
            </a:ln>
          </p:spPr>
        </p:cxnSp>
        <p:sp>
          <p:nvSpPr>
            <p:cNvPr id="297" name="node-297"/>
            <p:cNvSpPr/>
            <p:nvPr/>
          </p:nvSpPr>
          <p:spPr>
            <a:xfrm>
              <a:off x="8764524" y="2514600"/>
              <a:ext cx="109728" cy="109728"/>
            </a:xfrm>
            <a:prstGeom prst="ellipse">
              <a:avLst/>
            </a:prstGeom>
            <a:solidFill>
              <a:schemeClr val="tx2"/>
            </a:solidFill>
            <a:ln/>
          </p:spPr>
          <p:txBody>
            <a:bodyPr/>
            <a:lstStyle/>
            <a:p>
              <a:endParaRPr lang="en-US"/>
            </a:p>
          </p:txBody>
        </p:sp>
        <p:sp>
          <p:nvSpPr>
            <p:cNvPr id="298" name="node-298"/>
            <p:cNvSpPr/>
            <p:nvPr/>
          </p:nvSpPr>
          <p:spPr>
            <a:xfrm>
              <a:off x="8764524" y="2660904"/>
              <a:ext cx="109728" cy="109728"/>
            </a:xfrm>
            <a:prstGeom prst="ellipse">
              <a:avLst/>
            </a:prstGeom>
            <a:solidFill>
              <a:schemeClr val="tx2"/>
            </a:solidFill>
            <a:ln/>
          </p:spPr>
          <p:txBody>
            <a:bodyPr/>
            <a:lstStyle/>
            <a:p>
              <a:endParaRPr lang="en-US"/>
            </a:p>
          </p:txBody>
        </p:sp>
        <p:sp>
          <p:nvSpPr>
            <p:cNvPr id="299" name="node-299"/>
            <p:cNvSpPr/>
            <p:nvPr/>
          </p:nvSpPr>
          <p:spPr>
            <a:xfrm>
              <a:off x="8764524" y="2807208"/>
              <a:ext cx="109728" cy="109728"/>
            </a:xfrm>
            <a:prstGeom prst="ellipse">
              <a:avLst/>
            </a:prstGeom>
            <a:solidFill>
              <a:schemeClr val="tx2"/>
            </a:solidFill>
            <a:ln/>
          </p:spPr>
          <p:txBody>
            <a:bodyPr/>
            <a:lstStyle/>
            <a:p>
              <a:endParaRPr lang="en-US"/>
            </a:p>
          </p:txBody>
        </p:sp>
        <p:sp>
          <p:nvSpPr>
            <p:cNvPr id="300" name="node-300"/>
            <p:cNvSpPr/>
            <p:nvPr/>
          </p:nvSpPr>
          <p:spPr>
            <a:xfrm>
              <a:off x="8764524" y="3246120"/>
              <a:ext cx="109728" cy="109728"/>
            </a:xfrm>
            <a:prstGeom prst="ellipse">
              <a:avLst/>
            </a:prstGeom>
            <a:solidFill>
              <a:schemeClr val="tx2"/>
            </a:solidFill>
            <a:ln/>
          </p:spPr>
          <p:txBody>
            <a:bodyPr/>
            <a:lstStyle/>
            <a:p>
              <a:endParaRPr lang="en-US"/>
            </a:p>
          </p:txBody>
        </p:sp>
        <p:sp>
          <p:nvSpPr>
            <p:cNvPr id="301" name="node-301"/>
            <p:cNvSpPr/>
            <p:nvPr/>
          </p:nvSpPr>
          <p:spPr>
            <a:xfrm>
              <a:off x="8764524" y="3392424"/>
              <a:ext cx="109728" cy="109728"/>
            </a:xfrm>
            <a:prstGeom prst="ellipse">
              <a:avLst/>
            </a:prstGeom>
            <a:solidFill>
              <a:schemeClr val="tx2"/>
            </a:solidFill>
            <a:ln/>
          </p:spPr>
          <p:txBody>
            <a:bodyPr/>
            <a:lstStyle/>
            <a:p>
              <a:endParaRPr lang="en-US"/>
            </a:p>
          </p:txBody>
        </p:sp>
        <p:sp>
          <p:nvSpPr>
            <p:cNvPr id="302" name="node-302"/>
            <p:cNvSpPr/>
            <p:nvPr/>
          </p:nvSpPr>
          <p:spPr>
            <a:xfrm>
              <a:off x="8764524" y="3538728"/>
              <a:ext cx="109728" cy="109728"/>
            </a:xfrm>
            <a:prstGeom prst="ellipse">
              <a:avLst/>
            </a:prstGeom>
            <a:solidFill>
              <a:schemeClr val="tx2"/>
            </a:solidFill>
            <a:ln/>
          </p:spPr>
          <p:txBody>
            <a:bodyPr/>
            <a:lstStyle/>
            <a:p>
              <a:endParaRPr lang="en-US"/>
            </a:p>
          </p:txBody>
        </p:sp>
        <p:sp>
          <p:nvSpPr>
            <p:cNvPr id="303" name="ellipsis-303"/>
            <p:cNvSpPr txBox="1"/>
            <p:nvPr/>
          </p:nvSpPr>
          <p:spPr>
            <a:xfrm>
              <a:off x="8636508" y="2971800"/>
              <a:ext cx="365760" cy="219456"/>
            </a:xfrm>
            <a:prstGeom prst="rect">
              <a:avLst/>
            </a:prstGeom>
            <a:noFill/>
            <a:ln/>
          </p:spPr>
          <p:txBody>
            <a:bodyPr wrap="square" lIns="0" tIns="0" rIns="0" bIns="0" rtlCol="0" anchor="ctr"/>
            <a:lstStyle/>
            <a:p>
              <a:pPr marL="0" indent="0" algn="ctr">
                <a:spcBef>
                  <a:spcPts val="0"/>
                </a:spcBef>
                <a:buNone/>
              </a:pPr>
              <a:r>
                <a:rPr lang="en-US" sz="1200" b="1" dirty="0">
                  <a:solidFill>
                    <a:schemeClr val="tx2"/>
                  </a:solidFill>
                </a:rPr>
                <a:t>⋮</a:t>
              </a:r>
            </a:p>
          </p:txBody>
        </p:sp>
        <p:sp>
          <p:nvSpPr>
            <p:cNvPr id="304" name="layer-label-304"/>
            <p:cNvSpPr txBox="1"/>
            <p:nvPr/>
          </p:nvSpPr>
          <p:spPr>
            <a:xfrm>
              <a:off x="8481060" y="3703320"/>
              <a:ext cx="676656"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14 in</a:t>
              </a:r>
            </a:p>
          </p:txBody>
        </p:sp>
        <p:sp>
          <p:nvSpPr>
            <p:cNvPr id="305" name="node-305"/>
            <p:cNvSpPr/>
            <p:nvPr/>
          </p:nvSpPr>
          <p:spPr>
            <a:xfrm>
              <a:off x="9477756" y="2530602"/>
              <a:ext cx="109728" cy="109728"/>
            </a:xfrm>
            <a:prstGeom prst="ellipse">
              <a:avLst/>
            </a:prstGeom>
            <a:solidFill>
              <a:schemeClr val="tx1"/>
            </a:solidFill>
            <a:ln/>
          </p:spPr>
          <p:txBody>
            <a:bodyPr/>
            <a:lstStyle/>
            <a:p>
              <a:endParaRPr lang="en-US"/>
            </a:p>
          </p:txBody>
        </p:sp>
        <p:sp>
          <p:nvSpPr>
            <p:cNvPr id="306" name="node-306"/>
            <p:cNvSpPr/>
            <p:nvPr/>
          </p:nvSpPr>
          <p:spPr>
            <a:xfrm>
              <a:off x="9477756" y="2672334"/>
              <a:ext cx="109728" cy="109728"/>
            </a:xfrm>
            <a:prstGeom prst="ellipse">
              <a:avLst/>
            </a:prstGeom>
            <a:solidFill>
              <a:schemeClr val="tx1"/>
            </a:solidFill>
            <a:ln/>
          </p:spPr>
          <p:txBody>
            <a:bodyPr/>
            <a:lstStyle/>
            <a:p>
              <a:endParaRPr lang="en-US"/>
            </a:p>
          </p:txBody>
        </p:sp>
        <p:sp>
          <p:nvSpPr>
            <p:cNvPr id="307" name="node-307"/>
            <p:cNvSpPr/>
            <p:nvPr/>
          </p:nvSpPr>
          <p:spPr>
            <a:xfrm>
              <a:off x="9477756" y="2814066"/>
              <a:ext cx="109728" cy="109728"/>
            </a:xfrm>
            <a:prstGeom prst="ellipse">
              <a:avLst/>
            </a:prstGeom>
            <a:solidFill>
              <a:schemeClr val="tx1"/>
            </a:solidFill>
            <a:ln/>
          </p:spPr>
          <p:txBody>
            <a:bodyPr/>
            <a:lstStyle/>
            <a:p>
              <a:endParaRPr lang="en-US"/>
            </a:p>
          </p:txBody>
        </p:sp>
        <p:sp>
          <p:nvSpPr>
            <p:cNvPr id="308" name="node-308"/>
            <p:cNvSpPr/>
            <p:nvPr/>
          </p:nvSpPr>
          <p:spPr>
            <a:xfrm>
              <a:off x="9477756" y="2955798"/>
              <a:ext cx="109728" cy="109728"/>
            </a:xfrm>
            <a:prstGeom prst="ellipse">
              <a:avLst/>
            </a:prstGeom>
            <a:solidFill>
              <a:schemeClr val="tx1"/>
            </a:solidFill>
            <a:ln/>
          </p:spPr>
          <p:txBody>
            <a:bodyPr/>
            <a:lstStyle/>
            <a:p>
              <a:endParaRPr lang="en-US"/>
            </a:p>
          </p:txBody>
        </p:sp>
        <p:sp>
          <p:nvSpPr>
            <p:cNvPr id="309" name="node-309"/>
            <p:cNvSpPr/>
            <p:nvPr/>
          </p:nvSpPr>
          <p:spPr>
            <a:xfrm>
              <a:off x="9477756" y="3097530"/>
              <a:ext cx="109728" cy="109728"/>
            </a:xfrm>
            <a:prstGeom prst="ellipse">
              <a:avLst/>
            </a:prstGeom>
            <a:solidFill>
              <a:schemeClr val="tx1"/>
            </a:solidFill>
            <a:ln/>
          </p:spPr>
          <p:txBody>
            <a:bodyPr/>
            <a:lstStyle/>
            <a:p>
              <a:endParaRPr lang="en-US"/>
            </a:p>
          </p:txBody>
        </p:sp>
        <p:sp>
          <p:nvSpPr>
            <p:cNvPr id="310" name="node-310"/>
            <p:cNvSpPr/>
            <p:nvPr/>
          </p:nvSpPr>
          <p:spPr>
            <a:xfrm>
              <a:off x="9477756" y="3239262"/>
              <a:ext cx="109728" cy="109728"/>
            </a:xfrm>
            <a:prstGeom prst="ellipse">
              <a:avLst/>
            </a:prstGeom>
            <a:solidFill>
              <a:schemeClr val="tx1"/>
            </a:solidFill>
            <a:ln/>
          </p:spPr>
          <p:txBody>
            <a:bodyPr/>
            <a:lstStyle/>
            <a:p>
              <a:endParaRPr lang="en-US"/>
            </a:p>
          </p:txBody>
        </p:sp>
        <p:sp>
          <p:nvSpPr>
            <p:cNvPr id="311" name="node-311"/>
            <p:cNvSpPr/>
            <p:nvPr/>
          </p:nvSpPr>
          <p:spPr>
            <a:xfrm>
              <a:off x="9477756" y="3380994"/>
              <a:ext cx="109728" cy="109728"/>
            </a:xfrm>
            <a:prstGeom prst="ellipse">
              <a:avLst/>
            </a:prstGeom>
            <a:solidFill>
              <a:schemeClr val="tx1"/>
            </a:solidFill>
            <a:ln/>
          </p:spPr>
          <p:txBody>
            <a:bodyPr/>
            <a:lstStyle/>
            <a:p>
              <a:endParaRPr lang="en-US"/>
            </a:p>
          </p:txBody>
        </p:sp>
        <p:sp>
          <p:nvSpPr>
            <p:cNvPr id="312" name="node-312"/>
            <p:cNvSpPr/>
            <p:nvPr/>
          </p:nvSpPr>
          <p:spPr>
            <a:xfrm>
              <a:off x="9477756" y="3522726"/>
              <a:ext cx="109728" cy="109728"/>
            </a:xfrm>
            <a:prstGeom prst="ellipse">
              <a:avLst/>
            </a:prstGeom>
            <a:solidFill>
              <a:schemeClr val="tx1"/>
            </a:solidFill>
            <a:ln/>
          </p:spPr>
          <p:txBody>
            <a:bodyPr/>
            <a:lstStyle/>
            <a:p>
              <a:endParaRPr lang="en-US"/>
            </a:p>
          </p:txBody>
        </p:sp>
        <p:sp>
          <p:nvSpPr>
            <p:cNvPr id="313" name="layer-label-313"/>
            <p:cNvSpPr txBox="1"/>
            <p:nvPr/>
          </p:nvSpPr>
          <p:spPr>
            <a:xfrm>
              <a:off x="9194292" y="3703320"/>
              <a:ext cx="676656"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8</a:t>
              </a:r>
            </a:p>
          </p:txBody>
        </p:sp>
        <p:sp>
          <p:nvSpPr>
            <p:cNvPr id="314" name="node-314"/>
            <p:cNvSpPr/>
            <p:nvPr/>
          </p:nvSpPr>
          <p:spPr>
            <a:xfrm>
              <a:off x="10190988" y="2530602"/>
              <a:ext cx="109728" cy="109728"/>
            </a:xfrm>
            <a:prstGeom prst="ellipse">
              <a:avLst/>
            </a:prstGeom>
            <a:solidFill>
              <a:schemeClr val="tx1"/>
            </a:solidFill>
            <a:ln/>
          </p:spPr>
          <p:txBody>
            <a:bodyPr/>
            <a:lstStyle/>
            <a:p>
              <a:endParaRPr lang="en-US"/>
            </a:p>
          </p:txBody>
        </p:sp>
        <p:sp>
          <p:nvSpPr>
            <p:cNvPr id="315" name="node-315"/>
            <p:cNvSpPr/>
            <p:nvPr/>
          </p:nvSpPr>
          <p:spPr>
            <a:xfrm>
              <a:off x="10190988" y="2672334"/>
              <a:ext cx="109728" cy="109728"/>
            </a:xfrm>
            <a:prstGeom prst="ellipse">
              <a:avLst/>
            </a:prstGeom>
            <a:solidFill>
              <a:schemeClr val="tx1"/>
            </a:solidFill>
            <a:ln/>
          </p:spPr>
          <p:txBody>
            <a:bodyPr/>
            <a:lstStyle/>
            <a:p>
              <a:endParaRPr lang="en-US"/>
            </a:p>
          </p:txBody>
        </p:sp>
        <p:sp>
          <p:nvSpPr>
            <p:cNvPr id="316" name="node-316"/>
            <p:cNvSpPr/>
            <p:nvPr/>
          </p:nvSpPr>
          <p:spPr>
            <a:xfrm>
              <a:off x="10190988" y="2814066"/>
              <a:ext cx="109728" cy="109728"/>
            </a:xfrm>
            <a:prstGeom prst="ellipse">
              <a:avLst/>
            </a:prstGeom>
            <a:solidFill>
              <a:schemeClr val="tx1"/>
            </a:solidFill>
            <a:ln/>
          </p:spPr>
          <p:txBody>
            <a:bodyPr/>
            <a:lstStyle/>
            <a:p>
              <a:endParaRPr lang="en-US"/>
            </a:p>
          </p:txBody>
        </p:sp>
        <p:sp>
          <p:nvSpPr>
            <p:cNvPr id="317" name="node-317"/>
            <p:cNvSpPr/>
            <p:nvPr/>
          </p:nvSpPr>
          <p:spPr>
            <a:xfrm>
              <a:off x="10190988" y="2955798"/>
              <a:ext cx="109728" cy="109728"/>
            </a:xfrm>
            <a:prstGeom prst="ellipse">
              <a:avLst/>
            </a:prstGeom>
            <a:solidFill>
              <a:schemeClr val="tx1"/>
            </a:solidFill>
            <a:ln/>
          </p:spPr>
          <p:txBody>
            <a:bodyPr/>
            <a:lstStyle/>
            <a:p>
              <a:endParaRPr lang="en-US"/>
            </a:p>
          </p:txBody>
        </p:sp>
        <p:sp>
          <p:nvSpPr>
            <p:cNvPr id="318" name="node-318"/>
            <p:cNvSpPr/>
            <p:nvPr/>
          </p:nvSpPr>
          <p:spPr>
            <a:xfrm>
              <a:off x="10190988" y="3097530"/>
              <a:ext cx="109728" cy="109728"/>
            </a:xfrm>
            <a:prstGeom prst="ellipse">
              <a:avLst/>
            </a:prstGeom>
            <a:solidFill>
              <a:schemeClr val="tx1"/>
            </a:solidFill>
            <a:ln/>
          </p:spPr>
          <p:txBody>
            <a:bodyPr/>
            <a:lstStyle/>
            <a:p>
              <a:endParaRPr lang="en-US"/>
            </a:p>
          </p:txBody>
        </p:sp>
        <p:sp>
          <p:nvSpPr>
            <p:cNvPr id="319" name="node-319"/>
            <p:cNvSpPr/>
            <p:nvPr/>
          </p:nvSpPr>
          <p:spPr>
            <a:xfrm>
              <a:off x="10190988" y="3239262"/>
              <a:ext cx="109728" cy="109728"/>
            </a:xfrm>
            <a:prstGeom prst="ellipse">
              <a:avLst/>
            </a:prstGeom>
            <a:solidFill>
              <a:schemeClr val="tx1"/>
            </a:solidFill>
            <a:ln/>
          </p:spPr>
          <p:txBody>
            <a:bodyPr/>
            <a:lstStyle/>
            <a:p>
              <a:endParaRPr lang="en-US"/>
            </a:p>
          </p:txBody>
        </p:sp>
        <p:sp>
          <p:nvSpPr>
            <p:cNvPr id="320" name="node-320"/>
            <p:cNvSpPr/>
            <p:nvPr/>
          </p:nvSpPr>
          <p:spPr>
            <a:xfrm>
              <a:off x="10190988" y="3380994"/>
              <a:ext cx="109728" cy="109728"/>
            </a:xfrm>
            <a:prstGeom prst="ellipse">
              <a:avLst/>
            </a:prstGeom>
            <a:solidFill>
              <a:schemeClr val="tx1"/>
            </a:solidFill>
            <a:ln/>
          </p:spPr>
          <p:txBody>
            <a:bodyPr/>
            <a:lstStyle/>
            <a:p>
              <a:endParaRPr lang="en-US"/>
            </a:p>
          </p:txBody>
        </p:sp>
        <p:sp>
          <p:nvSpPr>
            <p:cNvPr id="321" name="node-321"/>
            <p:cNvSpPr/>
            <p:nvPr/>
          </p:nvSpPr>
          <p:spPr>
            <a:xfrm>
              <a:off x="10190988" y="3522726"/>
              <a:ext cx="109728" cy="109728"/>
            </a:xfrm>
            <a:prstGeom prst="ellipse">
              <a:avLst/>
            </a:prstGeom>
            <a:solidFill>
              <a:schemeClr val="tx1"/>
            </a:solidFill>
            <a:ln/>
          </p:spPr>
          <p:txBody>
            <a:bodyPr/>
            <a:lstStyle/>
            <a:p>
              <a:endParaRPr lang="en-US"/>
            </a:p>
          </p:txBody>
        </p:sp>
        <p:sp>
          <p:nvSpPr>
            <p:cNvPr id="322" name="layer-label-322"/>
            <p:cNvSpPr txBox="1"/>
            <p:nvPr/>
          </p:nvSpPr>
          <p:spPr>
            <a:xfrm>
              <a:off x="9907524" y="3703320"/>
              <a:ext cx="676656"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8</a:t>
              </a:r>
            </a:p>
          </p:txBody>
        </p:sp>
        <p:sp>
          <p:nvSpPr>
            <p:cNvPr id="323" name="node-323"/>
            <p:cNvSpPr/>
            <p:nvPr/>
          </p:nvSpPr>
          <p:spPr>
            <a:xfrm>
              <a:off x="10904220" y="3026664"/>
              <a:ext cx="109728" cy="109728"/>
            </a:xfrm>
            <a:prstGeom prst="ellipse">
              <a:avLst/>
            </a:prstGeom>
            <a:solidFill>
              <a:schemeClr val="accent1"/>
            </a:solidFill>
            <a:ln/>
          </p:spPr>
          <p:txBody>
            <a:bodyPr/>
            <a:lstStyle/>
            <a:p>
              <a:endParaRPr lang="en-US"/>
            </a:p>
          </p:txBody>
        </p:sp>
        <p:sp>
          <p:nvSpPr>
            <p:cNvPr id="324" name="layer-label-324"/>
            <p:cNvSpPr txBox="1"/>
            <p:nvPr/>
          </p:nvSpPr>
          <p:spPr>
            <a:xfrm>
              <a:off x="10620756" y="3703320"/>
              <a:ext cx="676656" cy="201168"/>
            </a:xfrm>
            <a:prstGeom prst="rect">
              <a:avLst/>
            </a:prstGeom>
            <a:noFill/>
            <a:ln/>
          </p:spPr>
          <p:txBody>
            <a:bodyPr wrap="square" lIns="0" tIns="0" rIns="0" bIns="0" rtlCol="0" anchor="t"/>
            <a:lstStyle/>
            <a:p>
              <a:pPr marL="0" indent="0" algn="ctr">
                <a:spcBef>
                  <a:spcPts val="0"/>
                </a:spcBef>
                <a:buNone/>
              </a:pPr>
              <a:r>
                <a:rPr lang="en-US" sz="1050" dirty="0">
                  <a:solidFill>
                    <a:schemeClr val="tx2"/>
                  </a:solidFill>
                </a:rPr>
                <a:t>1 out</a:t>
              </a:r>
            </a:p>
          </p:txBody>
        </p:sp>
        <p:sp>
          <p:nvSpPr>
            <p:cNvPr id="325" name="card-genes-325"/>
            <p:cNvSpPr txBox="1"/>
            <p:nvPr/>
          </p:nvSpPr>
          <p:spPr>
            <a:xfrm>
              <a:off x="8366760" y="3995928"/>
              <a:ext cx="3044952" cy="384048"/>
            </a:xfrm>
            <a:prstGeom prst="rect">
              <a:avLst/>
            </a:prstGeom>
            <a:noFill/>
            <a:ln/>
          </p:spPr>
          <p:txBody>
            <a:bodyPr wrap="square" lIns="0" tIns="0" rIns="0" bIns="0" rtlCol="0" anchor="b"/>
            <a:lstStyle/>
            <a:p>
              <a:pPr marL="0" indent="0" algn="l">
                <a:spcBef>
                  <a:spcPts val="0"/>
                </a:spcBef>
                <a:buNone/>
              </a:pPr>
              <a:r>
                <a:rPr lang="en-US" sz="2400" b="1" dirty="0">
                  <a:solidFill>
                    <a:schemeClr val="accent1"/>
                  </a:solidFill>
                </a:rPr>
                <a:t>201</a:t>
              </a:r>
              <a:r>
                <a:rPr lang="en-US" sz="1300" dirty="0">
                  <a:solidFill>
                    <a:schemeClr val="tx2"/>
                  </a:solidFill>
                </a:rPr>
                <a:t>  genes</a:t>
              </a:r>
            </a:p>
          </p:txBody>
        </p:sp>
        <p:sp>
          <p:nvSpPr>
            <p:cNvPr id="326" name="card-math-326"/>
            <p:cNvSpPr txBox="1"/>
            <p:nvPr/>
          </p:nvSpPr>
          <p:spPr>
            <a:xfrm>
              <a:off x="8366760" y="4398264"/>
              <a:ext cx="3044952" cy="219456"/>
            </a:xfrm>
            <a:prstGeom prst="rect">
              <a:avLst/>
            </a:prstGeom>
            <a:noFill/>
            <a:ln/>
          </p:spPr>
          <p:txBody>
            <a:bodyPr wrap="square" lIns="0" tIns="0" rIns="0" bIns="0" rtlCol="0" anchor="t"/>
            <a:lstStyle/>
            <a:p>
              <a:pPr marL="0" indent="0" algn="l">
                <a:spcBef>
                  <a:spcPts val="0"/>
                </a:spcBef>
                <a:buNone/>
              </a:pPr>
              <a:r>
                <a:rPr lang="en-US" sz="1100" dirty="0">
                  <a:solidFill>
                    <a:schemeClr val="tx2"/>
                  </a:solidFill>
                </a:rPr>
                <a:t>120 + 72 + 9  (one term per layer)</a:t>
              </a:r>
            </a:p>
          </p:txBody>
        </p:sp>
      </p:grpSp>
      <p:sp>
        <p:nvSpPr>
          <p:cNvPr id="4" name="bullets-486"/>
          <p:cNvSpPr txBox="1"/>
          <p:nvPr/>
        </p:nvSpPr>
        <p:spPr>
          <a:xfrm>
            <a:off x="548640" y="5029200"/>
            <a:ext cx="11094415" cy="164592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One number per hidden layer, any size: </a:t>
            </a:r>
            <a:r>
              <a:rPr lang="en-US" sz="1500" dirty="0">
                <a:solidFill>
                  <a:schemeClr val="tx1"/>
                </a:solidFill>
                <a:latin typeface="Courier New" pitchFamily="34" charset="0"/>
                <a:ea typeface="Courier New" pitchFamily="34" charset="-122"/>
                <a:cs typeface="Courier New" pitchFamily="34" charset="-120"/>
              </a:rPr>
              <a:t>--hidden 32</a:t>
            </a:r>
            <a:r>
              <a:rPr lang="en-US" sz="1600" dirty="0">
                <a:solidFill>
                  <a:schemeClr val="tx1"/>
                </a:solidFill>
              </a:rPr>
              <a:t>, </a:t>
            </a:r>
            <a:r>
              <a:rPr lang="en-US" sz="1500" dirty="0">
                <a:solidFill>
                  <a:schemeClr val="tx1"/>
                </a:solidFill>
                <a:latin typeface="Courier New" pitchFamily="34" charset="0"/>
                <a:ea typeface="Courier New" pitchFamily="34" charset="-122"/>
                <a:cs typeface="Courier New" pitchFamily="34" charset="-120"/>
              </a:rPr>
              <a:t>--hidden 16 16</a:t>
            </a:r>
            <a:r>
              <a:rPr lang="en-US" sz="1600" dirty="0">
                <a:solidFill>
                  <a:schemeClr val="tx1"/>
                </a:solidFill>
              </a:rPr>
              <a:t>. Defaults: 8 (local), 16 (global)</a:t>
            </a:r>
            <a:endParaRPr lang="en-US" sz="1600" dirty="0"/>
          </a:p>
          <a:p>
            <a:pPr marL="228600" indent="-228600">
              <a:spcAft>
                <a:spcPts val="800"/>
              </a:spcAft>
              <a:buSzPct val="100000"/>
              <a:buChar char="•"/>
            </a:pPr>
            <a:r>
              <a:rPr lang="en-US" sz="1500" dirty="0">
                <a:solidFill>
                  <a:schemeClr val="tx1"/>
                </a:solidFill>
                <a:latin typeface="Courier New" pitchFamily="34" charset="0"/>
                <a:ea typeface="Courier New" pitchFamily="34" charset="-122"/>
                <a:cs typeface="Courier New" pitchFamily="34" charset="-120"/>
              </a:rPr>
              <a:t>--activation tanh | relu | sigmoid</a:t>
            </a:r>
            <a:r>
              <a:rPr lang="en-US" sz="1600" dirty="0">
                <a:solidFill>
                  <a:schemeClr val="tx1"/>
                </a:solidFill>
              </a:rPr>
              <a:t> sets the hidden layers; the output is always tanh</a:t>
            </a:r>
            <a:endParaRPr lang="en-US" sz="1600" dirty="0"/>
          </a:p>
          <a:p>
            <a:pPr marL="228600" indent="-228600">
              <a:spcAft>
                <a:spcPts val="800"/>
              </a:spcAft>
              <a:buSzPct val="100000"/>
              <a:buChar char="•"/>
            </a:pPr>
            <a:r>
              <a:rPr lang="en-US" sz="1600" dirty="0">
                <a:solidFill>
                  <a:schemeClr val="tx1"/>
                </a:solidFill>
              </a:rPr>
              <a:t>Bigger isn't free: more genes is a bigger space to search with the same 50 × 50 budget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377440"/>
            <a:ext cx="6766560" cy="1097280"/>
          </a:xfrm>
          <a:prstGeom prst="rect">
            <a:avLst/>
          </a:prstGeom>
          <a:noFill/>
          <a:ln/>
        </p:spPr>
        <p:txBody>
          <a:bodyPr wrap="square" lIns="0" tIns="0" rIns="0" bIns="0" rtlCol="0" anchor="b"/>
          <a:lstStyle/>
          <a:p>
            <a:pPr marL="0" indent="0" algn="l">
              <a:buNone/>
            </a:pPr>
            <a:r>
              <a:rPr lang="en-US" sz="4000" b="1" dirty="0">
                <a:solidFill>
                  <a:schemeClr val="bg1"/>
                </a:solidFill>
              </a:rPr>
              <a:t>Evolving it</a:t>
            </a:r>
            <a:endParaRPr lang="en-US" sz="4000" dirty="0"/>
          </a:p>
        </p:txBody>
      </p:sp>
      <p:sp>
        <p:nvSpPr>
          <p:cNvPr id="3" name="Text 0"/>
          <p:cNvSpPr>
            <a:spLocks noGrp="1"/>
          </p:cNvSpPr>
          <p:nvPr>
            <p:ph type="body" idx="101" hasCustomPrompt="1"/>
          </p:nvPr>
        </p:nvSpPr>
        <p:spPr>
          <a:xfrm>
            <a:off x="548640" y="3611880"/>
            <a:ext cx="6766560" cy="1097280"/>
          </a:xfrm>
          <a:prstGeom prst="rect">
            <a:avLst/>
          </a:prstGeom>
          <a:noFill/>
          <a:ln/>
        </p:spPr>
        <p:txBody>
          <a:bodyPr wrap="square" lIns="0" tIns="0" rIns="0" bIns="0" rtlCol="0" anchor="t"/>
          <a:lstStyle/>
          <a:p>
            <a:pPr marL="0" indent="0" algn="l">
              <a:buNone/>
            </a:pPr>
            <a:r>
              <a:rPr lang="en-US" sz="1800" dirty="0">
                <a:solidFill>
                  <a:schemeClr val="accent4"/>
                </a:solidFill>
              </a:rPr>
              <a:t>Body genes, brain genes, and how long it all takes</a:t>
            </a:r>
            <a:endParaRPr lang="en-US" sz="1800" dirty="0"/>
          </a:p>
        </p:txBody>
      </p:sp>
      <p:sp>
        <p:nvSpPr>
          <p:cNvPr id="4" name="voxel-487"/>
          <p:cNvSpPr/>
          <p:nvPr/>
        </p:nvSpPr>
        <p:spPr>
          <a:xfrm>
            <a:off x="8822863" y="1809415"/>
            <a:ext cx="605699" cy="605699"/>
          </a:xfrm>
          <a:prstGeom prst="rect">
            <a:avLst/>
          </a:prstGeom>
          <a:solidFill>
            <a:schemeClr val="tx2"/>
          </a:solidFill>
          <a:ln/>
        </p:spPr>
        <p:txBody>
          <a:bodyPr/>
          <a:lstStyle/>
          <a:p>
            <a:endParaRPr lang="en-US"/>
          </a:p>
        </p:txBody>
      </p:sp>
      <p:sp>
        <p:nvSpPr>
          <p:cNvPr id="5" name="voxel-488"/>
          <p:cNvSpPr/>
          <p:nvPr/>
        </p:nvSpPr>
        <p:spPr>
          <a:xfrm>
            <a:off x="9481231" y="1809415"/>
            <a:ext cx="605699" cy="605699"/>
          </a:xfrm>
          <a:prstGeom prst="rect">
            <a:avLst/>
          </a:prstGeom>
          <a:solidFill>
            <a:schemeClr val="accent2"/>
          </a:solidFill>
          <a:ln/>
        </p:spPr>
        <p:txBody>
          <a:bodyPr/>
          <a:lstStyle/>
          <a:p>
            <a:endParaRPr lang="en-US"/>
          </a:p>
        </p:txBody>
      </p:sp>
      <p:sp>
        <p:nvSpPr>
          <p:cNvPr id="6" name="voxel-489"/>
          <p:cNvSpPr/>
          <p:nvPr/>
        </p:nvSpPr>
        <p:spPr>
          <a:xfrm>
            <a:off x="10139599" y="1809415"/>
            <a:ext cx="605699" cy="605699"/>
          </a:xfrm>
          <a:prstGeom prst="rect">
            <a:avLst/>
          </a:prstGeom>
          <a:solidFill>
            <a:schemeClr val="tx2"/>
          </a:solidFill>
          <a:ln/>
        </p:spPr>
        <p:txBody>
          <a:bodyPr/>
          <a:lstStyle/>
          <a:p>
            <a:endParaRPr lang="en-US"/>
          </a:p>
        </p:txBody>
      </p:sp>
      <p:sp>
        <p:nvSpPr>
          <p:cNvPr id="7" name="voxel-490"/>
          <p:cNvSpPr/>
          <p:nvPr/>
        </p:nvSpPr>
        <p:spPr>
          <a:xfrm>
            <a:off x="10797967" y="1809415"/>
            <a:ext cx="605699" cy="605699"/>
          </a:xfrm>
          <a:prstGeom prst="rect">
            <a:avLst/>
          </a:prstGeom>
          <a:solidFill>
            <a:schemeClr val="tx2"/>
          </a:solidFill>
          <a:ln/>
        </p:spPr>
        <p:txBody>
          <a:bodyPr/>
          <a:lstStyle/>
          <a:p>
            <a:endParaRPr lang="en-US"/>
          </a:p>
        </p:txBody>
      </p:sp>
      <p:sp>
        <p:nvSpPr>
          <p:cNvPr id="8" name="voxel-491"/>
          <p:cNvSpPr/>
          <p:nvPr/>
        </p:nvSpPr>
        <p:spPr>
          <a:xfrm>
            <a:off x="8164495" y="2467783"/>
            <a:ext cx="605699" cy="605699"/>
          </a:xfrm>
          <a:prstGeom prst="rect">
            <a:avLst/>
          </a:prstGeom>
          <a:solidFill>
            <a:schemeClr val="accent4"/>
          </a:solidFill>
          <a:ln/>
        </p:spPr>
        <p:txBody>
          <a:bodyPr/>
          <a:lstStyle/>
          <a:p>
            <a:endParaRPr lang="en-US"/>
          </a:p>
        </p:txBody>
      </p:sp>
      <p:sp>
        <p:nvSpPr>
          <p:cNvPr id="9" name="voxel-492"/>
          <p:cNvSpPr/>
          <p:nvPr/>
        </p:nvSpPr>
        <p:spPr>
          <a:xfrm>
            <a:off x="8822863" y="2467783"/>
            <a:ext cx="605699" cy="605699"/>
          </a:xfrm>
          <a:prstGeom prst="rect">
            <a:avLst/>
          </a:prstGeom>
          <a:solidFill>
            <a:schemeClr val="accent2"/>
          </a:solidFill>
          <a:ln/>
        </p:spPr>
        <p:txBody>
          <a:bodyPr/>
          <a:lstStyle/>
          <a:p>
            <a:endParaRPr lang="en-US"/>
          </a:p>
        </p:txBody>
      </p:sp>
      <p:sp>
        <p:nvSpPr>
          <p:cNvPr id="10" name="voxel-493"/>
          <p:cNvSpPr/>
          <p:nvPr/>
        </p:nvSpPr>
        <p:spPr>
          <a:xfrm>
            <a:off x="9481231" y="2467783"/>
            <a:ext cx="605699" cy="605699"/>
          </a:xfrm>
          <a:prstGeom prst="rect">
            <a:avLst/>
          </a:prstGeom>
          <a:solidFill>
            <a:schemeClr val="accent2"/>
          </a:solidFill>
          <a:ln/>
        </p:spPr>
        <p:txBody>
          <a:bodyPr/>
          <a:lstStyle/>
          <a:p>
            <a:endParaRPr lang="en-US"/>
          </a:p>
        </p:txBody>
      </p:sp>
      <p:sp>
        <p:nvSpPr>
          <p:cNvPr id="11" name="voxel-494"/>
          <p:cNvSpPr/>
          <p:nvPr/>
        </p:nvSpPr>
        <p:spPr>
          <a:xfrm>
            <a:off x="10139599" y="2467783"/>
            <a:ext cx="605699" cy="605699"/>
          </a:xfrm>
          <a:prstGeom prst="rect">
            <a:avLst/>
          </a:prstGeom>
          <a:solidFill>
            <a:schemeClr val="accent1"/>
          </a:solidFill>
          <a:ln/>
        </p:spPr>
        <p:txBody>
          <a:bodyPr/>
          <a:lstStyle/>
          <a:p>
            <a:endParaRPr lang="en-US"/>
          </a:p>
        </p:txBody>
      </p:sp>
      <p:sp>
        <p:nvSpPr>
          <p:cNvPr id="12" name="voxel-495"/>
          <p:cNvSpPr/>
          <p:nvPr/>
        </p:nvSpPr>
        <p:spPr>
          <a:xfrm>
            <a:off x="10797967" y="2467783"/>
            <a:ext cx="605699" cy="605699"/>
          </a:xfrm>
          <a:prstGeom prst="rect">
            <a:avLst/>
          </a:prstGeom>
          <a:solidFill>
            <a:schemeClr val="accent1"/>
          </a:solidFill>
          <a:ln/>
        </p:spPr>
        <p:txBody>
          <a:bodyPr/>
          <a:lstStyle/>
          <a:p>
            <a:endParaRPr lang="en-US"/>
          </a:p>
        </p:txBody>
      </p:sp>
      <p:sp>
        <p:nvSpPr>
          <p:cNvPr id="13" name="voxel-496"/>
          <p:cNvSpPr/>
          <p:nvPr/>
        </p:nvSpPr>
        <p:spPr>
          <a:xfrm>
            <a:off x="8164495" y="3126151"/>
            <a:ext cx="605699" cy="605699"/>
          </a:xfrm>
          <a:prstGeom prst="rect">
            <a:avLst/>
          </a:prstGeom>
          <a:solidFill>
            <a:schemeClr val="accent1"/>
          </a:solidFill>
          <a:ln/>
        </p:spPr>
        <p:txBody>
          <a:bodyPr/>
          <a:lstStyle/>
          <a:p>
            <a:endParaRPr lang="en-US"/>
          </a:p>
        </p:txBody>
      </p:sp>
      <p:sp>
        <p:nvSpPr>
          <p:cNvPr id="14" name="voxel-497"/>
          <p:cNvSpPr/>
          <p:nvPr/>
        </p:nvSpPr>
        <p:spPr>
          <a:xfrm>
            <a:off x="8822863" y="3126151"/>
            <a:ext cx="605699" cy="605699"/>
          </a:xfrm>
          <a:prstGeom prst="rect">
            <a:avLst/>
          </a:prstGeom>
          <a:solidFill>
            <a:schemeClr val="accent1"/>
          </a:solidFill>
          <a:ln/>
        </p:spPr>
        <p:txBody>
          <a:bodyPr/>
          <a:lstStyle/>
          <a:p>
            <a:endParaRPr lang="en-US"/>
          </a:p>
        </p:txBody>
      </p:sp>
      <p:sp>
        <p:nvSpPr>
          <p:cNvPr id="15" name="voxel-498"/>
          <p:cNvSpPr/>
          <p:nvPr/>
        </p:nvSpPr>
        <p:spPr>
          <a:xfrm>
            <a:off x="9481231" y="3126151"/>
            <a:ext cx="605699" cy="605699"/>
          </a:xfrm>
          <a:prstGeom prst="rect">
            <a:avLst/>
          </a:prstGeom>
          <a:solidFill>
            <a:schemeClr val="accent2"/>
          </a:solidFill>
          <a:ln/>
        </p:spPr>
        <p:txBody>
          <a:bodyPr/>
          <a:lstStyle/>
          <a:p>
            <a:endParaRPr lang="en-US"/>
          </a:p>
        </p:txBody>
      </p:sp>
      <p:sp>
        <p:nvSpPr>
          <p:cNvPr id="16" name="voxel-499"/>
          <p:cNvSpPr/>
          <p:nvPr/>
        </p:nvSpPr>
        <p:spPr>
          <a:xfrm>
            <a:off x="10797967" y="3126151"/>
            <a:ext cx="605699" cy="605699"/>
          </a:xfrm>
          <a:prstGeom prst="rect">
            <a:avLst/>
          </a:prstGeom>
          <a:solidFill>
            <a:schemeClr val="accent4"/>
          </a:solidFill>
          <a:ln/>
        </p:spPr>
        <p:txBody>
          <a:bodyPr/>
          <a:lstStyle/>
          <a:p>
            <a:endParaRPr lang="en-US"/>
          </a:p>
        </p:txBody>
      </p:sp>
      <p:sp>
        <p:nvSpPr>
          <p:cNvPr id="17" name="voxel-500"/>
          <p:cNvSpPr/>
          <p:nvPr/>
        </p:nvSpPr>
        <p:spPr>
          <a:xfrm>
            <a:off x="8164495" y="3784519"/>
            <a:ext cx="605699" cy="605699"/>
          </a:xfrm>
          <a:prstGeom prst="rect">
            <a:avLst/>
          </a:prstGeom>
          <a:solidFill>
            <a:schemeClr val="accent1"/>
          </a:solidFill>
          <a:ln/>
        </p:spPr>
        <p:txBody>
          <a:bodyPr/>
          <a:lstStyle/>
          <a:p>
            <a:endParaRPr lang="en-US"/>
          </a:p>
        </p:txBody>
      </p:sp>
      <p:sp>
        <p:nvSpPr>
          <p:cNvPr id="18" name="voxel-501"/>
          <p:cNvSpPr/>
          <p:nvPr/>
        </p:nvSpPr>
        <p:spPr>
          <a:xfrm>
            <a:off x="8822863" y="3784519"/>
            <a:ext cx="605699" cy="605699"/>
          </a:xfrm>
          <a:prstGeom prst="rect">
            <a:avLst/>
          </a:prstGeom>
          <a:solidFill>
            <a:schemeClr val="accent2"/>
          </a:solidFill>
          <a:ln/>
        </p:spPr>
        <p:txBody>
          <a:bodyPr/>
          <a:lstStyle/>
          <a:p>
            <a:endParaRPr lang="en-US"/>
          </a:p>
        </p:txBody>
      </p:sp>
      <p:sp>
        <p:nvSpPr>
          <p:cNvPr id="19" name="voxel-502"/>
          <p:cNvSpPr/>
          <p:nvPr/>
        </p:nvSpPr>
        <p:spPr>
          <a:xfrm>
            <a:off x="10139599" y="3784519"/>
            <a:ext cx="605699" cy="605699"/>
          </a:xfrm>
          <a:prstGeom prst="rect">
            <a:avLst/>
          </a:prstGeom>
          <a:solidFill>
            <a:schemeClr val="accent2"/>
          </a:solidFill>
          <a:ln/>
        </p:spPr>
        <p:txBody>
          <a:bodyPr/>
          <a:lstStyle/>
          <a:p>
            <a:endParaRPr lang="en-US"/>
          </a:p>
        </p:txBody>
      </p:sp>
      <p:sp>
        <p:nvSpPr>
          <p:cNvPr id="20" name="voxel-503"/>
          <p:cNvSpPr/>
          <p:nvPr/>
        </p:nvSpPr>
        <p:spPr>
          <a:xfrm>
            <a:off x="10797967" y="3784519"/>
            <a:ext cx="605699" cy="605699"/>
          </a:xfrm>
          <a:prstGeom prst="rect">
            <a:avLst/>
          </a:prstGeom>
          <a:solidFill>
            <a:schemeClr val="accent1"/>
          </a:solidFill>
          <a:ln/>
        </p:spPr>
        <p:txBody>
          <a:bodyPr/>
          <a:lstStyle/>
          <a:p>
            <a:endParaRPr lang="en-US"/>
          </a:p>
        </p:txBody>
      </p:sp>
      <p:sp>
        <p:nvSpPr>
          <p:cNvPr id="21" name="voxel-504"/>
          <p:cNvSpPr/>
          <p:nvPr/>
        </p:nvSpPr>
        <p:spPr>
          <a:xfrm>
            <a:off x="8164495" y="4442887"/>
            <a:ext cx="605699" cy="605699"/>
          </a:xfrm>
          <a:prstGeom prst="rect">
            <a:avLst/>
          </a:prstGeom>
          <a:solidFill>
            <a:schemeClr val="accent1"/>
          </a:solidFill>
          <a:ln/>
        </p:spPr>
        <p:txBody>
          <a:bodyPr/>
          <a:lstStyle/>
          <a:p>
            <a:endParaRPr lang="en-US"/>
          </a:p>
        </p:txBody>
      </p:sp>
      <p:sp>
        <p:nvSpPr>
          <p:cNvPr id="22" name="voxel-505"/>
          <p:cNvSpPr/>
          <p:nvPr/>
        </p:nvSpPr>
        <p:spPr>
          <a:xfrm>
            <a:off x="8822863" y="4442887"/>
            <a:ext cx="605699" cy="605699"/>
          </a:xfrm>
          <a:prstGeom prst="rect">
            <a:avLst/>
          </a:prstGeom>
          <a:solidFill>
            <a:schemeClr val="accent1"/>
          </a:solidFill>
          <a:ln/>
        </p:spPr>
        <p:txBody>
          <a:bodyPr/>
          <a:lstStyle/>
          <a:p>
            <a:endParaRPr lang="en-US"/>
          </a:p>
        </p:txBody>
      </p:sp>
      <p:sp>
        <p:nvSpPr>
          <p:cNvPr id="23" name="voxel-506"/>
          <p:cNvSpPr/>
          <p:nvPr/>
        </p:nvSpPr>
        <p:spPr>
          <a:xfrm>
            <a:off x="9481231" y="4442887"/>
            <a:ext cx="605699" cy="605699"/>
          </a:xfrm>
          <a:prstGeom prst="rect">
            <a:avLst/>
          </a:prstGeom>
          <a:solidFill>
            <a:schemeClr val="accent1"/>
          </a:solidFill>
          <a:ln/>
        </p:spPr>
        <p:txBody>
          <a:bodyPr/>
          <a:lstStyle/>
          <a:p>
            <a:endParaRPr lang="en-US"/>
          </a:p>
        </p:txBody>
      </p:sp>
      <p:sp>
        <p:nvSpPr>
          <p:cNvPr id="24" name="voxel-507"/>
          <p:cNvSpPr/>
          <p:nvPr/>
        </p:nvSpPr>
        <p:spPr>
          <a:xfrm>
            <a:off x="10797967" y="4442887"/>
            <a:ext cx="605699" cy="605699"/>
          </a:xfrm>
          <a:prstGeom prst="rect">
            <a:avLst/>
          </a:prstGeom>
          <a:solidFill>
            <a:schemeClr val="accent1"/>
          </a:solidFill>
          <a:ln/>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How a body becomes genes</a:t>
            </a:r>
            <a:endParaRPr lang="en-US" sz="3200" dirty="0"/>
          </a:p>
        </p:txBody>
      </p:sp>
      <p:sp>
        <p:nvSpPr>
          <p:cNvPr id="3" name="text-508"/>
          <p:cNvSpPr txBox="1"/>
          <p:nvPr/>
        </p:nvSpPr>
        <p:spPr>
          <a:xfrm>
            <a:off x="548640" y="1371600"/>
            <a:ext cx="11094415" cy="411480"/>
          </a:xfrm>
          <a:prstGeom prst="rect">
            <a:avLst/>
          </a:prstGeom>
          <a:noFill/>
          <a:ln/>
        </p:spPr>
        <p:txBody>
          <a:bodyPr wrap="square" lIns="0" tIns="0" rIns="0" bIns="0" rtlCol="0" anchor="t"/>
          <a:lstStyle/>
          <a:p>
            <a:pPr marL="0" indent="0">
              <a:buNone/>
            </a:pPr>
            <a:r>
              <a:rPr lang="en-US" sz="1800" dirty="0">
                <a:solidFill>
                  <a:schemeClr val="tx1"/>
                </a:solidFill>
              </a:rPr>
              <a:t>Each voxel gets five genes, one per material. The largest gene wins.</a:t>
            </a:r>
            <a:endParaRPr lang="en-US" sz="1800" dirty="0"/>
          </a:p>
        </p:txBody>
      </p:sp>
      <p:sp>
        <p:nvSpPr>
          <p:cNvPr id="4" name="gene-509"/>
          <p:cNvSpPr/>
          <p:nvPr/>
        </p:nvSpPr>
        <p:spPr>
          <a:xfrm>
            <a:off x="914400" y="3511296"/>
            <a:ext cx="640080" cy="329184"/>
          </a:xfrm>
          <a:prstGeom prst="rect">
            <a:avLst/>
          </a:prstGeom>
          <a:solidFill>
            <a:schemeClr val="accent4"/>
          </a:solidFill>
          <a:ln/>
        </p:spPr>
        <p:txBody>
          <a:bodyPr/>
          <a:lstStyle/>
          <a:p>
            <a:endParaRPr lang="en-US"/>
          </a:p>
        </p:txBody>
      </p:sp>
      <p:sp>
        <p:nvSpPr>
          <p:cNvPr id="5" name="text-510"/>
          <p:cNvSpPr txBox="1"/>
          <p:nvPr/>
        </p:nvSpPr>
        <p:spPr>
          <a:xfrm>
            <a:off x="777240" y="4617720"/>
            <a:ext cx="914400" cy="320040"/>
          </a:xfrm>
          <a:prstGeom prst="rect">
            <a:avLst/>
          </a:prstGeom>
          <a:noFill/>
          <a:ln/>
        </p:spPr>
        <p:txBody>
          <a:bodyPr wrap="square" lIns="0" tIns="0" rIns="0" bIns="0" rtlCol="0" anchor="t"/>
          <a:lstStyle/>
          <a:p>
            <a:pPr marL="0" indent="0" algn="ctr">
              <a:buNone/>
            </a:pPr>
            <a:r>
              <a:rPr lang="en-US" sz="1300" dirty="0">
                <a:solidFill>
                  <a:schemeClr val="tx2"/>
                </a:solidFill>
              </a:rPr>
              <a:t>empty</a:t>
            </a:r>
            <a:endParaRPr lang="en-US" sz="1300" dirty="0"/>
          </a:p>
        </p:txBody>
      </p:sp>
      <p:sp>
        <p:nvSpPr>
          <p:cNvPr id="6" name="gene-511"/>
          <p:cNvSpPr/>
          <p:nvPr/>
        </p:nvSpPr>
        <p:spPr>
          <a:xfrm>
            <a:off x="1828800" y="3840480"/>
            <a:ext cx="640080" cy="658368"/>
          </a:xfrm>
          <a:prstGeom prst="rect">
            <a:avLst/>
          </a:prstGeom>
          <a:solidFill>
            <a:schemeClr val="accent3"/>
          </a:solidFill>
          <a:ln/>
        </p:spPr>
        <p:txBody>
          <a:bodyPr/>
          <a:lstStyle/>
          <a:p>
            <a:endParaRPr lang="en-US"/>
          </a:p>
        </p:txBody>
      </p:sp>
      <p:sp>
        <p:nvSpPr>
          <p:cNvPr id="7" name="text-512"/>
          <p:cNvSpPr txBox="1"/>
          <p:nvPr/>
        </p:nvSpPr>
        <p:spPr>
          <a:xfrm>
            <a:off x="1691640" y="4617720"/>
            <a:ext cx="914400" cy="320040"/>
          </a:xfrm>
          <a:prstGeom prst="rect">
            <a:avLst/>
          </a:prstGeom>
          <a:noFill/>
          <a:ln/>
        </p:spPr>
        <p:txBody>
          <a:bodyPr wrap="square" lIns="0" tIns="0" rIns="0" bIns="0" rtlCol="0" anchor="t"/>
          <a:lstStyle/>
          <a:p>
            <a:pPr marL="0" indent="0" algn="ctr">
              <a:buNone/>
            </a:pPr>
            <a:r>
              <a:rPr lang="en-US" sz="1300" dirty="0">
                <a:solidFill>
                  <a:schemeClr val="tx2"/>
                </a:solidFill>
              </a:rPr>
              <a:t>rigid</a:t>
            </a:r>
            <a:endParaRPr lang="en-US" sz="1300" dirty="0"/>
          </a:p>
        </p:txBody>
      </p:sp>
      <p:sp>
        <p:nvSpPr>
          <p:cNvPr id="8" name="gene-513"/>
          <p:cNvSpPr/>
          <p:nvPr/>
        </p:nvSpPr>
        <p:spPr>
          <a:xfrm>
            <a:off x="2743200" y="3675888"/>
            <a:ext cx="640080" cy="164592"/>
          </a:xfrm>
          <a:prstGeom prst="rect">
            <a:avLst/>
          </a:prstGeom>
          <a:solidFill>
            <a:schemeClr val="accent4"/>
          </a:solidFill>
          <a:ln/>
        </p:spPr>
        <p:txBody>
          <a:bodyPr/>
          <a:lstStyle/>
          <a:p>
            <a:endParaRPr lang="en-US"/>
          </a:p>
        </p:txBody>
      </p:sp>
      <p:sp>
        <p:nvSpPr>
          <p:cNvPr id="9" name="text-514"/>
          <p:cNvSpPr txBox="1"/>
          <p:nvPr/>
        </p:nvSpPr>
        <p:spPr>
          <a:xfrm>
            <a:off x="2606040" y="4617720"/>
            <a:ext cx="914400" cy="320040"/>
          </a:xfrm>
          <a:prstGeom prst="rect">
            <a:avLst/>
          </a:prstGeom>
          <a:noFill/>
          <a:ln/>
        </p:spPr>
        <p:txBody>
          <a:bodyPr wrap="square" lIns="0" tIns="0" rIns="0" bIns="0" rtlCol="0" anchor="t"/>
          <a:lstStyle/>
          <a:p>
            <a:pPr marL="0" indent="0" algn="ctr">
              <a:buNone/>
            </a:pPr>
            <a:r>
              <a:rPr lang="en-US" sz="1300" dirty="0">
                <a:solidFill>
                  <a:schemeClr val="tx2"/>
                </a:solidFill>
              </a:rPr>
              <a:t>soft</a:t>
            </a:r>
            <a:endParaRPr lang="en-US" sz="1300" dirty="0"/>
          </a:p>
        </p:txBody>
      </p:sp>
      <p:sp>
        <p:nvSpPr>
          <p:cNvPr id="10" name="gene-515"/>
          <p:cNvSpPr/>
          <p:nvPr/>
        </p:nvSpPr>
        <p:spPr>
          <a:xfrm>
            <a:off x="3657600" y="2523744"/>
            <a:ext cx="640080" cy="1316736"/>
          </a:xfrm>
          <a:prstGeom prst="rect">
            <a:avLst/>
          </a:prstGeom>
          <a:solidFill>
            <a:schemeClr val="accent1"/>
          </a:solidFill>
          <a:ln w="38100">
            <a:solidFill>
              <a:schemeClr val="accent5"/>
            </a:solidFill>
            <a:prstDash val="solid"/>
          </a:ln>
        </p:spPr>
        <p:txBody>
          <a:bodyPr/>
          <a:lstStyle/>
          <a:p>
            <a:endParaRPr lang="en-US"/>
          </a:p>
        </p:txBody>
      </p:sp>
      <p:sp>
        <p:nvSpPr>
          <p:cNvPr id="11" name="text-516"/>
          <p:cNvSpPr txBox="1"/>
          <p:nvPr/>
        </p:nvSpPr>
        <p:spPr>
          <a:xfrm>
            <a:off x="3520440" y="4617720"/>
            <a:ext cx="914400" cy="320040"/>
          </a:xfrm>
          <a:prstGeom prst="rect">
            <a:avLst/>
          </a:prstGeom>
          <a:noFill/>
          <a:ln/>
        </p:spPr>
        <p:txBody>
          <a:bodyPr wrap="square" lIns="0" tIns="0" rIns="0" bIns="0" rtlCol="0" anchor="t"/>
          <a:lstStyle/>
          <a:p>
            <a:pPr marL="0" indent="0" algn="ctr">
              <a:buNone/>
            </a:pPr>
            <a:r>
              <a:rPr lang="en-US" sz="1300" dirty="0">
                <a:solidFill>
                  <a:schemeClr val="tx2"/>
                </a:solidFill>
              </a:rPr>
              <a:t>H</a:t>
            </a:r>
            <a:endParaRPr lang="en-US" sz="1300" dirty="0"/>
          </a:p>
        </p:txBody>
      </p:sp>
      <p:sp>
        <p:nvSpPr>
          <p:cNvPr id="12" name="gene-517"/>
          <p:cNvSpPr/>
          <p:nvPr/>
        </p:nvSpPr>
        <p:spPr>
          <a:xfrm>
            <a:off x="4572000" y="3017520"/>
            <a:ext cx="640080" cy="822960"/>
          </a:xfrm>
          <a:prstGeom prst="rect">
            <a:avLst/>
          </a:prstGeom>
          <a:solidFill>
            <a:schemeClr val="accent2"/>
          </a:solidFill>
          <a:ln/>
        </p:spPr>
        <p:txBody>
          <a:bodyPr/>
          <a:lstStyle/>
          <a:p>
            <a:endParaRPr lang="en-US"/>
          </a:p>
        </p:txBody>
      </p:sp>
      <p:sp>
        <p:nvSpPr>
          <p:cNvPr id="13" name="text-518"/>
          <p:cNvSpPr txBox="1"/>
          <p:nvPr/>
        </p:nvSpPr>
        <p:spPr>
          <a:xfrm>
            <a:off x="4434840" y="4617720"/>
            <a:ext cx="914400" cy="320040"/>
          </a:xfrm>
          <a:prstGeom prst="rect">
            <a:avLst/>
          </a:prstGeom>
          <a:noFill/>
          <a:ln/>
        </p:spPr>
        <p:txBody>
          <a:bodyPr wrap="square" lIns="0" tIns="0" rIns="0" bIns="0" rtlCol="0" anchor="t"/>
          <a:lstStyle/>
          <a:p>
            <a:pPr marL="0" indent="0" algn="ctr">
              <a:buNone/>
            </a:pPr>
            <a:r>
              <a:rPr lang="en-US" sz="1300" dirty="0">
                <a:solidFill>
                  <a:schemeClr val="tx2"/>
                </a:solidFill>
              </a:rPr>
              <a:t>V</a:t>
            </a:r>
            <a:endParaRPr lang="en-US" sz="1300" dirty="0"/>
          </a:p>
        </p:txBody>
      </p:sp>
      <p:sp>
        <p:nvSpPr>
          <p:cNvPr id="14" name="axis-519"/>
          <p:cNvSpPr/>
          <p:nvPr/>
        </p:nvSpPr>
        <p:spPr>
          <a:xfrm>
            <a:off x="822960" y="3840480"/>
            <a:ext cx="4572000" cy="0"/>
          </a:xfrm>
          <a:prstGeom prst="line">
            <a:avLst/>
          </a:prstGeom>
          <a:noFill/>
          <a:ln w="12700">
            <a:solidFill>
              <a:schemeClr val="tx2"/>
            </a:solidFill>
            <a:prstDash val="solid"/>
          </a:ln>
        </p:spPr>
        <p:txBody>
          <a:bodyPr/>
          <a:lstStyle/>
          <a:p>
            <a:endParaRPr lang="en-US"/>
          </a:p>
        </p:txBody>
      </p:sp>
      <p:sp>
        <p:nvSpPr>
          <p:cNvPr id="15" name="arrow-520"/>
          <p:cNvSpPr/>
          <p:nvPr/>
        </p:nvSpPr>
        <p:spPr>
          <a:xfrm>
            <a:off x="5577840" y="2926080"/>
            <a:ext cx="731520" cy="0"/>
          </a:xfrm>
          <a:prstGeom prst="line">
            <a:avLst/>
          </a:prstGeom>
          <a:noFill/>
          <a:ln w="25400">
            <a:solidFill>
              <a:schemeClr val="tx2"/>
            </a:solidFill>
            <a:prstDash val="solid"/>
            <a:tailEnd type="triangle"/>
          </a:ln>
        </p:spPr>
        <p:txBody>
          <a:bodyPr/>
          <a:lstStyle/>
          <a:p>
            <a:endParaRPr lang="en-US"/>
          </a:p>
        </p:txBody>
      </p:sp>
      <p:sp>
        <p:nvSpPr>
          <p:cNvPr id="16" name="winner-521"/>
          <p:cNvSpPr/>
          <p:nvPr/>
        </p:nvSpPr>
        <p:spPr>
          <a:xfrm>
            <a:off x="6492240" y="2468880"/>
            <a:ext cx="914400" cy="914400"/>
          </a:xfrm>
          <a:prstGeom prst="rect">
            <a:avLst/>
          </a:prstGeom>
          <a:solidFill>
            <a:schemeClr val="accent1"/>
          </a:solidFill>
          <a:ln/>
        </p:spPr>
        <p:txBody>
          <a:bodyPr/>
          <a:lstStyle/>
          <a:p>
            <a:endParaRPr lang="en-US"/>
          </a:p>
        </p:txBody>
      </p:sp>
      <p:sp>
        <p:nvSpPr>
          <p:cNvPr id="17" name="text-522"/>
          <p:cNvSpPr txBox="1"/>
          <p:nvPr/>
        </p:nvSpPr>
        <p:spPr>
          <a:xfrm>
            <a:off x="6126480" y="3474720"/>
            <a:ext cx="1645920" cy="320040"/>
          </a:xfrm>
          <a:prstGeom prst="rect">
            <a:avLst/>
          </a:prstGeom>
          <a:noFill/>
          <a:ln/>
        </p:spPr>
        <p:txBody>
          <a:bodyPr wrap="square" lIns="0" tIns="0" rIns="0" bIns="0" rtlCol="0" anchor="t"/>
          <a:lstStyle/>
          <a:p>
            <a:pPr marL="0" indent="0" algn="ctr">
              <a:buNone/>
            </a:pPr>
            <a:r>
              <a:rPr lang="en-US" sz="1300" dirty="0">
                <a:solidFill>
                  <a:schemeClr val="tx2"/>
                </a:solidFill>
              </a:rPr>
              <a:t>horizontal muscle</a:t>
            </a:r>
            <a:endParaRPr lang="en-US" sz="1300" dirty="0"/>
          </a:p>
        </p:txBody>
      </p:sp>
      <p:sp>
        <p:nvSpPr>
          <p:cNvPr id="18" name="card-523"/>
          <p:cNvSpPr/>
          <p:nvPr/>
        </p:nvSpPr>
        <p:spPr>
          <a:xfrm>
            <a:off x="8229600" y="1920240"/>
            <a:ext cx="3410712" cy="3108960"/>
          </a:xfrm>
          <a:prstGeom prst="roundRect">
            <a:avLst>
              <a:gd name="adj" fmla="val 2353"/>
            </a:avLst>
          </a:prstGeom>
          <a:solidFill>
            <a:schemeClr val="bg2"/>
          </a:solidFill>
          <a:ln/>
        </p:spPr>
        <p:txBody>
          <a:bodyPr/>
          <a:lstStyle/>
          <a:p>
            <a:endParaRPr lang="en-US"/>
          </a:p>
        </p:txBody>
      </p:sp>
      <p:sp>
        <p:nvSpPr>
          <p:cNvPr id="19" name="bullets-524"/>
          <p:cNvSpPr txBox="1"/>
          <p:nvPr/>
        </p:nvSpPr>
        <p:spPr>
          <a:xfrm>
            <a:off x="8503920" y="2194560"/>
            <a:ext cx="2926080" cy="27432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A small mutation usually leaves a voxel unchanged</a:t>
            </a:r>
            <a:endParaRPr lang="en-US" sz="1500" dirty="0"/>
          </a:p>
          <a:p>
            <a:pPr marL="228600" indent="-228600">
              <a:spcAft>
                <a:spcPts val="800"/>
              </a:spcAft>
              <a:buSzPct val="100000"/>
              <a:buChar char="•"/>
            </a:pPr>
            <a:r>
              <a:rPr lang="en-US" sz="1500" dirty="0">
                <a:solidFill>
                  <a:schemeClr val="tx1"/>
                </a:solidFill>
              </a:rPr>
              <a:t>Only when two genes swap order does the material flip</a:t>
            </a:r>
            <a:endParaRPr lang="en-US" sz="1500" dirty="0"/>
          </a:p>
          <a:p>
            <a:pPr marL="228600" indent="-228600">
              <a:spcAft>
                <a:spcPts val="800"/>
              </a:spcAft>
              <a:buSzPct val="100000"/>
              <a:buChar char="•"/>
            </a:pPr>
            <a:r>
              <a:rPr lang="en-US" sz="1500" dirty="0">
                <a:solidFill>
                  <a:schemeClr val="tx1"/>
                </a:solidFill>
              </a:rPr>
              <a:t>5×5 grid: 125 body genes, then the brain's genes</a:t>
            </a:r>
            <a:endParaRPr lang="en-US" sz="1500" dirty="0"/>
          </a:p>
        </p:txBody>
      </p:sp>
      <p:sp>
        <p:nvSpPr>
          <p:cNvPr id="20" name="text-525"/>
          <p:cNvSpPr txBox="1"/>
          <p:nvPr/>
        </p:nvSpPr>
        <p:spPr>
          <a:xfrm>
            <a:off x="548640" y="5577840"/>
            <a:ext cx="11094415" cy="365760"/>
          </a:xfrm>
          <a:prstGeom prst="rect">
            <a:avLst/>
          </a:prstGeom>
          <a:noFill/>
          <a:ln/>
        </p:spPr>
        <p:txBody>
          <a:bodyPr wrap="square" lIns="0" tIns="0" rIns="0" bIns="0" rtlCol="0" anchor="t"/>
          <a:lstStyle/>
          <a:p>
            <a:pPr marL="0" indent="0">
              <a:buNone/>
            </a:pPr>
            <a:r>
              <a:rPr lang="en-US" sz="1500" dirty="0">
                <a:solidFill>
                  <a:schemeClr val="tx2"/>
                </a:solidFill>
              </a:rPr>
              <a:t>Modes: control (fixed body) · codesign (body + brain) · morphology (body only, fixed brain)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Running it</a:t>
            </a:r>
            <a:endParaRPr lang="en-US" sz="3200" dirty="0"/>
          </a:p>
        </p:txBody>
      </p:sp>
      <p:sp>
        <p:nvSpPr>
          <p:cNvPr id="3" name="card-526"/>
          <p:cNvSpPr/>
          <p:nvPr/>
        </p:nvSpPr>
        <p:spPr>
          <a:xfrm>
            <a:off x="548640" y="1417320"/>
            <a:ext cx="11094415" cy="3611880"/>
          </a:xfrm>
          <a:prstGeom prst="roundRect">
            <a:avLst>
              <a:gd name="adj" fmla="val 2025"/>
            </a:avLst>
          </a:prstGeom>
          <a:solidFill>
            <a:schemeClr val="bg2"/>
          </a:solidFill>
          <a:ln/>
        </p:spPr>
        <p:txBody>
          <a:bodyPr/>
          <a:lstStyle/>
          <a:p>
            <a:endParaRPr lang="en-US"/>
          </a:p>
        </p:txBody>
      </p:sp>
      <p:sp>
        <p:nvSpPr>
          <p:cNvPr id="4" name="code-527"/>
          <p:cNvSpPr txBox="1"/>
          <p:nvPr/>
        </p:nvSpPr>
        <p:spPr>
          <a:xfrm>
            <a:off x="777240" y="1600200"/>
            <a:ext cx="10637215" cy="3246120"/>
          </a:xfrm>
          <a:prstGeom prst="rect">
            <a:avLst/>
          </a:prstGeom>
          <a:noFill/>
          <a:ln/>
        </p:spPr>
        <p:txBody>
          <a:bodyPr wrap="square" lIns="0" tIns="0" rIns="0" bIns="0" rtlCol="0" anchor="t"/>
          <a:lstStyle/>
          <a:p>
            <a:pPr marL="0" indent="0">
              <a:buNone/>
            </a:pPr>
            <a:r>
              <a:rPr lang="en-US" sz="1500" dirty="0">
                <a:solidFill>
                  <a:schemeClr val="tx1"/>
                </a:solidFill>
                <a:latin typeface="Courier New" pitchFamily="34" charset="0"/>
                <a:ea typeface="Courier New" pitchFamily="34" charset="-122"/>
                <a:cs typeface="Courier New" pitchFamily="34" charset="-120"/>
              </a:rPr>
              <a:t># (a) a fixed body: a preset, or your own</a:t>
            </a:r>
            <a:endParaRPr lang="en-US" sz="1500" dirty="0"/>
          </a:p>
          <a:p>
            <a:pPr marL="0" indent="0">
              <a:buNone/>
            </a:pPr>
            <a:r>
              <a:rPr lang="en-US" sz="1500" dirty="0">
                <a:solidFill>
                  <a:schemeClr val="tx1"/>
                </a:solidFill>
                <a:latin typeface="Courier New" pitchFamily="34" charset="0"/>
                <a:ea typeface="Courier New" pitchFamily="34" charset="-122"/>
                <a:cs typeface="Courier New" pitchFamily="34" charset="-120"/>
              </a:rPr>
              <a:t>python evolve.py --mode control --body biped \</a:t>
            </a:r>
            <a:endParaRPr lang="en-US" sz="1500" dirty="0"/>
          </a:p>
          <a:p>
            <a:pPr marL="0" indent="0">
              <a:buNone/>
            </a:pPr>
            <a:r>
              <a:rPr lang="en-US" sz="1500" dirty="0">
                <a:solidFill>
                  <a:schemeClr val="tx1"/>
                </a:solidFill>
                <a:latin typeface="Courier New" pitchFamily="34" charset="0"/>
                <a:ea typeface="Courier New" pitchFamily="34" charset="-122"/>
                <a:cs typeface="Courier New" pitchFamily="34" charset="-120"/>
              </a:rPr>
              <a:t>    --controller local --loop closed --verbose --vizperf --output biped.npy</a:t>
            </a:r>
            <a:endParaRPr lang="en-US" sz="1500" dirty="0"/>
          </a:p>
          <a:p>
            <a:pPr marL="0" indent="0">
              <a:buNone/>
            </a:pPr>
            <a:endParaRPr lang="en-US" sz="1500" dirty="0"/>
          </a:p>
          <a:p>
            <a:pPr marL="0" indent="0">
              <a:buNone/>
            </a:pPr>
            <a:r>
              <a:rPr lang="en-US" sz="1500" dirty="0">
                <a:solidFill>
                  <a:schemeClr val="tx1"/>
                </a:solidFill>
                <a:latin typeface="Courier New" pitchFamily="34" charset="0"/>
                <a:ea typeface="Courier New" pitchFamily="34" charset="-122"/>
                <a:cs typeface="Courier New" pitchFamily="34" charset="-120"/>
              </a:rPr>
              <a:t># (b) co-design on a 5x5 grid</a:t>
            </a:r>
            <a:endParaRPr lang="en-US" sz="1500" dirty="0"/>
          </a:p>
          <a:p>
            <a:pPr marL="0" indent="0">
              <a:buNone/>
            </a:pPr>
            <a:r>
              <a:rPr lang="en-US" sz="1500" dirty="0">
                <a:solidFill>
                  <a:schemeClr val="tx1"/>
                </a:solidFill>
                <a:latin typeface="Courier New" pitchFamily="34" charset="0"/>
                <a:ea typeface="Courier New" pitchFamily="34" charset="-122"/>
                <a:cs typeface="Courier New" pitchFamily="34" charset="-120"/>
              </a:rPr>
              <a:t>python evolve.py --mode codesign --controller global --loop open \</a:t>
            </a:r>
            <a:endParaRPr lang="en-US" sz="1500" dirty="0"/>
          </a:p>
          <a:p>
            <a:pPr marL="0" indent="0">
              <a:buNone/>
            </a:pPr>
            <a:r>
              <a:rPr lang="en-US" sz="1500" dirty="0">
                <a:solidFill>
                  <a:schemeClr val="tx1"/>
                </a:solidFill>
                <a:latin typeface="Courier New" pitchFamily="34" charset="0"/>
                <a:ea typeface="Courier New" pitchFamily="34" charset="-122"/>
                <a:cs typeface="Courier New" pitchFamily="34" charset="-120"/>
              </a:rPr>
              <a:t>    --seed 1 --output codesign.npy --fitness_output codesign.npz</a:t>
            </a:r>
            <a:endParaRPr lang="en-US" sz="1500" dirty="0"/>
          </a:p>
          <a:p>
            <a:pPr marL="0" indent="0">
              <a:buNone/>
            </a:pPr>
            <a:endParaRPr lang="en-US" sz="1500" dirty="0"/>
          </a:p>
          <a:p>
            <a:pPr marL="0" indent="0">
              <a:buNone/>
            </a:pPr>
            <a:r>
              <a:rPr lang="en-US" sz="1500" dirty="0">
                <a:solidFill>
                  <a:schemeClr val="tx1"/>
                </a:solidFill>
                <a:latin typeface="Courier New" pitchFamily="34" charset="0"/>
                <a:ea typeface="Courier New" pitchFamily="34" charset="-122"/>
                <a:cs typeface="Courier New" pitchFamily="34" charset="-120"/>
              </a:rPr>
              <a:t># watch what evolution built</a:t>
            </a:r>
            <a:endParaRPr lang="en-US" sz="1500" dirty="0"/>
          </a:p>
          <a:p>
            <a:pPr marL="0" indent="0">
              <a:buNone/>
            </a:pPr>
            <a:r>
              <a:rPr lang="en-US" sz="1500" dirty="0">
                <a:solidFill>
                  <a:schemeClr val="tx1"/>
                </a:solidFill>
                <a:latin typeface="Courier New" pitchFamily="34" charset="0"/>
                <a:ea typeface="Courier New" pitchFamily="34" charset="-122"/>
                <a:cs typeface="Courier New" pitchFamily="34" charset="-120"/>
              </a:rPr>
              <a:t>python sim.py --genome codesign.npy --showbody --viztraces --gif codesign.gif</a:t>
            </a:r>
            <a:endParaRPr lang="en-US" sz="1500" dirty="0"/>
          </a:p>
        </p:txBody>
      </p:sp>
      <p:sp>
        <p:nvSpPr>
          <p:cNvPr id="5" name="bullets-528"/>
          <p:cNvSpPr txBox="1"/>
          <p:nvPr/>
        </p:nvSpPr>
        <p:spPr>
          <a:xfrm>
            <a:off x="548640" y="5303520"/>
            <a:ext cx="11094415" cy="9144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--output also saves a .json of every setting: sim.py rebuilds the robot by itself</a:t>
            </a:r>
            <a:endParaRPr lang="en-US" sz="1600" dirty="0"/>
          </a:p>
          <a:p>
            <a:pPr marL="228600" indent="-228600">
              <a:spcAft>
                <a:spcPts val="800"/>
              </a:spcAft>
              <a:buSzPct val="100000"/>
              <a:buChar char="•"/>
            </a:pPr>
            <a:r>
              <a:rPr lang="en-US" sz="1600" dirty="0">
                <a:solidFill>
                  <a:schemeClr val="tx1"/>
                </a:solidFill>
              </a:rPr>
              <a:t>Save --fitness_output for every run you might plot later</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How long it takes</a:t>
            </a:r>
            <a:endParaRPr lang="en-US" sz="3200" dirty="0"/>
          </a:p>
        </p:txBody>
      </p:sp>
      <p:sp>
        <p:nvSpPr>
          <p:cNvPr id="3" name="card-529"/>
          <p:cNvSpPr/>
          <p:nvPr/>
        </p:nvSpPr>
        <p:spPr>
          <a:xfrm>
            <a:off x="548640" y="1463040"/>
            <a:ext cx="3429000" cy="1920240"/>
          </a:xfrm>
          <a:prstGeom prst="roundRect">
            <a:avLst>
              <a:gd name="adj" fmla="val 3077"/>
            </a:avLst>
          </a:prstGeom>
          <a:solidFill>
            <a:schemeClr val="bg2"/>
          </a:solidFill>
          <a:ln/>
        </p:spPr>
        <p:txBody>
          <a:bodyPr/>
          <a:lstStyle/>
          <a:p>
            <a:endParaRPr lang="en-US"/>
          </a:p>
        </p:txBody>
      </p:sp>
      <p:sp>
        <p:nvSpPr>
          <p:cNvPr id="4" name="text-530"/>
          <p:cNvSpPr txBox="1"/>
          <p:nvPr/>
        </p:nvSpPr>
        <p:spPr>
          <a:xfrm>
            <a:off x="868680" y="1645920"/>
            <a:ext cx="2834640" cy="822960"/>
          </a:xfrm>
          <a:prstGeom prst="rect">
            <a:avLst/>
          </a:prstGeom>
          <a:noFill/>
          <a:ln/>
        </p:spPr>
        <p:txBody>
          <a:bodyPr wrap="square" lIns="0" tIns="0" rIns="0" bIns="0" rtlCol="0" anchor="b"/>
          <a:lstStyle/>
          <a:p>
            <a:pPr marL="0" indent="0">
              <a:buNone/>
            </a:pPr>
            <a:r>
              <a:rPr lang="en-US" sz="4400" b="1" dirty="0">
                <a:solidFill>
                  <a:schemeClr val="accent6"/>
                </a:solidFill>
              </a:rPr>
              <a:t>3.5 min</a:t>
            </a:r>
            <a:endParaRPr lang="en-US" sz="4400" dirty="0"/>
          </a:p>
        </p:txBody>
      </p:sp>
      <p:sp>
        <p:nvSpPr>
          <p:cNvPr id="5" name="text-531"/>
          <p:cNvSpPr txBox="1"/>
          <p:nvPr/>
        </p:nvSpPr>
        <p:spPr>
          <a:xfrm>
            <a:off x="868680" y="2514600"/>
            <a:ext cx="2834640" cy="731520"/>
          </a:xfrm>
          <a:prstGeom prst="rect">
            <a:avLst/>
          </a:prstGeom>
          <a:noFill/>
          <a:ln/>
        </p:spPr>
        <p:txBody>
          <a:bodyPr wrap="square" lIns="0" tIns="0" rIns="0" bIns="0" rtlCol="0" anchor="t"/>
          <a:lstStyle/>
          <a:p>
            <a:pPr marL="0" indent="0">
              <a:buNone/>
            </a:pPr>
            <a:r>
              <a:rPr lang="en-US" sz="1400" dirty="0">
                <a:solidFill>
                  <a:schemeClr val="tx2"/>
                </a:solidFill>
              </a:rPr>
              <a:t>per run, 16-core laptop</a:t>
            </a:r>
            <a:endParaRPr lang="en-US" sz="1400" dirty="0"/>
          </a:p>
          <a:p>
            <a:pPr marL="0" indent="0">
              <a:buNone/>
            </a:pPr>
            <a:r>
              <a:rPr lang="en-US" sz="1400" dirty="0">
                <a:solidFill>
                  <a:schemeClr val="tx2"/>
                </a:solidFill>
              </a:rPr>
              <a:t>(50 robots × 50 generations)</a:t>
            </a:r>
            <a:endParaRPr lang="en-US" sz="1400" dirty="0"/>
          </a:p>
        </p:txBody>
      </p:sp>
      <p:sp>
        <p:nvSpPr>
          <p:cNvPr id="6" name="card-532"/>
          <p:cNvSpPr/>
          <p:nvPr/>
        </p:nvSpPr>
        <p:spPr>
          <a:xfrm>
            <a:off x="4297680" y="1463040"/>
            <a:ext cx="3429000" cy="1920240"/>
          </a:xfrm>
          <a:prstGeom prst="roundRect">
            <a:avLst>
              <a:gd name="adj" fmla="val 3077"/>
            </a:avLst>
          </a:prstGeom>
          <a:solidFill>
            <a:schemeClr val="bg2"/>
          </a:solidFill>
          <a:ln/>
        </p:spPr>
        <p:txBody>
          <a:bodyPr/>
          <a:lstStyle/>
          <a:p>
            <a:endParaRPr lang="en-US"/>
          </a:p>
        </p:txBody>
      </p:sp>
      <p:sp>
        <p:nvSpPr>
          <p:cNvPr id="7" name="text-533"/>
          <p:cNvSpPr txBox="1"/>
          <p:nvPr/>
        </p:nvSpPr>
        <p:spPr>
          <a:xfrm>
            <a:off x="4617720" y="1645920"/>
            <a:ext cx="2834640" cy="822960"/>
          </a:xfrm>
          <a:prstGeom prst="rect">
            <a:avLst/>
          </a:prstGeom>
          <a:noFill/>
          <a:ln/>
        </p:spPr>
        <p:txBody>
          <a:bodyPr wrap="square" lIns="0" tIns="0" rIns="0" bIns="0" rtlCol="0" anchor="b"/>
          <a:lstStyle/>
          <a:p>
            <a:pPr marL="0" indent="0">
              <a:buNone/>
            </a:pPr>
            <a:r>
              <a:rPr lang="en-US" sz="4400" b="1" dirty="0">
                <a:solidFill>
                  <a:schemeClr val="accent6"/>
                </a:solidFill>
              </a:rPr>
              <a:t>10–15 min</a:t>
            </a:r>
            <a:endParaRPr lang="en-US" sz="4400" dirty="0"/>
          </a:p>
        </p:txBody>
      </p:sp>
      <p:sp>
        <p:nvSpPr>
          <p:cNvPr id="8" name="text-534"/>
          <p:cNvSpPr txBox="1"/>
          <p:nvPr/>
        </p:nvSpPr>
        <p:spPr>
          <a:xfrm>
            <a:off x="4617720" y="2514600"/>
            <a:ext cx="2834640" cy="731520"/>
          </a:xfrm>
          <a:prstGeom prst="rect">
            <a:avLst/>
          </a:prstGeom>
          <a:noFill/>
          <a:ln/>
        </p:spPr>
        <p:txBody>
          <a:bodyPr wrap="square" lIns="0" tIns="0" rIns="0" bIns="0" rtlCol="0" anchor="t"/>
          <a:lstStyle/>
          <a:p>
            <a:pPr marL="0" indent="0">
              <a:buNone/>
            </a:pPr>
            <a:r>
              <a:rPr lang="en-US" sz="1400" dirty="0">
                <a:solidFill>
                  <a:schemeClr val="tx2"/>
                </a:solidFill>
              </a:rPr>
              <a:t>per run, typical i7 laptop (e.g. a 2024 ThinkPad, plugged in); an estimate</a:t>
            </a:r>
            <a:endParaRPr lang="en-US" sz="1400" dirty="0"/>
          </a:p>
        </p:txBody>
      </p:sp>
      <p:sp>
        <p:nvSpPr>
          <p:cNvPr id="9" name="card-535"/>
          <p:cNvSpPr/>
          <p:nvPr/>
        </p:nvSpPr>
        <p:spPr>
          <a:xfrm>
            <a:off x="8046720" y="1463040"/>
            <a:ext cx="3429000" cy="1920240"/>
          </a:xfrm>
          <a:prstGeom prst="roundRect">
            <a:avLst>
              <a:gd name="adj" fmla="val 3077"/>
            </a:avLst>
          </a:prstGeom>
          <a:solidFill>
            <a:schemeClr val="bg2"/>
          </a:solidFill>
          <a:ln/>
        </p:spPr>
        <p:txBody>
          <a:bodyPr/>
          <a:lstStyle/>
          <a:p>
            <a:endParaRPr lang="en-US"/>
          </a:p>
        </p:txBody>
      </p:sp>
      <p:sp>
        <p:nvSpPr>
          <p:cNvPr id="10" name="text-536"/>
          <p:cNvSpPr txBox="1"/>
          <p:nvPr/>
        </p:nvSpPr>
        <p:spPr>
          <a:xfrm>
            <a:off x="8366760" y="1645920"/>
            <a:ext cx="2834640" cy="822960"/>
          </a:xfrm>
          <a:prstGeom prst="rect">
            <a:avLst/>
          </a:prstGeom>
          <a:noFill/>
          <a:ln/>
        </p:spPr>
        <p:txBody>
          <a:bodyPr wrap="square" lIns="0" tIns="0" rIns="0" bIns="0" rtlCol="0" anchor="b"/>
          <a:lstStyle/>
          <a:p>
            <a:pPr marL="0" indent="0">
              <a:buNone/>
            </a:pPr>
            <a:r>
              <a:rPr lang="en-US" sz="4400" b="1" dirty="0">
                <a:solidFill>
                  <a:schemeClr val="accent6"/>
                </a:solidFill>
              </a:rPr>
              <a:t>15 runs</a:t>
            </a:r>
            <a:endParaRPr lang="en-US" sz="4400" dirty="0"/>
          </a:p>
        </p:txBody>
      </p:sp>
      <p:sp>
        <p:nvSpPr>
          <p:cNvPr id="11" name="text-537"/>
          <p:cNvSpPr txBox="1"/>
          <p:nvPr/>
        </p:nvSpPr>
        <p:spPr>
          <a:xfrm>
            <a:off x="8366760" y="2514600"/>
            <a:ext cx="2834640" cy="731520"/>
          </a:xfrm>
          <a:prstGeom prst="rect">
            <a:avLst/>
          </a:prstGeom>
          <a:noFill/>
          <a:ln/>
        </p:spPr>
        <p:txBody>
          <a:bodyPr wrap="square" lIns="0" tIns="0" rIns="0" bIns="0" rtlCol="0" anchor="t"/>
          <a:lstStyle/>
          <a:p>
            <a:pPr marL="0" indent="0">
              <a:buNone/>
            </a:pPr>
            <a:r>
              <a:rPr lang="en-US" sz="1400" dirty="0">
                <a:solidFill>
                  <a:schemeClr val="tx2"/>
                </a:solidFill>
              </a:rPr>
              <a:t>for Parts 1 and 2: about 1 hour on 16 cores, 3–4 hours on an i7 laptop</a:t>
            </a:r>
            <a:endParaRPr lang="en-US" sz="1400" dirty="0"/>
          </a:p>
        </p:txBody>
      </p:sp>
      <p:sp>
        <p:nvSpPr>
          <p:cNvPr id="12" name="bullets-538"/>
          <p:cNvSpPr txBox="1"/>
          <p:nvPr/>
        </p:nvSpPr>
        <p:spPr>
          <a:xfrm>
            <a:off x="548640" y="3749040"/>
            <a:ext cx="11094415" cy="256032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Start early, and let runs work in the background while you analyze earlier ones</a:t>
            </a:r>
            <a:endParaRPr lang="en-US" sz="1600" dirty="0"/>
          </a:p>
          <a:p>
            <a:pPr marL="228600" indent="-228600">
              <a:spcAft>
                <a:spcPts val="200"/>
              </a:spcAft>
              <a:buSzPct val="100000"/>
              <a:buChar char="•"/>
            </a:pPr>
            <a:r>
              <a:rPr lang="en-US" sz="1600" dirty="0">
                <a:solidFill>
                  <a:schemeClr val="tx1"/>
                </a:solidFill>
              </a:rPr>
              <a:t>Time your own machine first, then multiply by about 25:</a:t>
            </a:r>
            <a:endParaRPr lang="en-US" sz="1600" dirty="0"/>
          </a:p>
          <a:p>
            <a:pPr marL="457200" indent="0">
              <a:spcAft>
                <a:spcPts val="200"/>
              </a:spcAft>
              <a:buNone/>
            </a:pPr>
            <a:r>
              <a:rPr lang="en-US" sz="1400" dirty="0">
                <a:solidFill>
                  <a:schemeClr val="tx2"/>
                </a:solidFill>
              </a:rPr>
              <a:t>macOS / Linux:  </a:t>
            </a:r>
            <a:r>
              <a:rPr lang="en-US" sz="1400" dirty="0">
                <a:solidFill>
                  <a:schemeClr val="tx1"/>
                </a:solidFill>
                <a:latin typeface="Courier New" pitchFamily="34" charset="0"/>
                <a:cs typeface="Courier New" pitchFamily="34" charset="-120"/>
              </a:rPr>
              <a:t>time python evolve.py --gens 2</a:t>
            </a:r>
            <a:endParaRPr lang="en-US" sz="1400" dirty="0"/>
          </a:p>
          <a:p>
            <a:pPr marL="457200" indent="0">
              <a:spcAft>
                <a:spcPts val="800"/>
              </a:spcAft>
              <a:buNone/>
            </a:pPr>
            <a:r>
              <a:rPr lang="en-US" sz="1400" dirty="0">
                <a:solidFill>
                  <a:schemeClr val="tx2"/>
                </a:solidFill>
              </a:rPr>
              <a:t>Windows (PowerShell):  </a:t>
            </a:r>
            <a:r>
              <a:rPr lang="en-US" sz="1400" dirty="0">
                <a:solidFill>
                  <a:schemeClr val="tx1"/>
                </a:solidFill>
                <a:latin typeface="Courier New" pitchFamily="34" charset="0"/>
                <a:cs typeface="Courier New" pitchFamily="34" charset="-120"/>
              </a:rPr>
              <a:t>Measure-Command { python evolve.py --gens 2 }</a:t>
            </a:r>
            <a:endParaRPr lang="en-US" sz="1400" dirty="0"/>
          </a:p>
          <a:p>
            <a:pPr marL="228600" indent="-228600">
              <a:spcAft>
                <a:spcPts val="800"/>
              </a:spcAft>
              <a:buSzPct val="100000"/>
              <a:buChar char="•"/>
            </a:pPr>
            <a:r>
              <a:rPr lang="en-US" sz="1600" dirty="0">
                <a:solidFill>
                  <a:schemeClr val="tx1"/>
                </a:solidFill>
              </a:rPr>
              <a:t>Use --gens 10 while getting a feel for things</a:t>
            </a:r>
            <a:endParaRPr lang="en-US" sz="1600" dirty="0"/>
          </a:p>
          <a:p>
            <a:pPr marL="228600" indent="-228600">
              <a:spcAft>
                <a:spcPts val="800"/>
              </a:spcAft>
              <a:buSzPct val="100000"/>
              <a:buChar char="•"/>
            </a:pPr>
            <a:r>
              <a:rPr lang="en-US" sz="1600" dirty="0">
                <a:solidFill>
                  <a:schemeClr val="tx1"/>
                </a:solidFill>
              </a:rPr>
              <a:t>Fitness curves are usually still rising at generation 50: more generations help if you have the time</a:t>
            </a:r>
            <a:endParaRPr lang="en-US" sz="1600" dirty="0"/>
          </a:p>
          <a:p>
            <a:pPr marL="228600" indent="-228600">
              <a:spcAft>
                <a:spcPts val="800"/>
              </a:spcAft>
              <a:buSzPct val="100000"/>
              <a:buChar char="•"/>
            </a:pPr>
            <a:r>
              <a:rPr lang="en-US" sz="1600" dirty="0">
                <a:solidFill>
                  <a:schemeClr val="tx1"/>
                </a:solidFill>
              </a:rPr>
              <a:t>Physics dominates the cost, so all four brains take about the same time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Evolution at work</a:t>
            </a:r>
            <a:endParaRPr lang="en-US" sz="3200" dirty="0"/>
          </a:p>
        </p:txBody>
      </p:sp>
      <p:graphicFrame>
        <p:nvGraphicFramePr>
          <p:cNvPr id="3" name="chart-539"/>
          <p:cNvGraphicFramePr/>
          <p:nvPr/>
        </p:nvGraphicFramePr>
        <p:xfrm>
          <a:off x="548640" y="1371600"/>
          <a:ext cx="6309360" cy="4480560"/>
        </p:xfrm>
        <a:graphic>
          <a:graphicData uri="http://schemas.openxmlformats.org/drawingml/2006/chart">
            <c:chart xmlns:c="http://schemas.openxmlformats.org/drawingml/2006/chart" xmlns:r="http://schemas.openxmlformats.org/officeDocument/2006/relationships" r:id="rId3"/>
          </a:graphicData>
        </a:graphic>
      </p:graphicFrame>
      <p:pic>
        <p:nvPicPr>
          <p:cNvPr id="4" name="gif-540" descr="The winner after 50 generations: about 53 voxels in 300 steps"/>
          <p:cNvPicPr>
            <a:picLocks noChangeAspect="1"/>
          </p:cNvPicPr>
          <p:nvPr/>
        </p:nvPicPr>
        <p:blipFill>
          <a:blip r:embed="rId4"/>
          <a:stretch>
            <a:fillRect/>
          </a:stretch>
        </p:blipFill>
        <p:spPr>
          <a:xfrm>
            <a:off x="7178040" y="1600200"/>
            <a:ext cx="4462272" cy="2231136"/>
          </a:xfrm>
          <a:prstGeom prst="rect">
            <a:avLst/>
          </a:prstGeom>
        </p:spPr>
      </p:pic>
      <p:sp>
        <p:nvSpPr>
          <p:cNvPr id="5" name="text-541"/>
          <p:cNvSpPr txBox="1"/>
          <p:nvPr/>
        </p:nvSpPr>
        <p:spPr>
          <a:xfrm>
            <a:off x="7178040" y="3922776"/>
            <a:ext cx="4462272" cy="320040"/>
          </a:xfrm>
          <a:prstGeom prst="rect">
            <a:avLst/>
          </a:prstGeom>
          <a:noFill/>
          <a:ln/>
        </p:spPr>
        <p:txBody>
          <a:bodyPr wrap="square" lIns="0" tIns="0" rIns="0" bIns="0" rtlCol="0" anchor="t"/>
          <a:lstStyle/>
          <a:p>
            <a:pPr marL="0" indent="0" algn="ctr">
              <a:buNone/>
            </a:pPr>
            <a:r>
              <a:rPr lang="en-US" sz="1200" dirty="0">
                <a:solidFill>
                  <a:schemeClr val="tx2"/>
                </a:solidFill>
              </a:rPr>
              <a:t>The winner after 50 generations: about 53 voxels in 300 steps</a:t>
            </a:r>
            <a:endParaRPr lang="en-US" sz="1200" dirty="0"/>
          </a:p>
        </p:txBody>
      </p:sp>
      <p:sp>
        <p:nvSpPr>
          <p:cNvPr id="6" name="voxel-542"/>
          <p:cNvSpPr/>
          <p:nvPr/>
        </p:nvSpPr>
        <p:spPr>
          <a:xfrm>
            <a:off x="8607064" y="4355104"/>
            <a:ext cx="269199" cy="269199"/>
          </a:xfrm>
          <a:prstGeom prst="rect">
            <a:avLst/>
          </a:prstGeom>
          <a:solidFill>
            <a:schemeClr val="accent3"/>
          </a:solidFill>
          <a:ln/>
        </p:spPr>
        <p:txBody>
          <a:bodyPr/>
          <a:lstStyle/>
          <a:p>
            <a:endParaRPr lang="en-US"/>
          </a:p>
        </p:txBody>
      </p:sp>
      <p:sp>
        <p:nvSpPr>
          <p:cNvPr id="7" name="voxel-543"/>
          <p:cNvSpPr/>
          <p:nvPr/>
        </p:nvSpPr>
        <p:spPr>
          <a:xfrm>
            <a:off x="8899672" y="4355104"/>
            <a:ext cx="269199" cy="269199"/>
          </a:xfrm>
          <a:prstGeom prst="rect">
            <a:avLst/>
          </a:prstGeom>
          <a:solidFill>
            <a:schemeClr val="accent3"/>
          </a:solidFill>
          <a:ln/>
        </p:spPr>
        <p:txBody>
          <a:bodyPr/>
          <a:lstStyle/>
          <a:p>
            <a:endParaRPr lang="en-US"/>
          </a:p>
        </p:txBody>
      </p:sp>
      <p:sp>
        <p:nvSpPr>
          <p:cNvPr id="8" name="voxel-544"/>
          <p:cNvSpPr/>
          <p:nvPr/>
        </p:nvSpPr>
        <p:spPr>
          <a:xfrm>
            <a:off x="9192280" y="4355104"/>
            <a:ext cx="269199" cy="269199"/>
          </a:xfrm>
          <a:prstGeom prst="rect">
            <a:avLst/>
          </a:prstGeom>
          <a:solidFill>
            <a:schemeClr val="accent2"/>
          </a:solidFill>
          <a:ln/>
        </p:spPr>
        <p:txBody>
          <a:bodyPr/>
          <a:lstStyle/>
          <a:p>
            <a:endParaRPr lang="en-US"/>
          </a:p>
        </p:txBody>
      </p:sp>
      <p:sp>
        <p:nvSpPr>
          <p:cNvPr id="9" name="voxel-545"/>
          <p:cNvSpPr/>
          <p:nvPr/>
        </p:nvSpPr>
        <p:spPr>
          <a:xfrm>
            <a:off x="9484888" y="4355104"/>
            <a:ext cx="269199" cy="269199"/>
          </a:xfrm>
          <a:prstGeom prst="rect">
            <a:avLst/>
          </a:prstGeom>
          <a:solidFill>
            <a:schemeClr val="accent3"/>
          </a:solidFill>
          <a:ln/>
        </p:spPr>
        <p:txBody>
          <a:bodyPr/>
          <a:lstStyle/>
          <a:p>
            <a:endParaRPr lang="en-US"/>
          </a:p>
        </p:txBody>
      </p:sp>
      <p:sp>
        <p:nvSpPr>
          <p:cNvPr id="10" name="voxel-empty-546"/>
          <p:cNvSpPr/>
          <p:nvPr/>
        </p:nvSpPr>
        <p:spPr>
          <a:xfrm>
            <a:off x="9777496" y="4355104"/>
            <a:ext cx="269199" cy="269199"/>
          </a:xfrm>
          <a:prstGeom prst="rect">
            <a:avLst/>
          </a:prstGeom>
          <a:ln w="9525">
            <a:solidFill>
              <a:schemeClr val="accent4"/>
            </a:solidFill>
            <a:prstDash val="dash"/>
          </a:ln>
        </p:spPr>
        <p:txBody>
          <a:bodyPr/>
          <a:lstStyle/>
          <a:p>
            <a:endParaRPr lang="en-US"/>
          </a:p>
        </p:txBody>
      </p:sp>
      <p:sp>
        <p:nvSpPr>
          <p:cNvPr id="11" name="voxel-547"/>
          <p:cNvSpPr/>
          <p:nvPr/>
        </p:nvSpPr>
        <p:spPr>
          <a:xfrm>
            <a:off x="8607064" y="4647712"/>
            <a:ext cx="269199" cy="269199"/>
          </a:xfrm>
          <a:prstGeom prst="rect">
            <a:avLst/>
          </a:prstGeom>
          <a:solidFill>
            <a:schemeClr val="accent1"/>
          </a:solidFill>
          <a:ln/>
        </p:spPr>
        <p:txBody>
          <a:bodyPr/>
          <a:lstStyle/>
          <a:p>
            <a:endParaRPr lang="en-US"/>
          </a:p>
        </p:txBody>
      </p:sp>
      <p:sp>
        <p:nvSpPr>
          <p:cNvPr id="12" name="voxel-548"/>
          <p:cNvSpPr/>
          <p:nvPr/>
        </p:nvSpPr>
        <p:spPr>
          <a:xfrm>
            <a:off x="8899672" y="4647712"/>
            <a:ext cx="269199" cy="269199"/>
          </a:xfrm>
          <a:prstGeom prst="rect">
            <a:avLst/>
          </a:prstGeom>
          <a:solidFill>
            <a:schemeClr val="accent4"/>
          </a:solidFill>
          <a:ln/>
        </p:spPr>
        <p:txBody>
          <a:bodyPr/>
          <a:lstStyle/>
          <a:p>
            <a:endParaRPr lang="en-US"/>
          </a:p>
        </p:txBody>
      </p:sp>
      <p:sp>
        <p:nvSpPr>
          <p:cNvPr id="13" name="voxel-549"/>
          <p:cNvSpPr/>
          <p:nvPr/>
        </p:nvSpPr>
        <p:spPr>
          <a:xfrm>
            <a:off x="9192280" y="4647712"/>
            <a:ext cx="269199" cy="269199"/>
          </a:xfrm>
          <a:prstGeom prst="rect">
            <a:avLst/>
          </a:prstGeom>
          <a:solidFill>
            <a:schemeClr val="accent3"/>
          </a:solidFill>
          <a:ln/>
        </p:spPr>
        <p:txBody>
          <a:bodyPr/>
          <a:lstStyle/>
          <a:p>
            <a:endParaRPr lang="en-US"/>
          </a:p>
        </p:txBody>
      </p:sp>
      <p:sp>
        <p:nvSpPr>
          <p:cNvPr id="14" name="voxel-550"/>
          <p:cNvSpPr/>
          <p:nvPr/>
        </p:nvSpPr>
        <p:spPr>
          <a:xfrm>
            <a:off x="9484888" y="4647712"/>
            <a:ext cx="269199" cy="269199"/>
          </a:xfrm>
          <a:prstGeom prst="rect">
            <a:avLst/>
          </a:prstGeom>
          <a:solidFill>
            <a:schemeClr val="accent3"/>
          </a:solidFill>
          <a:ln/>
        </p:spPr>
        <p:txBody>
          <a:bodyPr/>
          <a:lstStyle/>
          <a:p>
            <a:endParaRPr lang="en-US"/>
          </a:p>
        </p:txBody>
      </p:sp>
      <p:sp>
        <p:nvSpPr>
          <p:cNvPr id="15" name="voxel-551"/>
          <p:cNvSpPr/>
          <p:nvPr/>
        </p:nvSpPr>
        <p:spPr>
          <a:xfrm>
            <a:off x="9777496" y="4647712"/>
            <a:ext cx="269199" cy="269199"/>
          </a:xfrm>
          <a:prstGeom prst="rect">
            <a:avLst/>
          </a:prstGeom>
          <a:solidFill>
            <a:schemeClr val="accent3"/>
          </a:solidFill>
          <a:ln/>
        </p:spPr>
        <p:txBody>
          <a:bodyPr/>
          <a:lstStyle/>
          <a:p>
            <a:endParaRPr lang="en-US"/>
          </a:p>
        </p:txBody>
      </p:sp>
      <p:sp>
        <p:nvSpPr>
          <p:cNvPr id="16" name="voxel-552"/>
          <p:cNvSpPr/>
          <p:nvPr/>
        </p:nvSpPr>
        <p:spPr>
          <a:xfrm>
            <a:off x="8607064" y="4940320"/>
            <a:ext cx="269199" cy="269199"/>
          </a:xfrm>
          <a:prstGeom prst="rect">
            <a:avLst/>
          </a:prstGeom>
          <a:solidFill>
            <a:schemeClr val="accent1"/>
          </a:solidFill>
          <a:ln/>
        </p:spPr>
        <p:txBody>
          <a:bodyPr/>
          <a:lstStyle/>
          <a:p>
            <a:endParaRPr lang="en-US"/>
          </a:p>
        </p:txBody>
      </p:sp>
      <p:sp>
        <p:nvSpPr>
          <p:cNvPr id="17" name="voxel-553"/>
          <p:cNvSpPr/>
          <p:nvPr/>
        </p:nvSpPr>
        <p:spPr>
          <a:xfrm>
            <a:off x="8899672" y="4940320"/>
            <a:ext cx="269199" cy="269199"/>
          </a:xfrm>
          <a:prstGeom prst="rect">
            <a:avLst/>
          </a:prstGeom>
          <a:solidFill>
            <a:schemeClr val="accent3"/>
          </a:solidFill>
          <a:ln/>
        </p:spPr>
        <p:txBody>
          <a:bodyPr/>
          <a:lstStyle/>
          <a:p>
            <a:endParaRPr lang="en-US"/>
          </a:p>
        </p:txBody>
      </p:sp>
      <p:sp>
        <p:nvSpPr>
          <p:cNvPr id="18" name="voxel-554"/>
          <p:cNvSpPr/>
          <p:nvPr/>
        </p:nvSpPr>
        <p:spPr>
          <a:xfrm>
            <a:off x="9192280" y="4940320"/>
            <a:ext cx="269199" cy="269199"/>
          </a:xfrm>
          <a:prstGeom prst="rect">
            <a:avLst/>
          </a:prstGeom>
          <a:solidFill>
            <a:schemeClr val="accent1"/>
          </a:solidFill>
          <a:ln/>
        </p:spPr>
        <p:txBody>
          <a:bodyPr/>
          <a:lstStyle/>
          <a:p>
            <a:endParaRPr lang="en-US"/>
          </a:p>
        </p:txBody>
      </p:sp>
      <p:sp>
        <p:nvSpPr>
          <p:cNvPr id="19" name="voxel-555"/>
          <p:cNvSpPr/>
          <p:nvPr/>
        </p:nvSpPr>
        <p:spPr>
          <a:xfrm>
            <a:off x="9484888" y="4940320"/>
            <a:ext cx="269199" cy="269199"/>
          </a:xfrm>
          <a:prstGeom prst="rect">
            <a:avLst/>
          </a:prstGeom>
          <a:solidFill>
            <a:schemeClr val="accent1"/>
          </a:solidFill>
          <a:ln/>
        </p:spPr>
        <p:txBody>
          <a:bodyPr/>
          <a:lstStyle/>
          <a:p>
            <a:endParaRPr lang="en-US"/>
          </a:p>
        </p:txBody>
      </p:sp>
      <p:sp>
        <p:nvSpPr>
          <p:cNvPr id="20" name="voxel-556"/>
          <p:cNvSpPr/>
          <p:nvPr/>
        </p:nvSpPr>
        <p:spPr>
          <a:xfrm>
            <a:off x="9777496" y="4940320"/>
            <a:ext cx="269199" cy="269199"/>
          </a:xfrm>
          <a:prstGeom prst="rect">
            <a:avLst/>
          </a:prstGeom>
          <a:solidFill>
            <a:schemeClr val="accent1"/>
          </a:solidFill>
          <a:ln/>
        </p:spPr>
        <p:txBody>
          <a:bodyPr/>
          <a:lstStyle/>
          <a:p>
            <a:endParaRPr lang="en-US"/>
          </a:p>
        </p:txBody>
      </p:sp>
      <p:sp>
        <p:nvSpPr>
          <p:cNvPr id="21" name="voxel-557"/>
          <p:cNvSpPr/>
          <p:nvPr/>
        </p:nvSpPr>
        <p:spPr>
          <a:xfrm>
            <a:off x="8607064" y="5232928"/>
            <a:ext cx="269199" cy="269199"/>
          </a:xfrm>
          <a:prstGeom prst="rect">
            <a:avLst/>
          </a:prstGeom>
          <a:solidFill>
            <a:schemeClr val="accent3"/>
          </a:solidFill>
          <a:ln/>
        </p:spPr>
        <p:txBody>
          <a:bodyPr/>
          <a:lstStyle/>
          <a:p>
            <a:endParaRPr lang="en-US"/>
          </a:p>
        </p:txBody>
      </p:sp>
      <p:sp>
        <p:nvSpPr>
          <p:cNvPr id="22" name="voxel-558"/>
          <p:cNvSpPr/>
          <p:nvPr/>
        </p:nvSpPr>
        <p:spPr>
          <a:xfrm>
            <a:off x="8899672" y="5232928"/>
            <a:ext cx="269199" cy="269199"/>
          </a:xfrm>
          <a:prstGeom prst="rect">
            <a:avLst/>
          </a:prstGeom>
          <a:solidFill>
            <a:schemeClr val="accent2"/>
          </a:solidFill>
          <a:ln/>
        </p:spPr>
        <p:txBody>
          <a:bodyPr/>
          <a:lstStyle/>
          <a:p>
            <a:endParaRPr lang="en-US"/>
          </a:p>
        </p:txBody>
      </p:sp>
      <p:sp>
        <p:nvSpPr>
          <p:cNvPr id="23" name="voxel-empty-559"/>
          <p:cNvSpPr/>
          <p:nvPr/>
        </p:nvSpPr>
        <p:spPr>
          <a:xfrm>
            <a:off x="9192280" y="5232928"/>
            <a:ext cx="269199" cy="269199"/>
          </a:xfrm>
          <a:prstGeom prst="rect">
            <a:avLst/>
          </a:prstGeom>
          <a:ln w="9525">
            <a:solidFill>
              <a:schemeClr val="accent4"/>
            </a:solidFill>
            <a:prstDash val="dash"/>
          </a:ln>
        </p:spPr>
        <p:txBody>
          <a:bodyPr/>
          <a:lstStyle/>
          <a:p>
            <a:endParaRPr lang="en-US"/>
          </a:p>
        </p:txBody>
      </p:sp>
      <p:sp>
        <p:nvSpPr>
          <p:cNvPr id="24" name="voxel-560"/>
          <p:cNvSpPr/>
          <p:nvPr/>
        </p:nvSpPr>
        <p:spPr>
          <a:xfrm>
            <a:off x="9484888" y="5232928"/>
            <a:ext cx="269199" cy="269199"/>
          </a:xfrm>
          <a:prstGeom prst="rect">
            <a:avLst/>
          </a:prstGeom>
          <a:solidFill>
            <a:schemeClr val="accent4"/>
          </a:solidFill>
          <a:ln/>
        </p:spPr>
        <p:txBody>
          <a:bodyPr/>
          <a:lstStyle/>
          <a:p>
            <a:endParaRPr lang="en-US"/>
          </a:p>
        </p:txBody>
      </p:sp>
      <p:sp>
        <p:nvSpPr>
          <p:cNvPr id="25" name="voxel-561"/>
          <p:cNvSpPr/>
          <p:nvPr/>
        </p:nvSpPr>
        <p:spPr>
          <a:xfrm>
            <a:off x="9777496" y="5232928"/>
            <a:ext cx="269199" cy="269199"/>
          </a:xfrm>
          <a:prstGeom prst="rect">
            <a:avLst/>
          </a:prstGeom>
          <a:solidFill>
            <a:schemeClr val="accent3"/>
          </a:solidFill>
          <a:ln/>
        </p:spPr>
        <p:txBody>
          <a:bodyPr/>
          <a:lstStyle/>
          <a:p>
            <a:endParaRPr lang="en-US"/>
          </a:p>
        </p:txBody>
      </p:sp>
      <p:sp>
        <p:nvSpPr>
          <p:cNvPr id="26" name="voxel-562"/>
          <p:cNvSpPr/>
          <p:nvPr/>
        </p:nvSpPr>
        <p:spPr>
          <a:xfrm>
            <a:off x="8607064" y="5525536"/>
            <a:ext cx="269199" cy="269199"/>
          </a:xfrm>
          <a:prstGeom prst="rect">
            <a:avLst/>
          </a:prstGeom>
          <a:solidFill>
            <a:schemeClr val="accent1"/>
          </a:solidFill>
          <a:ln/>
        </p:spPr>
        <p:txBody>
          <a:bodyPr/>
          <a:lstStyle/>
          <a:p>
            <a:endParaRPr lang="en-US"/>
          </a:p>
        </p:txBody>
      </p:sp>
      <p:sp>
        <p:nvSpPr>
          <p:cNvPr id="27" name="voxel-563"/>
          <p:cNvSpPr/>
          <p:nvPr/>
        </p:nvSpPr>
        <p:spPr>
          <a:xfrm>
            <a:off x="8899672" y="5525536"/>
            <a:ext cx="269199" cy="269199"/>
          </a:xfrm>
          <a:prstGeom prst="rect">
            <a:avLst/>
          </a:prstGeom>
          <a:solidFill>
            <a:schemeClr val="accent3"/>
          </a:solidFill>
          <a:ln/>
        </p:spPr>
        <p:txBody>
          <a:bodyPr/>
          <a:lstStyle/>
          <a:p>
            <a:endParaRPr lang="en-US"/>
          </a:p>
        </p:txBody>
      </p:sp>
      <p:sp>
        <p:nvSpPr>
          <p:cNvPr id="28" name="voxel-empty-564"/>
          <p:cNvSpPr/>
          <p:nvPr/>
        </p:nvSpPr>
        <p:spPr>
          <a:xfrm>
            <a:off x="9192280" y="5525536"/>
            <a:ext cx="269199" cy="269199"/>
          </a:xfrm>
          <a:prstGeom prst="rect">
            <a:avLst/>
          </a:prstGeom>
          <a:ln w="9525">
            <a:solidFill>
              <a:schemeClr val="accent4"/>
            </a:solidFill>
            <a:prstDash val="dash"/>
          </a:ln>
        </p:spPr>
        <p:txBody>
          <a:bodyPr/>
          <a:lstStyle/>
          <a:p>
            <a:endParaRPr lang="en-US"/>
          </a:p>
        </p:txBody>
      </p:sp>
      <p:sp>
        <p:nvSpPr>
          <p:cNvPr id="29" name="voxel-empty-565"/>
          <p:cNvSpPr/>
          <p:nvPr/>
        </p:nvSpPr>
        <p:spPr>
          <a:xfrm>
            <a:off x="9484888" y="5525536"/>
            <a:ext cx="269199" cy="269199"/>
          </a:xfrm>
          <a:prstGeom prst="rect">
            <a:avLst/>
          </a:prstGeom>
          <a:ln w="9525">
            <a:solidFill>
              <a:schemeClr val="accent4"/>
            </a:solidFill>
            <a:prstDash val="dash"/>
          </a:ln>
        </p:spPr>
        <p:txBody>
          <a:bodyPr/>
          <a:lstStyle/>
          <a:p>
            <a:endParaRPr lang="en-US"/>
          </a:p>
        </p:txBody>
      </p:sp>
      <p:sp>
        <p:nvSpPr>
          <p:cNvPr id="30" name="voxel-566"/>
          <p:cNvSpPr/>
          <p:nvPr/>
        </p:nvSpPr>
        <p:spPr>
          <a:xfrm>
            <a:off x="9777496" y="5525536"/>
            <a:ext cx="269199" cy="269199"/>
          </a:xfrm>
          <a:prstGeom prst="rect">
            <a:avLst/>
          </a:prstGeom>
          <a:solidFill>
            <a:schemeClr val="accent4"/>
          </a:solidFill>
          <a:ln/>
        </p:spPr>
        <p:txBody>
          <a:bodyPr/>
          <a:lstStyle/>
          <a:p>
            <a:endParaRPr lang="en-US"/>
          </a:p>
        </p:txBody>
      </p:sp>
      <p:sp>
        <p:nvSpPr>
          <p:cNvPr id="31"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Four robots evolution designed</a:t>
            </a:r>
            <a:endParaRPr lang="en-US" sz="3200" dirty="0"/>
          </a:p>
        </p:txBody>
      </p:sp>
      <p:pic>
        <p:nvPicPr>
          <p:cNvPr id="3" name="gif-567" descr="Robot animation"/>
          <p:cNvPicPr>
            <a:picLocks noChangeAspect="1"/>
          </p:cNvPicPr>
          <p:nvPr/>
        </p:nvPicPr>
        <p:blipFill>
          <a:blip r:embed="rId3"/>
          <a:stretch>
            <a:fillRect/>
          </a:stretch>
        </p:blipFill>
        <p:spPr>
          <a:xfrm>
            <a:off x="548640" y="1325880"/>
            <a:ext cx="3931920" cy="1965960"/>
          </a:xfrm>
          <a:prstGeom prst="rect">
            <a:avLst/>
          </a:prstGeom>
        </p:spPr>
      </p:pic>
      <p:sp>
        <p:nvSpPr>
          <p:cNvPr id="4" name="voxel-568"/>
          <p:cNvSpPr/>
          <p:nvPr/>
        </p:nvSpPr>
        <p:spPr>
          <a:xfrm>
            <a:off x="4674413" y="1474013"/>
            <a:ext cx="252374" cy="252374"/>
          </a:xfrm>
          <a:prstGeom prst="rect">
            <a:avLst/>
          </a:prstGeom>
          <a:solidFill>
            <a:schemeClr val="accent3"/>
          </a:solidFill>
          <a:ln/>
        </p:spPr>
        <p:txBody>
          <a:bodyPr/>
          <a:lstStyle/>
          <a:p>
            <a:endParaRPr lang="en-US"/>
          </a:p>
        </p:txBody>
      </p:sp>
      <p:sp>
        <p:nvSpPr>
          <p:cNvPr id="5" name="voxel-569"/>
          <p:cNvSpPr/>
          <p:nvPr/>
        </p:nvSpPr>
        <p:spPr>
          <a:xfrm>
            <a:off x="4948733" y="1474013"/>
            <a:ext cx="252374" cy="252374"/>
          </a:xfrm>
          <a:prstGeom prst="rect">
            <a:avLst/>
          </a:prstGeom>
          <a:solidFill>
            <a:schemeClr val="accent3"/>
          </a:solidFill>
          <a:ln/>
        </p:spPr>
        <p:txBody>
          <a:bodyPr/>
          <a:lstStyle/>
          <a:p>
            <a:endParaRPr lang="en-US"/>
          </a:p>
        </p:txBody>
      </p:sp>
      <p:sp>
        <p:nvSpPr>
          <p:cNvPr id="6" name="voxel-570"/>
          <p:cNvSpPr/>
          <p:nvPr/>
        </p:nvSpPr>
        <p:spPr>
          <a:xfrm>
            <a:off x="5223053" y="1474013"/>
            <a:ext cx="252374" cy="252374"/>
          </a:xfrm>
          <a:prstGeom prst="rect">
            <a:avLst/>
          </a:prstGeom>
          <a:solidFill>
            <a:schemeClr val="accent2"/>
          </a:solidFill>
          <a:ln/>
        </p:spPr>
        <p:txBody>
          <a:bodyPr/>
          <a:lstStyle/>
          <a:p>
            <a:endParaRPr lang="en-US"/>
          </a:p>
        </p:txBody>
      </p:sp>
      <p:sp>
        <p:nvSpPr>
          <p:cNvPr id="7" name="voxel-571"/>
          <p:cNvSpPr/>
          <p:nvPr/>
        </p:nvSpPr>
        <p:spPr>
          <a:xfrm>
            <a:off x="5497373" y="1474013"/>
            <a:ext cx="252374" cy="252374"/>
          </a:xfrm>
          <a:prstGeom prst="rect">
            <a:avLst/>
          </a:prstGeom>
          <a:solidFill>
            <a:schemeClr val="accent3"/>
          </a:solidFill>
          <a:ln/>
        </p:spPr>
        <p:txBody>
          <a:bodyPr/>
          <a:lstStyle/>
          <a:p>
            <a:endParaRPr lang="en-US"/>
          </a:p>
        </p:txBody>
      </p:sp>
      <p:sp>
        <p:nvSpPr>
          <p:cNvPr id="8" name="voxel-empty-572"/>
          <p:cNvSpPr/>
          <p:nvPr/>
        </p:nvSpPr>
        <p:spPr>
          <a:xfrm>
            <a:off x="5771693" y="1474013"/>
            <a:ext cx="252374" cy="252374"/>
          </a:xfrm>
          <a:prstGeom prst="rect">
            <a:avLst/>
          </a:prstGeom>
          <a:ln w="9525">
            <a:solidFill>
              <a:schemeClr val="accent4"/>
            </a:solidFill>
            <a:prstDash val="dash"/>
          </a:ln>
        </p:spPr>
        <p:txBody>
          <a:bodyPr/>
          <a:lstStyle/>
          <a:p>
            <a:endParaRPr lang="en-US"/>
          </a:p>
        </p:txBody>
      </p:sp>
      <p:sp>
        <p:nvSpPr>
          <p:cNvPr id="9" name="voxel-573"/>
          <p:cNvSpPr/>
          <p:nvPr/>
        </p:nvSpPr>
        <p:spPr>
          <a:xfrm>
            <a:off x="4674413" y="1748333"/>
            <a:ext cx="252374" cy="252374"/>
          </a:xfrm>
          <a:prstGeom prst="rect">
            <a:avLst/>
          </a:prstGeom>
          <a:solidFill>
            <a:schemeClr val="accent1"/>
          </a:solidFill>
          <a:ln/>
        </p:spPr>
        <p:txBody>
          <a:bodyPr/>
          <a:lstStyle/>
          <a:p>
            <a:endParaRPr lang="en-US"/>
          </a:p>
        </p:txBody>
      </p:sp>
      <p:sp>
        <p:nvSpPr>
          <p:cNvPr id="10" name="voxel-574"/>
          <p:cNvSpPr/>
          <p:nvPr/>
        </p:nvSpPr>
        <p:spPr>
          <a:xfrm>
            <a:off x="4948733" y="1748333"/>
            <a:ext cx="252374" cy="252374"/>
          </a:xfrm>
          <a:prstGeom prst="rect">
            <a:avLst/>
          </a:prstGeom>
          <a:solidFill>
            <a:schemeClr val="accent4"/>
          </a:solidFill>
          <a:ln/>
        </p:spPr>
        <p:txBody>
          <a:bodyPr/>
          <a:lstStyle/>
          <a:p>
            <a:endParaRPr lang="en-US"/>
          </a:p>
        </p:txBody>
      </p:sp>
      <p:sp>
        <p:nvSpPr>
          <p:cNvPr id="11" name="voxel-575"/>
          <p:cNvSpPr/>
          <p:nvPr/>
        </p:nvSpPr>
        <p:spPr>
          <a:xfrm>
            <a:off x="5223053" y="1748333"/>
            <a:ext cx="252374" cy="252374"/>
          </a:xfrm>
          <a:prstGeom prst="rect">
            <a:avLst/>
          </a:prstGeom>
          <a:solidFill>
            <a:schemeClr val="accent3"/>
          </a:solidFill>
          <a:ln/>
        </p:spPr>
        <p:txBody>
          <a:bodyPr/>
          <a:lstStyle/>
          <a:p>
            <a:endParaRPr lang="en-US"/>
          </a:p>
        </p:txBody>
      </p:sp>
      <p:sp>
        <p:nvSpPr>
          <p:cNvPr id="12" name="voxel-576"/>
          <p:cNvSpPr/>
          <p:nvPr/>
        </p:nvSpPr>
        <p:spPr>
          <a:xfrm>
            <a:off x="5497373" y="1748333"/>
            <a:ext cx="252374" cy="252374"/>
          </a:xfrm>
          <a:prstGeom prst="rect">
            <a:avLst/>
          </a:prstGeom>
          <a:solidFill>
            <a:schemeClr val="accent3"/>
          </a:solidFill>
          <a:ln/>
        </p:spPr>
        <p:txBody>
          <a:bodyPr/>
          <a:lstStyle/>
          <a:p>
            <a:endParaRPr lang="en-US"/>
          </a:p>
        </p:txBody>
      </p:sp>
      <p:sp>
        <p:nvSpPr>
          <p:cNvPr id="13" name="voxel-577"/>
          <p:cNvSpPr/>
          <p:nvPr/>
        </p:nvSpPr>
        <p:spPr>
          <a:xfrm>
            <a:off x="5771693" y="1748333"/>
            <a:ext cx="252374" cy="252374"/>
          </a:xfrm>
          <a:prstGeom prst="rect">
            <a:avLst/>
          </a:prstGeom>
          <a:solidFill>
            <a:schemeClr val="accent3"/>
          </a:solidFill>
          <a:ln/>
        </p:spPr>
        <p:txBody>
          <a:bodyPr/>
          <a:lstStyle/>
          <a:p>
            <a:endParaRPr lang="en-US"/>
          </a:p>
        </p:txBody>
      </p:sp>
      <p:sp>
        <p:nvSpPr>
          <p:cNvPr id="14" name="voxel-578"/>
          <p:cNvSpPr/>
          <p:nvPr/>
        </p:nvSpPr>
        <p:spPr>
          <a:xfrm>
            <a:off x="4674413" y="2022653"/>
            <a:ext cx="252374" cy="252374"/>
          </a:xfrm>
          <a:prstGeom prst="rect">
            <a:avLst/>
          </a:prstGeom>
          <a:solidFill>
            <a:schemeClr val="accent1"/>
          </a:solidFill>
          <a:ln/>
        </p:spPr>
        <p:txBody>
          <a:bodyPr/>
          <a:lstStyle/>
          <a:p>
            <a:endParaRPr lang="en-US"/>
          </a:p>
        </p:txBody>
      </p:sp>
      <p:sp>
        <p:nvSpPr>
          <p:cNvPr id="15" name="voxel-579"/>
          <p:cNvSpPr/>
          <p:nvPr/>
        </p:nvSpPr>
        <p:spPr>
          <a:xfrm>
            <a:off x="4948733" y="2022653"/>
            <a:ext cx="252374" cy="252374"/>
          </a:xfrm>
          <a:prstGeom prst="rect">
            <a:avLst/>
          </a:prstGeom>
          <a:solidFill>
            <a:schemeClr val="accent3"/>
          </a:solidFill>
          <a:ln/>
        </p:spPr>
        <p:txBody>
          <a:bodyPr/>
          <a:lstStyle/>
          <a:p>
            <a:endParaRPr lang="en-US"/>
          </a:p>
        </p:txBody>
      </p:sp>
      <p:sp>
        <p:nvSpPr>
          <p:cNvPr id="16" name="voxel-580"/>
          <p:cNvSpPr/>
          <p:nvPr/>
        </p:nvSpPr>
        <p:spPr>
          <a:xfrm>
            <a:off x="5223053" y="2022653"/>
            <a:ext cx="252374" cy="252374"/>
          </a:xfrm>
          <a:prstGeom prst="rect">
            <a:avLst/>
          </a:prstGeom>
          <a:solidFill>
            <a:schemeClr val="accent1"/>
          </a:solidFill>
          <a:ln/>
        </p:spPr>
        <p:txBody>
          <a:bodyPr/>
          <a:lstStyle/>
          <a:p>
            <a:endParaRPr lang="en-US"/>
          </a:p>
        </p:txBody>
      </p:sp>
      <p:sp>
        <p:nvSpPr>
          <p:cNvPr id="17" name="voxel-581"/>
          <p:cNvSpPr/>
          <p:nvPr/>
        </p:nvSpPr>
        <p:spPr>
          <a:xfrm>
            <a:off x="5497373" y="2022653"/>
            <a:ext cx="252374" cy="252374"/>
          </a:xfrm>
          <a:prstGeom prst="rect">
            <a:avLst/>
          </a:prstGeom>
          <a:solidFill>
            <a:schemeClr val="accent1"/>
          </a:solidFill>
          <a:ln/>
        </p:spPr>
        <p:txBody>
          <a:bodyPr/>
          <a:lstStyle/>
          <a:p>
            <a:endParaRPr lang="en-US"/>
          </a:p>
        </p:txBody>
      </p:sp>
      <p:sp>
        <p:nvSpPr>
          <p:cNvPr id="18" name="voxel-582"/>
          <p:cNvSpPr/>
          <p:nvPr/>
        </p:nvSpPr>
        <p:spPr>
          <a:xfrm>
            <a:off x="5771693" y="2022653"/>
            <a:ext cx="252374" cy="252374"/>
          </a:xfrm>
          <a:prstGeom prst="rect">
            <a:avLst/>
          </a:prstGeom>
          <a:solidFill>
            <a:schemeClr val="accent1"/>
          </a:solidFill>
          <a:ln/>
        </p:spPr>
        <p:txBody>
          <a:bodyPr/>
          <a:lstStyle/>
          <a:p>
            <a:endParaRPr lang="en-US"/>
          </a:p>
        </p:txBody>
      </p:sp>
      <p:sp>
        <p:nvSpPr>
          <p:cNvPr id="19" name="voxel-583"/>
          <p:cNvSpPr/>
          <p:nvPr/>
        </p:nvSpPr>
        <p:spPr>
          <a:xfrm>
            <a:off x="4674413" y="2296973"/>
            <a:ext cx="252374" cy="252374"/>
          </a:xfrm>
          <a:prstGeom prst="rect">
            <a:avLst/>
          </a:prstGeom>
          <a:solidFill>
            <a:schemeClr val="accent3"/>
          </a:solidFill>
          <a:ln/>
        </p:spPr>
        <p:txBody>
          <a:bodyPr/>
          <a:lstStyle/>
          <a:p>
            <a:endParaRPr lang="en-US"/>
          </a:p>
        </p:txBody>
      </p:sp>
      <p:sp>
        <p:nvSpPr>
          <p:cNvPr id="20" name="voxel-584"/>
          <p:cNvSpPr/>
          <p:nvPr/>
        </p:nvSpPr>
        <p:spPr>
          <a:xfrm>
            <a:off x="4948733" y="2296973"/>
            <a:ext cx="252374" cy="252374"/>
          </a:xfrm>
          <a:prstGeom prst="rect">
            <a:avLst/>
          </a:prstGeom>
          <a:solidFill>
            <a:schemeClr val="accent2"/>
          </a:solidFill>
          <a:ln/>
        </p:spPr>
        <p:txBody>
          <a:bodyPr/>
          <a:lstStyle/>
          <a:p>
            <a:endParaRPr lang="en-US"/>
          </a:p>
        </p:txBody>
      </p:sp>
      <p:sp>
        <p:nvSpPr>
          <p:cNvPr id="21" name="voxel-empty-585"/>
          <p:cNvSpPr/>
          <p:nvPr/>
        </p:nvSpPr>
        <p:spPr>
          <a:xfrm>
            <a:off x="5223053" y="2296973"/>
            <a:ext cx="252374" cy="252374"/>
          </a:xfrm>
          <a:prstGeom prst="rect">
            <a:avLst/>
          </a:prstGeom>
          <a:ln w="9525">
            <a:solidFill>
              <a:schemeClr val="accent4"/>
            </a:solidFill>
            <a:prstDash val="dash"/>
          </a:ln>
        </p:spPr>
        <p:txBody>
          <a:bodyPr/>
          <a:lstStyle/>
          <a:p>
            <a:endParaRPr lang="en-US"/>
          </a:p>
        </p:txBody>
      </p:sp>
      <p:sp>
        <p:nvSpPr>
          <p:cNvPr id="22" name="voxel-586"/>
          <p:cNvSpPr/>
          <p:nvPr/>
        </p:nvSpPr>
        <p:spPr>
          <a:xfrm>
            <a:off x="5497373" y="2296973"/>
            <a:ext cx="252374" cy="252374"/>
          </a:xfrm>
          <a:prstGeom prst="rect">
            <a:avLst/>
          </a:prstGeom>
          <a:solidFill>
            <a:schemeClr val="accent4"/>
          </a:solidFill>
          <a:ln/>
        </p:spPr>
        <p:txBody>
          <a:bodyPr/>
          <a:lstStyle/>
          <a:p>
            <a:endParaRPr lang="en-US"/>
          </a:p>
        </p:txBody>
      </p:sp>
      <p:sp>
        <p:nvSpPr>
          <p:cNvPr id="23" name="voxel-587"/>
          <p:cNvSpPr/>
          <p:nvPr/>
        </p:nvSpPr>
        <p:spPr>
          <a:xfrm>
            <a:off x="5771693" y="2296973"/>
            <a:ext cx="252374" cy="252374"/>
          </a:xfrm>
          <a:prstGeom prst="rect">
            <a:avLst/>
          </a:prstGeom>
          <a:solidFill>
            <a:schemeClr val="accent3"/>
          </a:solidFill>
          <a:ln/>
        </p:spPr>
        <p:txBody>
          <a:bodyPr/>
          <a:lstStyle/>
          <a:p>
            <a:endParaRPr lang="en-US"/>
          </a:p>
        </p:txBody>
      </p:sp>
      <p:sp>
        <p:nvSpPr>
          <p:cNvPr id="24" name="voxel-588"/>
          <p:cNvSpPr/>
          <p:nvPr/>
        </p:nvSpPr>
        <p:spPr>
          <a:xfrm>
            <a:off x="4674413" y="2571293"/>
            <a:ext cx="252374" cy="252374"/>
          </a:xfrm>
          <a:prstGeom prst="rect">
            <a:avLst/>
          </a:prstGeom>
          <a:solidFill>
            <a:schemeClr val="accent1"/>
          </a:solidFill>
          <a:ln/>
        </p:spPr>
        <p:txBody>
          <a:bodyPr/>
          <a:lstStyle/>
          <a:p>
            <a:endParaRPr lang="en-US"/>
          </a:p>
        </p:txBody>
      </p:sp>
      <p:sp>
        <p:nvSpPr>
          <p:cNvPr id="25" name="voxel-589"/>
          <p:cNvSpPr/>
          <p:nvPr/>
        </p:nvSpPr>
        <p:spPr>
          <a:xfrm>
            <a:off x="4948733" y="2571293"/>
            <a:ext cx="252374" cy="252374"/>
          </a:xfrm>
          <a:prstGeom prst="rect">
            <a:avLst/>
          </a:prstGeom>
          <a:solidFill>
            <a:schemeClr val="accent3"/>
          </a:solidFill>
          <a:ln/>
        </p:spPr>
        <p:txBody>
          <a:bodyPr/>
          <a:lstStyle/>
          <a:p>
            <a:endParaRPr lang="en-US"/>
          </a:p>
        </p:txBody>
      </p:sp>
      <p:sp>
        <p:nvSpPr>
          <p:cNvPr id="26" name="voxel-empty-590"/>
          <p:cNvSpPr/>
          <p:nvPr/>
        </p:nvSpPr>
        <p:spPr>
          <a:xfrm>
            <a:off x="5223053" y="2571293"/>
            <a:ext cx="252374" cy="252374"/>
          </a:xfrm>
          <a:prstGeom prst="rect">
            <a:avLst/>
          </a:prstGeom>
          <a:ln w="9525">
            <a:solidFill>
              <a:schemeClr val="accent4"/>
            </a:solidFill>
            <a:prstDash val="dash"/>
          </a:ln>
        </p:spPr>
        <p:txBody>
          <a:bodyPr/>
          <a:lstStyle/>
          <a:p>
            <a:endParaRPr lang="en-US"/>
          </a:p>
        </p:txBody>
      </p:sp>
      <p:sp>
        <p:nvSpPr>
          <p:cNvPr id="27" name="voxel-empty-591"/>
          <p:cNvSpPr/>
          <p:nvPr/>
        </p:nvSpPr>
        <p:spPr>
          <a:xfrm>
            <a:off x="5497373" y="2571293"/>
            <a:ext cx="252374" cy="252374"/>
          </a:xfrm>
          <a:prstGeom prst="rect">
            <a:avLst/>
          </a:prstGeom>
          <a:ln w="9525">
            <a:solidFill>
              <a:schemeClr val="accent4"/>
            </a:solidFill>
            <a:prstDash val="dash"/>
          </a:ln>
        </p:spPr>
        <p:txBody>
          <a:bodyPr/>
          <a:lstStyle/>
          <a:p>
            <a:endParaRPr lang="en-US"/>
          </a:p>
        </p:txBody>
      </p:sp>
      <p:sp>
        <p:nvSpPr>
          <p:cNvPr id="28" name="voxel-592"/>
          <p:cNvSpPr/>
          <p:nvPr/>
        </p:nvSpPr>
        <p:spPr>
          <a:xfrm>
            <a:off x="5771693" y="2571293"/>
            <a:ext cx="252374" cy="252374"/>
          </a:xfrm>
          <a:prstGeom prst="rect">
            <a:avLst/>
          </a:prstGeom>
          <a:solidFill>
            <a:schemeClr val="accent4"/>
          </a:solidFill>
          <a:ln/>
        </p:spPr>
        <p:txBody>
          <a:bodyPr/>
          <a:lstStyle/>
          <a:p>
            <a:endParaRPr lang="en-US"/>
          </a:p>
        </p:txBody>
      </p:sp>
      <p:sp>
        <p:nvSpPr>
          <p:cNvPr id="29" name="text-593"/>
          <p:cNvSpPr txBox="1"/>
          <p:nvPr/>
        </p:nvSpPr>
        <p:spPr>
          <a:xfrm>
            <a:off x="4663440" y="2926080"/>
            <a:ext cx="1463040" cy="320040"/>
          </a:xfrm>
          <a:prstGeom prst="rect">
            <a:avLst/>
          </a:prstGeom>
          <a:noFill/>
          <a:ln/>
        </p:spPr>
        <p:txBody>
          <a:bodyPr wrap="square" lIns="0" tIns="0" rIns="0" bIns="0" rtlCol="0" anchor="t"/>
          <a:lstStyle/>
          <a:p>
            <a:pPr marL="0" indent="0">
              <a:buNone/>
            </a:pPr>
            <a:r>
              <a:rPr lang="en-US" sz="1400" b="1" dirty="0">
                <a:solidFill>
                  <a:schemeClr val="tx2"/>
                </a:solidFill>
              </a:rPr>
              <a:t>Brain 1</a:t>
            </a:r>
            <a:endParaRPr lang="en-US" sz="1400" dirty="0"/>
          </a:p>
        </p:txBody>
      </p:sp>
      <p:pic>
        <p:nvPicPr>
          <p:cNvPr id="30" name="gif-594" descr="Robot animation"/>
          <p:cNvPicPr>
            <a:picLocks noChangeAspect="1"/>
          </p:cNvPicPr>
          <p:nvPr/>
        </p:nvPicPr>
        <p:blipFill>
          <a:blip r:embed="rId4"/>
          <a:stretch>
            <a:fillRect/>
          </a:stretch>
        </p:blipFill>
        <p:spPr>
          <a:xfrm>
            <a:off x="6172200" y="1325880"/>
            <a:ext cx="3931920" cy="1965960"/>
          </a:xfrm>
          <a:prstGeom prst="rect">
            <a:avLst/>
          </a:prstGeom>
        </p:spPr>
      </p:pic>
      <p:sp>
        <p:nvSpPr>
          <p:cNvPr id="31" name="voxel-empty-595"/>
          <p:cNvSpPr/>
          <p:nvPr/>
        </p:nvSpPr>
        <p:spPr>
          <a:xfrm>
            <a:off x="10297973" y="1474013"/>
            <a:ext cx="252374" cy="252374"/>
          </a:xfrm>
          <a:prstGeom prst="rect">
            <a:avLst/>
          </a:prstGeom>
          <a:ln w="9525">
            <a:solidFill>
              <a:schemeClr val="accent4"/>
            </a:solidFill>
            <a:prstDash val="dash"/>
          </a:ln>
        </p:spPr>
        <p:txBody>
          <a:bodyPr/>
          <a:lstStyle/>
          <a:p>
            <a:endParaRPr lang="en-US"/>
          </a:p>
        </p:txBody>
      </p:sp>
      <p:sp>
        <p:nvSpPr>
          <p:cNvPr id="32" name="voxel-596"/>
          <p:cNvSpPr/>
          <p:nvPr/>
        </p:nvSpPr>
        <p:spPr>
          <a:xfrm>
            <a:off x="10572293" y="1474013"/>
            <a:ext cx="252374" cy="252374"/>
          </a:xfrm>
          <a:prstGeom prst="rect">
            <a:avLst/>
          </a:prstGeom>
          <a:solidFill>
            <a:schemeClr val="accent3"/>
          </a:solidFill>
          <a:ln/>
        </p:spPr>
        <p:txBody>
          <a:bodyPr/>
          <a:lstStyle/>
          <a:p>
            <a:endParaRPr lang="en-US"/>
          </a:p>
        </p:txBody>
      </p:sp>
      <p:sp>
        <p:nvSpPr>
          <p:cNvPr id="33" name="voxel-597"/>
          <p:cNvSpPr/>
          <p:nvPr/>
        </p:nvSpPr>
        <p:spPr>
          <a:xfrm>
            <a:off x="10846613" y="1474013"/>
            <a:ext cx="252374" cy="252374"/>
          </a:xfrm>
          <a:prstGeom prst="rect">
            <a:avLst/>
          </a:prstGeom>
          <a:solidFill>
            <a:schemeClr val="accent2"/>
          </a:solidFill>
          <a:ln/>
        </p:spPr>
        <p:txBody>
          <a:bodyPr/>
          <a:lstStyle/>
          <a:p>
            <a:endParaRPr lang="en-US"/>
          </a:p>
        </p:txBody>
      </p:sp>
      <p:sp>
        <p:nvSpPr>
          <p:cNvPr id="34" name="voxel-598"/>
          <p:cNvSpPr/>
          <p:nvPr/>
        </p:nvSpPr>
        <p:spPr>
          <a:xfrm>
            <a:off x="11120933" y="1474013"/>
            <a:ext cx="252374" cy="252374"/>
          </a:xfrm>
          <a:prstGeom prst="rect">
            <a:avLst/>
          </a:prstGeom>
          <a:solidFill>
            <a:schemeClr val="accent3"/>
          </a:solidFill>
          <a:ln/>
        </p:spPr>
        <p:txBody>
          <a:bodyPr/>
          <a:lstStyle/>
          <a:p>
            <a:endParaRPr lang="en-US"/>
          </a:p>
        </p:txBody>
      </p:sp>
      <p:sp>
        <p:nvSpPr>
          <p:cNvPr id="35" name="voxel-599"/>
          <p:cNvSpPr/>
          <p:nvPr/>
        </p:nvSpPr>
        <p:spPr>
          <a:xfrm>
            <a:off x="11395253" y="1474013"/>
            <a:ext cx="252374" cy="252374"/>
          </a:xfrm>
          <a:prstGeom prst="rect">
            <a:avLst/>
          </a:prstGeom>
          <a:solidFill>
            <a:schemeClr val="accent3"/>
          </a:solidFill>
          <a:ln/>
        </p:spPr>
        <p:txBody>
          <a:bodyPr/>
          <a:lstStyle/>
          <a:p>
            <a:endParaRPr lang="en-US"/>
          </a:p>
        </p:txBody>
      </p:sp>
      <p:sp>
        <p:nvSpPr>
          <p:cNvPr id="36" name="voxel-600"/>
          <p:cNvSpPr/>
          <p:nvPr/>
        </p:nvSpPr>
        <p:spPr>
          <a:xfrm>
            <a:off x="10297973" y="1748333"/>
            <a:ext cx="252374" cy="252374"/>
          </a:xfrm>
          <a:prstGeom prst="rect">
            <a:avLst/>
          </a:prstGeom>
          <a:solidFill>
            <a:schemeClr val="accent4"/>
          </a:solidFill>
          <a:ln/>
        </p:spPr>
        <p:txBody>
          <a:bodyPr/>
          <a:lstStyle/>
          <a:p>
            <a:endParaRPr lang="en-US"/>
          </a:p>
        </p:txBody>
      </p:sp>
      <p:sp>
        <p:nvSpPr>
          <p:cNvPr id="37" name="voxel-601"/>
          <p:cNvSpPr/>
          <p:nvPr/>
        </p:nvSpPr>
        <p:spPr>
          <a:xfrm>
            <a:off x="10572293" y="1748333"/>
            <a:ext cx="252374" cy="252374"/>
          </a:xfrm>
          <a:prstGeom prst="rect">
            <a:avLst/>
          </a:prstGeom>
          <a:solidFill>
            <a:schemeClr val="accent2"/>
          </a:solidFill>
          <a:ln/>
        </p:spPr>
        <p:txBody>
          <a:bodyPr/>
          <a:lstStyle/>
          <a:p>
            <a:endParaRPr lang="en-US"/>
          </a:p>
        </p:txBody>
      </p:sp>
      <p:sp>
        <p:nvSpPr>
          <p:cNvPr id="38" name="voxel-602"/>
          <p:cNvSpPr/>
          <p:nvPr/>
        </p:nvSpPr>
        <p:spPr>
          <a:xfrm>
            <a:off x="10846613" y="1748333"/>
            <a:ext cx="252374" cy="252374"/>
          </a:xfrm>
          <a:prstGeom prst="rect">
            <a:avLst/>
          </a:prstGeom>
          <a:solidFill>
            <a:schemeClr val="accent2"/>
          </a:solidFill>
          <a:ln/>
        </p:spPr>
        <p:txBody>
          <a:bodyPr/>
          <a:lstStyle/>
          <a:p>
            <a:endParaRPr lang="en-US"/>
          </a:p>
        </p:txBody>
      </p:sp>
      <p:sp>
        <p:nvSpPr>
          <p:cNvPr id="39" name="voxel-603"/>
          <p:cNvSpPr/>
          <p:nvPr/>
        </p:nvSpPr>
        <p:spPr>
          <a:xfrm>
            <a:off x="11120933" y="1748333"/>
            <a:ext cx="252374" cy="252374"/>
          </a:xfrm>
          <a:prstGeom prst="rect">
            <a:avLst/>
          </a:prstGeom>
          <a:solidFill>
            <a:schemeClr val="accent1"/>
          </a:solidFill>
          <a:ln/>
        </p:spPr>
        <p:txBody>
          <a:bodyPr/>
          <a:lstStyle/>
          <a:p>
            <a:endParaRPr lang="en-US"/>
          </a:p>
        </p:txBody>
      </p:sp>
      <p:sp>
        <p:nvSpPr>
          <p:cNvPr id="40" name="voxel-604"/>
          <p:cNvSpPr/>
          <p:nvPr/>
        </p:nvSpPr>
        <p:spPr>
          <a:xfrm>
            <a:off x="11395253" y="1748333"/>
            <a:ext cx="252374" cy="252374"/>
          </a:xfrm>
          <a:prstGeom prst="rect">
            <a:avLst/>
          </a:prstGeom>
          <a:solidFill>
            <a:schemeClr val="accent1"/>
          </a:solidFill>
          <a:ln/>
        </p:spPr>
        <p:txBody>
          <a:bodyPr/>
          <a:lstStyle/>
          <a:p>
            <a:endParaRPr lang="en-US"/>
          </a:p>
        </p:txBody>
      </p:sp>
      <p:sp>
        <p:nvSpPr>
          <p:cNvPr id="41" name="voxel-605"/>
          <p:cNvSpPr/>
          <p:nvPr/>
        </p:nvSpPr>
        <p:spPr>
          <a:xfrm>
            <a:off x="10297973" y="2022653"/>
            <a:ext cx="252374" cy="252374"/>
          </a:xfrm>
          <a:prstGeom prst="rect">
            <a:avLst/>
          </a:prstGeom>
          <a:solidFill>
            <a:schemeClr val="accent1"/>
          </a:solidFill>
          <a:ln/>
        </p:spPr>
        <p:txBody>
          <a:bodyPr/>
          <a:lstStyle/>
          <a:p>
            <a:endParaRPr lang="en-US"/>
          </a:p>
        </p:txBody>
      </p:sp>
      <p:sp>
        <p:nvSpPr>
          <p:cNvPr id="42" name="voxel-606"/>
          <p:cNvSpPr/>
          <p:nvPr/>
        </p:nvSpPr>
        <p:spPr>
          <a:xfrm>
            <a:off x="10572293" y="2022653"/>
            <a:ext cx="252374" cy="252374"/>
          </a:xfrm>
          <a:prstGeom prst="rect">
            <a:avLst/>
          </a:prstGeom>
          <a:solidFill>
            <a:schemeClr val="accent1"/>
          </a:solidFill>
          <a:ln/>
        </p:spPr>
        <p:txBody>
          <a:bodyPr/>
          <a:lstStyle/>
          <a:p>
            <a:endParaRPr lang="en-US"/>
          </a:p>
        </p:txBody>
      </p:sp>
      <p:sp>
        <p:nvSpPr>
          <p:cNvPr id="43" name="voxel-607"/>
          <p:cNvSpPr/>
          <p:nvPr/>
        </p:nvSpPr>
        <p:spPr>
          <a:xfrm>
            <a:off x="10846613" y="2022653"/>
            <a:ext cx="252374" cy="252374"/>
          </a:xfrm>
          <a:prstGeom prst="rect">
            <a:avLst/>
          </a:prstGeom>
          <a:solidFill>
            <a:schemeClr val="accent2"/>
          </a:solidFill>
          <a:ln/>
        </p:spPr>
        <p:txBody>
          <a:bodyPr/>
          <a:lstStyle/>
          <a:p>
            <a:endParaRPr lang="en-US"/>
          </a:p>
        </p:txBody>
      </p:sp>
      <p:sp>
        <p:nvSpPr>
          <p:cNvPr id="44" name="voxel-empty-608"/>
          <p:cNvSpPr/>
          <p:nvPr/>
        </p:nvSpPr>
        <p:spPr>
          <a:xfrm>
            <a:off x="11120933" y="2022653"/>
            <a:ext cx="252374" cy="252374"/>
          </a:xfrm>
          <a:prstGeom prst="rect">
            <a:avLst/>
          </a:prstGeom>
          <a:ln w="9525">
            <a:solidFill>
              <a:schemeClr val="accent4"/>
            </a:solidFill>
            <a:prstDash val="dash"/>
          </a:ln>
        </p:spPr>
        <p:txBody>
          <a:bodyPr/>
          <a:lstStyle/>
          <a:p>
            <a:endParaRPr lang="en-US"/>
          </a:p>
        </p:txBody>
      </p:sp>
      <p:sp>
        <p:nvSpPr>
          <p:cNvPr id="45" name="voxel-609"/>
          <p:cNvSpPr/>
          <p:nvPr/>
        </p:nvSpPr>
        <p:spPr>
          <a:xfrm>
            <a:off x="11395253" y="2022653"/>
            <a:ext cx="252374" cy="252374"/>
          </a:xfrm>
          <a:prstGeom prst="rect">
            <a:avLst/>
          </a:prstGeom>
          <a:solidFill>
            <a:schemeClr val="accent4"/>
          </a:solidFill>
          <a:ln/>
        </p:spPr>
        <p:txBody>
          <a:bodyPr/>
          <a:lstStyle/>
          <a:p>
            <a:endParaRPr lang="en-US"/>
          </a:p>
        </p:txBody>
      </p:sp>
      <p:sp>
        <p:nvSpPr>
          <p:cNvPr id="46" name="voxel-610"/>
          <p:cNvSpPr/>
          <p:nvPr/>
        </p:nvSpPr>
        <p:spPr>
          <a:xfrm>
            <a:off x="10297973" y="2296973"/>
            <a:ext cx="252374" cy="252374"/>
          </a:xfrm>
          <a:prstGeom prst="rect">
            <a:avLst/>
          </a:prstGeom>
          <a:solidFill>
            <a:schemeClr val="accent1"/>
          </a:solidFill>
          <a:ln/>
        </p:spPr>
        <p:txBody>
          <a:bodyPr/>
          <a:lstStyle/>
          <a:p>
            <a:endParaRPr lang="en-US"/>
          </a:p>
        </p:txBody>
      </p:sp>
      <p:sp>
        <p:nvSpPr>
          <p:cNvPr id="47" name="voxel-611"/>
          <p:cNvSpPr/>
          <p:nvPr/>
        </p:nvSpPr>
        <p:spPr>
          <a:xfrm>
            <a:off x="10572293" y="2296973"/>
            <a:ext cx="252374" cy="252374"/>
          </a:xfrm>
          <a:prstGeom prst="rect">
            <a:avLst/>
          </a:prstGeom>
          <a:solidFill>
            <a:schemeClr val="accent2"/>
          </a:solidFill>
          <a:ln/>
        </p:spPr>
        <p:txBody>
          <a:bodyPr/>
          <a:lstStyle/>
          <a:p>
            <a:endParaRPr lang="en-US"/>
          </a:p>
        </p:txBody>
      </p:sp>
      <p:sp>
        <p:nvSpPr>
          <p:cNvPr id="48" name="voxel-empty-612"/>
          <p:cNvSpPr/>
          <p:nvPr/>
        </p:nvSpPr>
        <p:spPr>
          <a:xfrm>
            <a:off x="10846613" y="2296973"/>
            <a:ext cx="252374" cy="252374"/>
          </a:xfrm>
          <a:prstGeom prst="rect">
            <a:avLst/>
          </a:prstGeom>
          <a:ln w="9525">
            <a:solidFill>
              <a:schemeClr val="accent4"/>
            </a:solidFill>
            <a:prstDash val="dash"/>
          </a:ln>
        </p:spPr>
        <p:txBody>
          <a:bodyPr/>
          <a:lstStyle/>
          <a:p>
            <a:endParaRPr lang="en-US"/>
          </a:p>
        </p:txBody>
      </p:sp>
      <p:sp>
        <p:nvSpPr>
          <p:cNvPr id="49" name="voxel-613"/>
          <p:cNvSpPr/>
          <p:nvPr/>
        </p:nvSpPr>
        <p:spPr>
          <a:xfrm>
            <a:off x="11120933" y="2296973"/>
            <a:ext cx="252374" cy="252374"/>
          </a:xfrm>
          <a:prstGeom prst="rect">
            <a:avLst/>
          </a:prstGeom>
          <a:solidFill>
            <a:schemeClr val="accent2"/>
          </a:solidFill>
          <a:ln/>
        </p:spPr>
        <p:txBody>
          <a:bodyPr/>
          <a:lstStyle/>
          <a:p>
            <a:endParaRPr lang="en-US"/>
          </a:p>
        </p:txBody>
      </p:sp>
      <p:sp>
        <p:nvSpPr>
          <p:cNvPr id="50" name="voxel-614"/>
          <p:cNvSpPr/>
          <p:nvPr/>
        </p:nvSpPr>
        <p:spPr>
          <a:xfrm>
            <a:off x="11395253" y="2296973"/>
            <a:ext cx="252374" cy="252374"/>
          </a:xfrm>
          <a:prstGeom prst="rect">
            <a:avLst/>
          </a:prstGeom>
          <a:solidFill>
            <a:schemeClr val="accent1"/>
          </a:solidFill>
          <a:ln/>
        </p:spPr>
        <p:txBody>
          <a:bodyPr/>
          <a:lstStyle/>
          <a:p>
            <a:endParaRPr lang="en-US"/>
          </a:p>
        </p:txBody>
      </p:sp>
      <p:sp>
        <p:nvSpPr>
          <p:cNvPr id="51" name="voxel-615"/>
          <p:cNvSpPr/>
          <p:nvPr/>
        </p:nvSpPr>
        <p:spPr>
          <a:xfrm>
            <a:off x="10297973" y="2571293"/>
            <a:ext cx="252374" cy="252374"/>
          </a:xfrm>
          <a:prstGeom prst="rect">
            <a:avLst/>
          </a:prstGeom>
          <a:solidFill>
            <a:schemeClr val="accent1"/>
          </a:solidFill>
          <a:ln/>
        </p:spPr>
        <p:txBody>
          <a:bodyPr/>
          <a:lstStyle/>
          <a:p>
            <a:endParaRPr lang="en-US"/>
          </a:p>
        </p:txBody>
      </p:sp>
      <p:sp>
        <p:nvSpPr>
          <p:cNvPr id="52" name="voxel-616"/>
          <p:cNvSpPr/>
          <p:nvPr/>
        </p:nvSpPr>
        <p:spPr>
          <a:xfrm>
            <a:off x="10572293" y="2571293"/>
            <a:ext cx="252374" cy="252374"/>
          </a:xfrm>
          <a:prstGeom prst="rect">
            <a:avLst/>
          </a:prstGeom>
          <a:solidFill>
            <a:schemeClr val="accent1"/>
          </a:solidFill>
          <a:ln/>
        </p:spPr>
        <p:txBody>
          <a:bodyPr/>
          <a:lstStyle/>
          <a:p>
            <a:endParaRPr lang="en-US"/>
          </a:p>
        </p:txBody>
      </p:sp>
      <p:sp>
        <p:nvSpPr>
          <p:cNvPr id="53" name="voxel-617"/>
          <p:cNvSpPr/>
          <p:nvPr/>
        </p:nvSpPr>
        <p:spPr>
          <a:xfrm>
            <a:off x="10846613" y="2571293"/>
            <a:ext cx="252374" cy="252374"/>
          </a:xfrm>
          <a:prstGeom prst="rect">
            <a:avLst/>
          </a:prstGeom>
          <a:solidFill>
            <a:schemeClr val="accent1"/>
          </a:solidFill>
          <a:ln/>
        </p:spPr>
        <p:txBody>
          <a:bodyPr/>
          <a:lstStyle/>
          <a:p>
            <a:endParaRPr lang="en-US"/>
          </a:p>
        </p:txBody>
      </p:sp>
      <p:sp>
        <p:nvSpPr>
          <p:cNvPr id="54" name="voxel-empty-618"/>
          <p:cNvSpPr/>
          <p:nvPr/>
        </p:nvSpPr>
        <p:spPr>
          <a:xfrm>
            <a:off x="11120933" y="2571293"/>
            <a:ext cx="252374" cy="252374"/>
          </a:xfrm>
          <a:prstGeom prst="rect">
            <a:avLst/>
          </a:prstGeom>
          <a:ln w="9525">
            <a:solidFill>
              <a:schemeClr val="accent4"/>
            </a:solidFill>
            <a:prstDash val="dash"/>
          </a:ln>
        </p:spPr>
        <p:txBody>
          <a:bodyPr/>
          <a:lstStyle/>
          <a:p>
            <a:endParaRPr lang="en-US"/>
          </a:p>
        </p:txBody>
      </p:sp>
      <p:sp>
        <p:nvSpPr>
          <p:cNvPr id="55" name="voxel-619"/>
          <p:cNvSpPr/>
          <p:nvPr/>
        </p:nvSpPr>
        <p:spPr>
          <a:xfrm>
            <a:off x="11395253" y="2571293"/>
            <a:ext cx="252374" cy="252374"/>
          </a:xfrm>
          <a:prstGeom prst="rect">
            <a:avLst/>
          </a:prstGeom>
          <a:solidFill>
            <a:schemeClr val="accent1"/>
          </a:solidFill>
          <a:ln/>
        </p:spPr>
        <p:txBody>
          <a:bodyPr/>
          <a:lstStyle/>
          <a:p>
            <a:endParaRPr lang="en-US"/>
          </a:p>
        </p:txBody>
      </p:sp>
      <p:sp>
        <p:nvSpPr>
          <p:cNvPr id="56" name="text-620"/>
          <p:cNvSpPr txBox="1"/>
          <p:nvPr/>
        </p:nvSpPr>
        <p:spPr>
          <a:xfrm>
            <a:off x="10287000" y="2926080"/>
            <a:ext cx="1463040" cy="320040"/>
          </a:xfrm>
          <a:prstGeom prst="rect">
            <a:avLst/>
          </a:prstGeom>
          <a:noFill/>
          <a:ln/>
        </p:spPr>
        <p:txBody>
          <a:bodyPr wrap="square" lIns="0" tIns="0" rIns="0" bIns="0" rtlCol="0" anchor="t"/>
          <a:lstStyle/>
          <a:p>
            <a:pPr marL="0" indent="0">
              <a:buNone/>
            </a:pPr>
            <a:r>
              <a:rPr lang="en-US" sz="1400" b="1" dirty="0">
                <a:solidFill>
                  <a:schemeClr val="tx2"/>
                </a:solidFill>
              </a:rPr>
              <a:t>Brain 2</a:t>
            </a:r>
            <a:endParaRPr lang="en-US" sz="1400" dirty="0"/>
          </a:p>
        </p:txBody>
      </p:sp>
      <p:pic>
        <p:nvPicPr>
          <p:cNvPr id="57" name="gif-621" descr="Robot animation"/>
          <p:cNvPicPr>
            <a:picLocks noChangeAspect="1"/>
          </p:cNvPicPr>
          <p:nvPr/>
        </p:nvPicPr>
        <p:blipFill>
          <a:blip r:embed="rId5"/>
          <a:stretch>
            <a:fillRect/>
          </a:stretch>
        </p:blipFill>
        <p:spPr>
          <a:xfrm>
            <a:off x="548640" y="3840480"/>
            <a:ext cx="3931920" cy="1965960"/>
          </a:xfrm>
          <a:prstGeom prst="rect">
            <a:avLst/>
          </a:prstGeom>
        </p:spPr>
      </p:pic>
      <p:sp>
        <p:nvSpPr>
          <p:cNvPr id="58" name="voxel-empty-622"/>
          <p:cNvSpPr/>
          <p:nvPr/>
        </p:nvSpPr>
        <p:spPr>
          <a:xfrm>
            <a:off x="4674413" y="3988613"/>
            <a:ext cx="252374" cy="252374"/>
          </a:xfrm>
          <a:prstGeom prst="rect">
            <a:avLst/>
          </a:prstGeom>
          <a:ln w="9525">
            <a:solidFill>
              <a:schemeClr val="accent4"/>
            </a:solidFill>
            <a:prstDash val="dash"/>
          </a:ln>
        </p:spPr>
        <p:txBody>
          <a:bodyPr/>
          <a:lstStyle/>
          <a:p>
            <a:endParaRPr lang="en-US"/>
          </a:p>
        </p:txBody>
      </p:sp>
      <p:sp>
        <p:nvSpPr>
          <p:cNvPr id="59" name="voxel-623"/>
          <p:cNvSpPr/>
          <p:nvPr/>
        </p:nvSpPr>
        <p:spPr>
          <a:xfrm>
            <a:off x="4948733" y="3988613"/>
            <a:ext cx="252374" cy="252374"/>
          </a:xfrm>
          <a:prstGeom prst="rect">
            <a:avLst/>
          </a:prstGeom>
          <a:solidFill>
            <a:schemeClr val="accent3"/>
          </a:solidFill>
          <a:ln/>
        </p:spPr>
        <p:txBody>
          <a:bodyPr/>
          <a:lstStyle/>
          <a:p>
            <a:endParaRPr lang="en-US"/>
          </a:p>
        </p:txBody>
      </p:sp>
      <p:sp>
        <p:nvSpPr>
          <p:cNvPr id="60" name="voxel-624"/>
          <p:cNvSpPr/>
          <p:nvPr/>
        </p:nvSpPr>
        <p:spPr>
          <a:xfrm>
            <a:off x="5223053" y="3988613"/>
            <a:ext cx="252374" cy="252374"/>
          </a:xfrm>
          <a:prstGeom prst="rect">
            <a:avLst/>
          </a:prstGeom>
          <a:solidFill>
            <a:schemeClr val="accent1"/>
          </a:solidFill>
          <a:ln/>
        </p:spPr>
        <p:txBody>
          <a:bodyPr/>
          <a:lstStyle/>
          <a:p>
            <a:endParaRPr lang="en-US"/>
          </a:p>
        </p:txBody>
      </p:sp>
      <p:sp>
        <p:nvSpPr>
          <p:cNvPr id="61" name="voxel-625"/>
          <p:cNvSpPr/>
          <p:nvPr/>
        </p:nvSpPr>
        <p:spPr>
          <a:xfrm>
            <a:off x="5497373" y="3988613"/>
            <a:ext cx="252374" cy="252374"/>
          </a:xfrm>
          <a:prstGeom prst="rect">
            <a:avLst/>
          </a:prstGeom>
          <a:solidFill>
            <a:schemeClr val="accent3"/>
          </a:solidFill>
          <a:ln/>
        </p:spPr>
        <p:txBody>
          <a:bodyPr/>
          <a:lstStyle/>
          <a:p>
            <a:endParaRPr lang="en-US"/>
          </a:p>
        </p:txBody>
      </p:sp>
      <p:sp>
        <p:nvSpPr>
          <p:cNvPr id="62" name="voxel-626"/>
          <p:cNvSpPr/>
          <p:nvPr/>
        </p:nvSpPr>
        <p:spPr>
          <a:xfrm>
            <a:off x="5771693" y="3988613"/>
            <a:ext cx="252374" cy="252374"/>
          </a:xfrm>
          <a:prstGeom prst="rect">
            <a:avLst/>
          </a:prstGeom>
          <a:solidFill>
            <a:schemeClr val="accent1"/>
          </a:solidFill>
          <a:ln/>
        </p:spPr>
        <p:txBody>
          <a:bodyPr/>
          <a:lstStyle/>
          <a:p>
            <a:endParaRPr lang="en-US"/>
          </a:p>
        </p:txBody>
      </p:sp>
      <p:sp>
        <p:nvSpPr>
          <p:cNvPr id="63" name="voxel-627"/>
          <p:cNvSpPr/>
          <p:nvPr/>
        </p:nvSpPr>
        <p:spPr>
          <a:xfrm>
            <a:off x="4674413" y="4262933"/>
            <a:ext cx="252374" cy="252374"/>
          </a:xfrm>
          <a:prstGeom prst="rect">
            <a:avLst/>
          </a:prstGeom>
          <a:solidFill>
            <a:schemeClr val="accent2"/>
          </a:solidFill>
          <a:ln/>
        </p:spPr>
        <p:txBody>
          <a:bodyPr/>
          <a:lstStyle/>
          <a:p>
            <a:endParaRPr lang="en-US"/>
          </a:p>
        </p:txBody>
      </p:sp>
      <p:sp>
        <p:nvSpPr>
          <p:cNvPr id="64" name="voxel-628"/>
          <p:cNvSpPr/>
          <p:nvPr/>
        </p:nvSpPr>
        <p:spPr>
          <a:xfrm>
            <a:off x="4948733" y="4262933"/>
            <a:ext cx="252374" cy="252374"/>
          </a:xfrm>
          <a:prstGeom prst="rect">
            <a:avLst/>
          </a:prstGeom>
          <a:solidFill>
            <a:schemeClr val="accent1"/>
          </a:solidFill>
          <a:ln/>
        </p:spPr>
        <p:txBody>
          <a:bodyPr/>
          <a:lstStyle/>
          <a:p>
            <a:endParaRPr lang="en-US"/>
          </a:p>
        </p:txBody>
      </p:sp>
      <p:sp>
        <p:nvSpPr>
          <p:cNvPr id="65" name="voxel-629"/>
          <p:cNvSpPr/>
          <p:nvPr/>
        </p:nvSpPr>
        <p:spPr>
          <a:xfrm>
            <a:off x="5223053" y="4262933"/>
            <a:ext cx="252374" cy="252374"/>
          </a:xfrm>
          <a:prstGeom prst="rect">
            <a:avLst/>
          </a:prstGeom>
          <a:solidFill>
            <a:schemeClr val="accent2"/>
          </a:solidFill>
          <a:ln/>
        </p:spPr>
        <p:txBody>
          <a:bodyPr/>
          <a:lstStyle/>
          <a:p>
            <a:endParaRPr lang="en-US"/>
          </a:p>
        </p:txBody>
      </p:sp>
      <p:sp>
        <p:nvSpPr>
          <p:cNvPr id="66" name="voxel-630"/>
          <p:cNvSpPr/>
          <p:nvPr/>
        </p:nvSpPr>
        <p:spPr>
          <a:xfrm>
            <a:off x="5497373" y="4262933"/>
            <a:ext cx="252374" cy="252374"/>
          </a:xfrm>
          <a:prstGeom prst="rect">
            <a:avLst/>
          </a:prstGeom>
          <a:solidFill>
            <a:schemeClr val="accent3"/>
          </a:solidFill>
          <a:ln/>
        </p:spPr>
        <p:txBody>
          <a:bodyPr/>
          <a:lstStyle/>
          <a:p>
            <a:endParaRPr lang="en-US"/>
          </a:p>
        </p:txBody>
      </p:sp>
      <p:sp>
        <p:nvSpPr>
          <p:cNvPr id="67" name="voxel-631"/>
          <p:cNvSpPr/>
          <p:nvPr/>
        </p:nvSpPr>
        <p:spPr>
          <a:xfrm>
            <a:off x="5771693" y="4262933"/>
            <a:ext cx="252374" cy="252374"/>
          </a:xfrm>
          <a:prstGeom prst="rect">
            <a:avLst/>
          </a:prstGeom>
          <a:solidFill>
            <a:schemeClr val="accent1"/>
          </a:solidFill>
          <a:ln/>
        </p:spPr>
        <p:txBody>
          <a:bodyPr/>
          <a:lstStyle/>
          <a:p>
            <a:endParaRPr lang="en-US"/>
          </a:p>
        </p:txBody>
      </p:sp>
      <p:sp>
        <p:nvSpPr>
          <p:cNvPr id="68" name="voxel-632"/>
          <p:cNvSpPr/>
          <p:nvPr/>
        </p:nvSpPr>
        <p:spPr>
          <a:xfrm>
            <a:off x="4674413" y="4537253"/>
            <a:ext cx="252374" cy="252374"/>
          </a:xfrm>
          <a:prstGeom prst="rect">
            <a:avLst/>
          </a:prstGeom>
          <a:solidFill>
            <a:schemeClr val="accent2"/>
          </a:solidFill>
          <a:ln/>
        </p:spPr>
        <p:txBody>
          <a:bodyPr/>
          <a:lstStyle/>
          <a:p>
            <a:endParaRPr lang="en-US"/>
          </a:p>
        </p:txBody>
      </p:sp>
      <p:sp>
        <p:nvSpPr>
          <p:cNvPr id="69" name="voxel-633"/>
          <p:cNvSpPr/>
          <p:nvPr/>
        </p:nvSpPr>
        <p:spPr>
          <a:xfrm>
            <a:off x="4948733" y="4537253"/>
            <a:ext cx="252374" cy="252374"/>
          </a:xfrm>
          <a:prstGeom prst="rect">
            <a:avLst/>
          </a:prstGeom>
          <a:solidFill>
            <a:schemeClr val="accent3"/>
          </a:solidFill>
          <a:ln/>
        </p:spPr>
        <p:txBody>
          <a:bodyPr/>
          <a:lstStyle/>
          <a:p>
            <a:endParaRPr lang="en-US"/>
          </a:p>
        </p:txBody>
      </p:sp>
      <p:sp>
        <p:nvSpPr>
          <p:cNvPr id="70" name="voxel-634"/>
          <p:cNvSpPr/>
          <p:nvPr/>
        </p:nvSpPr>
        <p:spPr>
          <a:xfrm>
            <a:off x="5223053" y="4537253"/>
            <a:ext cx="252374" cy="252374"/>
          </a:xfrm>
          <a:prstGeom prst="rect">
            <a:avLst/>
          </a:prstGeom>
          <a:solidFill>
            <a:schemeClr val="accent4"/>
          </a:solidFill>
          <a:ln/>
        </p:spPr>
        <p:txBody>
          <a:bodyPr/>
          <a:lstStyle/>
          <a:p>
            <a:endParaRPr lang="en-US"/>
          </a:p>
        </p:txBody>
      </p:sp>
      <p:sp>
        <p:nvSpPr>
          <p:cNvPr id="71" name="voxel-635"/>
          <p:cNvSpPr/>
          <p:nvPr/>
        </p:nvSpPr>
        <p:spPr>
          <a:xfrm>
            <a:off x="5497373" y="4537253"/>
            <a:ext cx="252374" cy="252374"/>
          </a:xfrm>
          <a:prstGeom prst="rect">
            <a:avLst/>
          </a:prstGeom>
          <a:solidFill>
            <a:schemeClr val="accent3"/>
          </a:solidFill>
          <a:ln/>
        </p:spPr>
        <p:txBody>
          <a:bodyPr/>
          <a:lstStyle/>
          <a:p>
            <a:endParaRPr lang="en-US"/>
          </a:p>
        </p:txBody>
      </p:sp>
      <p:sp>
        <p:nvSpPr>
          <p:cNvPr id="72" name="voxel-636"/>
          <p:cNvSpPr/>
          <p:nvPr/>
        </p:nvSpPr>
        <p:spPr>
          <a:xfrm>
            <a:off x="5771693" y="4537253"/>
            <a:ext cx="252374" cy="252374"/>
          </a:xfrm>
          <a:prstGeom prst="rect">
            <a:avLst/>
          </a:prstGeom>
          <a:solidFill>
            <a:schemeClr val="accent3"/>
          </a:solidFill>
          <a:ln/>
        </p:spPr>
        <p:txBody>
          <a:bodyPr/>
          <a:lstStyle/>
          <a:p>
            <a:endParaRPr lang="en-US"/>
          </a:p>
        </p:txBody>
      </p:sp>
      <p:sp>
        <p:nvSpPr>
          <p:cNvPr id="73" name="voxel-637"/>
          <p:cNvSpPr/>
          <p:nvPr/>
        </p:nvSpPr>
        <p:spPr>
          <a:xfrm>
            <a:off x="4674413" y="4811573"/>
            <a:ext cx="252374" cy="252374"/>
          </a:xfrm>
          <a:prstGeom prst="rect">
            <a:avLst/>
          </a:prstGeom>
          <a:solidFill>
            <a:schemeClr val="accent1"/>
          </a:solidFill>
          <a:ln/>
        </p:spPr>
        <p:txBody>
          <a:bodyPr/>
          <a:lstStyle/>
          <a:p>
            <a:endParaRPr lang="en-US"/>
          </a:p>
        </p:txBody>
      </p:sp>
      <p:sp>
        <p:nvSpPr>
          <p:cNvPr id="74" name="voxel-638"/>
          <p:cNvSpPr/>
          <p:nvPr/>
        </p:nvSpPr>
        <p:spPr>
          <a:xfrm>
            <a:off x="4948733" y="4811573"/>
            <a:ext cx="252374" cy="252374"/>
          </a:xfrm>
          <a:prstGeom prst="rect">
            <a:avLst/>
          </a:prstGeom>
          <a:solidFill>
            <a:schemeClr val="accent4"/>
          </a:solidFill>
          <a:ln/>
        </p:spPr>
        <p:txBody>
          <a:bodyPr/>
          <a:lstStyle/>
          <a:p>
            <a:endParaRPr lang="en-US"/>
          </a:p>
        </p:txBody>
      </p:sp>
      <p:sp>
        <p:nvSpPr>
          <p:cNvPr id="75" name="voxel-639"/>
          <p:cNvSpPr/>
          <p:nvPr/>
        </p:nvSpPr>
        <p:spPr>
          <a:xfrm>
            <a:off x="5223053" y="4811573"/>
            <a:ext cx="252374" cy="252374"/>
          </a:xfrm>
          <a:prstGeom prst="rect">
            <a:avLst/>
          </a:prstGeom>
          <a:solidFill>
            <a:schemeClr val="accent1"/>
          </a:solidFill>
          <a:ln/>
        </p:spPr>
        <p:txBody>
          <a:bodyPr/>
          <a:lstStyle/>
          <a:p>
            <a:endParaRPr lang="en-US"/>
          </a:p>
        </p:txBody>
      </p:sp>
      <p:sp>
        <p:nvSpPr>
          <p:cNvPr id="76" name="voxel-empty-640"/>
          <p:cNvSpPr/>
          <p:nvPr/>
        </p:nvSpPr>
        <p:spPr>
          <a:xfrm>
            <a:off x="5497373" y="4811573"/>
            <a:ext cx="252374" cy="252374"/>
          </a:xfrm>
          <a:prstGeom prst="rect">
            <a:avLst/>
          </a:prstGeom>
          <a:ln w="9525">
            <a:solidFill>
              <a:schemeClr val="accent4"/>
            </a:solidFill>
            <a:prstDash val="dash"/>
          </a:ln>
        </p:spPr>
        <p:txBody>
          <a:bodyPr/>
          <a:lstStyle/>
          <a:p>
            <a:endParaRPr lang="en-US"/>
          </a:p>
        </p:txBody>
      </p:sp>
      <p:sp>
        <p:nvSpPr>
          <p:cNvPr id="77" name="voxel-641"/>
          <p:cNvSpPr/>
          <p:nvPr/>
        </p:nvSpPr>
        <p:spPr>
          <a:xfrm>
            <a:off x="5771693" y="4811573"/>
            <a:ext cx="252374" cy="252374"/>
          </a:xfrm>
          <a:prstGeom prst="rect">
            <a:avLst/>
          </a:prstGeom>
          <a:solidFill>
            <a:schemeClr val="accent1"/>
          </a:solidFill>
          <a:ln/>
        </p:spPr>
        <p:txBody>
          <a:bodyPr/>
          <a:lstStyle/>
          <a:p>
            <a:endParaRPr lang="en-US"/>
          </a:p>
        </p:txBody>
      </p:sp>
      <p:sp>
        <p:nvSpPr>
          <p:cNvPr id="78" name="voxel-642"/>
          <p:cNvSpPr/>
          <p:nvPr/>
        </p:nvSpPr>
        <p:spPr>
          <a:xfrm>
            <a:off x="4674413" y="5085893"/>
            <a:ext cx="252374" cy="252374"/>
          </a:xfrm>
          <a:prstGeom prst="rect">
            <a:avLst/>
          </a:prstGeom>
          <a:solidFill>
            <a:schemeClr val="accent1"/>
          </a:solidFill>
          <a:ln/>
        </p:spPr>
        <p:txBody>
          <a:bodyPr/>
          <a:lstStyle/>
          <a:p>
            <a:endParaRPr lang="en-US"/>
          </a:p>
        </p:txBody>
      </p:sp>
      <p:sp>
        <p:nvSpPr>
          <p:cNvPr id="79" name="voxel-643"/>
          <p:cNvSpPr/>
          <p:nvPr/>
        </p:nvSpPr>
        <p:spPr>
          <a:xfrm>
            <a:off x="4948733" y="5085893"/>
            <a:ext cx="252374" cy="252374"/>
          </a:xfrm>
          <a:prstGeom prst="rect">
            <a:avLst/>
          </a:prstGeom>
          <a:solidFill>
            <a:schemeClr val="accent2"/>
          </a:solidFill>
          <a:ln/>
        </p:spPr>
        <p:txBody>
          <a:bodyPr/>
          <a:lstStyle/>
          <a:p>
            <a:endParaRPr lang="en-US"/>
          </a:p>
        </p:txBody>
      </p:sp>
      <p:sp>
        <p:nvSpPr>
          <p:cNvPr id="80" name="voxel-empty-644"/>
          <p:cNvSpPr/>
          <p:nvPr/>
        </p:nvSpPr>
        <p:spPr>
          <a:xfrm>
            <a:off x="5223053" y="5085893"/>
            <a:ext cx="252374" cy="252374"/>
          </a:xfrm>
          <a:prstGeom prst="rect">
            <a:avLst/>
          </a:prstGeom>
          <a:ln w="9525">
            <a:solidFill>
              <a:schemeClr val="accent4"/>
            </a:solidFill>
            <a:prstDash val="dash"/>
          </a:ln>
        </p:spPr>
        <p:txBody>
          <a:bodyPr/>
          <a:lstStyle/>
          <a:p>
            <a:endParaRPr lang="en-US"/>
          </a:p>
        </p:txBody>
      </p:sp>
      <p:sp>
        <p:nvSpPr>
          <p:cNvPr id="81" name="voxel-empty-645"/>
          <p:cNvSpPr/>
          <p:nvPr/>
        </p:nvSpPr>
        <p:spPr>
          <a:xfrm>
            <a:off x="5497373" y="5085893"/>
            <a:ext cx="252374" cy="252374"/>
          </a:xfrm>
          <a:prstGeom prst="rect">
            <a:avLst/>
          </a:prstGeom>
          <a:ln w="9525">
            <a:solidFill>
              <a:schemeClr val="accent4"/>
            </a:solidFill>
            <a:prstDash val="dash"/>
          </a:ln>
        </p:spPr>
        <p:txBody>
          <a:bodyPr/>
          <a:lstStyle/>
          <a:p>
            <a:endParaRPr lang="en-US"/>
          </a:p>
        </p:txBody>
      </p:sp>
      <p:sp>
        <p:nvSpPr>
          <p:cNvPr id="82" name="voxel-646"/>
          <p:cNvSpPr/>
          <p:nvPr/>
        </p:nvSpPr>
        <p:spPr>
          <a:xfrm>
            <a:off x="5771693" y="5085893"/>
            <a:ext cx="252374" cy="252374"/>
          </a:xfrm>
          <a:prstGeom prst="rect">
            <a:avLst/>
          </a:prstGeom>
          <a:solidFill>
            <a:schemeClr val="accent1"/>
          </a:solidFill>
          <a:ln/>
        </p:spPr>
        <p:txBody>
          <a:bodyPr/>
          <a:lstStyle/>
          <a:p>
            <a:endParaRPr lang="en-US"/>
          </a:p>
        </p:txBody>
      </p:sp>
      <p:sp>
        <p:nvSpPr>
          <p:cNvPr id="83" name="text-647"/>
          <p:cNvSpPr txBox="1"/>
          <p:nvPr/>
        </p:nvSpPr>
        <p:spPr>
          <a:xfrm>
            <a:off x="4663440" y="5440680"/>
            <a:ext cx="1463040" cy="320040"/>
          </a:xfrm>
          <a:prstGeom prst="rect">
            <a:avLst/>
          </a:prstGeom>
          <a:noFill/>
          <a:ln/>
        </p:spPr>
        <p:txBody>
          <a:bodyPr wrap="square" lIns="0" tIns="0" rIns="0" bIns="0" rtlCol="0" anchor="t"/>
          <a:lstStyle/>
          <a:p>
            <a:pPr marL="0" indent="0">
              <a:buNone/>
            </a:pPr>
            <a:r>
              <a:rPr lang="en-US" sz="1400" b="1" dirty="0">
                <a:solidFill>
                  <a:schemeClr val="tx2"/>
                </a:solidFill>
              </a:rPr>
              <a:t>Brain 3</a:t>
            </a:r>
            <a:endParaRPr lang="en-US" sz="1400" dirty="0"/>
          </a:p>
        </p:txBody>
      </p:sp>
      <p:pic>
        <p:nvPicPr>
          <p:cNvPr id="84" name="gif-648" descr="Robot animation"/>
          <p:cNvPicPr>
            <a:picLocks noChangeAspect="1"/>
          </p:cNvPicPr>
          <p:nvPr/>
        </p:nvPicPr>
        <p:blipFill>
          <a:blip r:embed="rId6"/>
          <a:stretch>
            <a:fillRect/>
          </a:stretch>
        </p:blipFill>
        <p:spPr>
          <a:xfrm>
            <a:off x="6172200" y="3840480"/>
            <a:ext cx="3931920" cy="1965960"/>
          </a:xfrm>
          <a:prstGeom prst="rect">
            <a:avLst/>
          </a:prstGeom>
        </p:spPr>
      </p:pic>
      <p:sp>
        <p:nvSpPr>
          <p:cNvPr id="85" name="voxel-649"/>
          <p:cNvSpPr/>
          <p:nvPr/>
        </p:nvSpPr>
        <p:spPr>
          <a:xfrm>
            <a:off x="10297973" y="3988613"/>
            <a:ext cx="252374" cy="252374"/>
          </a:xfrm>
          <a:prstGeom prst="rect">
            <a:avLst/>
          </a:prstGeom>
          <a:solidFill>
            <a:schemeClr val="accent3"/>
          </a:solidFill>
          <a:ln/>
        </p:spPr>
        <p:txBody>
          <a:bodyPr/>
          <a:lstStyle/>
          <a:p>
            <a:endParaRPr lang="en-US"/>
          </a:p>
        </p:txBody>
      </p:sp>
      <p:sp>
        <p:nvSpPr>
          <p:cNvPr id="86" name="voxel-650"/>
          <p:cNvSpPr/>
          <p:nvPr/>
        </p:nvSpPr>
        <p:spPr>
          <a:xfrm>
            <a:off x="10572293" y="3988613"/>
            <a:ext cx="252374" cy="252374"/>
          </a:xfrm>
          <a:prstGeom prst="rect">
            <a:avLst/>
          </a:prstGeom>
          <a:solidFill>
            <a:schemeClr val="accent2"/>
          </a:solidFill>
          <a:ln/>
        </p:spPr>
        <p:txBody>
          <a:bodyPr/>
          <a:lstStyle/>
          <a:p>
            <a:endParaRPr lang="en-US"/>
          </a:p>
        </p:txBody>
      </p:sp>
      <p:sp>
        <p:nvSpPr>
          <p:cNvPr id="87" name="voxel-651"/>
          <p:cNvSpPr/>
          <p:nvPr/>
        </p:nvSpPr>
        <p:spPr>
          <a:xfrm>
            <a:off x="10846613" y="3988613"/>
            <a:ext cx="252374" cy="252374"/>
          </a:xfrm>
          <a:prstGeom prst="rect">
            <a:avLst/>
          </a:prstGeom>
          <a:solidFill>
            <a:schemeClr val="accent1"/>
          </a:solidFill>
          <a:ln/>
        </p:spPr>
        <p:txBody>
          <a:bodyPr/>
          <a:lstStyle/>
          <a:p>
            <a:endParaRPr lang="en-US"/>
          </a:p>
        </p:txBody>
      </p:sp>
      <p:sp>
        <p:nvSpPr>
          <p:cNvPr id="88" name="voxel-652"/>
          <p:cNvSpPr/>
          <p:nvPr/>
        </p:nvSpPr>
        <p:spPr>
          <a:xfrm>
            <a:off x="11120933" y="3988613"/>
            <a:ext cx="252374" cy="252374"/>
          </a:xfrm>
          <a:prstGeom prst="rect">
            <a:avLst/>
          </a:prstGeom>
          <a:solidFill>
            <a:schemeClr val="accent3"/>
          </a:solidFill>
          <a:ln/>
        </p:spPr>
        <p:txBody>
          <a:bodyPr/>
          <a:lstStyle/>
          <a:p>
            <a:endParaRPr lang="en-US"/>
          </a:p>
        </p:txBody>
      </p:sp>
      <p:sp>
        <p:nvSpPr>
          <p:cNvPr id="89" name="voxel-653"/>
          <p:cNvSpPr/>
          <p:nvPr/>
        </p:nvSpPr>
        <p:spPr>
          <a:xfrm>
            <a:off x="11395253" y="3988613"/>
            <a:ext cx="252374" cy="252374"/>
          </a:xfrm>
          <a:prstGeom prst="rect">
            <a:avLst/>
          </a:prstGeom>
          <a:solidFill>
            <a:schemeClr val="accent3"/>
          </a:solidFill>
          <a:ln/>
        </p:spPr>
        <p:txBody>
          <a:bodyPr/>
          <a:lstStyle/>
          <a:p>
            <a:endParaRPr lang="en-US"/>
          </a:p>
        </p:txBody>
      </p:sp>
      <p:sp>
        <p:nvSpPr>
          <p:cNvPr id="90" name="voxel-empty-654"/>
          <p:cNvSpPr/>
          <p:nvPr/>
        </p:nvSpPr>
        <p:spPr>
          <a:xfrm>
            <a:off x="10297973" y="4262933"/>
            <a:ext cx="252374" cy="252374"/>
          </a:xfrm>
          <a:prstGeom prst="rect">
            <a:avLst/>
          </a:prstGeom>
          <a:ln w="9525">
            <a:solidFill>
              <a:schemeClr val="accent4"/>
            </a:solidFill>
            <a:prstDash val="dash"/>
          </a:ln>
        </p:spPr>
        <p:txBody>
          <a:bodyPr/>
          <a:lstStyle/>
          <a:p>
            <a:endParaRPr lang="en-US"/>
          </a:p>
        </p:txBody>
      </p:sp>
      <p:sp>
        <p:nvSpPr>
          <p:cNvPr id="91" name="voxel-655"/>
          <p:cNvSpPr/>
          <p:nvPr/>
        </p:nvSpPr>
        <p:spPr>
          <a:xfrm>
            <a:off x="10572293" y="4262933"/>
            <a:ext cx="252374" cy="252374"/>
          </a:xfrm>
          <a:prstGeom prst="rect">
            <a:avLst/>
          </a:prstGeom>
          <a:solidFill>
            <a:schemeClr val="accent2"/>
          </a:solidFill>
          <a:ln/>
        </p:spPr>
        <p:txBody>
          <a:bodyPr/>
          <a:lstStyle/>
          <a:p>
            <a:endParaRPr lang="en-US"/>
          </a:p>
        </p:txBody>
      </p:sp>
      <p:sp>
        <p:nvSpPr>
          <p:cNvPr id="92" name="voxel-empty-656"/>
          <p:cNvSpPr/>
          <p:nvPr/>
        </p:nvSpPr>
        <p:spPr>
          <a:xfrm>
            <a:off x="10846613" y="4262933"/>
            <a:ext cx="252374" cy="252374"/>
          </a:xfrm>
          <a:prstGeom prst="rect">
            <a:avLst/>
          </a:prstGeom>
          <a:ln w="9525">
            <a:solidFill>
              <a:schemeClr val="accent4"/>
            </a:solidFill>
            <a:prstDash val="dash"/>
          </a:ln>
        </p:spPr>
        <p:txBody>
          <a:bodyPr/>
          <a:lstStyle/>
          <a:p>
            <a:endParaRPr lang="en-US"/>
          </a:p>
        </p:txBody>
      </p:sp>
      <p:sp>
        <p:nvSpPr>
          <p:cNvPr id="93" name="voxel-657"/>
          <p:cNvSpPr/>
          <p:nvPr/>
        </p:nvSpPr>
        <p:spPr>
          <a:xfrm>
            <a:off x="11120933" y="4262933"/>
            <a:ext cx="252374" cy="252374"/>
          </a:xfrm>
          <a:prstGeom prst="rect">
            <a:avLst/>
          </a:prstGeom>
          <a:solidFill>
            <a:schemeClr val="accent3"/>
          </a:solidFill>
          <a:ln/>
        </p:spPr>
        <p:txBody>
          <a:bodyPr/>
          <a:lstStyle/>
          <a:p>
            <a:endParaRPr lang="en-US"/>
          </a:p>
        </p:txBody>
      </p:sp>
      <p:sp>
        <p:nvSpPr>
          <p:cNvPr id="94" name="voxel-658"/>
          <p:cNvSpPr/>
          <p:nvPr/>
        </p:nvSpPr>
        <p:spPr>
          <a:xfrm>
            <a:off x="11395253" y="4262933"/>
            <a:ext cx="252374" cy="252374"/>
          </a:xfrm>
          <a:prstGeom prst="rect">
            <a:avLst/>
          </a:prstGeom>
          <a:solidFill>
            <a:schemeClr val="accent2"/>
          </a:solidFill>
          <a:ln/>
        </p:spPr>
        <p:txBody>
          <a:bodyPr/>
          <a:lstStyle/>
          <a:p>
            <a:endParaRPr lang="en-US"/>
          </a:p>
        </p:txBody>
      </p:sp>
      <p:sp>
        <p:nvSpPr>
          <p:cNvPr id="95" name="voxel-659"/>
          <p:cNvSpPr/>
          <p:nvPr/>
        </p:nvSpPr>
        <p:spPr>
          <a:xfrm>
            <a:off x="10297973" y="4537253"/>
            <a:ext cx="252374" cy="252374"/>
          </a:xfrm>
          <a:prstGeom prst="rect">
            <a:avLst/>
          </a:prstGeom>
          <a:solidFill>
            <a:schemeClr val="accent4"/>
          </a:solidFill>
          <a:ln/>
        </p:spPr>
        <p:txBody>
          <a:bodyPr/>
          <a:lstStyle/>
          <a:p>
            <a:endParaRPr lang="en-US"/>
          </a:p>
        </p:txBody>
      </p:sp>
      <p:sp>
        <p:nvSpPr>
          <p:cNvPr id="96" name="voxel-660"/>
          <p:cNvSpPr/>
          <p:nvPr/>
        </p:nvSpPr>
        <p:spPr>
          <a:xfrm>
            <a:off x="10572293" y="4537253"/>
            <a:ext cx="252374" cy="252374"/>
          </a:xfrm>
          <a:prstGeom prst="rect">
            <a:avLst/>
          </a:prstGeom>
          <a:solidFill>
            <a:schemeClr val="accent3"/>
          </a:solidFill>
          <a:ln/>
        </p:spPr>
        <p:txBody>
          <a:bodyPr/>
          <a:lstStyle/>
          <a:p>
            <a:endParaRPr lang="en-US"/>
          </a:p>
        </p:txBody>
      </p:sp>
      <p:sp>
        <p:nvSpPr>
          <p:cNvPr id="97" name="voxel-661"/>
          <p:cNvSpPr/>
          <p:nvPr/>
        </p:nvSpPr>
        <p:spPr>
          <a:xfrm>
            <a:off x="10846613" y="4537253"/>
            <a:ext cx="252374" cy="252374"/>
          </a:xfrm>
          <a:prstGeom prst="rect">
            <a:avLst/>
          </a:prstGeom>
          <a:solidFill>
            <a:schemeClr val="accent1"/>
          </a:solidFill>
          <a:ln/>
        </p:spPr>
        <p:txBody>
          <a:bodyPr/>
          <a:lstStyle/>
          <a:p>
            <a:endParaRPr lang="en-US"/>
          </a:p>
        </p:txBody>
      </p:sp>
      <p:sp>
        <p:nvSpPr>
          <p:cNvPr id="98" name="voxel-662"/>
          <p:cNvSpPr/>
          <p:nvPr/>
        </p:nvSpPr>
        <p:spPr>
          <a:xfrm>
            <a:off x="11120933" y="4537253"/>
            <a:ext cx="252374" cy="252374"/>
          </a:xfrm>
          <a:prstGeom prst="rect">
            <a:avLst/>
          </a:prstGeom>
          <a:solidFill>
            <a:schemeClr val="accent1"/>
          </a:solidFill>
          <a:ln/>
        </p:spPr>
        <p:txBody>
          <a:bodyPr/>
          <a:lstStyle/>
          <a:p>
            <a:endParaRPr lang="en-US"/>
          </a:p>
        </p:txBody>
      </p:sp>
      <p:sp>
        <p:nvSpPr>
          <p:cNvPr id="99" name="voxel-663"/>
          <p:cNvSpPr/>
          <p:nvPr/>
        </p:nvSpPr>
        <p:spPr>
          <a:xfrm>
            <a:off x="11395253" y="4537253"/>
            <a:ext cx="252374" cy="252374"/>
          </a:xfrm>
          <a:prstGeom prst="rect">
            <a:avLst/>
          </a:prstGeom>
          <a:solidFill>
            <a:schemeClr val="accent2"/>
          </a:solidFill>
          <a:ln/>
        </p:spPr>
        <p:txBody>
          <a:bodyPr/>
          <a:lstStyle/>
          <a:p>
            <a:endParaRPr lang="en-US"/>
          </a:p>
        </p:txBody>
      </p:sp>
      <p:sp>
        <p:nvSpPr>
          <p:cNvPr id="100" name="voxel-664"/>
          <p:cNvSpPr/>
          <p:nvPr/>
        </p:nvSpPr>
        <p:spPr>
          <a:xfrm>
            <a:off x="10297973" y="4811573"/>
            <a:ext cx="252374" cy="252374"/>
          </a:xfrm>
          <a:prstGeom prst="rect">
            <a:avLst/>
          </a:prstGeom>
          <a:solidFill>
            <a:schemeClr val="accent1"/>
          </a:solidFill>
          <a:ln/>
        </p:spPr>
        <p:txBody>
          <a:bodyPr/>
          <a:lstStyle/>
          <a:p>
            <a:endParaRPr lang="en-US"/>
          </a:p>
        </p:txBody>
      </p:sp>
      <p:sp>
        <p:nvSpPr>
          <p:cNvPr id="101" name="voxel-empty-665"/>
          <p:cNvSpPr/>
          <p:nvPr/>
        </p:nvSpPr>
        <p:spPr>
          <a:xfrm>
            <a:off x="10572293" y="4811573"/>
            <a:ext cx="252374" cy="252374"/>
          </a:xfrm>
          <a:prstGeom prst="rect">
            <a:avLst/>
          </a:prstGeom>
          <a:ln w="9525">
            <a:solidFill>
              <a:schemeClr val="accent4"/>
            </a:solidFill>
            <a:prstDash val="dash"/>
          </a:ln>
        </p:spPr>
        <p:txBody>
          <a:bodyPr/>
          <a:lstStyle/>
          <a:p>
            <a:endParaRPr lang="en-US"/>
          </a:p>
        </p:txBody>
      </p:sp>
      <p:sp>
        <p:nvSpPr>
          <p:cNvPr id="102" name="voxel-666"/>
          <p:cNvSpPr/>
          <p:nvPr/>
        </p:nvSpPr>
        <p:spPr>
          <a:xfrm>
            <a:off x="10846613" y="4811573"/>
            <a:ext cx="252374" cy="252374"/>
          </a:xfrm>
          <a:prstGeom prst="rect">
            <a:avLst/>
          </a:prstGeom>
          <a:solidFill>
            <a:schemeClr val="accent1"/>
          </a:solidFill>
          <a:ln/>
        </p:spPr>
        <p:txBody>
          <a:bodyPr/>
          <a:lstStyle/>
          <a:p>
            <a:endParaRPr lang="en-US"/>
          </a:p>
        </p:txBody>
      </p:sp>
      <p:sp>
        <p:nvSpPr>
          <p:cNvPr id="103" name="voxel-667"/>
          <p:cNvSpPr/>
          <p:nvPr/>
        </p:nvSpPr>
        <p:spPr>
          <a:xfrm>
            <a:off x="11120933" y="4811573"/>
            <a:ext cx="252374" cy="252374"/>
          </a:xfrm>
          <a:prstGeom prst="rect">
            <a:avLst/>
          </a:prstGeom>
          <a:solidFill>
            <a:schemeClr val="accent2"/>
          </a:solidFill>
          <a:ln/>
        </p:spPr>
        <p:txBody>
          <a:bodyPr/>
          <a:lstStyle/>
          <a:p>
            <a:endParaRPr lang="en-US"/>
          </a:p>
        </p:txBody>
      </p:sp>
      <p:sp>
        <p:nvSpPr>
          <p:cNvPr id="104" name="voxel-668"/>
          <p:cNvSpPr/>
          <p:nvPr/>
        </p:nvSpPr>
        <p:spPr>
          <a:xfrm>
            <a:off x="11395253" y="4811573"/>
            <a:ext cx="252374" cy="252374"/>
          </a:xfrm>
          <a:prstGeom prst="rect">
            <a:avLst/>
          </a:prstGeom>
          <a:solidFill>
            <a:schemeClr val="accent1"/>
          </a:solidFill>
          <a:ln/>
        </p:spPr>
        <p:txBody>
          <a:bodyPr/>
          <a:lstStyle/>
          <a:p>
            <a:endParaRPr lang="en-US"/>
          </a:p>
        </p:txBody>
      </p:sp>
      <p:sp>
        <p:nvSpPr>
          <p:cNvPr id="105" name="voxel-669"/>
          <p:cNvSpPr/>
          <p:nvPr/>
        </p:nvSpPr>
        <p:spPr>
          <a:xfrm>
            <a:off x="10297973" y="5085893"/>
            <a:ext cx="252374" cy="252374"/>
          </a:xfrm>
          <a:prstGeom prst="rect">
            <a:avLst/>
          </a:prstGeom>
          <a:solidFill>
            <a:schemeClr val="accent3"/>
          </a:solidFill>
          <a:ln/>
        </p:spPr>
        <p:txBody>
          <a:bodyPr/>
          <a:lstStyle/>
          <a:p>
            <a:endParaRPr lang="en-US"/>
          </a:p>
        </p:txBody>
      </p:sp>
      <p:sp>
        <p:nvSpPr>
          <p:cNvPr id="106" name="voxel-empty-670"/>
          <p:cNvSpPr/>
          <p:nvPr/>
        </p:nvSpPr>
        <p:spPr>
          <a:xfrm>
            <a:off x="10572293" y="5085893"/>
            <a:ext cx="252374" cy="252374"/>
          </a:xfrm>
          <a:prstGeom prst="rect">
            <a:avLst/>
          </a:prstGeom>
          <a:ln w="9525">
            <a:solidFill>
              <a:schemeClr val="accent4"/>
            </a:solidFill>
            <a:prstDash val="dash"/>
          </a:ln>
        </p:spPr>
        <p:txBody>
          <a:bodyPr/>
          <a:lstStyle/>
          <a:p>
            <a:endParaRPr lang="en-US"/>
          </a:p>
        </p:txBody>
      </p:sp>
      <p:sp>
        <p:nvSpPr>
          <p:cNvPr id="107" name="voxel-671"/>
          <p:cNvSpPr/>
          <p:nvPr/>
        </p:nvSpPr>
        <p:spPr>
          <a:xfrm>
            <a:off x="10846613" y="5085893"/>
            <a:ext cx="252374" cy="252374"/>
          </a:xfrm>
          <a:prstGeom prst="rect">
            <a:avLst/>
          </a:prstGeom>
          <a:solidFill>
            <a:schemeClr val="accent1"/>
          </a:solidFill>
          <a:ln/>
        </p:spPr>
        <p:txBody>
          <a:bodyPr/>
          <a:lstStyle/>
          <a:p>
            <a:endParaRPr lang="en-US"/>
          </a:p>
        </p:txBody>
      </p:sp>
      <p:sp>
        <p:nvSpPr>
          <p:cNvPr id="108" name="voxel-empty-672"/>
          <p:cNvSpPr/>
          <p:nvPr/>
        </p:nvSpPr>
        <p:spPr>
          <a:xfrm>
            <a:off x="11120933" y="5085893"/>
            <a:ext cx="252374" cy="252374"/>
          </a:xfrm>
          <a:prstGeom prst="rect">
            <a:avLst/>
          </a:prstGeom>
          <a:ln w="9525">
            <a:solidFill>
              <a:schemeClr val="accent4"/>
            </a:solidFill>
            <a:prstDash val="dash"/>
          </a:ln>
        </p:spPr>
        <p:txBody>
          <a:bodyPr/>
          <a:lstStyle/>
          <a:p>
            <a:endParaRPr lang="en-US"/>
          </a:p>
        </p:txBody>
      </p:sp>
      <p:sp>
        <p:nvSpPr>
          <p:cNvPr id="109" name="voxel-empty-673"/>
          <p:cNvSpPr/>
          <p:nvPr/>
        </p:nvSpPr>
        <p:spPr>
          <a:xfrm>
            <a:off x="11395253" y="5085893"/>
            <a:ext cx="252374" cy="252374"/>
          </a:xfrm>
          <a:prstGeom prst="rect">
            <a:avLst/>
          </a:prstGeom>
          <a:ln w="9525">
            <a:solidFill>
              <a:schemeClr val="accent4"/>
            </a:solidFill>
            <a:prstDash val="dash"/>
          </a:ln>
        </p:spPr>
        <p:txBody>
          <a:bodyPr/>
          <a:lstStyle/>
          <a:p>
            <a:endParaRPr lang="en-US"/>
          </a:p>
        </p:txBody>
      </p:sp>
      <p:sp>
        <p:nvSpPr>
          <p:cNvPr id="110" name="text-674"/>
          <p:cNvSpPr txBox="1"/>
          <p:nvPr/>
        </p:nvSpPr>
        <p:spPr>
          <a:xfrm>
            <a:off x="10287000" y="5440680"/>
            <a:ext cx="1463040" cy="320040"/>
          </a:xfrm>
          <a:prstGeom prst="rect">
            <a:avLst/>
          </a:prstGeom>
          <a:noFill/>
          <a:ln/>
        </p:spPr>
        <p:txBody>
          <a:bodyPr wrap="square" lIns="0" tIns="0" rIns="0" bIns="0" rtlCol="0" anchor="t"/>
          <a:lstStyle/>
          <a:p>
            <a:pPr marL="0" indent="0">
              <a:buNone/>
            </a:pPr>
            <a:r>
              <a:rPr lang="en-US" sz="1400" b="1" dirty="0">
                <a:solidFill>
                  <a:schemeClr val="tx2"/>
                </a:solidFill>
              </a:rPr>
              <a:t>Brain 4</a:t>
            </a:r>
            <a:endParaRPr lang="en-US" sz="1400" dirty="0"/>
          </a:p>
        </p:txBody>
      </p:sp>
      <p:sp>
        <p:nvSpPr>
          <p:cNvPr id="111"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377440"/>
            <a:ext cx="6766560" cy="1097280"/>
          </a:xfrm>
          <a:prstGeom prst="rect">
            <a:avLst/>
          </a:prstGeom>
          <a:noFill/>
          <a:ln/>
        </p:spPr>
        <p:txBody>
          <a:bodyPr wrap="square" lIns="0" tIns="0" rIns="0" bIns="0" rtlCol="0" anchor="b"/>
          <a:lstStyle/>
          <a:p>
            <a:pPr marL="0" indent="0" algn="l">
              <a:buNone/>
            </a:pPr>
            <a:r>
              <a:rPr lang="en-US" sz="4000" b="1" dirty="0">
                <a:solidFill>
                  <a:schemeClr val="bg1"/>
                </a:solidFill>
              </a:rPr>
              <a:t>The assignment</a:t>
            </a:r>
            <a:endParaRPr lang="en-US" sz="4000" dirty="0"/>
          </a:p>
        </p:txBody>
      </p:sp>
      <p:sp>
        <p:nvSpPr>
          <p:cNvPr id="3" name="Text 0"/>
          <p:cNvSpPr>
            <a:spLocks noGrp="1"/>
          </p:cNvSpPr>
          <p:nvPr>
            <p:ph type="body" idx="101" hasCustomPrompt="1"/>
          </p:nvPr>
        </p:nvSpPr>
        <p:spPr>
          <a:xfrm>
            <a:off x="548640" y="3611880"/>
            <a:ext cx="6766560" cy="1097280"/>
          </a:xfrm>
          <a:prstGeom prst="rect">
            <a:avLst/>
          </a:prstGeom>
          <a:noFill/>
          <a:ln/>
        </p:spPr>
        <p:txBody>
          <a:bodyPr wrap="square" lIns="0" tIns="0" rIns="0" bIns="0" rtlCol="0" anchor="t"/>
          <a:lstStyle/>
          <a:p>
            <a:pPr marL="0" indent="0" algn="l">
              <a:buNone/>
            </a:pPr>
            <a:r>
              <a:rPr lang="en-US" sz="1800" dirty="0">
                <a:solidFill>
                  <a:schemeClr val="accent4"/>
                </a:solidFill>
              </a:rPr>
              <a:t>Three required parts, open-ended by design</a:t>
            </a:r>
            <a:endParaRPr lang="en-US" sz="1800" dirty="0"/>
          </a:p>
        </p:txBody>
      </p:sp>
      <p:sp>
        <p:nvSpPr>
          <p:cNvPr id="4" name="voxel-675"/>
          <p:cNvSpPr/>
          <p:nvPr/>
        </p:nvSpPr>
        <p:spPr>
          <a:xfrm>
            <a:off x="8164495" y="3784519"/>
            <a:ext cx="605699" cy="605699"/>
          </a:xfrm>
          <a:prstGeom prst="rect">
            <a:avLst/>
          </a:prstGeom>
          <a:solidFill>
            <a:schemeClr val="accent2"/>
          </a:solidFill>
          <a:ln/>
        </p:spPr>
        <p:txBody>
          <a:bodyPr/>
          <a:lstStyle/>
          <a:p>
            <a:endParaRPr lang="en-US"/>
          </a:p>
        </p:txBody>
      </p:sp>
      <p:sp>
        <p:nvSpPr>
          <p:cNvPr id="5" name="voxel-676"/>
          <p:cNvSpPr/>
          <p:nvPr/>
        </p:nvSpPr>
        <p:spPr>
          <a:xfrm>
            <a:off x="8822863" y="3784519"/>
            <a:ext cx="605699" cy="605699"/>
          </a:xfrm>
          <a:prstGeom prst="rect">
            <a:avLst/>
          </a:prstGeom>
          <a:solidFill>
            <a:schemeClr val="accent2"/>
          </a:solidFill>
          <a:ln/>
        </p:spPr>
        <p:txBody>
          <a:bodyPr/>
          <a:lstStyle/>
          <a:p>
            <a:endParaRPr lang="en-US"/>
          </a:p>
        </p:txBody>
      </p:sp>
      <p:sp>
        <p:nvSpPr>
          <p:cNvPr id="6" name="voxel-677"/>
          <p:cNvSpPr/>
          <p:nvPr/>
        </p:nvSpPr>
        <p:spPr>
          <a:xfrm>
            <a:off x="9481231" y="3784519"/>
            <a:ext cx="605699" cy="605699"/>
          </a:xfrm>
          <a:prstGeom prst="rect">
            <a:avLst/>
          </a:prstGeom>
          <a:solidFill>
            <a:schemeClr val="accent2"/>
          </a:solidFill>
          <a:ln/>
        </p:spPr>
        <p:txBody>
          <a:bodyPr/>
          <a:lstStyle/>
          <a:p>
            <a:endParaRPr lang="en-US"/>
          </a:p>
        </p:txBody>
      </p:sp>
      <p:sp>
        <p:nvSpPr>
          <p:cNvPr id="7" name="voxel-678"/>
          <p:cNvSpPr/>
          <p:nvPr/>
        </p:nvSpPr>
        <p:spPr>
          <a:xfrm>
            <a:off x="10139599" y="3784519"/>
            <a:ext cx="605699" cy="605699"/>
          </a:xfrm>
          <a:prstGeom prst="rect">
            <a:avLst/>
          </a:prstGeom>
          <a:solidFill>
            <a:schemeClr val="accent2"/>
          </a:solidFill>
          <a:ln/>
        </p:spPr>
        <p:txBody>
          <a:bodyPr/>
          <a:lstStyle/>
          <a:p>
            <a:endParaRPr lang="en-US"/>
          </a:p>
        </p:txBody>
      </p:sp>
      <p:sp>
        <p:nvSpPr>
          <p:cNvPr id="8" name="voxel-679"/>
          <p:cNvSpPr/>
          <p:nvPr/>
        </p:nvSpPr>
        <p:spPr>
          <a:xfrm>
            <a:off x="10797967" y="3784519"/>
            <a:ext cx="605699" cy="605699"/>
          </a:xfrm>
          <a:prstGeom prst="rect">
            <a:avLst/>
          </a:prstGeom>
          <a:solidFill>
            <a:schemeClr val="accent2"/>
          </a:solidFill>
          <a:ln/>
        </p:spPr>
        <p:txBody>
          <a:bodyPr/>
          <a:lstStyle/>
          <a:p>
            <a:endParaRPr lang="en-US"/>
          </a:p>
        </p:txBody>
      </p:sp>
      <p:sp>
        <p:nvSpPr>
          <p:cNvPr id="9" name="voxel-680"/>
          <p:cNvSpPr/>
          <p:nvPr/>
        </p:nvSpPr>
        <p:spPr>
          <a:xfrm>
            <a:off x="8164495" y="4442887"/>
            <a:ext cx="605699" cy="605699"/>
          </a:xfrm>
          <a:prstGeom prst="rect">
            <a:avLst/>
          </a:prstGeom>
          <a:solidFill>
            <a:schemeClr val="accent1"/>
          </a:solidFill>
          <a:ln/>
        </p:spPr>
        <p:txBody>
          <a:bodyPr/>
          <a:lstStyle/>
          <a:p>
            <a:endParaRPr lang="en-US"/>
          </a:p>
        </p:txBody>
      </p:sp>
      <p:sp>
        <p:nvSpPr>
          <p:cNvPr id="10" name="voxel-681"/>
          <p:cNvSpPr/>
          <p:nvPr/>
        </p:nvSpPr>
        <p:spPr>
          <a:xfrm>
            <a:off x="8822863" y="4442887"/>
            <a:ext cx="605699" cy="605699"/>
          </a:xfrm>
          <a:prstGeom prst="rect">
            <a:avLst/>
          </a:prstGeom>
          <a:solidFill>
            <a:schemeClr val="accent1"/>
          </a:solidFill>
          <a:ln/>
        </p:spPr>
        <p:txBody>
          <a:bodyPr/>
          <a:lstStyle/>
          <a:p>
            <a:endParaRPr lang="en-US"/>
          </a:p>
        </p:txBody>
      </p:sp>
      <p:sp>
        <p:nvSpPr>
          <p:cNvPr id="11" name="voxel-682"/>
          <p:cNvSpPr/>
          <p:nvPr/>
        </p:nvSpPr>
        <p:spPr>
          <a:xfrm>
            <a:off x="9481231" y="4442887"/>
            <a:ext cx="605699" cy="605699"/>
          </a:xfrm>
          <a:prstGeom prst="rect">
            <a:avLst/>
          </a:prstGeom>
          <a:solidFill>
            <a:schemeClr val="accent1"/>
          </a:solidFill>
          <a:ln/>
        </p:spPr>
        <p:txBody>
          <a:bodyPr/>
          <a:lstStyle/>
          <a:p>
            <a:endParaRPr lang="en-US"/>
          </a:p>
        </p:txBody>
      </p:sp>
      <p:sp>
        <p:nvSpPr>
          <p:cNvPr id="12" name="voxel-683"/>
          <p:cNvSpPr/>
          <p:nvPr/>
        </p:nvSpPr>
        <p:spPr>
          <a:xfrm>
            <a:off x="10139599" y="4442887"/>
            <a:ext cx="605699" cy="605699"/>
          </a:xfrm>
          <a:prstGeom prst="rect">
            <a:avLst/>
          </a:prstGeom>
          <a:solidFill>
            <a:schemeClr val="accent1"/>
          </a:solidFill>
          <a:ln/>
        </p:spPr>
        <p:txBody>
          <a:bodyPr/>
          <a:lstStyle/>
          <a:p>
            <a:endParaRPr lang="en-US"/>
          </a:p>
        </p:txBody>
      </p:sp>
      <p:sp>
        <p:nvSpPr>
          <p:cNvPr id="13" name="voxel-684"/>
          <p:cNvSpPr/>
          <p:nvPr/>
        </p:nvSpPr>
        <p:spPr>
          <a:xfrm>
            <a:off x="10797967" y="4442887"/>
            <a:ext cx="605699" cy="605699"/>
          </a:xfrm>
          <a:prstGeom prst="rect">
            <a:avLst/>
          </a:prstGeom>
          <a:solidFill>
            <a:schemeClr val="accent1"/>
          </a:solidFill>
          <a:ln/>
        </p:spPr>
        <p:txBody>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Three required parts</a:t>
            </a:r>
            <a:endParaRPr lang="en-US" sz="3200" dirty="0"/>
          </a:p>
        </p:txBody>
      </p:sp>
      <p:sp>
        <p:nvSpPr>
          <p:cNvPr id="3" name="card-685"/>
          <p:cNvSpPr/>
          <p:nvPr/>
        </p:nvSpPr>
        <p:spPr>
          <a:xfrm>
            <a:off x="548640" y="1417320"/>
            <a:ext cx="3429000" cy="3611880"/>
          </a:xfrm>
          <a:prstGeom prst="roundRect">
            <a:avLst>
              <a:gd name="adj" fmla="val 2133"/>
            </a:avLst>
          </a:prstGeom>
          <a:solidFill>
            <a:schemeClr val="bg2"/>
          </a:solidFill>
          <a:ln/>
        </p:spPr>
        <p:txBody>
          <a:bodyPr/>
          <a:lstStyle/>
          <a:p>
            <a:endParaRPr lang="en-US"/>
          </a:p>
        </p:txBody>
      </p:sp>
      <p:sp>
        <p:nvSpPr>
          <p:cNvPr id="4" name="text-686"/>
          <p:cNvSpPr txBox="1"/>
          <p:nvPr/>
        </p:nvSpPr>
        <p:spPr>
          <a:xfrm>
            <a:off x="868680" y="1645920"/>
            <a:ext cx="2788920" cy="320040"/>
          </a:xfrm>
          <a:prstGeom prst="rect">
            <a:avLst/>
          </a:prstGeom>
          <a:noFill/>
          <a:ln/>
        </p:spPr>
        <p:txBody>
          <a:bodyPr wrap="square" lIns="0" tIns="0" rIns="0" bIns="0" rtlCol="0" anchor="t"/>
          <a:lstStyle/>
          <a:p>
            <a:pPr marL="0" indent="0">
              <a:buNone/>
            </a:pPr>
            <a:r>
              <a:rPr lang="en-US" sz="1400" b="1" dirty="0">
                <a:solidFill>
                  <a:schemeClr val="accent6"/>
                </a:solidFill>
              </a:rPr>
              <a:t>Part 1</a:t>
            </a:r>
            <a:endParaRPr lang="en-US" sz="1400" dirty="0"/>
          </a:p>
        </p:txBody>
      </p:sp>
      <p:sp>
        <p:nvSpPr>
          <p:cNvPr id="5" name="text-687"/>
          <p:cNvSpPr txBox="1"/>
          <p:nvPr/>
        </p:nvSpPr>
        <p:spPr>
          <a:xfrm>
            <a:off x="868680" y="1965960"/>
            <a:ext cx="2788920" cy="685800"/>
          </a:xfrm>
          <a:prstGeom prst="rect">
            <a:avLst/>
          </a:prstGeom>
          <a:noFill/>
          <a:ln/>
        </p:spPr>
        <p:txBody>
          <a:bodyPr wrap="square" lIns="0" tIns="0" rIns="0" bIns="0" rtlCol="0" anchor="t"/>
          <a:lstStyle/>
          <a:p>
            <a:pPr marL="0" indent="0">
              <a:buNone/>
            </a:pPr>
            <a:r>
              <a:rPr lang="en-US" sz="1900" b="1" dirty="0">
                <a:solidFill>
                  <a:schemeClr val="tx1"/>
                </a:solidFill>
              </a:rPr>
              <a:t>A brain for a fixed body</a:t>
            </a:r>
            <a:endParaRPr lang="en-US" sz="1900" dirty="0"/>
          </a:p>
        </p:txBody>
      </p:sp>
      <p:sp>
        <p:nvSpPr>
          <p:cNvPr id="6" name="bullets-688"/>
          <p:cNvSpPr txBox="1"/>
          <p:nvPr/>
        </p:nvSpPr>
        <p:spPr>
          <a:xfrm>
            <a:off x="868680" y="2697480"/>
            <a:ext cx="2788920" cy="22860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Pick a preset body, and design one of your own</a:t>
            </a:r>
            <a:endParaRPr lang="en-US" sz="1500" dirty="0"/>
          </a:p>
          <a:p>
            <a:pPr marL="228600" indent="-228600">
              <a:spcAft>
                <a:spcPts val="800"/>
              </a:spcAft>
              <a:buSzPct val="100000"/>
              <a:buChar char="•"/>
            </a:pPr>
            <a:r>
              <a:rPr lang="en-US" sz="1500" dirty="0">
                <a:solidFill>
                  <a:schemeClr val="tx1"/>
                </a:solidFill>
              </a:rPr>
              <a:t>5 runs (seeds) each, same settings</a:t>
            </a:r>
            <a:endParaRPr lang="en-US" sz="1500" dirty="0"/>
          </a:p>
          <a:p>
            <a:pPr marL="228600" indent="-228600">
              <a:spcAft>
                <a:spcPts val="800"/>
              </a:spcAft>
              <a:buSzPct val="100000"/>
              <a:buChar char="•"/>
            </a:pPr>
            <a:r>
              <a:rPr lang="en-US" sz="1500" dirty="0">
                <a:solidFill>
                  <a:schemeClr val="tx1"/>
                </a:solidFill>
              </a:rPr>
              <a:t>Compare progress and behavior: why did one body do better?</a:t>
            </a:r>
            <a:endParaRPr lang="en-US" sz="1500" dirty="0"/>
          </a:p>
        </p:txBody>
      </p:sp>
      <p:sp>
        <p:nvSpPr>
          <p:cNvPr id="7" name="card-689"/>
          <p:cNvSpPr/>
          <p:nvPr/>
        </p:nvSpPr>
        <p:spPr>
          <a:xfrm>
            <a:off x="4297680" y="1417320"/>
            <a:ext cx="3429000" cy="3611880"/>
          </a:xfrm>
          <a:prstGeom prst="roundRect">
            <a:avLst>
              <a:gd name="adj" fmla="val 2133"/>
            </a:avLst>
          </a:prstGeom>
          <a:solidFill>
            <a:schemeClr val="bg2"/>
          </a:solidFill>
          <a:ln/>
        </p:spPr>
        <p:txBody>
          <a:bodyPr/>
          <a:lstStyle/>
          <a:p>
            <a:endParaRPr lang="en-US"/>
          </a:p>
        </p:txBody>
      </p:sp>
      <p:sp>
        <p:nvSpPr>
          <p:cNvPr id="8" name="text-690"/>
          <p:cNvSpPr txBox="1"/>
          <p:nvPr/>
        </p:nvSpPr>
        <p:spPr>
          <a:xfrm>
            <a:off x="4617720" y="1645920"/>
            <a:ext cx="2788920" cy="320040"/>
          </a:xfrm>
          <a:prstGeom prst="rect">
            <a:avLst/>
          </a:prstGeom>
          <a:noFill/>
          <a:ln/>
        </p:spPr>
        <p:txBody>
          <a:bodyPr wrap="square" lIns="0" tIns="0" rIns="0" bIns="0" rtlCol="0" anchor="t"/>
          <a:lstStyle/>
          <a:p>
            <a:pPr marL="0" indent="0">
              <a:buNone/>
            </a:pPr>
            <a:r>
              <a:rPr lang="en-US" sz="1400" b="1" dirty="0">
                <a:solidFill>
                  <a:schemeClr val="accent6"/>
                </a:solidFill>
              </a:rPr>
              <a:t>Part 2</a:t>
            </a:r>
            <a:endParaRPr lang="en-US" sz="1400" dirty="0"/>
          </a:p>
        </p:txBody>
      </p:sp>
      <p:sp>
        <p:nvSpPr>
          <p:cNvPr id="9" name="text-691"/>
          <p:cNvSpPr txBox="1"/>
          <p:nvPr/>
        </p:nvSpPr>
        <p:spPr>
          <a:xfrm>
            <a:off x="4617720" y="1965960"/>
            <a:ext cx="2788920" cy="685800"/>
          </a:xfrm>
          <a:prstGeom prst="rect">
            <a:avLst/>
          </a:prstGeom>
          <a:noFill/>
          <a:ln/>
        </p:spPr>
        <p:txBody>
          <a:bodyPr wrap="square" lIns="0" tIns="0" rIns="0" bIns="0" rtlCol="0" anchor="t"/>
          <a:lstStyle/>
          <a:p>
            <a:pPr marL="0" indent="0">
              <a:buNone/>
            </a:pPr>
            <a:r>
              <a:rPr lang="en-US" sz="1900" b="1" dirty="0">
                <a:solidFill>
                  <a:schemeClr val="tx1"/>
                </a:solidFill>
              </a:rPr>
              <a:t>Brain and body together</a:t>
            </a:r>
            <a:endParaRPr lang="en-US" sz="1900" dirty="0"/>
          </a:p>
        </p:txBody>
      </p:sp>
      <p:sp>
        <p:nvSpPr>
          <p:cNvPr id="10" name="bullets-692"/>
          <p:cNvSpPr txBox="1"/>
          <p:nvPr/>
        </p:nvSpPr>
        <p:spPr>
          <a:xfrm>
            <a:off x="4617720" y="2697480"/>
            <a:ext cx="2788920" cy="22860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Co-design, at least 5 runs</a:t>
            </a:r>
            <a:endParaRPr lang="en-US" sz="1500" dirty="0"/>
          </a:p>
          <a:p>
            <a:pPr marL="228600" indent="-228600">
              <a:spcAft>
                <a:spcPts val="800"/>
              </a:spcAft>
              <a:buSzPct val="100000"/>
              <a:buChar char="•"/>
            </a:pPr>
            <a:r>
              <a:rPr lang="en-US" sz="1500" dirty="0">
                <a:solidFill>
                  <a:schemeClr val="tx1"/>
                </a:solidFill>
              </a:rPr>
              <a:t>Show the progress of all five, and an animation of each final design</a:t>
            </a:r>
            <a:endParaRPr lang="en-US" sz="1500" dirty="0"/>
          </a:p>
          <a:p>
            <a:pPr marL="228600" indent="-228600">
              <a:spcAft>
                <a:spcPts val="800"/>
              </a:spcAft>
              <a:buSzPct val="100000"/>
              <a:buChar char="•"/>
            </a:pPr>
            <a:r>
              <a:rPr lang="en-US" sz="1500" dirty="0">
                <a:solidFill>
                  <a:schemeClr val="tx1"/>
                </a:solidFill>
              </a:rPr>
              <a:t>Compare and discuss, including against Part 1</a:t>
            </a:r>
            <a:endParaRPr lang="en-US" sz="1500" dirty="0"/>
          </a:p>
        </p:txBody>
      </p:sp>
      <p:sp>
        <p:nvSpPr>
          <p:cNvPr id="11" name="card-693"/>
          <p:cNvSpPr/>
          <p:nvPr/>
        </p:nvSpPr>
        <p:spPr>
          <a:xfrm>
            <a:off x="8046720" y="1417320"/>
            <a:ext cx="3429000" cy="3611880"/>
          </a:xfrm>
          <a:prstGeom prst="roundRect">
            <a:avLst>
              <a:gd name="adj" fmla="val 2133"/>
            </a:avLst>
          </a:prstGeom>
          <a:solidFill>
            <a:schemeClr val="bg2"/>
          </a:solidFill>
          <a:ln/>
        </p:spPr>
        <p:txBody>
          <a:bodyPr/>
          <a:lstStyle/>
          <a:p>
            <a:endParaRPr lang="en-US"/>
          </a:p>
        </p:txBody>
      </p:sp>
      <p:sp>
        <p:nvSpPr>
          <p:cNvPr id="12" name="text-694"/>
          <p:cNvSpPr txBox="1"/>
          <p:nvPr/>
        </p:nvSpPr>
        <p:spPr>
          <a:xfrm>
            <a:off x="8366760" y="1645920"/>
            <a:ext cx="2788920" cy="320040"/>
          </a:xfrm>
          <a:prstGeom prst="rect">
            <a:avLst/>
          </a:prstGeom>
          <a:noFill/>
          <a:ln/>
        </p:spPr>
        <p:txBody>
          <a:bodyPr wrap="square" lIns="0" tIns="0" rIns="0" bIns="0" rtlCol="0" anchor="t"/>
          <a:lstStyle/>
          <a:p>
            <a:pPr marL="0" indent="0">
              <a:buNone/>
            </a:pPr>
            <a:r>
              <a:rPr lang="en-US" sz="1400" b="1" dirty="0">
                <a:solidFill>
                  <a:schemeClr val="accent6"/>
                </a:solidFill>
              </a:rPr>
              <a:t>Part 3</a:t>
            </a:r>
            <a:endParaRPr lang="en-US" sz="1400" dirty="0"/>
          </a:p>
        </p:txBody>
      </p:sp>
      <p:sp>
        <p:nvSpPr>
          <p:cNvPr id="13" name="text-695"/>
          <p:cNvSpPr txBox="1"/>
          <p:nvPr/>
        </p:nvSpPr>
        <p:spPr>
          <a:xfrm>
            <a:off x="8366760" y="1965960"/>
            <a:ext cx="2788920" cy="685800"/>
          </a:xfrm>
          <a:prstGeom prst="rect">
            <a:avLst/>
          </a:prstGeom>
          <a:noFill/>
          <a:ln/>
        </p:spPr>
        <p:txBody>
          <a:bodyPr wrap="square" lIns="0" tIns="0" rIns="0" bIns="0" rtlCol="0" anchor="t"/>
          <a:lstStyle/>
          <a:p>
            <a:pPr marL="0" indent="0">
              <a:buNone/>
            </a:pPr>
            <a:r>
              <a:rPr lang="en-US" sz="1900" b="1" dirty="0">
                <a:solidFill>
                  <a:schemeClr val="tx1"/>
                </a:solidFill>
              </a:rPr>
              <a:t>Explore one aspect in depth</a:t>
            </a:r>
            <a:endParaRPr lang="en-US" sz="1900" dirty="0"/>
          </a:p>
        </p:txBody>
      </p:sp>
      <p:sp>
        <p:nvSpPr>
          <p:cNvPr id="14" name="bullets-696"/>
          <p:cNvSpPr txBox="1"/>
          <p:nvPr/>
        </p:nvSpPr>
        <p:spPr>
          <a:xfrm>
            <a:off x="8366760" y="2697480"/>
            <a:ext cx="2788920" cy="22860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Pick an option (next slide) or your own idea</a:t>
            </a:r>
            <a:endParaRPr lang="en-US" sz="1500" dirty="0"/>
          </a:p>
          <a:p>
            <a:pPr marL="228600" indent="-228600">
              <a:spcAft>
                <a:spcPts val="800"/>
              </a:spcAft>
              <a:buSzPct val="100000"/>
              <a:buChar char="•"/>
            </a:pPr>
            <a:r>
              <a:rPr lang="en-US" sz="1500" dirty="0">
                <a:solidFill>
                  <a:schemeClr val="tx1"/>
                </a:solidFill>
              </a:rPr>
              <a:t>State a question and a prediction</a:t>
            </a:r>
            <a:endParaRPr lang="en-US" sz="1500" dirty="0"/>
          </a:p>
          <a:p>
            <a:pPr marL="228600" indent="-228600">
              <a:spcAft>
                <a:spcPts val="800"/>
              </a:spcAft>
              <a:buSzPct val="100000"/>
              <a:buChar char="•"/>
            </a:pPr>
            <a:r>
              <a:rPr lang="en-US" sz="1500" dirty="0">
                <a:solidFill>
                  <a:schemeClr val="tx1"/>
                </a:solidFill>
              </a:rPr>
              <a:t>Enough seeds to trust the answer</a:t>
            </a:r>
            <a:endParaRPr lang="en-US" sz="1500" dirty="0"/>
          </a:p>
        </p:txBody>
      </p:sp>
      <p:sp>
        <p:nvSpPr>
          <p:cNvPr id="15" name="text-697"/>
          <p:cNvSpPr txBox="1"/>
          <p:nvPr/>
        </p:nvSpPr>
        <p:spPr>
          <a:xfrm>
            <a:off x="548640" y="5212080"/>
            <a:ext cx="11094415" cy="365760"/>
          </a:xfrm>
          <a:prstGeom prst="rect">
            <a:avLst/>
          </a:prstGeom>
          <a:noFill/>
          <a:ln/>
        </p:spPr>
        <p:txBody>
          <a:bodyPr wrap="square" lIns="0" tIns="0" rIns="0" bIns="0" rtlCol="0" anchor="t"/>
          <a:lstStyle/>
          <a:p>
            <a:pPr marL="0" indent="0">
              <a:buNone/>
            </a:pPr>
            <a:r>
              <a:rPr lang="en-US" sz="1600" b="1" dirty="0">
                <a:solidFill>
                  <a:schemeClr val="tx1"/>
                </a:solidFill>
              </a:rPr>
              <a:t>Any brain, in any part. Use one throughout, or compare several, and say why.</a:t>
            </a:r>
            <a:endParaRPr lang="en-US" sz="1600" dirty="0"/>
          </a:p>
        </p:txBody>
      </p:sp>
      <p:sp>
        <p:nvSpPr>
          <p:cNvPr id="16" name="text-698"/>
          <p:cNvSpPr txBox="1"/>
          <p:nvPr/>
        </p:nvSpPr>
        <p:spPr>
          <a:xfrm>
            <a:off x="548640" y="5715000"/>
            <a:ext cx="11094415" cy="365760"/>
          </a:xfrm>
          <a:prstGeom prst="rect">
            <a:avLst/>
          </a:prstGeom>
          <a:noFill/>
          <a:ln/>
        </p:spPr>
        <p:txBody>
          <a:bodyPr wrap="square" lIns="0" tIns="0" rIns="0" bIns="0" rtlCol="0" anchor="t"/>
          <a:lstStyle/>
          <a:p>
            <a:pPr marL="0" indent="0">
              <a:buNone/>
            </a:pPr>
            <a:r>
              <a:rPr lang="en-US" sz="1500" dirty="0">
                <a:solidFill>
                  <a:schemeClr val="tx2"/>
                </a:solidFill>
              </a:rPr>
              <a:t>Checkpoint: Fri Oct 16, 2 PM (Parts 1–2, demo)     Report due: Mon Oct 19, 2 PM     Presentations: Mon Oct 19 in class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Ideas for Part 3</a:t>
            </a:r>
            <a:endParaRPr lang="en-US" sz="3200" dirty="0"/>
          </a:p>
        </p:txBody>
      </p:sp>
      <p:sp>
        <p:nvSpPr>
          <p:cNvPr id="3" name="card-699"/>
          <p:cNvSpPr/>
          <p:nvPr/>
        </p:nvSpPr>
        <p:spPr>
          <a:xfrm>
            <a:off x="548640" y="1371600"/>
            <a:ext cx="2240280" cy="2011680"/>
          </a:xfrm>
          <a:prstGeom prst="roundRect">
            <a:avLst>
              <a:gd name="adj" fmla="val 3636"/>
            </a:avLst>
          </a:prstGeom>
          <a:solidFill>
            <a:schemeClr val="bg2"/>
          </a:solidFill>
          <a:ln/>
        </p:spPr>
        <p:txBody>
          <a:bodyPr/>
          <a:lstStyle/>
          <a:p>
            <a:endParaRPr lang="en-US"/>
          </a:p>
        </p:txBody>
      </p:sp>
      <p:sp>
        <p:nvSpPr>
          <p:cNvPr id="4" name="text-700"/>
          <p:cNvSpPr txBox="1"/>
          <p:nvPr/>
        </p:nvSpPr>
        <p:spPr>
          <a:xfrm>
            <a:off x="777240" y="1554480"/>
            <a:ext cx="548640" cy="457200"/>
          </a:xfrm>
          <a:prstGeom prst="rect">
            <a:avLst/>
          </a:prstGeom>
          <a:noFill/>
          <a:ln/>
        </p:spPr>
        <p:txBody>
          <a:bodyPr wrap="square" lIns="0" tIns="0" rIns="0" bIns="0" rtlCol="0" anchor="t"/>
          <a:lstStyle/>
          <a:p>
            <a:pPr marL="0" indent="0">
              <a:buNone/>
            </a:pPr>
            <a:r>
              <a:rPr lang="en-US" sz="2400" b="1" dirty="0">
                <a:solidFill>
                  <a:schemeClr val="accent6"/>
                </a:solidFill>
              </a:rPr>
              <a:t>A</a:t>
            </a:r>
            <a:endParaRPr lang="en-US" sz="2400" dirty="0"/>
          </a:p>
        </p:txBody>
      </p:sp>
      <p:sp>
        <p:nvSpPr>
          <p:cNvPr id="5" name="text-701"/>
          <p:cNvSpPr txBox="1"/>
          <p:nvPr/>
        </p:nvSpPr>
        <p:spPr>
          <a:xfrm>
            <a:off x="777240" y="2011680"/>
            <a:ext cx="1783080" cy="411480"/>
          </a:xfrm>
          <a:prstGeom prst="rect">
            <a:avLst/>
          </a:prstGeom>
          <a:noFill/>
          <a:ln/>
        </p:spPr>
        <p:txBody>
          <a:bodyPr wrap="square" lIns="0" tIns="0" rIns="0" bIns="0" rtlCol="0" anchor="t"/>
          <a:lstStyle/>
          <a:p>
            <a:pPr marL="0" indent="0">
              <a:buNone/>
            </a:pPr>
            <a:r>
              <a:rPr lang="en-US" sz="1500" b="1" dirty="0">
                <a:solidFill>
                  <a:schemeClr val="tx1"/>
                </a:solidFill>
              </a:rPr>
              <a:t>Body only</a:t>
            </a:r>
            <a:endParaRPr lang="en-US" sz="1500" dirty="0"/>
          </a:p>
        </p:txBody>
      </p:sp>
      <p:sp>
        <p:nvSpPr>
          <p:cNvPr id="6" name="text-702"/>
          <p:cNvSpPr txBox="1"/>
          <p:nvPr/>
        </p:nvSpPr>
        <p:spPr>
          <a:xfrm>
            <a:off x="777240" y="2423160"/>
            <a:ext cx="1783080" cy="914400"/>
          </a:xfrm>
          <a:prstGeom prst="rect">
            <a:avLst/>
          </a:prstGeom>
          <a:noFill/>
          <a:ln/>
        </p:spPr>
        <p:txBody>
          <a:bodyPr wrap="square" lIns="0" tIns="0" rIns="0" bIns="0" rtlCol="0" anchor="t"/>
          <a:lstStyle/>
          <a:p>
            <a:pPr marL="0" indent="0">
              <a:buNone/>
            </a:pPr>
            <a:r>
              <a:rPr lang="en-US" sz="1300" dirty="0">
                <a:solidFill>
                  <a:schemeClr val="tx2"/>
                </a:solidFill>
              </a:rPr>
              <a:t>A fixed traveling-wave brain: brain only vs. body only vs. both</a:t>
            </a:r>
            <a:endParaRPr lang="en-US" sz="1300" dirty="0"/>
          </a:p>
        </p:txBody>
      </p:sp>
      <p:sp>
        <p:nvSpPr>
          <p:cNvPr id="7" name="card-703"/>
          <p:cNvSpPr/>
          <p:nvPr/>
        </p:nvSpPr>
        <p:spPr>
          <a:xfrm>
            <a:off x="3017520" y="1371600"/>
            <a:ext cx="2240280" cy="2011680"/>
          </a:xfrm>
          <a:prstGeom prst="roundRect">
            <a:avLst>
              <a:gd name="adj" fmla="val 3636"/>
            </a:avLst>
          </a:prstGeom>
          <a:solidFill>
            <a:schemeClr val="bg2"/>
          </a:solidFill>
          <a:ln/>
        </p:spPr>
        <p:txBody>
          <a:bodyPr/>
          <a:lstStyle/>
          <a:p>
            <a:endParaRPr lang="en-US"/>
          </a:p>
        </p:txBody>
      </p:sp>
      <p:sp>
        <p:nvSpPr>
          <p:cNvPr id="8" name="text-704"/>
          <p:cNvSpPr txBox="1"/>
          <p:nvPr/>
        </p:nvSpPr>
        <p:spPr>
          <a:xfrm>
            <a:off x="3246120" y="1554480"/>
            <a:ext cx="548640" cy="457200"/>
          </a:xfrm>
          <a:prstGeom prst="rect">
            <a:avLst/>
          </a:prstGeom>
          <a:noFill/>
          <a:ln/>
        </p:spPr>
        <p:txBody>
          <a:bodyPr wrap="square" lIns="0" tIns="0" rIns="0" bIns="0" rtlCol="0" anchor="t"/>
          <a:lstStyle/>
          <a:p>
            <a:pPr marL="0" indent="0">
              <a:buNone/>
            </a:pPr>
            <a:r>
              <a:rPr lang="en-US" sz="2400" b="1" dirty="0">
                <a:solidFill>
                  <a:schemeClr val="accent6"/>
                </a:solidFill>
              </a:rPr>
              <a:t>B</a:t>
            </a:r>
            <a:endParaRPr lang="en-US" sz="2400" dirty="0"/>
          </a:p>
        </p:txBody>
      </p:sp>
      <p:sp>
        <p:nvSpPr>
          <p:cNvPr id="9" name="text-705"/>
          <p:cNvSpPr txBox="1"/>
          <p:nvPr/>
        </p:nvSpPr>
        <p:spPr>
          <a:xfrm>
            <a:off x="3246120" y="2011680"/>
            <a:ext cx="1783080" cy="411480"/>
          </a:xfrm>
          <a:prstGeom prst="rect">
            <a:avLst/>
          </a:prstGeom>
          <a:noFill/>
          <a:ln/>
        </p:spPr>
        <p:txBody>
          <a:bodyPr wrap="square" lIns="0" tIns="0" rIns="0" bIns="0" rtlCol="0" anchor="t"/>
          <a:lstStyle/>
          <a:p>
            <a:pPr marL="0" indent="0">
              <a:buNone/>
            </a:pPr>
            <a:r>
              <a:rPr lang="en-US" sz="1500" b="1" dirty="0">
                <a:solidFill>
                  <a:schemeClr val="tx1"/>
                </a:solidFill>
              </a:rPr>
              <a:t>The four brains</a:t>
            </a:r>
            <a:endParaRPr lang="en-US" sz="1500" dirty="0"/>
          </a:p>
        </p:txBody>
      </p:sp>
      <p:sp>
        <p:nvSpPr>
          <p:cNvPr id="10" name="text-706"/>
          <p:cNvSpPr txBox="1"/>
          <p:nvPr/>
        </p:nvSpPr>
        <p:spPr>
          <a:xfrm>
            <a:off x="3246120" y="2423160"/>
            <a:ext cx="1783080" cy="914400"/>
          </a:xfrm>
          <a:prstGeom prst="rect">
            <a:avLst/>
          </a:prstGeom>
          <a:noFill/>
          <a:ln/>
        </p:spPr>
        <p:txBody>
          <a:bodyPr wrap="square" lIns="0" tIns="0" rIns="0" bIns="0" rtlCol="0" anchor="t"/>
          <a:lstStyle/>
          <a:p>
            <a:pPr marL="0" indent="0">
              <a:buNone/>
            </a:pPr>
            <a:r>
              <a:rPr lang="en-US" sz="1300" dirty="0">
                <a:solidFill>
                  <a:schemeClr val="tx2"/>
                </a:solidFill>
              </a:rPr>
              <a:t>Does sensing help? Does a bigger brain? What is the clock really doing?</a:t>
            </a:r>
            <a:endParaRPr lang="en-US" sz="1300" dirty="0"/>
          </a:p>
        </p:txBody>
      </p:sp>
      <p:sp>
        <p:nvSpPr>
          <p:cNvPr id="11" name="card-707"/>
          <p:cNvSpPr/>
          <p:nvPr/>
        </p:nvSpPr>
        <p:spPr>
          <a:xfrm>
            <a:off x="5486400" y="1371600"/>
            <a:ext cx="2240280" cy="2011680"/>
          </a:xfrm>
          <a:prstGeom prst="roundRect">
            <a:avLst>
              <a:gd name="adj" fmla="val 3636"/>
            </a:avLst>
          </a:prstGeom>
          <a:solidFill>
            <a:schemeClr val="bg2"/>
          </a:solidFill>
          <a:ln/>
        </p:spPr>
        <p:txBody>
          <a:bodyPr/>
          <a:lstStyle/>
          <a:p>
            <a:endParaRPr lang="en-US"/>
          </a:p>
        </p:txBody>
      </p:sp>
      <p:sp>
        <p:nvSpPr>
          <p:cNvPr id="12" name="text-708"/>
          <p:cNvSpPr txBox="1"/>
          <p:nvPr/>
        </p:nvSpPr>
        <p:spPr>
          <a:xfrm>
            <a:off x="5715000" y="1554480"/>
            <a:ext cx="548640" cy="457200"/>
          </a:xfrm>
          <a:prstGeom prst="rect">
            <a:avLst/>
          </a:prstGeom>
          <a:noFill/>
          <a:ln/>
        </p:spPr>
        <p:txBody>
          <a:bodyPr wrap="square" lIns="0" tIns="0" rIns="0" bIns="0" rtlCol="0" anchor="t"/>
          <a:lstStyle/>
          <a:p>
            <a:pPr marL="0" indent="0">
              <a:buNone/>
            </a:pPr>
            <a:r>
              <a:rPr lang="en-US" sz="2400" b="1" dirty="0">
                <a:solidFill>
                  <a:schemeClr val="accent6"/>
                </a:solidFill>
              </a:rPr>
              <a:t>C</a:t>
            </a:r>
            <a:endParaRPr lang="en-US" sz="2400" dirty="0"/>
          </a:p>
        </p:txBody>
      </p:sp>
      <p:sp>
        <p:nvSpPr>
          <p:cNvPr id="13" name="text-709"/>
          <p:cNvSpPr txBox="1"/>
          <p:nvPr/>
        </p:nvSpPr>
        <p:spPr>
          <a:xfrm>
            <a:off x="5715000" y="2011680"/>
            <a:ext cx="1783080" cy="411480"/>
          </a:xfrm>
          <a:prstGeom prst="rect">
            <a:avLst/>
          </a:prstGeom>
          <a:noFill/>
          <a:ln/>
        </p:spPr>
        <p:txBody>
          <a:bodyPr wrap="square" lIns="0" tIns="0" rIns="0" bIns="0" rtlCol="0" anchor="t"/>
          <a:lstStyle/>
          <a:p>
            <a:pPr marL="0" indent="0">
              <a:buNone/>
            </a:pPr>
            <a:r>
              <a:rPr lang="en-US" sz="1500" b="1" dirty="0">
                <a:solidFill>
                  <a:schemeClr val="tx1"/>
                </a:solidFill>
              </a:rPr>
              <a:t>Designer + evolution</a:t>
            </a:r>
            <a:endParaRPr lang="en-US" sz="1500" dirty="0"/>
          </a:p>
        </p:txBody>
      </p:sp>
      <p:sp>
        <p:nvSpPr>
          <p:cNvPr id="14" name="text-710"/>
          <p:cNvSpPr txBox="1"/>
          <p:nvPr/>
        </p:nvSpPr>
        <p:spPr>
          <a:xfrm>
            <a:off x="5715000" y="2423160"/>
            <a:ext cx="1783080" cy="914400"/>
          </a:xfrm>
          <a:prstGeom prst="rect">
            <a:avLst/>
          </a:prstGeom>
          <a:noFill/>
          <a:ln/>
        </p:spPr>
        <p:txBody>
          <a:bodyPr wrap="square" lIns="0" tIns="0" rIns="0" bIns="0" rtlCol="0" anchor="t"/>
          <a:lstStyle/>
          <a:p>
            <a:pPr marL="0" indent="0">
              <a:buNone/>
            </a:pPr>
            <a:r>
              <a:rPr lang="en-US" sz="1300" dirty="0">
                <a:solidFill>
                  <a:schemeClr val="tx2"/>
                </a:solidFill>
              </a:rPr>
              <a:t>Use what co-design found to design a better body by hand</a:t>
            </a:r>
            <a:endParaRPr lang="en-US" sz="1300" dirty="0"/>
          </a:p>
        </p:txBody>
      </p:sp>
      <p:sp>
        <p:nvSpPr>
          <p:cNvPr id="15" name="card-711"/>
          <p:cNvSpPr/>
          <p:nvPr/>
        </p:nvSpPr>
        <p:spPr>
          <a:xfrm>
            <a:off x="548640" y="3611880"/>
            <a:ext cx="2240280" cy="2011680"/>
          </a:xfrm>
          <a:prstGeom prst="roundRect">
            <a:avLst>
              <a:gd name="adj" fmla="val 3636"/>
            </a:avLst>
          </a:prstGeom>
          <a:solidFill>
            <a:schemeClr val="bg2"/>
          </a:solidFill>
          <a:ln/>
        </p:spPr>
        <p:txBody>
          <a:bodyPr/>
          <a:lstStyle/>
          <a:p>
            <a:endParaRPr lang="en-US"/>
          </a:p>
        </p:txBody>
      </p:sp>
      <p:sp>
        <p:nvSpPr>
          <p:cNvPr id="16" name="text-712"/>
          <p:cNvSpPr txBox="1"/>
          <p:nvPr/>
        </p:nvSpPr>
        <p:spPr>
          <a:xfrm>
            <a:off x="777240" y="3794760"/>
            <a:ext cx="548640" cy="457200"/>
          </a:xfrm>
          <a:prstGeom prst="rect">
            <a:avLst/>
          </a:prstGeom>
          <a:noFill/>
          <a:ln/>
        </p:spPr>
        <p:txBody>
          <a:bodyPr wrap="square" lIns="0" tIns="0" rIns="0" bIns="0" rtlCol="0" anchor="t"/>
          <a:lstStyle/>
          <a:p>
            <a:pPr marL="0" indent="0">
              <a:buNone/>
            </a:pPr>
            <a:r>
              <a:rPr lang="en-US" sz="2400" b="1" dirty="0">
                <a:solidFill>
                  <a:schemeClr val="accent6"/>
                </a:solidFill>
              </a:rPr>
              <a:t>D</a:t>
            </a:r>
            <a:endParaRPr lang="en-US" sz="2400" dirty="0"/>
          </a:p>
        </p:txBody>
      </p:sp>
      <p:sp>
        <p:nvSpPr>
          <p:cNvPr id="17" name="text-713"/>
          <p:cNvSpPr txBox="1"/>
          <p:nvPr/>
        </p:nvSpPr>
        <p:spPr>
          <a:xfrm>
            <a:off x="777240" y="4251960"/>
            <a:ext cx="1783080" cy="411480"/>
          </a:xfrm>
          <a:prstGeom prst="rect">
            <a:avLst/>
          </a:prstGeom>
          <a:noFill/>
          <a:ln/>
        </p:spPr>
        <p:txBody>
          <a:bodyPr wrap="square" lIns="0" tIns="0" rIns="0" bIns="0" rtlCol="0" anchor="t"/>
          <a:lstStyle/>
          <a:p>
            <a:pPr marL="0" indent="0">
              <a:buNone/>
            </a:pPr>
            <a:r>
              <a:rPr lang="en-US" sz="1500" b="1" dirty="0">
                <a:solidFill>
                  <a:schemeClr val="tx1"/>
                </a:solidFill>
              </a:rPr>
              <a:t>New terrain</a:t>
            </a:r>
            <a:endParaRPr lang="en-US" sz="1500" dirty="0"/>
          </a:p>
        </p:txBody>
      </p:sp>
      <p:sp>
        <p:nvSpPr>
          <p:cNvPr id="18" name="text-714"/>
          <p:cNvSpPr txBox="1"/>
          <p:nvPr/>
        </p:nvSpPr>
        <p:spPr>
          <a:xfrm>
            <a:off x="777240" y="4663440"/>
            <a:ext cx="1783080" cy="914400"/>
          </a:xfrm>
          <a:prstGeom prst="rect">
            <a:avLst/>
          </a:prstGeom>
          <a:noFill/>
          <a:ln/>
        </p:spPr>
        <p:txBody>
          <a:bodyPr wrap="square" lIns="0" tIns="0" rIns="0" bIns="0" rtlCol="0" anchor="t"/>
          <a:lstStyle/>
          <a:p>
            <a:pPr marL="0" indent="0">
              <a:buNone/>
            </a:pPr>
            <a:r>
              <a:rPr lang="en-US" sz="1300" dirty="0">
                <a:solidFill>
                  <a:schemeClr val="tx2"/>
                </a:solidFill>
              </a:rPr>
              <a:t>Stairs, rough ground, a soft bridge: which robots generalize?</a:t>
            </a:r>
            <a:endParaRPr lang="en-US" sz="1300" dirty="0"/>
          </a:p>
        </p:txBody>
      </p:sp>
      <p:sp>
        <p:nvSpPr>
          <p:cNvPr id="19" name="card-715"/>
          <p:cNvSpPr/>
          <p:nvPr/>
        </p:nvSpPr>
        <p:spPr>
          <a:xfrm>
            <a:off x="3017520" y="3611880"/>
            <a:ext cx="2240280" cy="2011680"/>
          </a:xfrm>
          <a:prstGeom prst="roundRect">
            <a:avLst>
              <a:gd name="adj" fmla="val 3636"/>
            </a:avLst>
          </a:prstGeom>
          <a:solidFill>
            <a:schemeClr val="bg2"/>
          </a:solidFill>
          <a:ln/>
        </p:spPr>
        <p:txBody>
          <a:bodyPr/>
          <a:lstStyle/>
          <a:p>
            <a:endParaRPr lang="en-US"/>
          </a:p>
        </p:txBody>
      </p:sp>
      <p:sp>
        <p:nvSpPr>
          <p:cNvPr id="20" name="text-716"/>
          <p:cNvSpPr txBox="1"/>
          <p:nvPr/>
        </p:nvSpPr>
        <p:spPr>
          <a:xfrm>
            <a:off x="3246120" y="3794760"/>
            <a:ext cx="548640" cy="457200"/>
          </a:xfrm>
          <a:prstGeom prst="rect">
            <a:avLst/>
          </a:prstGeom>
          <a:noFill/>
          <a:ln/>
        </p:spPr>
        <p:txBody>
          <a:bodyPr wrap="square" lIns="0" tIns="0" rIns="0" bIns="0" rtlCol="0" anchor="t"/>
          <a:lstStyle/>
          <a:p>
            <a:pPr marL="0" indent="0">
              <a:buNone/>
            </a:pPr>
            <a:r>
              <a:rPr lang="en-US" sz="2400" b="1" dirty="0">
                <a:solidFill>
                  <a:schemeClr val="accent6"/>
                </a:solidFill>
              </a:rPr>
              <a:t>E</a:t>
            </a:r>
            <a:endParaRPr lang="en-US" sz="2400" dirty="0"/>
          </a:p>
        </p:txBody>
      </p:sp>
      <p:sp>
        <p:nvSpPr>
          <p:cNvPr id="21" name="text-717"/>
          <p:cNvSpPr txBox="1"/>
          <p:nvPr/>
        </p:nvSpPr>
        <p:spPr>
          <a:xfrm>
            <a:off x="3246120" y="4251960"/>
            <a:ext cx="1783080" cy="411480"/>
          </a:xfrm>
          <a:prstGeom prst="rect">
            <a:avLst/>
          </a:prstGeom>
          <a:noFill/>
          <a:ln/>
        </p:spPr>
        <p:txBody>
          <a:bodyPr wrap="square" lIns="0" tIns="0" rIns="0" bIns="0" rtlCol="0" anchor="t"/>
          <a:lstStyle/>
          <a:p>
            <a:pPr marL="0" indent="0">
              <a:buNone/>
            </a:pPr>
            <a:r>
              <a:rPr lang="en-US" sz="1500" b="1" dirty="0">
                <a:solidFill>
                  <a:schemeClr val="tx1"/>
                </a:solidFill>
              </a:rPr>
              <a:t>Material costs</a:t>
            </a:r>
            <a:endParaRPr lang="en-US" sz="1500" dirty="0"/>
          </a:p>
        </p:txBody>
      </p:sp>
      <p:sp>
        <p:nvSpPr>
          <p:cNvPr id="22" name="text-718"/>
          <p:cNvSpPr txBox="1"/>
          <p:nvPr/>
        </p:nvSpPr>
        <p:spPr>
          <a:xfrm>
            <a:off x="3246120" y="4663440"/>
            <a:ext cx="1783080" cy="914400"/>
          </a:xfrm>
          <a:prstGeom prst="rect">
            <a:avLst/>
          </a:prstGeom>
          <a:noFill/>
          <a:ln/>
        </p:spPr>
        <p:txBody>
          <a:bodyPr wrap="square" lIns="0" tIns="0" rIns="0" bIns="0" rtlCol="0" anchor="t"/>
          <a:lstStyle/>
          <a:p>
            <a:pPr marL="0" indent="0">
              <a:buNone/>
            </a:pPr>
            <a:r>
              <a:rPr lang="en-US" sz="1300" dirty="0">
                <a:solidFill>
                  <a:schemeClr val="tx2"/>
                </a:solidFill>
              </a:rPr>
              <a:t>Make muscles expensive: does evolution build passive bodies?</a:t>
            </a:r>
            <a:endParaRPr lang="en-US" sz="1300" dirty="0"/>
          </a:p>
        </p:txBody>
      </p:sp>
      <p:sp>
        <p:nvSpPr>
          <p:cNvPr id="23" name="card-719"/>
          <p:cNvSpPr/>
          <p:nvPr/>
        </p:nvSpPr>
        <p:spPr>
          <a:xfrm>
            <a:off x="5486400" y="3611880"/>
            <a:ext cx="2240280" cy="2011680"/>
          </a:xfrm>
          <a:prstGeom prst="roundRect">
            <a:avLst>
              <a:gd name="adj" fmla="val 3636"/>
            </a:avLst>
          </a:prstGeom>
          <a:solidFill>
            <a:schemeClr val="bg2"/>
          </a:solidFill>
          <a:ln/>
        </p:spPr>
        <p:txBody>
          <a:bodyPr/>
          <a:lstStyle/>
          <a:p>
            <a:endParaRPr lang="en-US"/>
          </a:p>
        </p:txBody>
      </p:sp>
      <p:sp>
        <p:nvSpPr>
          <p:cNvPr id="24" name="text-720"/>
          <p:cNvSpPr txBox="1"/>
          <p:nvPr/>
        </p:nvSpPr>
        <p:spPr>
          <a:xfrm>
            <a:off x="5715000" y="3794760"/>
            <a:ext cx="548640" cy="457200"/>
          </a:xfrm>
          <a:prstGeom prst="rect">
            <a:avLst/>
          </a:prstGeom>
          <a:noFill/>
          <a:ln/>
        </p:spPr>
        <p:txBody>
          <a:bodyPr wrap="square" lIns="0" tIns="0" rIns="0" bIns="0" rtlCol="0" anchor="t"/>
          <a:lstStyle/>
          <a:p>
            <a:pPr marL="0" indent="0">
              <a:buNone/>
            </a:pPr>
            <a:r>
              <a:rPr lang="en-US" sz="2400" b="1" dirty="0">
                <a:solidFill>
                  <a:schemeClr val="accent6"/>
                </a:solidFill>
              </a:rPr>
              <a:t>F</a:t>
            </a:r>
            <a:endParaRPr lang="en-US" sz="2400" dirty="0"/>
          </a:p>
        </p:txBody>
      </p:sp>
      <p:sp>
        <p:nvSpPr>
          <p:cNvPr id="25" name="text-721"/>
          <p:cNvSpPr txBox="1"/>
          <p:nvPr/>
        </p:nvSpPr>
        <p:spPr>
          <a:xfrm>
            <a:off x="5715000" y="4251960"/>
            <a:ext cx="1783080" cy="411480"/>
          </a:xfrm>
          <a:prstGeom prst="rect">
            <a:avLst/>
          </a:prstGeom>
          <a:noFill/>
          <a:ln/>
        </p:spPr>
        <p:txBody>
          <a:bodyPr wrap="square" lIns="0" tIns="0" rIns="0" bIns="0" rtlCol="0" anchor="t"/>
          <a:lstStyle/>
          <a:p>
            <a:pPr marL="0" indent="0">
              <a:buNone/>
            </a:pPr>
            <a:r>
              <a:rPr lang="en-US" sz="1500" b="1" dirty="0">
                <a:solidFill>
                  <a:schemeClr val="tx1"/>
                </a:solidFill>
              </a:rPr>
              <a:t>Sweep a parameter</a:t>
            </a:r>
            <a:endParaRPr lang="en-US" sz="1500" dirty="0"/>
          </a:p>
        </p:txBody>
      </p:sp>
      <p:sp>
        <p:nvSpPr>
          <p:cNvPr id="26" name="text-722"/>
          <p:cNvSpPr txBox="1"/>
          <p:nvPr/>
        </p:nvSpPr>
        <p:spPr>
          <a:xfrm>
            <a:off x="5715000" y="4663440"/>
            <a:ext cx="1783080" cy="914400"/>
          </a:xfrm>
          <a:prstGeom prst="rect">
            <a:avLst/>
          </a:prstGeom>
          <a:noFill/>
          <a:ln/>
        </p:spPr>
        <p:txBody>
          <a:bodyPr wrap="square" lIns="0" tIns="0" rIns="0" bIns="0" rtlCol="0" anchor="t"/>
          <a:lstStyle/>
          <a:p>
            <a:pPr marL="0" indent="0">
              <a:buNone/>
            </a:pPr>
            <a:r>
              <a:rPr lang="en-US" sz="1300" dirty="0">
                <a:solidFill>
                  <a:schemeClr val="tx2"/>
                </a:solidFill>
              </a:rPr>
              <a:t>Grid size, clock period, or an EA parameter</a:t>
            </a:r>
            <a:endParaRPr lang="en-US" sz="1300" dirty="0"/>
          </a:p>
        </p:txBody>
      </p:sp>
      <p:pic>
        <p:nvPicPr>
          <p:cNvPr id="27" name="gif-723" descr="Robot animation"/>
          <p:cNvPicPr>
            <a:picLocks noChangeAspect="1"/>
          </p:cNvPicPr>
          <p:nvPr/>
        </p:nvPicPr>
        <p:blipFill>
          <a:blip r:embed="rId3"/>
          <a:stretch>
            <a:fillRect/>
          </a:stretch>
        </p:blipFill>
        <p:spPr>
          <a:xfrm>
            <a:off x="8092440" y="1371600"/>
            <a:ext cx="3547872" cy="1773936"/>
          </a:xfrm>
          <a:prstGeom prst="rect">
            <a:avLst/>
          </a:prstGeom>
        </p:spPr>
      </p:pic>
      <p:sp>
        <p:nvSpPr>
          <p:cNvPr id="28" name="text-724"/>
          <p:cNvSpPr txBox="1"/>
          <p:nvPr/>
        </p:nvSpPr>
        <p:spPr>
          <a:xfrm>
            <a:off x="8092440" y="3246120"/>
            <a:ext cx="3547872" cy="320040"/>
          </a:xfrm>
          <a:prstGeom prst="rect">
            <a:avLst/>
          </a:prstGeom>
          <a:noFill/>
          <a:ln/>
        </p:spPr>
        <p:txBody>
          <a:bodyPr wrap="square" lIns="0" tIns="0" rIns="0" bIns="0" rtlCol="0" anchor="t"/>
          <a:lstStyle/>
          <a:p>
            <a:pPr marL="0" indent="0">
              <a:buNone/>
            </a:pPr>
            <a:r>
              <a:rPr lang="en-US" sz="1500" b="1" dirty="0">
                <a:solidFill>
                  <a:schemeClr val="tx1"/>
                </a:solidFill>
              </a:rPr>
              <a:t>B, a step further: no clock at all</a:t>
            </a:r>
            <a:endParaRPr lang="en-US" sz="1500" dirty="0"/>
          </a:p>
        </p:txBody>
      </p:sp>
      <p:sp>
        <p:nvSpPr>
          <p:cNvPr id="29" name="text-725"/>
          <p:cNvSpPr txBox="1"/>
          <p:nvPr/>
        </p:nvSpPr>
        <p:spPr>
          <a:xfrm>
            <a:off x="8092440" y="3611880"/>
            <a:ext cx="3547872" cy="1828800"/>
          </a:xfrm>
          <a:prstGeom prst="rect">
            <a:avLst/>
          </a:prstGeom>
          <a:noFill/>
          <a:ln/>
        </p:spPr>
        <p:txBody>
          <a:bodyPr wrap="square" lIns="0" tIns="0" rIns="0" bIns="0" rtlCol="0" anchor="t"/>
          <a:lstStyle/>
          <a:p>
            <a:pPr marL="0" indent="0">
              <a:buNone/>
            </a:pPr>
            <a:r>
              <a:rPr lang="en-US" sz="1300" dirty="0">
                <a:solidFill>
                  <a:schemeClr val="tx2"/>
                </a:solidFill>
              </a:rPr>
              <a:t>A central network broadcasts a signal to every local copy instead. With memory, evolution found this: a robot that buzzes forward, its muscles slamming between squeeze and stretch every few steps.</a:t>
            </a:r>
            <a:endParaRPr lang="en-US" sz="1300" dirty="0"/>
          </a:p>
        </p:txBody>
      </p:sp>
      <p:sp>
        <p:nvSpPr>
          <p:cNvPr id="30"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200" b="1" dirty="0">
                <a:solidFill>
                  <a:schemeClr val="tx1"/>
                </a:solidFill>
              </a:rPr>
              <a:t>Required reading</a:t>
            </a:r>
            <a:endParaRPr lang="en-US" sz="3200" dirty="0"/>
          </a:p>
        </p:txBody>
      </p:sp>
      <p:sp>
        <p:nvSpPr>
          <p:cNvPr id="3" name="card-726"/>
          <p:cNvSpPr/>
          <p:nvPr/>
        </p:nvSpPr>
        <p:spPr>
          <a:xfrm>
            <a:off x="548640" y="1417320"/>
            <a:ext cx="5349240" cy="4206240"/>
          </a:xfrm>
          <a:prstGeom prst="roundRect">
            <a:avLst>
              <a:gd name="adj" fmla="val 1739"/>
            </a:avLst>
          </a:prstGeom>
          <a:solidFill>
            <a:schemeClr val="bg2"/>
          </a:solidFill>
          <a:ln/>
        </p:spPr>
        <p:txBody>
          <a:bodyPr/>
          <a:lstStyle/>
          <a:p>
            <a:endParaRPr lang="en-US"/>
          </a:p>
        </p:txBody>
      </p:sp>
      <p:sp>
        <p:nvSpPr>
          <p:cNvPr id="4" name="voxel-727"/>
          <p:cNvSpPr/>
          <p:nvPr/>
        </p:nvSpPr>
        <p:spPr>
          <a:xfrm>
            <a:off x="4398630" y="1746870"/>
            <a:ext cx="218724" cy="218724"/>
          </a:xfrm>
          <a:prstGeom prst="rect">
            <a:avLst/>
          </a:prstGeom>
          <a:solidFill>
            <a:schemeClr val="accent3"/>
          </a:solidFill>
          <a:ln/>
        </p:spPr>
        <p:txBody>
          <a:bodyPr/>
          <a:lstStyle/>
          <a:p>
            <a:endParaRPr lang="en-US"/>
          </a:p>
        </p:txBody>
      </p:sp>
      <p:sp>
        <p:nvSpPr>
          <p:cNvPr id="5" name="voxel-728"/>
          <p:cNvSpPr/>
          <p:nvPr/>
        </p:nvSpPr>
        <p:spPr>
          <a:xfrm>
            <a:off x="4636374" y="1746870"/>
            <a:ext cx="218724" cy="218724"/>
          </a:xfrm>
          <a:prstGeom prst="rect">
            <a:avLst/>
          </a:prstGeom>
          <a:solidFill>
            <a:schemeClr val="accent3"/>
          </a:solidFill>
          <a:ln/>
        </p:spPr>
        <p:txBody>
          <a:bodyPr/>
          <a:lstStyle/>
          <a:p>
            <a:endParaRPr lang="en-US"/>
          </a:p>
        </p:txBody>
      </p:sp>
      <p:sp>
        <p:nvSpPr>
          <p:cNvPr id="6" name="voxel-729"/>
          <p:cNvSpPr/>
          <p:nvPr/>
        </p:nvSpPr>
        <p:spPr>
          <a:xfrm>
            <a:off x="4874118" y="1746870"/>
            <a:ext cx="218724" cy="218724"/>
          </a:xfrm>
          <a:prstGeom prst="rect">
            <a:avLst/>
          </a:prstGeom>
          <a:solidFill>
            <a:schemeClr val="accent3"/>
          </a:solidFill>
          <a:ln/>
        </p:spPr>
        <p:txBody>
          <a:bodyPr/>
          <a:lstStyle/>
          <a:p>
            <a:endParaRPr lang="en-US"/>
          </a:p>
        </p:txBody>
      </p:sp>
      <p:sp>
        <p:nvSpPr>
          <p:cNvPr id="7" name="voxel-730"/>
          <p:cNvSpPr/>
          <p:nvPr/>
        </p:nvSpPr>
        <p:spPr>
          <a:xfrm>
            <a:off x="5111862" y="1746870"/>
            <a:ext cx="218724" cy="218724"/>
          </a:xfrm>
          <a:prstGeom prst="rect">
            <a:avLst/>
          </a:prstGeom>
          <a:solidFill>
            <a:schemeClr val="accent3"/>
          </a:solidFill>
          <a:ln/>
        </p:spPr>
        <p:txBody>
          <a:bodyPr/>
          <a:lstStyle/>
          <a:p>
            <a:endParaRPr lang="en-US"/>
          </a:p>
        </p:txBody>
      </p:sp>
      <p:sp>
        <p:nvSpPr>
          <p:cNvPr id="8" name="voxel-731"/>
          <p:cNvSpPr/>
          <p:nvPr/>
        </p:nvSpPr>
        <p:spPr>
          <a:xfrm>
            <a:off x="5349606" y="1746870"/>
            <a:ext cx="218724" cy="218724"/>
          </a:xfrm>
          <a:prstGeom prst="rect">
            <a:avLst/>
          </a:prstGeom>
          <a:solidFill>
            <a:schemeClr val="accent3"/>
          </a:solidFill>
          <a:ln/>
        </p:spPr>
        <p:txBody>
          <a:bodyPr/>
          <a:lstStyle/>
          <a:p>
            <a:endParaRPr lang="en-US"/>
          </a:p>
        </p:txBody>
      </p:sp>
      <p:sp>
        <p:nvSpPr>
          <p:cNvPr id="9" name="voxel-732"/>
          <p:cNvSpPr/>
          <p:nvPr/>
        </p:nvSpPr>
        <p:spPr>
          <a:xfrm>
            <a:off x="4398630" y="1984614"/>
            <a:ext cx="218724" cy="218724"/>
          </a:xfrm>
          <a:prstGeom prst="rect">
            <a:avLst/>
          </a:prstGeom>
          <a:solidFill>
            <a:schemeClr val="accent1"/>
          </a:solidFill>
          <a:ln/>
        </p:spPr>
        <p:txBody>
          <a:bodyPr/>
          <a:lstStyle/>
          <a:p>
            <a:endParaRPr lang="en-US"/>
          </a:p>
        </p:txBody>
      </p:sp>
      <p:sp>
        <p:nvSpPr>
          <p:cNvPr id="10" name="voxel-733"/>
          <p:cNvSpPr/>
          <p:nvPr/>
        </p:nvSpPr>
        <p:spPr>
          <a:xfrm>
            <a:off x="4636374" y="1984614"/>
            <a:ext cx="218724" cy="218724"/>
          </a:xfrm>
          <a:prstGeom prst="rect">
            <a:avLst/>
          </a:prstGeom>
          <a:solidFill>
            <a:schemeClr val="accent1"/>
          </a:solidFill>
          <a:ln/>
        </p:spPr>
        <p:txBody>
          <a:bodyPr/>
          <a:lstStyle/>
          <a:p>
            <a:endParaRPr lang="en-US"/>
          </a:p>
        </p:txBody>
      </p:sp>
      <p:sp>
        <p:nvSpPr>
          <p:cNvPr id="11" name="voxel-734"/>
          <p:cNvSpPr/>
          <p:nvPr/>
        </p:nvSpPr>
        <p:spPr>
          <a:xfrm>
            <a:off x="4874118" y="1984614"/>
            <a:ext cx="218724" cy="218724"/>
          </a:xfrm>
          <a:prstGeom prst="rect">
            <a:avLst/>
          </a:prstGeom>
          <a:solidFill>
            <a:schemeClr val="accent1"/>
          </a:solidFill>
          <a:ln/>
        </p:spPr>
        <p:txBody>
          <a:bodyPr/>
          <a:lstStyle/>
          <a:p>
            <a:endParaRPr lang="en-US"/>
          </a:p>
        </p:txBody>
      </p:sp>
      <p:sp>
        <p:nvSpPr>
          <p:cNvPr id="12" name="voxel-735"/>
          <p:cNvSpPr/>
          <p:nvPr/>
        </p:nvSpPr>
        <p:spPr>
          <a:xfrm>
            <a:off x="5111862" y="1984614"/>
            <a:ext cx="218724" cy="218724"/>
          </a:xfrm>
          <a:prstGeom prst="rect">
            <a:avLst/>
          </a:prstGeom>
          <a:solidFill>
            <a:schemeClr val="accent1"/>
          </a:solidFill>
          <a:ln/>
        </p:spPr>
        <p:txBody>
          <a:bodyPr/>
          <a:lstStyle/>
          <a:p>
            <a:endParaRPr lang="en-US"/>
          </a:p>
        </p:txBody>
      </p:sp>
      <p:sp>
        <p:nvSpPr>
          <p:cNvPr id="13" name="voxel-736"/>
          <p:cNvSpPr/>
          <p:nvPr/>
        </p:nvSpPr>
        <p:spPr>
          <a:xfrm>
            <a:off x="5349606" y="1984614"/>
            <a:ext cx="218724" cy="218724"/>
          </a:xfrm>
          <a:prstGeom prst="rect">
            <a:avLst/>
          </a:prstGeom>
          <a:solidFill>
            <a:schemeClr val="accent1"/>
          </a:solidFill>
          <a:ln/>
        </p:spPr>
        <p:txBody>
          <a:bodyPr/>
          <a:lstStyle/>
          <a:p>
            <a:endParaRPr lang="en-US"/>
          </a:p>
        </p:txBody>
      </p:sp>
      <p:sp>
        <p:nvSpPr>
          <p:cNvPr id="14" name="voxel-737"/>
          <p:cNvSpPr/>
          <p:nvPr/>
        </p:nvSpPr>
        <p:spPr>
          <a:xfrm>
            <a:off x="4398630" y="2222358"/>
            <a:ext cx="218724" cy="218724"/>
          </a:xfrm>
          <a:prstGeom prst="rect">
            <a:avLst/>
          </a:prstGeom>
          <a:solidFill>
            <a:schemeClr val="accent2"/>
          </a:solidFill>
          <a:ln/>
        </p:spPr>
        <p:txBody>
          <a:bodyPr/>
          <a:lstStyle/>
          <a:p>
            <a:endParaRPr lang="en-US"/>
          </a:p>
        </p:txBody>
      </p:sp>
      <p:sp>
        <p:nvSpPr>
          <p:cNvPr id="15" name="voxel-738"/>
          <p:cNvSpPr/>
          <p:nvPr/>
        </p:nvSpPr>
        <p:spPr>
          <a:xfrm>
            <a:off x="4874118" y="2222358"/>
            <a:ext cx="218724" cy="218724"/>
          </a:xfrm>
          <a:prstGeom prst="rect">
            <a:avLst/>
          </a:prstGeom>
          <a:solidFill>
            <a:schemeClr val="accent2"/>
          </a:solidFill>
          <a:ln/>
        </p:spPr>
        <p:txBody>
          <a:bodyPr/>
          <a:lstStyle/>
          <a:p>
            <a:endParaRPr lang="en-US"/>
          </a:p>
        </p:txBody>
      </p:sp>
      <p:sp>
        <p:nvSpPr>
          <p:cNvPr id="16" name="voxel-739"/>
          <p:cNvSpPr/>
          <p:nvPr/>
        </p:nvSpPr>
        <p:spPr>
          <a:xfrm>
            <a:off x="5349606" y="2222358"/>
            <a:ext cx="218724" cy="218724"/>
          </a:xfrm>
          <a:prstGeom prst="rect">
            <a:avLst/>
          </a:prstGeom>
          <a:solidFill>
            <a:schemeClr val="accent2"/>
          </a:solidFill>
          <a:ln/>
        </p:spPr>
        <p:txBody>
          <a:bodyPr/>
          <a:lstStyle/>
          <a:p>
            <a:endParaRPr lang="en-US"/>
          </a:p>
        </p:txBody>
      </p:sp>
      <p:sp>
        <p:nvSpPr>
          <p:cNvPr id="17" name="voxel-740"/>
          <p:cNvSpPr/>
          <p:nvPr/>
        </p:nvSpPr>
        <p:spPr>
          <a:xfrm>
            <a:off x="4398630" y="2460102"/>
            <a:ext cx="218724" cy="218724"/>
          </a:xfrm>
          <a:prstGeom prst="rect">
            <a:avLst/>
          </a:prstGeom>
          <a:solidFill>
            <a:schemeClr val="accent2"/>
          </a:solidFill>
          <a:ln/>
        </p:spPr>
        <p:txBody>
          <a:bodyPr/>
          <a:lstStyle/>
          <a:p>
            <a:endParaRPr lang="en-US"/>
          </a:p>
        </p:txBody>
      </p:sp>
      <p:sp>
        <p:nvSpPr>
          <p:cNvPr id="18" name="voxel-741"/>
          <p:cNvSpPr/>
          <p:nvPr/>
        </p:nvSpPr>
        <p:spPr>
          <a:xfrm>
            <a:off x="4874118" y="2460102"/>
            <a:ext cx="218724" cy="218724"/>
          </a:xfrm>
          <a:prstGeom prst="rect">
            <a:avLst/>
          </a:prstGeom>
          <a:solidFill>
            <a:schemeClr val="accent2"/>
          </a:solidFill>
          <a:ln/>
        </p:spPr>
        <p:txBody>
          <a:bodyPr/>
          <a:lstStyle/>
          <a:p>
            <a:endParaRPr lang="en-US"/>
          </a:p>
        </p:txBody>
      </p:sp>
      <p:sp>
        <p:nvSpPr>
          <p:cNvPr id="19" name="voxel-742"/>
          <p:cNvSpPr/>
          <p:nvPr/>
        </p:nvSpPr>
        <p:spPr>
          <a:xfrm>
            <a:off x="5349606" y="2460102"/>
            <a:ext cx="218724" cy="218724"/>
          </a:xfrm>
          <a:prstGeom prst="rect">
            <a:avLst/>
          </a:prstGeom>
          <a:solidFill>
            <a:schemeClr val="accent2"/>
          </a:solidFill>
          <a:ln/>
        </p:spPr>
        <p:txBody>
          <a:bodyPr/>
          <a:lstStyle/>
          <a:p>
            <a:endParaRPr lang="en-US"/>
          </a:p>
        </p:txBody>
      </p:sp>
      <p:sp>
        <p:nvSpPr>
          <p:cNvPr id="20" name="voxel-743"/>
          <p:cNvSpPr/>
          <p:nvPr/>
        </p:nvSpPr>
        <p:spPr>
          <a:xfrm>
            <a:off x="4398630" y="2697846"/>
            <a:ext cx="218724" cy="218724"/>
          </a:xfrm>
          <a:prstGeom prst="rect">
            <a:avLst/>
          </a:prstGeom>
          <a:solidFill>
            <a:schemeClr val="accent1"/>
          </a:solidFill>
          <a:ln/>
        </p:spPr>
        <p:txBody>
          <a:bodyPr/>
          <a:lstStyle/>
          <a:p>
            <a:endParaRPr lang="en-US"/>
          </a:p>
        </p:txBody>
      </p:sp>
      <p:sp>
        <p:nvSpPr>
          <p:cNvPr id="21" name="voxel-744"/>
          <p:cNvSpPr/>
          <p:nvPr/>
        </p:nvSpPr>
        <p:spPr>
          <a:xfrm>
            <a:off x="4874118" y="2697846"/>
            <a:ext cx="218724" cy="218724"/>
          </a:xfrm>
          <a:prstGeom prst="rect">
            <a:avLst/>
          </a:prstGeom>
          <a:solidFill>
            <a:schemeClr val="accent1"/>
          </a:solidFill>
          <a:ln/>
        </p:spPr>
        <p:txBody>
          <a:bodyPr/>
          <a:lstStyle/>
          <a:p>
            <a:endParaRPr lang="en-US"/>
          </a:p>
        </p:txBody>
      </p:sp>
      <p:sp>
        <p:nvSpPr>
          <p:cNvPr id="22" name="voxel-745"/>
          <p:cNvSpPr/>
          <p:nvPr/>
        </p:nvSpPr>
        <p:spPr>
          <a:xfrm>
            <a:off x="5349606" y="2697846"/>
            <a:ext cx="218724" cy="218724"/>
          </a:xfrm>
          <a:prstGeom prst="rect">
            <a:avLst/>
          </a:prstGeom>
          <a:solidFill>
            <a:schemeClr val="accent1"/>
          </a:solidFill>
          <a:ln/>
        </p:spPr>
        <p:txBody>
          <a:bodyPr/>
          <a:lstStyle/>
          <a:p>
            <a:endParaRPr lang="en-US"/>
          </a:p>
        </p:txBody>
      </p:sp>
      <p:sp>
        <p:nvSpPr>
          <p:cNvPr id="23" name="text-746"/>
          <p:cNvSpPr txBox="1"/>
          <p:nvPr/>
        </p:nvSpPr>
        <p:spPr>
          <a:xfrm>
            <a:off x="868680" y="1691640"/>
            <a:ext cx="1371600" cy="365760"/>
          </a:xfrm>
          <a:prstGeom prst="rect">
            <a:avLst/>
          </a:prstGeom>
          <a:noFill/>
          <a:ln/>
        </p:spPr>
        <p:txBody>
          <a:bodyPr wrap="square" lIns="0" tIns="0" rIns="0" bIns="0" rtlCol="0" anchor="t"/>
          <a:lstStyle/>
          <a:p>
            <a:pPr marL="0" indent="0">
              <a:buNone/>
            </a:pPr>
            <a:r>
              <a:rPr lang="en-US" sz="1400" b="1" dirty="0">
                <a:solidFill>
                  <a:schemeClr val="accent6"/>
                </a:solidFill>
              </a:rPr>
              <a:t>R5A</a:t>
            </a:r>
            <a:endParaRPr lang="en-US" sz="1400" dirty="0"/>
          </a:p>
        </p:txBody>
      </p:sp>
      <p:sp>
        <p:nvSpPr>
          <p:cNvPr id="24" name="text-747"/>
          <p:cNvSpPr txBox="1"/>
          <p:nvPr/>
        </p:nvSpPr>
        <p:spPr>
          <a:xfrm>
            <a:off x="868680" y="2057400"/>
            <a:ext cx="3337560" cy="777240"/>
          </a:xfrm>
          <a:prstGeom prst="rect">
            <a:avLst/>
          </a:prstGeom>
          <a:noFill/>
          <a:ln/>
        </p:spPr>
        <p:txBody>
          <a:bodyPr wrap="square" lIns="0" tIns="0" rIns="0" bIns="0" rtlCol="0" anchor="t"/>
          <a:lstStyle/>
          <a:p>
            <a:pPr marL="0" indent="0">
              <a:buNone/>
            </a:pPr>
            <a:r>
              <a:rPr lang="en-US" sz="2000" b="1" dirty="0">
                <a:solidFill>
                  <a:schemeClr val="tx1"/>
                </a:solidFill>
              </a:rPr>
              <a:t>Brains and bodies together</a:t>
            </a:r>
            <a:endParaRPr lang="en-US" sz="2000" dirty="0"/>
          </a:p>
        </p:txBody>
      </p:sp>
      <p:sp>
        <p:nvSpPr>
          <p:cNvPr id="25" name="text-748"/>
          <p:cNvSpPr txBox="1"/>
          <p:nvPr/>
        </p:nvSpPr>
        <p:spPr>
          <a:xfrm>
            <a:off x="868680" y="3017520"/>
            <a:ext cx="4709160" cy="685800"/>
          </a:xfrm>
          <a:prstGeom prst="rect">
            <a:avLst/>
          </a:prstGeom>
          <a:noFill/>
          <a:ln/>
        </p:spPr>
        <p:txBody>
          <a:bodyPr wrap="square" lIns="0" tIns="0" rIns="0" bIns="0" rtlCol="0" anchor="t"/>
          <a:lstStyle/>
          <a:p>
            <a:pPr marL="0" indent="0">
              <a:buNone/>
            </a:pPr>
            <a:r>
              <a:rPr lang="en-US" sz="1400" i="1" dirty="0">
                <a:solidFill>
                  <a:schemeClr val="tx2"/>
                </a:solidFill>
              </a:rPr>
              <a:t>Sims, K. (1994). Evolving Virtual Creatures. SIGGRAPH '94.</a:t>
            </a:r>
            <a:endParaRPr lang="en-US" sz="1400" dirty="0"/>
          </a:p>
        </p:txBody>
      </p:sp>
      <p:sp>
        <p:nvSpPr>
          <p:cNvPr id="26" name="text-749"/>
          <p:cNvSpPr txBox="1"/>
          <p:nvPr/>
        </p:nvSpPr>
        <p:spPr>
          <a:xfrm>
            <a:off x="868680" y="3794760"/>
            <a:ext cx="4709160" cy="1691640"/>
          </a:xfrm>
          <a:prstGeom prst="rect">
            <a:avLst/>
          </a:prstGeom>
          <a:noFill/>
          <a:ln/>
        </p:spPr>
        <p:txBody>
          <a:bodyPr wrap="square" lIns="0" tIns="0" rIns="0" bIns="0" rtlCol="0" anchor="t"/>
          <a:lstStyle/>
          <a:p>
            <a:pPr marL="0" indent="0">
              <a:buNone/>
            </a:pPr>
            <a:r>
              <a:rPr lang="en-US" sz="1500" dirty="0">
                <a:solidFill>
                  <a:schemeClr val="tx1"/>
                </a:solidFill>
              </a:rPr>
              <a:t>Bodies and neural controllers co-evolved in simulation: creatures that swim, walk, jump, and follow. Its genome builds the body, so the brain has to fit whatever body it builds, the same problem as this project. Watch the video too.</a:t>
            </a:r>
            <a:endParaRPr lang="en-US" sz="1500" dirty="0"/>
          </a:p>
        </p:txBody>
      </p:sp>
      <p:sp>
        <p:nvSpPr>
          <p:cNvPr id="27" name="card-750"/>
          <p:cNvSpPr/>
          <p:nvPr/>
        </p:nvSpPr>
        <p:spPr>
          <a:xfrm>
            <a:off x="6172200" y="1417320"/>
            <a:ext cx="5349240" cy="4206240"/>
          </a:xfrm>
          <a:prstGeom prst="roundRect">
            <a:avLst>
              <a:gd name="adj" fmla="val 1739"/>
            </a:avLst>
          </a:prstGeom>
          <a:solidFill>
            <a:schemeClr val="bg2"/>
          </a:solidFill>
          <a:ln/>
        </p:spPr>
        <p:txBody>
          <a:bodyPr/>
          <a:lstStyle/>
          <a:p>
            <a:endParaRPr lang="en-US"/>
          </a:p>
        </p:txBody>
      </p:sp>
      <p:sp>
        <p:nvSpPr>
          <p:cNvPr id="28" name="voxel-751"/>
          <p:cNvSpPr/>
          <p:nvPr/>
        </p:nvSpPr>
        <p:spPr>
          <a:xfrm>
            <a:off x="10259934" y="1746870"/>
            <a:ext cx="218724" cy="218724"/>
          </a:xfrm>
          <a:prstGeom prst="rect">
            <a:avLst/>
          </a:prstGeom>
          <a:solidFill>
            <a:schemeClr val="accent3"/>
          </a:solidFill>
          <a:ln/>
        </p:spPr>
        <p:txBody>
          <a:bodyPr/>
          <a:lstStyle/>
          <a:p>
            <a:endParaRPr lang="en-US"/>
          </a:p>
        </p:txBody>
      </p:sp>
      <p:sp>
        <p:nvSpPr>
          <p:cNvPr id="29" name="voxel-752"/>
          <p:cNvSpPr/>
          <p:nvPr/>
        </p:nvSpPr>
        <p:spPr>
          <a:xfrm>
            <a:off x="10497678" y="1746870"/>
            <a:ext cx="218724" cy="218724"/>
          </a:xfrm>
          <a:prstGeom prst="rect">
            <a:avLst/>
          </a:prstGeom>
          <a:solidFill>
            <a:schemeClr val="accent1"/>
          </a:solidFill>
          <a:ln/>
        </p:spPr>
        <p:txBody>
          <a:bodyPr/>
          <a:lstStyle/>
          <a:p>
            <a:endParaRPr lang="en-US"/>
          </a:p>
        </p:txBody>
      </p:sp>
      <p:sp>
        <p:nvSpPr>
          <p:cNvPr id="30" name="voxel-753"/>
          <p:cNvSpPr/>
          <p:nvPr/>
        </p:nvSpPr>
        <p:spPr>
          <a:xfrm>
            <a:off x="10735422" y="1746870"/>
            <a:ext cx="218724" cy="218724"/>
          </a:xfrm>
          <a:prstGeom prst="rect">
            <a:avLst/>
          </a:prstGeom>
          <a:solidFill>
            <a:schemeClr val="accent3"/>
          </a:solidFill>
          <a:ln/>
        </p:spPr>
        <p:txBody>
          <a:bodyPr/>
          <a:lstStyle/>
          <a:p>
            <a:endParaRPr lang="en-US"/>
          </a:p>
        </p:txBody>
      </p:sp>
      <p:sp>
        <p:nvSpPr>
          <p:cNvPr id="31" name="voxel-754"/>
          <p:cNvSpPr/>
          <p:nvPr/>
        </p:nvSpPr>
        <p:spPr>
          <a:xfrm>
            <a:off x="10973166" y="1746870"/>
            <a:ext cx="218724" cy="218724"/>
          </a:xfrm>
          <a:prstGeom prst="rect">
            <a:avLst/>
          </a:prstGeom>
          <a:solidFill>
            <a:schemeClr val="accent1"/>
          </a:solidFill>
          <a:ln/>
        </p:spPr>
        <p:txBody>
          <a:bodyPr/>
          <a:lstStyle/>
          <a:p>
            <a:endParaRPr lang="en-US"/>
          </a:p>
        </p:txBody>
      </p:sp>
      <p:sp>
        <p:nvSpPr>
          <p:cNvPr id="32" name="voxel-755"/>
          <p:cNvSpPr/>
          <p:nvPr/>
        </p:nvSpPr>
        <p:spPr>
          <a:xfrm>
            <a:off x="10022190" y="1984614"/>
            <a:ext cx="218724" cy="218724"/>
          </a:xfrm>
          <a:prstGeom prst="rect">
            <a:avLst/>
          </a:prstGeom>
          <a:solidFill>
            <a:schemeClr val="accent2"/>
          </a:solidFill>
          <a:ln/>
        </p:spPr>
        <p:txBody>
          <a:bodyPr/>
          <a:lstStyle/>
          <a:p>
            <a:endParaRPr lang="en-US"/>
          </a:p>
        </p:txBody>
      </p:sp>
      <p:sp>
        <p:nvSpPr>
          <p:cNvPr id="33" name="voxel-756"/>
          <p:cNvSpPr/>
          <p:nvPr/>
        </p:nvSpPr>
        <p:spPr>
          <a:xfrm>
            <a:off x="10259934" y="1984614"/>
            <a:ext cx="218724" cy="218724"/>
          </a:xfrm>
          <a:prstGeom prst="rect">
            <a:avLst/>
          </a:prstGeom>
          <a:solidFill>
            <a:schemeClr val="accent1"/>
          </a:solidFill>
          <a:ln/>
        </p:spPr>
        <p:txBody>
          <a:bodyPr/>
          <a:lstStyle/>
          <a:p>
            <a:endParaRPr lang="en-US"/>
          </a:p>
        </p:txBody>
      </p:sp>
      <p:sp>
        <p:nvSpPr>
          <p:cNvPr id="34" name="voxel-757"/>
          <p:cNvSpPr/>
          <p:nvPr/>
        </p:nvSpPr>
        <p:spPr>
          <a:xfrm>
            <a:off x="10497678" y="1984614"/>
            <a:ext cx="218724" cy="218724"/>
          </a:xfrm>
          <a:prstGeom prst="rect">
            <a:avLst/>
          </a:prstGeom>
          <a:solidFill>
            <a:schemeClr val="accent2"/>
          </a:solidFill>
          <a:ln/>
        </p:spPr>
        <p:txBody>
          <a:bodyPr/>
          <a:lstStyle/>
          <a:p>
            <a:endParaRPr lang="en-US"/>
          </a:p>
        </p:txBody>
      </p:sp>
      <p:sp>
        <p:nvSpPr>
          <p:cNvPr id="35" name="voxel-758"/>
          <p:cNvSpPr/>
          <p:nvPr/>
        </p:nvSpPr>
        <p:spPr>
          <a:xfrm>
            <a:off x="10735422" y="1984614"/>
            <a:ext cx="218724" cy="218724"/>
          </a:xfrm>
          <a:prstGeom prst="rect">
            <a:avLst/>
          </a:prstGeom>
          <a:solidFill>
            <a:schemeClr val="accent3"/>
          </a:solidFill>
          <a:ln/>
        </p:spPr>
        <p:txBody>
          <a:bodyPr/>
          <a:lstStyle/>
          <a:p>
            <a:endParaRPr lang="en-US"/>
          </a:p>
        </p:txBody>
      </p:sp>
      <p:sp>
        <p:nvSpPr>
          <p:cNvPr id="36" name="voxel-759"/>
          <p:cNvSpPr/>
          <p:nvPr/>
        </p:nvSpPr>
        <p:spPr>
          <a:xfrm>
            <a:off x="10973166" y="1984614"/>
            <a:ext cx="218724" cy="218724"/>
          </a:xfrm>
          <a:prstGeom prst="rect">
            <a:avLst/>
          </a:prstGeom>
          <a:solidFill>
            <a:schemeClr val="accent1"/>
          </a:solidFill>
          <a:ln/>
        </p:spPr>
        <p:txBody>
          <a:bodyPr/>
          <a:lstStyle/>
          <a:p>
            <a:endParaRPr lang="en-US"/>
          </a:p>
        </p:txBody>
      </p:sp>
      <p:sp>
        <p:nvSpPr>
          <p:cNvPr id="37" name="voxel-760"/>
          <p:cNvSpPr/>
          <p:nvPr/>
        </p:nvSpPr>
        <p:spPr>
          <a:xfrm>
            <a:off x="10022190" y="2222358"/>
            <a:ext cx="218724" cy="218724"/>
          </a:xfrm>
          <a:prstGeom prst="rect">
            <a:avLst/>
          </a:prstGeom>
          <a:solidFill>
            <a:schemeClr val="accent2"/>
          </a:solidFill>
          <a:ln/>
        </p:spPr>
        <p:txBody>
          <a:bodyPr/>
          <a:lstStyle/>
          <a:p>
            <a:endParaRPr lang="en-US"/>
          </a:p>
        </p:txBody>
      </p:sp>
      <p:sp>
        <p:nvSpPr>
          <p:cNvPr id="38" name="voxel-761"/>
          <p:cNvSpPr/>
          <p:nvPr/>
        </p:nvSpPr>
        <p:spPr>
          <a:xfrm>
            <a:off x="10259934" y="2222358"/>
            <a:ext cx="218724" cy="218724"/>
          </a:xfrm>
          <a:prstGeom prst="rect">
            <a:avLst/>
          </a:prstGeom>
          <a:solidFill>
            <a:schemeClr val="accent3"/>
          </a:solidFill>
          <a:ln/>
        </p:spPr>
        <p:txBody>
          <a:bodyPr/>
          <a:lstStyle/>
          <a:p>
            <a:endParaRPr lang="en-US"/>
          </a:p>
        </p:txBody>
      </p:sp>
      <p:sp>
        <p:nvSpPr>
          <p:cNvPr id="39" name="voxel-762"/>
          <p:cNvSpPr/>
          <p:nvPr/>
        </p:nvSpPr>
        <p:spPr>
          <a:xfrm>
            <a:off x="10497678" y="2222358"/>
            <a:ext cx="218724" cy="218724"/>
          </a:xfrm>
          <a:prstGeom prst="rect">
            <a:avLst/>
          </a:prstGeom>
          <a:solidFill>
            <a:schemeClr val="accent4"/>
          </a:solidFill>
          <a:ln/>
        </p:spPr>
        <p:txBody>
          <a:bodyPr/>
          <a:lstStyle/>
          <a:p>
            <a:endParaRPr lang="en-US"/>
          </a:p>
        </p:txBody>
      </p:sp>
      <p:sp>
        <p:nvSpPr>
          <p:cNvPr id="40" name="voxel-763"/>
          <p:cNvSpPr/>
          <p:nvPr/>
        </p:nvSpPr>
        <p:spPr>
          <a:xfrm>
            <a:off x="10735422" y="2222358"/>
            <a:ext cx="218724" cy="218724"/>
          </a:xfrm>
          <a:prstGeom prst="rect">
            <a:avLst/>
          </a:prstGeom>
          <a:solidFill>
            <a:schemeClr val="accent3"/>
          </a:solidFill>
          <a:ln/>
        </p:spPr>
        <p:txBody>
          <a:bodyPr/>
          <a:lstStyle/>
          <a:p>
            <a:endParaRPr lang="en-US"/>
          </a:p>
        </p:txBody>
      </p:sp>
      <p:sp>
        <p:nvSpPr>
          <p:cNvPr id="41" name="voxel-764"/>
          <p:cNvSpPr/>
          <p:nvPr/>
        </p:nvSpPr>
        <p:spPr>
          <a:xfrm>
            <a:off x="10973166" y="2222358"/>
            <a:ext cx="218724" cy="218724"/>
          </a:xfrm>
          <a:prstGeom prst="rect">
            <a:avLst/>
          </a:prstGeom>
          <a:solidFill>
            <a:schemeClr val="accent3"/>
          </a:solidFill>
          <a:ln/>
        </p:spPr>
        <p:txBody>
          <a:bodyPr/>
          <a:lstStyle/>
          <a:p>
            <a:endParaRPr lang="en-US"/>
          </a:p>
        </p:txBody>
      </p:sp>
      <p:sp>
        <p:nvSpPr>
          <p:cNvPr id="42" name="voxel-765"/>
          <p:cNvSpPr/>
          <p:nvPr/>
        </p:nvSpPr>
        <p:spPr>
          <a:xfrm>
            <a:off x="10022190" y="2460102"/>
            <a:ext cx="218724" cy="218724"/>
          </a:xfrm>
          <a:prstGeom prst="rect">
            <a:avLst/>
          </a:prstGeom>
          <a:solidFill>
            <a:schemeClr val="accent1"/>
          </a:solidFill>
          <a:ln/>
        </p:spPr>
        <p:txBody>
          <a:bodyPr/>
          <a:lstStyle/>
          <a:p>
            <a:endParaRPr lang="en-US"/>
          </a:p>
        </p:txBody>
      </p:sp>
      <p:sp>
        <p:nvSpPr>
          <p:cNvPr id="43" name="voxel-766"/>
          <p:cNvSpPr/>
          <p:nvPr/>
        </p:nvSpPr>
        <p:spPr>
          <a:xfrm>
            <a:off x="10259934" y="2460102"/>
            <a:ext cx="218724" cy="218724"/>
          </a:xfrm>
          <a:prstGeom prst="rect">
            <a:avLst/>
          </a:prstGeom>
          <a:solidFill>
            <a:schemeClr val="accent4"/>
          </a:solidFill>
          <a:ln/>
        </p:spPr>
        <p:txBody>
          <a:bodyPr/>
          <a:lstStyle/>
          <a:p>
            <a:endParaRPr lang="en-US"/>
          </a:p>
        </p:txBody>
      </p:sp>
      <p:sp>
        <p:nvSpPr>
          <p:cNvPr id="44" name="voxel-767"/>
          <p:cNvSpPr/>
          <p:nvPr/>
        </p:nvSpPr>
        <p:spPr>
          <a:xfrm>
            <a:off x="10497678" y="2460102"/>
            <a:ext cx="218724" cy="218724"/>
          </a:xfrm>
          <a:prstGeom prst="rect">
            <a:avLst/>
          </a:prstGeom>
          <a:solidFill>
            <a:schemeClr val="accent1"/>
          </a:solidFill>
          <a:ln/>
        </p:spPr>
        <p:txBody>
          <a:bodyPr/>
          <a:lstStyle/>
          <a:p>
            <a:endParaRPr lang="en-US"/>
          </a:p>
        </p:txBody>
      </p:sp>
      <p:sp>
        <p:nvSpPr>
          <p:cNvPr id="45" name="voxel-768"/>
          <p:cNvSpPr/>
          <p:nvPr/>
        </p:nvSpPr>
        <p:spPr>
          <a:xfrm>
            <a:off x="10973166" y="2460102"/>
            <a:ext cx="218724" cy="218724"/>
          </a:xfrm>
          <a:prstGeom prst="rect">
            <a:avLst/>
          </a:prstGeom>
          <a:solidFill>
            <a:schemeClr val="accent1"/>
          </a:solidFill>
          <a:ln/>
        </p:spPr>
        <p:txBody>
          <a:bodyPr/>
          <a:lstStyle/>
          <a:p>
            <a:endParaRPr lang="en-US"/>
          </a:p>
        </p:txBody>
      </p:sp>
      <p:sp>
        <p:nvSpPr>
          <p:cNvPr id="46" name="voxel-769"/>
          <p:cNvSpPr/>
          <p:nvPr/>
        </p:nvSpPr>
        <p:spPr>
          <a:xfrm>
            <a:off x="10022190" y="2697846"/>
            <a:ext cx="218724" cy="218724"/>
          </a:xfrm>
          <a:prstGeom prst="rect">
            <a:avLst/>
          </a:prstGeom>
          <a:solidFill>
            <a:schemeClr val="accent1"/>
          </a:solidFill>
          <a:ln/>
        </p:spPr>
        <p:txBody>
          <a:bodyPr/>
          <a:lstStyle/>
          <a:p>
            <a:endParaRPr lang="en-US"/>
          </a:p>
        </p:txBody>
      </p:sp>
      <p:sp>
        <p:nvSpPr>
          <p:cNvPr id="47" name="voxel-770"/>
          <p:cNvSpPr/>
          <p:nvPr/>
        </p:nvSpPr>
        <p:spPr>
          <a:xfrm>
            <a:off x="10259934" y="2697846"/>
            <a:ext cx="218724" cy="218724"/>
          </a:xfrm>
          <a:prstGeom prst="rect">
            <a:avLst/>
          </a:prstGeom>
          <a:solidFill>
            <a:schemeClr val="accent2"/>
          </a:solidFill>
          <a:ln/>
        </p:spPr>
        <p:txBody>
          <a:bodyPr/>
          <a:lstStyle/>
          <a:p>
            <a:endParaRPr lang="en-US"/>
          </a:p>
        </p:txBody>
      </p:sp>
      <p:sp>
        <p:nvSpPr>
          <p:cNvPr id="48" name="voxel-771"/>
          <p:cNvSpPr/>
          <p:nvPr/>
        </p:nvSpPr>
        <p:spPr>
          <a:xfrm>
            <a:off x="10973166" y="2697846"/>
            <a:ext cx="218724" cy="218724"/>
          </a:xfrm>
          <a:prstGeom prst="rect">
            <a:avLst/>
          </a:prstGeom>
          <a:solidFill>
            <a:schemeClr val="accent1"/>
          </a:solidFill>
          <a:ln/>
        </p:spPr>
        <p:txBody>
          <a:bodyPr/>
          <a:lstStyle/>
          <a:p>
            <a:endParaRPr lang="en-US"/>
          </a:p>
        </p:txBody>
      </p:sp>
      <p:sp>
        <p:nvSpPr>
          <p:cNvPr id="49" name="text-772"/>
          <p:cNvSpPr txBox="1"/>
          <p:nvPr/>
        </p:nvSpPr>
        <p:spPr>
          <a:xfrm>
            <a:off x="6492240" y="1691640"/>
            <a:ext cx="1371600" cy="365760"/>
          </a:xfrm>
          <a:prstGeom prst="rect">
            <a:avLst/>
          </a:prstGeom>
          <a:noFill/>
          <a:ln/>
        </p:spPr>
        <p:txBody>
          <a:bodyPr wrap="square" lIns="0" tIns="0" rIns="0" bIns="0" rtlCol="0" anchor="t"/>
          <a:lstStyle/>
          <a:p>
            <a:pPr marL="0" indent="0">
              <a:buNone/>
            </a:pPr>
            <a:r>
              <a:rPr lang="en-US" sz="1400" b="1" dirty="0">
                <a:solidFill>
                  <a:schemeClr val="accent6"/>
                </a:solidFill>
              </a:rPr>
              <a:t>R5B</a:t>
            </a:r>
            <a:endParaRPr lang="en-US" sz="1400" dirty="0"/>
          </a:p>
        </p:txBody>
      </p:sp>
      <p:sp>
        <p:nvSpPr>
          <p:cNvPr id="50" name="text-773"/>
          <p:cNvSpPr txBox="1"/>
          <p:nvPr/>
        </p:nvSpPr>
        <p:spPr>
          <a:xfrm>
            <a:off x="6492240" y="2057400"/>
            <a:ext cx="3337560" cy="777240"/>
          </a:xfrm>
          <a:prstGeom prst="rect">
            <a:avLst/>
          </a:prstGeom>
          <a:noFill/>
          <a:ln/>
        </p:spPr>
        <p:txBody>
          <a:bodyPr wrap="square" lIns="0" tIns="0" rIns="0" bIns="0" rtlCol="0" anchor="t"/>
          <a:lstStyle/>
          <a:p>
            <a:pPr marL="0" indent="0">
              <a:buNone/>
            </a:pPr>
            <a:r>
              <a:rPr lang="en-US" sz="2000" b="1" dirty="0">
                <a:solidFill>
                  <a:schemeClr val="tx1"/>
                </a:solidFill>
              </a:rPr>
              <a:t>Soft robots made of voxels</a:t>
            </a:r>
            <a:endParaRPr lang="en-US" sz="2000" dirty="0"/>
          </a:p>
        </p:txBody>
      </p:sp>
      <p:sp>
        <p:nvSpPr>
          <p:cNvPr id="51" name="text-774"/>
          <p:cNvSpPr txBox="1"/>
          <p:nvPr/>
        </p:nvSpPr>
        <p:spPr>
          <a:xfrm>
            <a:off x="6492240" y="3017520"/>
            <a:ext cx="4709160" cy="685800"/>
          </a:xfrm>
          <a:prstGeom prst="rect">
            <a:avLst/>
          </a:prstGeom>
          <a:noFill/>
          <a:ln/>
        </p:spPr>
        <p:txBody>
          <a:bodyPr wrap="square" lIns="0" tIns="0" rIns="0" bIns="0" rtlCol="0" anchor="t"/>
          <a:lstStyle/>
          <a:p>
            <a:pPr marL="0" indent="0">
              <a:buNone/>
            </a:pPr>
            <a:r>
              <a:rPr lang="en-US" sz="1400" i="1" dirty="0">
                <a:solidFill>
                  <a:schemeClr val="tx2"/>
                </a:solidFill>
              </a:rPr>
              <a:t>Cheney, N., MacCurdy, R., Clune, J., &amp; Lipson, H. (2013). Unshackling Evolution. GECCO '13.</a:t>
            </a:r>
            <a:endParaRPr lang="en-US" sz="1400" dirty="0"/>
          </a:p>
        </p:txBody>
      </p:sp>
      <p:sp>
        <p:nvSpPr>
          <p:cNvPr id="52" name="text-775"/>
          <p:cNvSpPr txBox="1"/>
          <p:nvPr/>
        </p:nvSpPr>
        <p:spPr>
          <a:xfrm>
            <a:off x="6492240" y="3794760"/>
            <a:ext cx="4709160" cy="1691640"/>
          </a:xfrm>
          <a:prstGeom prst="rect">
            <a:avLst/>
          </a:prstGeom>
          <a:noFill/>
          <a:ln/>
        </p:spPr>
        <p:txBody>
          <a:bodyPr wrap="square" lIns="0" tIns="0" rIns="0" bIns="0" rtlCol="0" anchor="t"/>
          <a:lstStyle/>
          <a:p>
            <a:pPr marL="0" indent="0">
              <a:buNone/>
            </a:pPr>
            <a:r>
              <a:rPr lang="en-US" sz="1500" dirty="0">
                <a:solidFill>
                  <a:schemeClr val="tx1"/>
                </a:solidFill>
              </a:rPr>
              <a:t>The closest ancestor of this project: voxel soft robots evolved to walk. Its brain is a single sine wave, so the gait comes almost entirely from the body. It also shows how much the body encoding matters.</a:t>
            </a:r>
            <a:endParaRPr lang="en-US" sz="1500" dirty="0"/>
          </a:p>
        </p:txBody>
      </p:sp>
      <p:sp>
        <p:nvSpPr>
          <p:cNvPr id="53" name="text-776"/>
          <p:cNvSpPr txBox="1"/>
          <p:nvPr/>
        </p:nvSpPr>
        <p:spPr>
          <a:xfrm>
            <a:off x="548640" y="5806440"/>
            <a:ext cx="11094415" cy="365760"/>
          </a:xfrm>
          <a:prstGeom prst="rect">
            <a:avLst/>
          </a:prstGeom>
          <a:noFill/>
          <a:ln/>
        </p:spPr>
        <p:txBody>
          <a:bodyPr wrap="square" lIns="0" tIns="0" rIns="0" bIns="0" rtlCol="0" anchor="t"/>
          <a:lstStyle/>
          <a:p>
            <a:pPr marL="0" indent="0">
              <a:buNone/>
            </a:pPr>
            <a:r>
              <a:rPr lang="en-US" sz="1400" dirty="0">
                <a:solidFill>
                  <a:schemeClr val="tx2"/>
                </a:solidFill>
              </a:rPr>
              <a:t>Links are in the course reading list (Section 5), along with optional readings on morphological computation and on EvoGym itself.</a:t>
            </a:r>
            <a:endParaRPr lang="en-US" sz="1400" dirty="0"/>
          </a:p>
        </p:txBody>
      </p:sp>
      <p:sp>
        <p:nvSpPr>
          <p:cNvPr id="54"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554480"/>
            <a:ext cx="6035040" cy="2011680"/>
          </a:xfrm>
          <a:prstGeom prst="rect">
            <a:avLst/>
          </a:prstGeom>
          <a:noFill/>
          <a:ln/>
        </p:spPr>
        <p:txBody>
          <a:bodyPr wrap="square" lIns="0" tIns="0" rIns="0" bIns="0" rtlCol="0" anchor="b"/>
          <a:lstStyle/>
          <a:p>
            <a:pPr marL="0" indent="0" algn="l">
              <a:buNone/>
            </a:pPr>
            <a:r>
              <a:rPr lang="en-US" sz="4000" b="1" dirty="0">
                <a:solidFill>
                  <a:schemeClr val="bg1"/>
                </a:solidFill>
              </a:rPr>
              <a:t>Watch what evolution builds</a:t>
            </a:r>
            <a:endParaRPr lang="en-US" sz="4000" dirty="0"/>
          </a:p>
        </p:txBody>
      </p:sp>
      <p:sp>
        <p:nvSpPr>
          <p:cNvPr id="3" name="Text 0"/>
          <p:cNvSpPr>
            <a:spLocks noGrp="1"/>
          </p:cNvSpPr>
          <p:nvPr>
            <p:ph type="body" idx="101" hasCustomPrompt="1"/>
          </p:nvPr>
        </p:nvSpPr>
        <p:spPr>
          <a:xfrm>
            <a:off x="548640" y="3749040"/>
            <a:ext cx="6035040" cy="1463040"/>
          </a:xfrm>
          <a:prstGeom prst="rect">
            <a:avLst/>
          </a:prstGeom>
          <a:noFill/>
          <a:ln/>
        </p:spPr>
        <p:txBody>
          <a:bodyPr wrap="square" lIns="0" tIns="0" rIns="0" bIns="0" rtlCol="0" anchor="t"/>
          <a:lstStyle/>
          <a:p>
            <a:pPr marL="0" indent="0" algn="l">
              <a:buNone/>
            </a:pPr>
            <a:r>
              <a:rPr lang="en-US" sz="1800" dirty="0">
                <a:solidFill>
                  <a:schemeClr val="accent4"/>
                </a:solidFill>
              </a:rPr>
              <a:t>A fitness number tells you how far, not how.</a:t>
            </a:r>
            <a:endParaRPr lang="en-US" sz="1800" dirty="0"/>
          </a:p>
          <a:p>
            <a:pPr marL="0" indent="0" algn="l">
              <a:buNone/>
            </a:pPr>
            <a:r>
              <a:rPr lang="en-US" sz="1800" dirty="0">
                <a:solidFill>
                  <a:schemeClr val="accent4"/>
                </a:solidFill>
              </a:rPr>
              <a:t>Predict before you run. Then look at the animations.</a:t>
            </a:r>
            <a:endParaRPr lang="en-US" sz="1800" dirty="0"/>
          </a:p>
        </p:txBody>
      </p:sp>
      <p:pic>
        <p:nvPicPr>
          <p:cNvPr id="4" name="gif-777" descr="Robot animation"/>
          <p:cNvPicPr>
            <a:picLocks noChangeAspect="1"/>
          </p:cNvPicPr>
          <p:nvPr/>
        </p:nvPicPr>
        <p:blipFill>
          <a:blip r:embed="rId3"/>
          <a:stretch>
            <a:fillRect/>
          </a:stretch>
        </p:blipFill>
        <p:spPr>
          <a:xfrm>
            <a:off x="7040880" y="2103120"/>
            <a:ext cx="4572000" cy="2286000"/>
          </a:xfrm>
          <a:prstGeom prst="rect">
            <a:avLst/>
          </a:prstGeom>
        </p:spPr>
      </p:pic>
    </p:spTree>
  </p:cSld>
  <p:clrMapOvr>
    <a:masterClrMapping/>
  </p:clrMapOvr>
</p:sld>
</file>

<file path=ppt/theme/theme1.xml><?xml version="1.0" encoding="utf-8"?>
<a:theme xmlns:a="http://schemas.openxmlformats.org/drawingml/2006/main" name="Soft Robots">
  <a:themeElements>
    <a:clrScheme name="Soft Robots">
      <a:dk1>
        <a:srgbClr val="1E272C"/>
      </a:dk1>
      <a:lt1>
        <a:srgbClr val="FFFFFF"/>
      </a:lt1>
      <a:dk2>
        <a:srgbClr val="4A5961"/>
      </a:dk2>
      <a:lt2>
        <a:srgbClr val="F2F4F5"/>
      </a:lt2>
      <a:accent1>
        <a:srgbClr val="FD8E3E"/>
      </a:accent1>
      <a:accent2>
        <a:srgbClr val="6DAFD6"/>
      </a:accent2>
      <a:accent3>
        <a:srgbClr val="262626"/>
      </a:accent3>
      <a:accent4>
        <a:srgbClr val="BFBFBF"/>
      </a:accent4>
      <a:accent5>
        <a:srgbClr val="2A8C82"/>
      </a:accent5>
      <a:accent6>
        <a:srgbClr val="C2410C"/>
      </a:accent6>
      <a:hlink>
        <a:srgbClr val="2A8C82"/>
      </a:hlink>
      <a:folHlink>
        <a:srgbClr val="4A5961"/>
      </a:folHlink>
    </a:clrScheme>
    <a:fontScheme name="Soft Robot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TotalTime>
  <Words>5802</Words>
  <Application>Microsoft Macintosh PowerPoint</Application>
  <PresentationFormat>Widescreen</PresentationFormat>
  <Paragraphs>487</Paragraphs>
  <Slides>32</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Courier New</vt:lpstr>
      <vt:lpstr>Soft Robots</vt:lpstr>
      <vt:lpstr>Soft Robots: Evolving Bodies, Not Just Brains</vt:lpstr>
      <vt:lpstr>So far, we have used evolution to only ever build brains..</vt:lpstr>
      <vt:lpstr>Same body, different brain</vt:lpstr>
      <vt:lpstr>Two problems, one pipeline</vt:lpstr>
      <vt:lpstr>The soft robot platform</vt:lpstr>
      <vt:lpstr>A robot is a grid of voxels</vt:lpstr>
      <vt:lpstr>A robot is a grid of voxels</vt:lpstr>
      <vt:lpstr>A muscle gets a target length every step</vt:lpstr>
      <vt:lpstr>Things to know about the simulator</vt:lpstr>
      <vt:lpstr>Bodies</vt:lpstr>
      <vt:lpstr>Four bodies to start from</vt:lpstr>
      <vt:lpstr>Or design your own body</vt:lpstr>
      <vt:lpstr>Brains</vt:lpstr>
      <vt:lpstr>The brain has to fit whatever body evolution builds</vt:lpstr>
      <vt:lpstr>Four brains, two choices</vt:lpstr>
      <vt:lpstr>1. Local, open-loop</vt:lpstr>
      <vt:lpstr>2. Local, closed-loop</vt:lpstr>
      <vt:lpstr>3. Global, open-loop</vt:lpstr>
      <vt:lpstr>4. Global, closed-loop</vt:lpstr>
      <vt:lpstr>Choosing a brain</vt:lpstr>
      <vt:lpstr>You choose the network's shape</vt:lpstr>
      <vt:lpstr>Evolving it</vt:lpstr>
      <vt:lpstr>How a body becomes genes</vt:lpstr>
      <vt:lpstr>Running it</vt:lpstr>
      <vt:lpstr>How long it takes</vt:lpstr>
      <vt:lpstr>Evolution at work</vt:lpstr>
      <vt:lpstr>Four robots evolution designed</vt:lpstr>
      <vt:lpstr>The assignment</vt:lpstr>
      <vt:lpstr>Three required parts</vt:lpstr>
      <vt:lpstr>Ideas for Part 3</vt:lpstr>
      <vt:lpstr>Required reading</vt:lpstr>
      <vt:lpstr>Watch what evolution builds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5: Soft Robots</dc:title>
  <dc:subject>PptxGenJS Presentation</dc:subject>
  <dc:creator>Eduardo Izquierdo</dc:creator>
  <cp:lastModifiedBy>Izquierdo Torres, Eduardo</cp:lastModifiedBy>
  <cp:revision>3</cp:revision>
  <dcterms:created xsi:type="dcterms:W3CDTF">2026-10-08T13:19:34Z</dcterms:created>
  <dcterms:modified xsi:type="dcterms:W3CDTF">2026-10-12T19:35:13Z</dcterms:modified>
</cp:coreProperties>
</file>