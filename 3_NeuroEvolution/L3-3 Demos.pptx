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parts solve the same kind of problem: a small network has to label points in 2D. What differs is how we find the numbers inside the network. Part 1 calculates them with gradients; Part 2 searches for them with evolution. Part 3 redoes Part 2 with standard libraries.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unit: a neural network is just a function with many knobs (weights and biases). Training means finding knob settings that give the right output for each input. Part 1 uses calculus to decide how to turn each knob. Part 2 never computes a derivative: it tries variations and keeps the good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 is 1 when exactly one input is "on". Ask the class to try drawing a single line that separates dots from crosses; they can't. That is why Part 1 needs hidden units. Note the inputs use -1 and 1 rather than 0 and 1, which keeps inputs centered around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steps: multiply each input by its weight, add the bias, pass through the sigmoid. Weights and bias start random in [-1, 1]. Point out that the derivative of the sigmoid can be written using only its own output, which is why the training code computes output * (1 -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perceptron.py:21-44. The network is built from the Perceptron class on the previous slide: a list of hidden perceptrons, each taking the 2 inputs, and one output perceptron taking the hidden outputs. The diagram shows 4 hidden units; train.py sets the real number on line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NeuralNet.train (perceptron.py:46-77) line by line. t is the target, y the output, h_i the hidden outputs. Step 2 uses the hidden-to-output weight w_i before step 3 changes it; that is why the code computes all errors first. The "input" in the update is whatever fed that weight: the hidden output for output-layer weights, the original input for hidden-layer weights. The bias behaves like a weight whose input is always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train.py. First window: a 4x5 grid of decision surfaces, one per network. Ask: do they all carve up the square the same way? Second window: 20 error curves. Look for plateaus where the error is flat before dropping, and for any run that stays high (stuck). Good moment to talk about random initialization and local minima.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Backprop needs derivatives of everything in the network. Evolution only needs a way to score a candidate. This lets us search over things that have no gradient at all, like which activation function each layer 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fnn.py has three versions of the same idea. ANNv1 spells out every multiply with loops, good for reading. ANNv2 uses dot products. FNN (line 82) generalizes to any list of layer sizes and is what evolve.py uses. The @ here stands in for np.matmul in the real code. Emphasize: FNN cannot learn by itself; its parameters come from setParams,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genotype-to-phenotype mapping. fnn.py:102-126, setParams: walk through the vector with a start/end pointer. Weights first, layer by layer, multiplied by weightrange = 10 so genes in [-1, 1] become weights in [-10, 10]. Then biases, same scaling. Then 5 genes per layer; np.argmax picks which activation function that layer uses. This last part is something backprop could not tune, because argmax has no gradient.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code uses an if/else to cap each point's error at 1; min(..., 1) is the same thing. Genotype in, a number between 0 and 1 out. This function is the only link between the evolutionary algorithm and the classification task: swap the dataset and the EA does not change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eas.py:42-94, Generational.run. Step 3: np.random.triangular(0, 0, popsize) draws an index that is most likely near 0 (the best rank) and least likely near popsize, so fitter individuals become parents more often, but everyone has a chance. Step 5: every gene of every child gets Gaussian noise with standard deviation mutatStd; it is not a per-gene mutation probability. Parameters are set in evolve.py:25-30.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up in order of complexity. Hill climber: one individual, keep a mutation if it is no worse. Parallel hill climber: many independent climbers, no interaction between them. Generational: the population interacts through selection and crossover. Microbial GA (Inman Harvey): steady-state; each tournament changes only one individual, and demes restrict competition to neighbors, which helps keep diversity. Evolve.py uses Generational (highlighted).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python evolve.py. First window: best and average fitness over 500 generations. Second window: the decision surface of the best individual, with the 12 training points. To see which activation functions were chosen, decode the last 10 genes of bestind: np.argmax of each group of 5 (0 sigmoid, 1 tanh, 2 ReLU, 3 linear, 4 Gaussian). A Gaussian unit is a natural fit for "inside vs. outside".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compare.py runs the Generational GA 15 times (3 shapes x 5 runs), so this takes a while; consider starting it before this slide. Before showing the plot, ask students to predict the ranking. Note that fitnessFunction reads the global layers variable, which compare.py reassigns before each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for students: the from-scratch code in Parts 1 and 2 was for understanding. Real projects use libraries, which are tested, fast, run on GPUs, and come with many algorithms. The goal of Part 3 is to recognize each piece of our own code inside the library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down the table and have students call out the Part 2 equivalent before revealing it. Differences worth naming: SBX crossover blends parent values instead of copying whole genes, and parents are picked by tournament rather than by rank. Also, Part 3 fixes the activation function by command-line flag instead of evolving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XORNet (Part3/evolve.py:19-63) loops over a list of hidden_sizes so it can stack several hidden layers; this is the single-layer case. forward() is all PyTorch needs: nn.Sequential chains the layers. Because it is a standard module, the same network could also be trained with backprop (loss.backward() and an optimizer), connecting back to Part 1. Note the inputs here are 0/1 and the targets are signs (+1/-1), unlike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Part3/evolve.py:572-596, lightly trimmed (tournament_size=3 is also passed to the crossover). Fitness (make_fitness_fn, line 266) is the fraction of points whose output has the right sign. Instead of building one network per genome like Part 2, it slices the whole (100 x 13) population tensor into per-layer weights and uses one batched matrix multiply per layer. The run loop is at line 620 and stops early once best fitness reaches 1.0. Swapping GeneticAlgorithm for another EvoTorch algorithm (such as CMAES or SNES) reuses the same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from Part3/. Plain XOR usually converges within a few generations, which is itself worth discussing next to Part 2. The --hidden 1 run is a nice prediction exercise: one tanh unit followed by a linear output still draws a single straight boundary. --fitness_mode mse raises NotImplementedError on purpose: it is the TODO in make_fitness_fn (line 356), left as an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Neither method is universally better. Backprop is far more efficient when you have gradients, which is why it dominates deep learning. Evolution is useful when you do not: discrete choices (like the activation function), non-differentiable fitness, or tasks where you can only score whole behaviors, like a robot controller.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of these are one-line changes. Encourage students to predict before they run. For the Part 2 swap, evolve.py already passes every keyword argument the other algorithms need (popsize, recombProb, mutatStd, demeSize), so only the class name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13A"/>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F2A65A"/>
                </a:solidFill>
                <a:latin typeface="IBM Plex Sans" pitchFamily="34" charset="0"/>
                <a:ea typeface="IBM Plex Sans" pitchFamily="34" charset="-122"/>
                <a:cs typeface="IBM Plex Sans" pitchFamily="34" charset="-120"/>
              </a:rPr>
              <a:t>ECE 497 · UNIT 3</a:t>
            </a:r>
            <a:endParaRPr lang="en-US" sz="1400" dirty="0"/>
          </a:p>
        </p:txBody>
      </p:sp>
      <p:sp>
        <p:nvSpPr>
          <p:cNvPr id="3" name="Text 1"/>
          <p:cNvSpPr/>
          <p:nvPr/>
        </p:nvSpPr>
        <p:spPr>
          <a:xfrm>
            <a:off x="812800" y="194945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dirty="0">
                <a:solidFill>
                  <a:srgbClr val="F6F4EE"/>
                </a:solidFill>
                <a:latin typeface="IBM Plex Sans" pitchFamily="34" charset="0"/>
                <a:ea typeface="IBM Plex Sans" pitchFamily="34" charset="-122"/>
                <a:cs typeface="IBM Plex Sans" pitchFamily="34" charset="-120"/>
              </a:rPr>
              <a:t>Two ways to find</a:t>
            </a:r>
            <a:endParaRPr lang="en-US" sz="6000" dirty="0"/>
          </a:p>
          <a:p>
            <a:pPr algn="l" indent="0" marL="0">
              <a:lnSpc>
                <a:spcPts val="6300"/>
              </a:lnSpc>
              <a:buNone/>
            </a:pPr>
            <a:r>
              <a:rPr lang="en-US" sz="6000" b="1" dirty="0">
                <a:solidFill>
                  <a:srgbClr val="F6F4EE"/>
                </a:solidFill>
                <a:latin typeface="IBM Plex Sans" pitchFamily="34" charset="0"/>
                <a:ea typeface="IBM Plex Sans" pitchFamily="34" charset="-122"/>
                <a:cs typeface="IBM Plex Sans" pitchFamily="34" charset="-120"/>
              </a:rPr>
              <a:t>a network's weights</a:t>
            </a:r>
            <a:endParaRPr lang="en-US" sz="6000" dirty="0"/>
          </a:p>
        </p:txBody>
      </p:sp>
      <p:sp>
        <p:nvSpPr>
          <p:cNvPr id="4" name="Text 2"/>
          <p:cNvSpPr/>
          <p:nvPr/>
        </p:nvSpPr>
        <p:spPr>
          <a:xfrm>
            <a:off x="812800" y="3803650"/>
            <a:ext cx="10883392" cy="1168400"/>
          </a:xfrm>
          <a:prstGeom prst="rect">
            <a:avLst/>
          </a:prstGeom>
          <a:noFill/>
          <a:ln/>
        </p:spPr>
        <p:txBody>
          <a:bodyPr wrap="square" lIns="0" tIns="0" rIns="0" bIns="0" rtlCol="0" anchor="t">
            <a:normAutofit/>
          </a:bodyPr>
          <a:lstStyle/>
          <a:p>
            <a:pPr algn="l" indent="0" marL="0">
              <a:lnSpc>
                <a:spcPts val="3000"/>
              </a:lnSpc>
              <a:buNone/>
            </a:pPr>
            <a:r>
              <a:rPr lang="en-US" sz="2000" dirty="0">
                <a:solidFill>
                  <a:srgbClr val="F2A65A"/>
                </a:solidFill>
                <a:latin typeface="IBM Plex Sans" pitchFamily="34" charset="0"/>
                <a:ea typeface="IBM Plex Sans" pitchFamily="34" charset="-122"/>
                <a:cs typeface="IBM Plex Sans" pitchFamily="34" charset="-120"/>
              </a:rPr>
              <a:t>Part 1</a:t>
            </a:r>
            <a:r>
              <a:rPr lang="en-US" sz="2000" dirty="0">
                <a:solidFill>
                  <a:srgbClr val="C9CFDA"/>
                </a:solidFill>
                <a:latin typeface="IBM Plex Sans" pitchFamily="34" charset="0"/>
                <a:ea typeface="IBM Plex Sans" pitchFamily="34" charset="-122"/>
                <a:cs typeface="IBM Plex Sans" pitchFamily="34" charset="-120"/>
              </a:rPr>
              <a:t>  Backpropagation on XOR</a:t>
            </a:r>
            <a:endParaRPr lang="en-US" sz="2000" dirty="0"/>
          </a:p>
          <a:p>
            <a:pPr algn="l" indent="0" marL="0">
              <a:lnSpc>
                <a:spcPts val="3000"/>
              </a:lnSpc>
              <a:buNone/>
            </a:pPr>
            <a:r>
              <a:rPr lang="en-US" sz="2000" dirty="0">
                <a:solidFill>
                  <a:srgbClr val="7FD1C4"/>
                </a:solidFill>
                <a:latin typeface="IBM Plex Sans" pitchFamily="34" charset="0"/>
                <a:ea typeface="IBM Plex Sans" pitchFamily="34" charset="-122"/>
                <a:cs typeface="IBM Plex Sans" pitchFamily="34" charset="-120"/>
              </a:rPr>
              <a:t>Part 2</a:t>
            </a:r>
            <a:r>
              <a:rPr lang="en-US" sz="2000" dirty="0">
                <a:solidFill>
                  <a:srgbClr val="C9CFDA"/>
                </a:solidFill>
                <a:latin typeface="IBM Plex Sans" pitchFamily="34" charset="0"/>
                <a:ea typeface="IBM Plex Sans" pitchFamily="34" charset="-122"/>
                <a:cs typeface="IBM Plex Sans" pitchFamily="34" charset="-120"/>
              </a:rPr>
              <a:t>  Evolving neural networks</a:t>
            </a:r>
            <a:endParaRPr lang="en-US" sz="2000" dirty="0"/>
          </a:p>
          <a:p>
            <a:pPr algn="l" indent="0" marL="0">
              <a:lnSpc>
                <a:spcPts val="3000"/>
              </a:lnSpc>
              <a:buNone/>
            </a:pPr>
            <a:r>
              <a:rPr lang="en-US" sz="2000" dirty="0">
                <a:solidFill>
                  <a:srgbClr val="B7A9F0"/>
                </a:solidFill>
                <a:latin typeface="IBM Plex Sans" pitchFamily="34" charset="0"/>
                <a:ea typeface="IBM Plex Sans" pitchFamily="34" charset="-122"/>
                <a:cs typeface="IBM Plex Sans" pitchFamily="34" charset="-120"/>
              </a:rPr>
              <a:t>Part 3</a:t>
            </a:r>
            <a:r>
              <a:rPr lang="en-US" sz="2000" dirty="0">
                <a:solidFill>
                  <a:srgbClr val="C9CFDA"/>
                </a:solidFill>
                <a:latin typeface="IBM Plex Sans" pitchFamily="34" charset="0"/>
                <a:ea typeface="IBM Plex Sans" pitchFamily="34" charset="-122"/>
                <a:cs typeface="IBM Plex Sans" pitchFamily="34" charset="-120"/>
              </a:rPr>
              <a:t>  The same, with PyTorch and EvoTorch</a:t>
            </a:r>
            <a:endParaRPr lang="en-US" sz="2000" dirty="0"/>
          </a:p>
        </p:txBody>
      </p:sp>
      <p:sp>
        <p:nvSpPr>
          <p:cNvPr id="5" name="Text 3"/>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5B8"/>
                </a:solidFill>
                <a:latin typeface="JetBrains Mono" pitchFamily="34" charset="0"/>
                <a:ea typeface="JetBrains Mono" pitchFamily="34" charset="-122"/>
                <a:cs typeface="JetBrains Mono" pitchFamily="34" charset="-120"/>
              </a:rPr>
              <a:t>PythonBasics/Unit3/Part1 · Part2 · Part3</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878"/>
                </a:solidFill>
                <a:latin typeface="IBM Plex Sans" pitchFamily="34" charset="0"/>
                <a:ea typeface="IBM Plex Sans" pitchFamily="34" charset="-122"/>
                <a:cs typeface="IBM Plex Sans" pitchFamily="34" charset="-120"/>
              </a:rPr>
              <a:t>OVERVIEW</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13A"/>
                </a:solidFill>
                <a:latin typeface="IBM Plex Sans" pitchFamily="34" charset="0"/>
                <a:ea typeface="IBM Plex Sans" pitchFamily="34" charset="-122"/>
                <a:cs typeface="IBM Plex Sans" pitchFamily="34" charset="-120"/>
              </a:rPr>
              <a:t>Same goal, two ways to get there</a:t>
            </a:r>
            <a:endParaRPr lang="en-US" sz="3200" dirty="0"/>
          </a:p>
        </p:txBody>
      </p:sp>
      <p:sp>
        <p:nvSpPr>
          <p:cNvPr id="4" name="Shape 2"/>
          <p:cNvSpPr/>
          <p:nvPr/>
        </p:nvSpPr>
        <p:spPr>
          <a:xfrm>
            <a:off x="812800" y="1854150"/>
            <a:ext cx="5181600" cy="3987850"/>
          </a:xfrm>
          <a:prstGeom prst="roundRect">
            <a:avLst>
              <a:gd name="adj" fmla="val 2548"/>
            </a:avLst>
          </a:prstGeom>
          <a:solidFill>
            <a:srgbClr val="FFFDF8"/>
          </a:solidFill>
          <a:ln/>
        </p:spPr>
      </p:sp>
      <p:sp>
        <p:nvSpPr>
          <p:cNvPr id="5" name="Shape 3"/>
          <p:cNvSpPr/>
          <p:nvPr/>
        </p:nvSpPr>
        <p:spPr>
          <a:xfrm>
            <a:off x="812800" y="1854150"/>
            <a:ext cx="5181600" cy="3987850"/>
          </a:xfrm>
          <a:custGeom>
            <a:avLst/>
            <a:gdLst/>
            <a:ahLst/>
            <a:cxnLst/>
            <a:rect l="l" t="t" r="r" b="b"/>
            <a:pathLst>
              <a:path w="5181600" h="3987850">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B4521C"/>
          </a:solidFill>
          <a:ln/>
        </p:spPr>
      </p:sp>
      <p:sp>
        <p:nvSpPr>
          <p:cNvPr id="6" name="Text 4"/>
          <p:cNvSpPr/>
          <p:nvPr/>
        </p:nvSpPr>
        <p:spPr>
          <a:xfrm>
            <a:off x="1117600" y="2209750"/>
            <a:ext cx="47091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21C"/>
                </a:solidFill>
                <a:latin typeface="IBM Plex Sans" pitchFamily="34" charset="0"/>
                <a:ea typeface="IBM Plex Sans" pitchFamily="34" charset="-122"/>
                <a:cs typeface="IBM Plex Sans" pitchFamily="34" charset="-120"/>
              </a:rPr>
              <a:t>PART 1 · BACKPROPAGATION</a:t>
            </a:r>
            <a:endParaRPr lang="en-US" sz="1200" dirty="0"/>
          </a:p>
        </p:txBody>
      </p:sp>
      <p:sp>
        <p:nvSpPr>
          <p:cNvPr id="7" name="Text 5"/>
          <p:cNvSpPr/>
          <p:nvPr/>
        </p:nvSpPr>
        <p:spPr>
          <a:xfrm>
            <a:off x="1117600" y="2575471"/>
            <a:ext cx="4709160" cy="69592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213A"/>
                </a:solidFill>
                <a:latin typeface="IBM Plex Sans" pitchFamily="34" charset="0"/>
                <a:ea typeface="IBM Plex Sans" pitchFamily="34" charset="-122"/>
                <a:cs typeface="IBM Plex Sans" pitchFamily="34" charset="-120"/>
              </a:rPr>
              <a:t>Calculate which way each weight should move, then step downhill</a:t>
            </a:r>
            <a:endParaRPr lang="en-US" sz="2200" dirty="0"/>
          </a:p>
        </p:txBody>
      </p:sp>
      <p:sp>
        <p:nvSpPr>
          <p:cNvPr id="8" name="Text 6"/>
          <p:cNvSpPr/>
          <p:nvPr/>
        </p:nvSpPr>
        <p:spPr>
          <a:xfrm>
            <a:off x="1117600" y="3398391"/>
            <a:ext cx="4709160"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3E4A5C"/>
                </a:solidFill>
                <a:latin typeface="IBM Plex Sans" pitchFamily="34" charset="0"/>
                <a:ea typeface="IBM Plex Sans" pitchFamily="34" charset="-122"/>
                <a:cs typeface="IBM Plex Sans" pitchFamily="34" charset="-120"/>
              </a:rPr>
              <a:t>Task: XOR, 4 points</a:t>
            </a:r>
            <a:endParaRPr lang="en-US" sz="1500" dirty="0"/>
          </a:p>
          <a:p>
            <a:pPr algn="l" indent="0" marL="0">
              <a:lnSpc>
                <a:spcPts val="2250"/>
              </a:lnSpc>
              <a:buNone/>
            </a:pPr>
            <a:r>
              <a:rPr lang="en-US" sz="1500" dirty="0">
                <a:solidFill>
                  <a:srgbClr val="3E4A5C"/>
                </a:solidFill>
                <a:latin typeface="IBM Plex Sans" pitchFamily="34" charset="0"/>
                <a:ea typeface="IBM Plex Sans" pitchFamily="34" charset="-122"/>
                <a:cs typeface="IBM Plex Sans" pitchFamily="34" charset="-120"/>
              </a:rPr>
              <a:t>Network: 2 → 10 → 1, sigmoid units</a:t>
            </a:r>
            <a:endParaRPr lang="en-US" sz="1500" dirty="0"/>
          </a:p>
        </p:txBody>
      </p:sp>
      <p:sp>
        <p:nvSpPr>
          <p:cNvPr id="9" name="Text 7"/>
          <p:cNvSpPr/>
          <p:nvPr/>
        </p:nvSpPr>
        <p:spPr>
          <a:xfrm>
            <a:off x="1117600" y="5323880"/>
            <a:ext cx="4709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8"/>
                </a:solidFill>
                <a:latin typeface="JetBrains Mono" pitchFamily="34" charset="0"/>
                <a:ea typeface="JetBrains Mono" pitchFamily="34" charset="-122"/>
                <a:cs typeface="JetBrains Mono" pitchFamily="34" charset="-120"/>
              </a:rPr>
              <a:t>perceptron.py · train.py</a:t>
            </a:r>
            <a:endParaRPr lang="en-US" sz="1200" dirty="0"/>
          </a:p>
        </p:txBody>
      </p:sp>
      <p:sp>
        <p:nvSpPr>
          <p:cNvPr id="10" name="Shape 8"/>
          <p:cNvSpPr/>
          <p:nvPr/>
        </p:nvSpPr>
        <p:spPr>
          <a:xfrm>
            <a:off x="6197600" y="1854150"/>
            <a:ext cx="5181600" cy="3987850"/>
          </a:xfrm>
          <a:prstGeom prst="roundRect">
            <a:avLst>
              <a:gd name="adj" fmla="val 2548"/>
            </a:avLst>
          </a:prstGeom>
          <a:solidFill>
            <a:srgbClr val="FFFDF8"/>
          </a:solidFill>
          <a:ln/>
        </p:spPr>
      </p:sp>
      <p:sp>
        <p:nvSpPr>
          <p:cNvPr id="11" name="Shape 9"/>
          <p:cNvSpPr/>
          <p:nvPr/>
        </p:nvSpPr>
        <p:spPr>
          <a:xfrm>
            <a:off x="6197600" y="1854150"/>
            <a:ext cx="5181600" cy="3987850"/>
          </a:xfrm>
          <a:custGeom>
            <a:avLst/>
            <a:gdLst/>
            <a:ahLst/>
            <a:cxnLst/>
            <a:rect l="l" t="t" r="r" b="b"/>
            <a:pathLst>
              <a:path w="5181600" h="3987850">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1D6F66"/>
          </a:solidFill>
          <a:ln/>
        </p:spPr>
      </p:sp>
      <p:sp>
        <p:nvSpPr>
          <p:cNvPr id="12" name="Text 10"/>
          <p:cNvSpPr/>
          <p:nvPr/>
        </p:nvSpPr>
        <p:spPr>
          <a:xfrm>
            <a:off x="6502400" y="2209750"/>
            <a:ext cx="47091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F66"/>
                </a:solidFill>
                <a:latin typeface="IBM Plex Sans" pitchFamily="34" charset="0"/>
                <a:ea typeface="IBM Plex Sans" pitchFamily="34" charset="-122"/>
                <a:cs typeface="IBM Plex Sans" pitchFamily="34" charset="-120"/>
              </a:rPr>
              <a:t>PART 2 · EVOLUTIONARY SEARCH</a:t>
            </a:r>
            <a:endParaRPr lang="en-US" sz="1200" dirty="0"/>
          </a:p>
        </p:txBody>
      </p:sp>
      <p:sp>
        <p:nvSpPr>
          <p:cNvPr id="13" name="Text 11"/>
          <p:cNvSpPr/>
          <p:nvPr/>
        </p:nvSpPr>
        <p:spPr>
          <a:xfrm>
            <a:off x="6502400" y="2575471"/>
            <a:ext cx="4709160" cy="69592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16213A"/>
                </a:solidFill>
                <a:latin typeface="IBM Plex Sans" pitchFamily="34" charset="0"/>
                <a:ea typeface="IBM Plex Sans" pitchFamily="34" charset="-122"/>
                <a:cs typeface="IBM Plex Sans" pitchFamily="34" charset="-120"/>
              </a:rPr>
              <a:t>Treat the parameters as a genome and keep what classifies best</a:t>
            </a:r>
            <a:endParaRPr lang="en-US" sz="2200" dirty="0"/>
          </a:p>
        </p:txBody>
      </p:sp>
      <p:sp>
        <p:nvSpPr>
          <p:cNvPr id="14" name="Text 12"/>
          <p:cNvSpPr/>
          <p:nvPr/>
        </p:nvSpPr>
        <p:spPr>
          <a:xfrm>
            <a:off x="6502400" y="3398391"/>
            <a:ext cx="4709160" cy="596900"/>
          </a:xfrm>
          <a:prstGeom prst="rect">
            <a:avLst/>
          </a:prstGeom>
          <a:noFill/>
          <a:ln/>
        </p:spPr>
        <p:txBody>
          <a:bodyPr wrap="square" lIns="0" tIns="0" rIns="0" bIns="0" rtlCol="0" anchor="t">
            <a:normAutofit/>
          </a:bodyPr>
          <a:lstStyle/>
          <a:p>
            <a:pPr algn="l" indent="0" marL="0">
              <a:lnSpc>
                <a:spcPts val="2250"/>
              </a:lnSpc>
              <a:buNone/>
            </a:pPr>
            <a:r>
              <a:rPr lang="en-US" sz="1500" dirty="0">
                <a:solidFill>
                  <a:srgbClr val="3E4A5C"/>
                </a:solidFill>
                <a:latin typeface="IBM Plex Sans" pitchFamily="34" charset="0"/>
                <a:ea typeface="IBM Plex Sans" pitchFamily="34" charset="-122"/>
                <a:cs typeface="IBM Plex Sans" pitchFamily="34" charset="-120"/>
              </a:rPr>
              <a:t>Task: XOR, then a 12-point ring</a:t>
            </a:r>
            <a:endParaRPr lang="en-US" sz="1500" dirty="0"/>
          </a:p>
          <a:p>
            <a:pPr algn="l" indent="0" marL="0">
              <a:lnSpc>
                <a:spcPts val="2250"/>
              </a:lnSpc>
              <a:buNone/>
            </a:pPr>
            <a:r>
              <a:rPr lang="en-US" sz="1500" dirty="0">
                <a:solidFill>
                  <a:srgbClr val="3E4A5C"/>
                </a:solidFill>
                <a:latin typeface="IBM Plex Sans" pitchFamily="34" charset="0"/>
                <a:ea typeface="IBM Plex Sans" pitchFamily="34" charset="-122"/>
                <a:cs typeface="IBM Plex Sans" pitchFamily="34" charset="-120"/>
              </a:rPr>
              <a:t>Network: any shape, 5 activation functions</a:t>
            </a:r>
            <a:endParaRPr lang="en-US" sz="1500" dirty="0"/>
          </a:p>
        </p:txBody>
      </p:sp>
      <p:sp>
        <p:nvSpPr>
          <p:cNvPr id="15" name="Text 13"/>
          <p:cNvSpPr/>
          <p:nvPr/>
        </p:nvSpPr>
        <p:spPr>
          <a:xfrm>
            <a:off x="6502400" y="5323880"/>
            <a:ext cx="470916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8"/>
                </a:solidFill>
                <a:latin typeface="JetBrains Mono" pitchFamily="34" charset="0"/>
                <a:ea typeface="JetBrains Mono" pitchFamily="34" charset="-122"/>
                <a:cs typeface="JetBrains Mono" pitchFamily="34" charset="-120"/>
              </a:rPr>
              <a:t>fnn.py · eas.py · evolve.py · compare.py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21C"/>
                </a:solidFill>
                <a:latin typeface="IBM Plex Sans" pitchFamily="34" charset="0"/>
                <a:ea typeface="IBM Plex Sans" pitchFamily="34" charset="-122"/>
                <a:cs typeface="IBM Plex Sans" pitchFamily="34" charset="-120"/>
              </a:rPr>
              <a:t>PART 1 · THE TASK</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13A"/>
                </a:solidFill>
                <a:latin typeface="IBM Plex Sans" pitchFamily="34" charset="0"/>
                <a:ea typeface="IBM Plex Sans" pitchFamily="34" charset="-122"/>
                <a:cs typeface="IBM Plex Sans" pitchFamily="34" charset="-120"/>
              </a:rPr>
              <a:t>XOR: one line can't separate it</a:t>
            </a:r>
            <a:endParaRPr lang="en-US" sz="3200" dirty="0"/>
          </a:p>
        </p:txBody>
      </p:sp>
      <p:pic>
        <p:nvPicPr>
          <p:cNvPr id="4" name="Image 0" descr="The four XOR points on a square. Filled dots (target 1) at top-left and bottom-right; crosses (target 0) at bottom-left and top-right. Two dashed parallel lines enclose the dots.">    </p:cNvPr>
          <p:cNvPicPr>
            <a:picLocks noChangeAspect="1"/>
          </p:cNvPicPr>
          <p:nvPr/>
        </p:nvPicPr>
        <p:blipFill>
          <a:blip r:embed="rId1"/>
          <a:srcRect l="0" r="0" t="0" b="0"/>
          <a:stretch/>
        </p:blipFill>
        <p:spPr>
          <a:xfrm>
            <a:off x="812800" y="1932930"/>
            <a:ext cx="3302000" cy="3302000"/>
          </a:xfrm>
          <a:prstGeom prst="rect">
            <a:avLst/>
          </a:prstGeom>
        </p:spPr>
      </p:pic>
      <p:sp>
        <p:nvSpPr>
          <p:cNvPr id="5" name="Text 2"/>
          <p:cNvSpPr/>
          <p:nvPr/>
        </p:nvSpPr>
        <p:spPr>
          <a:xfrm>
            <a:off x="812800" y="5336530"/>
            <a:ext cx="34010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8"/>
                </a:solidFill>
                <a:latin typeface="IBM Plex Sans" pitchFamily="34" charset="0"/>
                <a:ea typeface="IBM Plex Sans" pitchFamily="34" charset="-122"/>
                <a:cs typeface="IBM Plex Sans" pitchFamily="34" charset="-120"/>
              </a:rPr>
              <a:t>Dots: target 1. Crosses: target 0. Dashed: two lines a hidden layer can combine.</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635500" y="2185640"/>
          <a:ext cx="3797300" cy="2063750"/>
        </p:xfrm>
        <a:graphic>
          <a:graphicData uri="http://schemas.openxmlformats.org/drawingml/2006/table">
            <a:tbl>
              <a:tblPr/>
              <a:tblGrid>
                <a:gridCol w="1253109"/>
                <a:gridCol w="1253109"/>
                <a:gridCol w="1291082"/>
              </a:tblGrid>
              <a:tr h="412750">
                <a:tc>
                  <a:txBody>
                    <a:bodyPr/>
                    <a:lstStyle/>
                    <a:p>
                      <a:pPr algn="ctr" indent="0" marL="0">
                        <a:lnSpc>
                          <a:spcPts val="2100"/>
                        </a:lnSpc>
                        <a:buNone/>
                      </a:pPr>
                      <a:r>
                        <a:rPr lang="en-US" sz="1500" b="1" dirty="0">
                          <a:solidFill>
                            <a:srgbClr val="16213A"/>
                          </a:solidFill>
                          <a:latin typeface="IBM Plex Sans" pitchFamily="34" charset="0"/>
                          <a:ea typeface="IBM Plex Sans" pitchFamily="34" charset="-122"/>
                          <a:cs typeface="IBM Plex Sans" pitchFamily="34" charset="-120"/>
                        </a:rPr>
                        <a:t>x</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algn="ctr" indent="0" marL="0">
                        <a:lnSpc>
                          <a:spcPts val="2100"/>
                        </a:lnSpc>
                        <a:buNone/>
                      </a:pPr>
                      <a:r>
                        <a:rPr lang="en-US" sz="1500" b="1" dirty="0">
                          <a:solidFill>
                            <a:srgbClr val="16213A"/>
                          </a:solidFill>
                          <a:latin typeface="IBM Plex Sans" pitchFamily="34" charset="0"/>
                          <a:ea typeface="IBM Plex Sans" pitchFamily="34" charset="-122"/>
                          <a:cs typeface="IBM Plex Sans" pitchFamily="34" charset="-120"/>
                        </a:rPr>
                        <a:t>y</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algn="ctr" indent="0" marL="0">
                        <a:lnSpc>
                          <a:spcPts val="2100"/>
                        </a:lnSpc>
                        <a:buNone/>
                      </a:pPr>
                      <a:r>
                        <a:rPr lang="en-US" sz="1500" b="1" dirty="0">
                          <a:solidFill>
                            <a:srgbClr val="16213A"/>
                          </a:solidFill>
                          <a:latin typeface="IBM Plex Sans" pitchFamily="34" charset="0"/>
                          <a:ea typeface="IBM Plex Sans" pitchFamily="34" charset="-122"/>
                          <a:cs typeface="IBM Plex Sans" pitchFamily="34" charset="-120"/>
                        </a:rPr>
                        <a:t>target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r>
              <a:tr h="412750">
                <a:tc>
                  <a:txBody>
                    <a:bodyPr/>
                    <a:lstStyle/>
                    <a:p>
                      <a:pPr algn="ctr" indent="0" marL="0">
                        <a:lnSpc>
                          <a:spcPts val="2100"/>
                        </a:lnSpc>
                        <a:buNone/>
                      </a:pPr>
                      <a:r>
                        <a:rPr lang="en-US" sz="1500" dirty="0">
                          <a:solidFill>
                            <a:srgbClr val="16213A"/>
                          </a:solidFill>
                          <a:latin typeface="IBM Plex Sans" pitchFamily="34" charset="0"/>
                          <a:ea typeface="IBM Plex Sans" pitchFamily="34" charset="-122"/>
                          <a:cs typeface="IBM Plex Sans" pitchFamily="34" charset="-120"/>
                        </a:rPr>
                        <a:t>−1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ctr" indent="0" marL="0">
                        <a:lnSpc>
                          <a:spcPts val="2100"/>
                        </a:lnSpc>
                        <a:buNone/>
                      </a:pPr>
                      <a:r>
                        <a:rPr lang="en-US" sz="1500" dirty="0">
                          <a:solidFill>
                            <a:srgbClr val="16213A"/>
                          </a:solidFill>
                          <a:latin typeface="IBM Plex Sans" pitchFamily="34" charset="0"/>
                          <a:ea typeface="IBM Plex Sans" pitchFamily="34" charset="-122"/>
                          <a:cs typeface="IBM Plex Sans" pitchFamily="34" charset="-120"/>
                        </a:rPr>
                        <a:t>−1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ctr" indent="0" marL="0">
                        <a:lnSpc>
                          <a:spcPts val="2100"/>
                        </a:lnSpc>
                        <a:buNone/>
                      </a:pPr>
                      <a:r>
                        <a:rPr lang="en-US" sz="1500" dirty="0">
                          <a:solidFill>
                            <a:srgbClr val="16213A"/>
                          </a:solidFill>
                          <a:latin typeface="IBM Plex Sans" pitchFamily="34" charset="0"/>
                          <a:ea typeface="IBM Plex Sans" pitchFamily="34" charset="-122"/>
                          <a:cs typeface="IBM Plex Sans" pitchFamily="34" charset="-120"/>
                        </a:rPr>
                        <a:t>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12750">
                <a:tc>
                  <a:txBody>
                    <a:bodyPr/>
                    <a:lstStyle/>
                    <a:p>
                      <a:pPr algn="ctr" indent="0" marL="0">
                        <a:lnSpc>
                          <a:spcPts val="2100"/>
                        </a:lnSpc>
                        <a:buNone/>
                      </a:pPr>
                      <a:r>
                        <a:rPr lang="en-US" sz="1500" dirty="0">
                          <a:solidFill>
                            <a:srgbClr val="16213A"/>
                          </a:solidFill>
                          <a:latin typeface="IBM Plex Sans" pitchFamily="34" charset="0"/>
                          <a:ea typeface="IBM Plex Sans" pitchFamily="34" charset="-122"/>
                          <a:cs typeface="IBM Plex Sans" pitchFamily="34" charset="-120"/>
                        </a:rPr>
                        <a:t>−1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ctr" indent="0" marL="0">
                        <a:lnSpc>
                          <a:spcPts val="2100"/>
                        </a:lnSpc>
                        <a:buNone/>
                      </a:pPr>
                      <a:r>
                        <a:rPr lang="en-US" sz="1500" dirty="0">
                          <a:solidFill>
                            <a:srgbClr val="16213A"/>
                          </a:solidFill>
                          <a:latin typeface="IBM Plex Sans" pitchFamily="34" charset="0"/>
                          <a:ea typeface="IBM Plex Sans" pitchFamily="34" charset="-122"/>
                          <a:cs typeface="IBM Plex Sans" pitchFamily="34" charset="-120"/>
                        </a:rPr>
                        <a:t>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ctr" indent="0" marL="0">
                        <a:lnSpc>
                          <a:spcPts val="2100"/>
                        </a:lnSpc>
                        <a:buNone/>
                      </a:pPr>
                      <a:r>
                        <a:rPr lang="en-US" sz="1500" dirty="0">
                          <a:solidFill>
                            <a:srgbClr val="16213A"/>
                          </a:solidFill>
                          <a:latin typeface="IBM Plex Sans" pitchFamily="34" charset="0"/>
                          <a:ea typeface="IBM Plex Sans" pitchFamily="34" charset="-122"/>
                          <a:cs typeface="IBM Plex Sans" pitchFamily="34" charset="-120"/>
                        </a:rPr>
                        <a:t>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12750">
                <a:tc>
                  <a:txBody>
                    <a:bodyPr/>
                    <a:lstStyle/>
                    <a:p>
                      <a:pPr algn="ctr" indent="0" marL="0">
                        <a:lnSpc>
                          <a:spcPts val="2100"/>
                        </a:lnSpc>
                        <a:buNone/>
                      </a:pPr>
                      <a:r>
                        <a:rPr lang="en-US" sz="1500" dirty="0">
                          <a:solidFill>
                            <a:srgbClr val="16213A"/>
                          </a:solidFill>
                          <a:latin typeface="IBM Plex Sans" pitchFamily="34" charset="0"/>
                          <a:ea typeface="IBM Plex Sans" pitchFamily="34" charset="-122"/>
                          <a:cs typeface="IBM Plex Sans" pitchFamily="34" charset="-120"/>
                        </a:rPr>
                        <a:t>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ctr" indent="0" marL="0">
                        <a:lnSpc>
                          <a:spcPts val="2100"/>
                        </a:lnSpc>
                        <a:buNone/>
                      </a:pPr>
                      <a:r>
                        <a:rPr lang="en-US" sz="1500" dirty="0">
                          <a:solidFill>
                            <a:srgbClr val="16213A"/>
                          </a:solidFill>
                          <a:latin typeface="IBM Plex Sans" pitchFamily="34" charset="0"/>
                          <a:ea typeface="IBM Plex Sans" pitchFamily="34" charset="-122"/>
                          <a:cs typeface="IBM Plex Sans" pitchFamily="34" charset="-120"/>
                        </a:rPr>
                        <a:t>−1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ctr" indent="0" marL="0">
                        <a:lnSpc>
                          <a:spcPts val="2100"/>
                        </a:lnSpc>
                        <a:buNone/>
                      </a:pPr>
                      <a:r>
                        <a:rPr lang="en-US" sz="1500" dirty="0">
                          <a:solidFill>
                            <a:srgbClr val="16213A"/>
                          </a:solidFill>
                          <a:latin typeface="IBM Plex Sans" pitchFamily="34" charset="0"/>
                          <a:ea typeface="IBM Plex Sans" pitchFamily="34" charset="-122"/>
                          <a:cs typeface="IBM Plex Sans" pitchFamily="34" charset="-120"/>
                        </a:rPr>
                        <a:t>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412750">
                <a:tc>
                  <a:txBody>
                    <a:bodyPr/>
                    <a:lstStyle/>
                    <a:p>
                      <a:pPr algn="ctr" indent="0" marL="0">
                        <a:lnSpc>
                          <a:spcPts val="2100"/>
                        </a:lnSpc>
                        <a:buNone/>
                      </a:pPr>
                      <a:r>
                        <a:rPr lang="en-US" sz="1500" dirty="0">
                          <a:solidFill>
                            <a:srgbClr val="16213A"/>
                          </a:solidFill>
                          <a:latin typeface="IBM Plex Sans" pitchFamily="34" charset="0"/>
                          <a:ea typeface="IBM Plex Sans" pitchFamily="34" charset="-122"/>
                          <a:cs typeface="IBM Plex Sans" pitchFamily="34" charset="-120"/>
                        </a:rPr>
                        <a:t>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ctr" indent="0" marL="0">
                        <a:lnSpc>
                          <a:spcPts val="2100"/>
                        </a:lnSpc>
                        <a:buNone/>
                      </a:pPr>
                      <a:r>
                        <a:rPr lang="en-US" sz="1500" dirty="0">
                          <a:solidFill>
                            <a:srgbClr val="16213A"/>
                          </a:solidFill>
                          <a:latin typeface="IBM Plex Sans" pitchFamily="34" charset="0"/>
                          <a:ea typeface="IBM Plex Sans" pitchFamily="34" charset="-122"/>
                          <a:cs typeface="IBM Plex Sans" pitchFamily="34" charset="-120"/>
                        </a:rPr>
                        <a:t>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algn="ctr" indent="0" marL="0">
                        <a:lnSpc>
                          <a:spcPts val="2100"/>
                        </a:lnSpc>
                        <a:buNone/>
                      </a:pPr>
                      <a:r>
                        <a:rPr lang="en-US" sz="1500" dirty="0">
                          <a:solidFill>
                            <a:srgbClr val="16213A"/>
                          </a:solidFill>
                          <a:latin typeface="IBM Plex Sans" pitchFamily="34" charset="0"/>
                          <a:ea typeface="IBM Plex Sans" pitchFamily="34" charset="-122"/>
                          <a:cs typeface="IBM Plex Sans" pitchFamily="34" charset="-120"/>
                        </a:rPr>
                        <a:t>0</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7" name="Text 3"/>
          <p:cNvSpPr/>
          <p:nvPr/>
        </p:nvSpPr>
        <p:spPr>
          <a:xfrm>
            <a:off x="4622800" y="4503390"/>
            <a:ext cx="6959092"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A5C"/>
                </a:solidFill>
                <a:latin typeface="IBM Plex Sans" pitchFamily="34" charset="0"/>
                <a:ea typeface="IBM Plex Sans" pitchFamily="34" charset="-122"/>
                <a:cs typeface="IBM Plex Sans" pitchFamily="34" charset="-120"/>
              </a:rPr>
              <a:t>A single sigmoid neuron draws one straight boundary. XOR puts two opposite corners on each side, so we need a </a:t>
            </a:r>
            <a:r>
              <a:rPr lang="en-US" sz="1500" b="1" dirty="0">
                <a:solidFill>
                  <a:srgbClr val="3E4A5C"/>
                </a:solidFill>
                <a:latin typeface="IBM Plex Sans" pitchFamily="34" charset="0"/>
                <a:ea typeface="IBM Plex Sans" pitchFamily="34" charset="-122"/>
                <a:cs typeface="IBM Plex Sans" pitchFamily="34" charset="-120"/>
              </a:rPr>
              <a:t>hidden layer</a:t>
            </a:r>
            <a:r>
              <a:rPr lang="en-US" sz="1500" dirty="0">
                <a:solidFill>
                  <a:srgbClr val="3E4A5C"/>
                </a:solidFill>
                <a:latin typeface="IBM Plex Sans" pitchFamily="34" charset="0"/>
                <a:ea typeface="IBM Plex Sans" pitchFamily="34" charset="-122"/>
                <a:cs typeface="IBM Plex Sans" pitchFamily="34" charset="-120"/>
              </a:rPr>
              <a:t>.</a:t>
            </a:r>
            <a:endParaRPr lang="en-US" sz="1500" dirty="0"/>
          </a:p>
        </p:txBody>
      </p:sp>
      <p:sp>
        <p:nvSpPr>
          <p:cNvPr id="8" name="Text 4"/>
          <p:cNvSpPr/>
          <p:nvPr/>
        </p:nvSpPr>
        <p:spPr>
          <a:xfrm>
            <a:off x="4622800" y="5309840"/>
            <a:ext cx="69590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8"/>
                </a:solidFill>
                <a:latin typeface="JetBrains Mono" pitchFamily="34" charset="0"/>
                <a:ea typeface="JetBrains Mono" pitchFamily="34" charset="-122"/>
                <a:cs typeface="JetBrains Mono" pitchFamily="34" charset="-120"/>
              </a:rPr>
              <a:t>train.py:7–8 · inputs are −1/1, not 0/1</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21C"/>
                </a:solidFill>
                <a:latin typeface="IBM Plex Sans" pitchFamily="34" charset="0"/>
                <a:ea typeface="IBM Plex Sans" pitchFamily="34" charset="-122"/>
                <a:cs typeface="IBM Plex Sans" pitchFamily="34" charset="-120"/>
              </a:rPr>
              <a:t>PART 1 · BUILDING BLOCK</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13A"/>
                </a:solidFill>
                <a:latin typeface="IBM Plex Sans" pitchFamily="34" charset="0"/>
                <a:ea typeface="IBM Plex Sans" pitchFamily="34" charset="-122"/>
                <a:cs typeface="IBM Plex Sans" pitchFamily="34" charset="-120"/>
              </a:rPr>
              <a:t>One neuron: weigh, add, squash</a:t>
            </a:r>
            <a:endParaRPr lang="en-US" sz="3200" dirty="0"/>
          </a:p>
        </p:txBody>
      </p:sp>
      <p:sp>
        <p:nvSpPr>
          <p:cNvPr id="4" name="Text 2"/>
          <p:cNvSpPr/>
          <p:nvPr/>
        </p:nvSpPr>
        <p:spPr>
          <a:xfrm>
            <a:off x="812800" y="1854150"/>
            <a:ext cx="5101590" cy="452090"/>
          </a:xfrm>
          <a:prstGeom prst="rect">
            <a:avLst/>
          </a:prstGeom>
          <a:noFill/>
          <a:ln/>
        </p:spPr>
        <p:txBody>
          <a:bodyPr wrap="square" lIns="0" tIns="0" rIns="0" bIns="0" rtlCol="0" anchor="t">
            <a:normAutofit/>
          </a:bodyPr>
          <a:lstStyle/>
          <a:p>
            <a:pPr algn="l" indent="0" marL="0">
              <a:lnSpc>
                <a:spcPts val="3360"/>
              </a:lnSpc>
              <a:buNone/>
            </a:pPr>
            <a:r>
              <a:rPr lang="en-US" sz="2400" dirty="0">
                <a:solidFill>
                  <a:srgbClr val="16213A"/>
                </a:solidFill>
                <a:latin typeface="JetBrains Mono" pitchFamily="34" charset="0"/>
                <a:ea typeface="JetBrains Mono" pitchFamily="34" charset="-122"/>
                <a:cs typeface="JetBrains Mono" pitchFamily="34" charset="-120"/>
              </a:rPr>
              <a:t>y = σ(w · x + b)</a:t>
            </a:r>
            <a:endParaRPr lang="en-US" sz="2400" dirty="0"/>
          </a:p>
        </p:txBody>
      </p:sp>
      <p:sp>
        <p:nvSpPr>
          <p:cNvPr id="5" name="Shape 3"/>
          <p:cNvSpPr/>
          <p:nvPr/>
        </p:nvSpPr>
        <p:spPr>
          <a:xfrm>
            <a:off x="815975" y="2461816"/>
            <a:ext cx="4121150" cy="1835150"/>
          </a:xfrm>
          <a:prstGeom prst="roundRect">
            <a:avLst>
              <a:gd name="adj" fmla="val 5363"/>
            </a:avLst>
          </a:prstGeom>
          <a:solidFill>
            <a:srgbClr val="FFFDF8"/>
          </a:solidFill>
          <a:ln w="6350">
            <a:solidFill>
              <a:srgbClr val="E2DDD0"/>
            </a:solidFill>
            <a:prstDash val="solid"/>
          </a:ln>
        </p:spPr>
      </p:sp>
      <p:pic>
        <p:nvPicPr>
          <p:cNvPr id="6" name="Image 0" descr="The sigmoid curve: an S shape rising from 0 on the left to 1 on the right, crossing 0.5 at z equals 0.">    </p:cNvPr>
          <p:cNvPicPr>
            <a:picLocks noChangeAspect="1"/>
          </p:cNvPicPr>
          <p:nvPr/>
        </p:nvPicPr>
        <p:blipFill>
          <a:blip r:embed="rId1"/>
          <a:srcRect l="0" r="0" t="0" b="0"/>
          <a:stretch/>
        </p:blipFill>
        <p:spPr>
          <a:xfrm>
            <a:off x="971550" y="2617391"/>
            <a:ext cx="3810000" cy="1524000"/>
          </a:xfrm>
          <a:prstGeom prst="rect">
            <a:avLst/>
          </a:prstGeom>
        </p:spPr>
      </p:pic>
      <p:sp>
        <p:nvSpPr>
          <p:cNvPr id="7" name="Text 4"/>
          <p:cNvSpPr/>
          <p:nvPr/>
        </p:nvSpPr>
        <p:spPr>
          <a:xfrm>
            <a:off x="812800" y="4477941"/>
            <a:ext cx="4238244"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C"/>
                </a:solidFill>
                <a:latin typeface="IBM Plex Sans" pitchFamily="34" charset="0"/>
                <a:ea typeface="IBM Plex Sans" pitchFamily="34" charset="-122"/>
                <a:cs typeface="IBM Plex Sans" pitchFamily="34" charset="-120"/>
              </a:rPr>
              <a:t>σ(z) = 1 / (1 + e</a:t>
            </a:r>
            <a:r>
              <a:rPr lang="en-US" sz="1400" dirty="0">
                <a:solidFill>
                  <a:srgbClr val="B4521C"/>
                </a:solidFill>
                <a:latin typeface="IBM Plex Sans" pitchFamily="34" charset="0"/>
                <a:ea typeface="IBM Plex Sans" pitchFamily="34" charset="-122"/>
                <a:cs typeface="IBM Plex Sans" pitchFamily="34" charset="-120"/>
              </a:rPr>
              <a:t>^−z</a:t>
            </a:r>
            <a:r>
              <a:rPr lang="en-US" sz="1400" dirty="0">
                <a:solidFill>
                  <a:srgbClr val="3E4A5C"/>
                </a:solidFill>
                <a:latin typeface="IBM Plex Sans" pitchFamily="34" charset="0"/>
                <a:ea typeface="IBM Plex Sans" pitchFamily="34" charset="-122"/>
                <a:cs typeface="IBM Plex Sans" pitchFamily="34" charset="-120"/>
              </a:rPr>
              <a:t>) squashes any number into the range 0 to 1. Read it as "how much is this a 1?"</a:t>
            </a:r>
            <a:endParaRPr lang="en-US" sz="1400" dirty="0"/>
          </a:p>
        </p:txBody>
      </p:sp>
      <p:sp>
        <p:nvSpPr>
          <p:cNvPr id="8" name="Shape 5"/>
          <p:cNvSpPr/>
          <p:nvPr/>
        </p:nvSpPr>
        <p:spPr>
          <a:xfrm>
            <a:off x="6172200" y="1854150"/>
            <a:ext cx="5207000" cy="3301851"/>
          </a:xfrm>
          <a:prstGeom prst="roundRect">
            <a:avLst>
              <a:gd name="adj" fmla="val 3077"/>
            </a:avLst>
          </a:prstGeom>
          <a:solidFill>
            <a:srgbClr val="16213A"/>
          </a:solidFill>
          <a:ln/>
        </p:spPr>
      </p:sp>
      <p:sp>
        <p:nvSpPr>
          <p:cNvPr id="9" name="Text 6"/>
          <p:cNvSpPr/>
          <p:nvPr/>
        </p:nvSpPr>
        <p:spPr>
          <a:xfrm>
            <a:off x="6426200" y="2108150"/>
            <a:ext cx="4839970" cy="2819251"/>
          </a:xfrm>
          <a:prstGeom prst="rect">
            <a:avLst/>
          </a:prstGeom>
          <a:noFill/>
          <a:ln/>
        </p:spPr>
        <p:txBody>
          <a:bodyPr wrap="square" lIns="0" tIns="0" rIns="0" bIns="0" rtlCol="0" anchor="t">
            <a:normAutofit/>
          </a:bodyPr>
          <a:lstStyle/>
          <a:p>
            <a:pPr algn="l" indent="0" marL="0">
              <a:lnSpc>
                <a:spcPts val="1831"/>
              </a:lnSpc>
              <a:buNone/>
            </a:pPr>
            <a:r>
              <a:rPr lang="en-US" sz="1181" dirty="0">
                <a:solidFill>
                  <a:srgbClr val="8FA0B8"/>
                </a:solidFill>
                <a:latin typeface="JetBrains Mono" pitchFamily="34" charset="0"/>
                <a:ea typeface="JetBrains Mono" pitchFamily="34" charset="-122"/>
                <a:cs typeface="JetBrains Mono" pitchFamily="34" charset="-120"/>
              </a:rPr>
              <a:t># perceptron.py (trimmed)</a:t>
            </a:r>
            <a:endParaRPr lang="en-US" sz="1181" dirty="0"/>
          </a:p>
          <a:p>
            <a:pPr algn="l" indent="0" marL="0">
              <a:lnSpc>
                <a:spcPts val="1831"/>
              </a:lnSpc>
              <a:buNone/>
            </a:pPr>
            <a:r>
              <a:rPr lang="en-US" sz="1181" dirty="0">
                <a:solidFill>
                  <a:srgbClr val="F2A65A"/>
                </a:solidFill>
                <a:latin typeface="JetBrains Mono" pitchFamily="34" charset="0"/>
                <a:ea typeface="JetBrains Mono" pitchFamily="34" charset="-122"/>
                <a:cs typeface="JetBrains Mono" pitchFamily="34" charset="-120"/>
              </a:rPr>
              <a:t>def</a:t>
            </a:r>
            <a:r>
              <a:rPr lang="en-US" sz="1181" dirty="0">
                <a:solidFill>
                  <a:srgbClr val="E8E4D8"/>
                </a:solidFill>
                <a:latin typeface="JetBrains Mono" pitchFamily="34" charset="0"/>
                <a:ea typeface="JetBrains Mono" pitchFamily="34" charset="-122"/>
                <a:cs typeface="JetBrains Mono" pitchFamily="34" charset="-120"/>
              </a:rPr>
              <a:t> sigmoid(x):</a:t>
            </a:r>
            <a:endParaRPr lang="en-US" sz="1181" dirty="0"/>
          </a:p>
          <a:p>
            <a:pPr algn="l" indent="0" marL="0">
              <a:lnSpc>
                <a:spcPts val="1831"/>
              </a:lnSpc>
              <a:buNone/>
            </a:pPr>
            <a:r>
              <a:rPr lang="en-US" sz="1181" dirty="0">
                <a:solidFill>
                  <a:srgbClr val="E8E4D8"/>
                </a:solidFill>
                <a:latin typeface="JetBrains Mono" pitchFamily="34" charset="0"/>
                <a:ea typeface="JetBrains Mono" pitchFamily="34" charset="-122"/>
                <a:cs typeface="JetBrains Mono" pitchFamily="34" charset="-120"/>
              </a:rPr>
              <a:t>    </a:t>
            </a:r>
            <a:r>
              <a:rPr lang="en-US" sz="1181" dirty="0">
                <a:solidFill>
                  <a:srgbClr val="F2A65A"/>
                </a:solidFill>
                <a:latin typeface="JetBrains Mono" pitchFamily="34" charset="0"/>
                <a:ea typeface="JetBrains Mono" pitchFamily="34" charset="-122"/>
                <a:cs typeface="JetBrains Mono" pitchFamily="34" charset="-120"/>
              </a:rPr>
              <a:t>return</a:t>
            </a:r>
            <a:r>
              <a:rPr lang="en-US" sz="1181" dirty="0">
                <a:solidFill>
                  <a:srgbClr val="E8E4D8"/>
                </a:solidFill>
                <a:latin typeface="JetBrains Mono" pitchFamily="34" charset="0"/>
                <a:ea typeface="JetBrains Mono" pitchFamily="34" charset="-122"/>
                <a:cs typeface="JetBrains Mono" pitchFamily="34" charset="-120"/>
              </a:rPr>
              <a:t> 1/(1+np.exp(-x))</a:t>
            </a:r>
            <a:endParaRPr lang="en-US" sz="1181" dirty="0"/>
          </a:p>
          <a:p>
            <a:pPr algn="l" indent="0" marL="0">
              <a:lnSpc>
                <a:spcPts val="1831"/>
              </a:lnSpc>
              <a:buNone/>
            </a:pPr>
            <a:endParaRPr lang="en-US" sz="1181" dirty="0"/>
          </a:p>
          <a:p>
            <a:pPr algn="l" indent="0" marL="0">
              <a:lnSpc>
                <a:spcPts val="1831"/>
              </a:lnSpc>
              <a:buNone/>
            </a:pPr>
            <a:r>
              <a:rPr lang="en-US" sz="1181" dirty="0">
                <a:solidFill>
                  <a:srgbClr val="F2A65A"/>
                </a:solidFill>
                <a:latin typeface="JetBrains Mono" pitchFamily="34" charset="0"/>
                <a:ea typeface="JetBrains Mono" pitchFamily="34" charset="-122"/>
                <a:cs typeface="JetBrains Mono" pitchFamily="34" charset="-120"/>
              </a:rPr>
              <a:t>class</a:t>
            </a:r>
            <a:r>
              <a:rPr lang="en-US" sz="1181" dirty="0">
                <a:solidFill>
                  <a:srgbClr val="E8E4D8"/>
                </a:solidFill>
                <a:latin typeface="JetBrains Mono" pitchFamily="34" charset="0"/>
                <a:ea typeface="JetBrains Mono" pitchFamily="34" charset="-122"/>
                <a:cs typeface="JetBrains Mono" pitchFamily="34" charset="-120"/>
              </a:rPr>
              <a:t> Perceptron():</a:t>
            </a:r>
            <a:endParaRPr lang="en-US" sz="1181" dirty="0"/>
          </a:p>
          <a:p>
            <a:pPr algn="l" indent="0" marL="0">
              <a:lnSpc>
                <a:spcPts val="1831"/>
              </a:lnSpc>
              <a:buNone/>
            </a:pPr>
            <a:r>
              <a:rPr lang="en-US" sz="1181" dirty="0">
                <a:solidFill>
                  <a:srgbClr val="E8E4D8"/>
                </a:solidFill>
                <a:latin typeface="JetBrains Mono" pitchFamily="34" charset="0"/>
                <a:ea typeface="JetBrains Mono" pitchFamily="34" charset="-122"/>
                <a:cs typeface="JetBrains Mono" pitchFamily="34" charset="-120"/>
              </a:rPr>
              <a:t>    </a:t>
            </a:r>
            <a:r>
              <a:rPr lang="en-US" sz="1181" dirty="0">
                <a:solidFill>
                  <a:srgbClr val="F2A65A"/>
                </a:solidFill>
                <a:latin typeface="JetBrains Mono" pitchFamily="34" charset="0"/>
                <a:ea typeface="JetBrains Mono" pitchFamily="34" charset="-122"/>
                <a:cs typeface="JetBrains Mono" pitchFamily="34" charset="-120"/>
              </a:rPr>
              <a:t>def</a:t>
            </a:r>
            <a:r>
              <a:rPr lang="en-US" sz="1181" dirty="0">
                <a:solidFill>
                  <a:srgbClr val="E8E4D8"/>
                </a:solidFill>
                <a:latin typeface="JetBrains Mono" pitchFamily="34" charset="0"/>
                <a:ea typeface="JetBrains Mono" pitchFamily="34" charset="-122"/>
                <a:cs typeface="JetBrains Mono" pitchFamily="34" charset="-120"/>
              </a:rPr>
              <a:t> __init__(self, inputs):</a:t>
            </a:r>
            <a:endParaRPr lang="en-US" sz="1181" dirty="0"/>
          </a:p>
          <a:p>
            <a:pPr algn="l" indent="0" marL="0">
              <a:lnSpc>
                <a:spcPts val="1831"/>
              </a:lnSpc>
              <a:buNone/>
            </a:pPr>
            <a:r>
              <a:rPr lang="en-US" sz="1181" dirty="0">
                <a:solidFill>
                  <a:srgbClr val="E8E4D8"/>
                </a:solidFill>
                <a:latin typeface="JetBrains Mono" pitchFamily="34" charset="0"/>
                <a:ea typeface="JetBrains Mono" pitchFamily="34" charset="-122"/>
                <a:cs typeface="JetBrains Mono" pitchFamily="34" charset="-120"/>
              </a:rPr>
              <a:t>        self.W = np.random.random(inputs)*2 - 1</a:t>
            </a:r>
            <a:endParaRPr lang="en-US" sz="1181" dirty="0"/>
          </a:p>
          <a:p>
            <a:pPr algn="l" indent="0" marL="0">
              <a:lnSpc>
                <a:spcPts val="1831"/>
              </a:lnSpc>
              <a:buNone/>
            </a:pPr>
            <a:r>
              <a:rPr lang="en-US" sz="1181" dirty="0">
                <a:solidFill>
                  <a:srgbClr val="E8E4D8"/>
                </a:solidFill>
                <a:latin typeface="JetBrains Mono" pitchFamily="34" charset="0"/>
                <a:ea typeface="JetBrains Mono" pitchFamily="34" charset="-122"/>
                <a:cs typeface="JetBrains Mono" pitchFamily="34" charset="-120"/>
              </a:rPr>
              <a:t>        self.bias = np.random.random()*2 - 1</a:t>
            </a:r>
            <a:endParaRPr lang="en-US" sz="1181" dirty="0"/>
          </a:p>
          <a:p>
            <a:pPr algn="l" indent="0" marL="0">
              <a:lnSpc>
                <a:spcPts val="1831"/>
              </a:lnSpc>
              <a:buNone/>
            </a:pPr>
            <a:endParaRPr lang="en-US" sz="1181" dirty="0"/>
          </a:p>
          <a:p>
            <a:pPr algn="l" indent="0" marL="0">
              <a:lnSpc>
                <a:spcPts val="1831"/>
              </a:lnSpc>
              <a:buNone/>
            </a:pPr>
            <a:r>
              <a:rPr lang="en-US" sz="1181" dirty="0">
                <a:solidFill>
                  <a:srgbClr val="E8E4D8"/>
                </a:solidFill>
                <a:latin typeface="JetBrains Mono" pitchFamily="34" charset="0"/>
                <a:ea typeface="JetBrains Mono" pitchFamily="34" charset="-122"/>
                <a:cs typeface="JetBrains Mono" pitchFamily="34" charset="-120"/>
              </a:rPr>
              <a:t>    </a:t>
            </a:r>
            <a:r>
              <a:rPr lang="en-US" sz="1181" dirty="0">
                <a:solidFill>
                  <a:srgbClr val="F2A65A"/>
                </a:solidFill>
                <a:latin typeface="JetBrains Mono" pitchFamily="34" charset="0"/>
                <a:ea typeface="JetBrains Mono" pitchFamily="34" charset="-122"/>
                <a:cs typeface="JetBrains Mono" pitchFamily="34" charset="-120"/>
              </a:rPr>
              <a:t>def</a:t>
            </a:r>
            <a:r>
              <a:rPr lang="en-US" sz="1181" dirty="0">
                <a:solidFill>
                  <a:srgbClr val="E8E4D8"/>
                </a:solidFill>
                <a:latin typeface="JetBrains Mono" pitchFamily="34" charset="0"/>
                <a:ea typeface="JetBrains Mono" pitchFamily="34" charset="-122"/>
                <a:cs typeface="JetBrains Mono" pitchFamily="34" charset="-120"/>
              </a:rPr>
              <a:t> forward(self, I):</a:t>
            </a:r>
            <a:endParaRPr lang="en-US" sz="1181" dirty="0"/>
          </a:p>
          <a:p>
            <a:pPr algn="l" indent="0" marL="0">
              <a:lnSpc>
                <a:spcPts val="1831"/>
              </a:lnSpc>
              <a:buNone/>
            </a:pPr>
            <a:r>
              <a:rPr lang="en-US" sz="1181" dirty="0">
                <a:solidFill>
                  <a:srgbClr val="E8E4D8"/>
                </a:solidFill>
                <a:latin typeface="JetBrains Mono" pitchFamily="34" charset="0"/>
                <a:ea typeface="JetBrains Mono" pitchFamily="34" charset="-122"/>
                <a:cs typeface="JetBrains Mono" pitchFamily="34" charset="-120"/>
              </a:rPr>
              <a:t>        y = np.dot(I, self.W) + self.bias</a:t>
            </a:r>
            <a:endParaRPr lang="en-US" sz="1181" dirty="0"/>
          </a:p>
          <a:p>
            <a:pPr algn="l" indent="0" marL="0">
              <a:lnSpc>
                <a:spcPts val="1831"/>
              </a:lnSpc>
              <a:buNone/>
            </a:pPr>
            <a:r>
              <a:rPr lang="en-US" sz="1181" dirty="0">
                <a:solidFill>
                  <a:srgbClr val="E8E4D8"/>
                </a:solidFill>
                <a:latin typeface="JetBrains Mono" pitchFamily="34" charset="0"/>
                <a:ea typeface="JetBrains Mono" pitchFamily="34" charset="-122"/>
                <a:cs typeface="JetBrains Mono" pitchFamily="34" charset="-120"/>
              </a:rPr>
              <a:t>        </a:t>
            </a:r>
            <a:r>
              <a:rPr lang="en-US" sz="1181" dirty="0">
                <a:solidFill>
                  <a:srgbClr val="F2A65A"/>
                </a:solidFill>
                <a:latin typeface="JetBrains Mono" pitchFamily="34" charset="0"/>
                <a:ea typeface="JetBrains Mono" pitchFamily="34" charset="-122"/>
                <a:cs typeface="JetBrains Mono" pitchFamily="34" charset="-120"/>
              </a:rPr>
              <a:t>return</a:t>
            </a:r>
            <a:r>
              <a:rPr lang="en-US" sz="1181" dirty="0">
                <a:solidFill>
                  <a:srgbClr val="E8E4D8"/>
                </a:solidFill>
                <a:latin typeface="JetBrains Mono" pitchFamily="34" charset="0"/>
                <a:ea typeface="JetBrains Mono" pitchFamily="34" charset="-122"/>
                <a:cs typeface="JetBrains Mono" pitchFamily="34" charset="-120"/>
              </a:rPr>
              <a:t> sigmoid(y)</a:t>
            </a:r>
            <a:endParaRPr lang="en-US" sz="1181" dirty="0"/>
          </a:p>
        </p:txBody>
      </p:sp>
      <p:sp>
        <p:nvSpPr>
          <p:cNvPr id="10" name="Text 7"/>
          <p:cNvSpPr/>
          <p:nvPr/>
        </p:nvSpPr>
        <p:spPr>
          <a:xfrm>
            <a:off x="6172200" y="5333802"/>
            <a:ext cx="5363210" cy="533598"/>
          </a:xfrm>
          <a:prstGeom prst="rect">
            <a:avLst/>
          </a:prstGeom>
          <a:noFill/>
          <a:ln/>
        </p:spPr>
        <p:txBody>
          <a:bodyPr wrap="square" lIns="0" tIns="0" rIns="0" bIns="0" rtlCol="0" anchor="t">
            <a:normAutofit/>
          </a:bodyPr>
          <a:lstStyle/>
          <a:p>
            <a:pPr algn="l" indent="0" marL="0">
              <a:lnSpc>
                <a:spcPts val="2011"/>
              </a:lnSpc>
              <a:buNone/>
            </a:pPr>
            <a:r>
              <a:rPr lang="en-US" sz="1387" dirty="0">
                <a:solidFill>
                  <a:srgbClr val="3E4A5C"/>
                </a:solidFill>
                <a:latin typeface="IBM Plex Sans" pitchFamily="34" charset="0"/>
                <a:ea typeface="IBM Plex Sans" pitchFamily="34" charset="-122"/>
                <a:cs typeface="IBM Plex Sans" pitchFamily="34" charset="-120"/>
              </a:rPr>
              <a:t>Its slope is </a:t>
            </a:r>
            <a:r>
              <a:rPr lang="en-US" sz="1387" b="1" dirty="0">
                <a:solidFill>
                  <a:srgbClr val="3E4A5C"/>
                </a:solidFill>
                <a:latin typeface="IBM Plex Sans" pitchFamily="34" charset="0"/>
                <a:ea typeface="IBM Plex Sans" pitchFamily="34" charset="-122"/>
                <a:cs typeface="IBM Plex Sans" pitchFamily="34" charset="-120"/>
              </a:rPr>
              <a:t>σ(1 − σ)</a:t>
            </a:r>
            <a:r>
              <a:rPr lang="en-US" sz="1387" dirty="0">
                <a:solidFill>
                  <a:srgbClr val="3E4A5C"/>
                </a:solidFill>
                <a:latin typeface="IBM Plex Sans" pitchFamily="34" charset="0"/>
                <a:ea typeface="IBM Plex Sans" pitchFamily="34" charset="-122"/>
                <a:cs typeface="IBM Plex Sans" pitchFamily="34" charset="-120"/>
              </a:rPr>
              <a:t>: backprop gets it for free from the output the neuron already computed.</a:t>
            </a:r>
            <a:endParaRPr lang="en-US" sz="138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21C"/>
                </a:solidFill>
                <a:latin typeface="IBM Plex Sans" pitchFamily="34" charset="0"/>
                <a:ea typeface="IBM Plex Sans" pitchFamily="34" charset="-122"/>
                <a:cs typeface="IBM Plex Sans" pitchFamily="34" charset="-120"/>
              </a:rPr>
              <a:t>PART 1 · ARCHITECTURE</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13A"/>
                </a:solidFill>
                <a:latin typeface="IBM Plex Sans" pitchFamily="34" charset="0"/>
                <a:ea typeface="IBM Plex Sans" pitchFamily="34" charset="-122"/>
                <a:cs typeface="IBM Plex Sans" pitchFamily="34" charset="-120"/>
              </a:rPr>
              <a:t>Stacking neurons into a network</a:t>
            </a:r>
            <a:endParaRPr lang="en-US" sz="3200" dirty="0"/>
          </a:p>
        </p:txBody>
      </p:sp>
      <p:pic>
        <p:nvPicPr>
          <p:cNvPr id="4" name="Image 0" descr="A network diagram: 2 input nodes, each connected to 4 drawn hidden nodes (more implied), all connected to 1 output node.">    </p:cNvPr>
          <p:cNvPicPr>
            <a:picLocks noChangeAspect="1"/>
          </p:cNvPicPr>
          <p:nvPr/>
        </p:nvPicPr>
        <p:blipFill>
          <a:blip r:embed="rId1"/>
          <a:srcRect l="0" r="0" t="0" b="0"/>
          <a:stretch/>
        </p:blipFill>
        <p:spPr>
          <a:xfrm>
            <a:off x="812800" y="2004020"/>
            <a:ext cx="4572000" cy="3175000"/>
          </a:xfrm>
          <a:prstGeom prst="rect">
            <a:avLst/>
          </a:prstGeom>
        </p:spPr>
      </p:pic>
      <p:sp>
        <p:nvSpPr>
          <p:cNvPr id="5" name="Text 2"/>
          <p:cNvSpPr/>
          <p:nvPr/>
        </p:nvSpPr>
        <p:spPr>
          <a:xfrm>
            <a:off x="787400" y="5280620"/>
            <a:ext cx="1574800" cy="436860"/>
          </a:xfrm>
          <a:prstGeom prst="rect">
            <a:avLst/>
          </a:prstGeom>
          <a:noFill/>
          <a:ln/>
        </p:spPr>
        <p:txBody>
          <a:bodyPr wrap="square" lIns="0" tIns="0" rIns="0" bIns="0" rtlCol="0" anchor="t">
            <a:normAutofit/>
          </a:bodyPr>
          <a:lstStyle/>
          <a:p>
            <a:pPr algn="ctr" indent="0" marL="0">
              <a:lnSpc>
                <a:spcPts val="1620"/>
              </a:lnSpc>
              <a:buNone/>
            </a:pPr>
            <a:r>
              <a:rPr lang="en-US" sz="1200" b="1" dirty="0">
                <a:solidFill>
                  <a:srgbClr val="16213A"/>
                </a:solidFill>
                <a:latin typeface="IBM Plex Sans" pitchFamily="34" charset="0"/>
                <a:ea typeface="IBM Plex Sans" pitchFamily="34" charset="-122"/>
                <a:cs typeface="IBM Plex Sans" pitchFamily="34" charset="-120"/>
              </a:rPr>
              <a:t>Input</a:t>
            </a:r>
            <a:endParaRPr lang="en-US" sz="1200" dirty="0"/>
          </a:p>
          <a:p>
            <a:pPr algn="ctr" indent="0" marL="0">
              <a:lnSpc>
                <a:spcPts val="1620"/>
              </a:lnSpc>
              <a:buNone/>
            </a:pPr>
            <a:r>
              <a:rPr lang="en-US" sz="1200" dirty="0">
                <a:solidFill>
                  <a:srgbClr val="16213A"/>
                </a:solidFill>
                <a:latin typeface="IBM Plex Sans" pitchFamily="34" charset="0"/>
                <a:ea typeface="IBM Plex Sans" pitchFamily="34" charset="-122"/>
                <a:cs typeface="IBM Plex Sans" pitchFamily="34" charset="-120"/>
              </a:rPr>
              <a:t>x, y</a:t>
            </a:r>
            <a:endParaRPr lang="en-US" sz="1200" dirty="0"/>
          </a:p>
        </p:txBody>
      </p:sp>
      <p:sp>
        <p:nvSpPr>
          <p:cNvPr id="6" name="Text 3"/>
          <p:cNvSpPr/>
          <p:nvPr/>
        </p:nvSpPr>
        <p:spPr>
          <a:xfrm>
            <a:off x="2311400" y="5280620"/>
            <a:ext cx="1574800" cy="436860"/>
          </a:xfrm>
          <a:prstGeom prst="rect">
            <a:avLst/>
          </a:prstGeom>
          <a:noFill/>
          <a:ln/>
        </p:spPr>
        <p:txBody>
          <a:bodyPr wrap="square" lIns="0" tIns="0" rIns="0" bIns="0" rtlCol="0" anchor="t">
            <a:normAutofit/>
          </a:bodyPr>
          <a:lstStyle/>
          <a:p>
            <a:pPr algn="ctr" indent="0" marL="0">
              <a:lnSpc>
                <a:spcPts val="1620"/>
              </a:lnSpc>
              <a:buNone/>
            </a:pPr>
            <a:r>
              <a:rPr lang="en-US" sz="1200" b="1" dirty="0">
                <a:solidFill>
                  <a:srgbClr val="16213A"/>
                </a:solidFill>
                <a:latin typeface="IBM Plex Sans" pitchFamily="34" charset="0"/>
                <a:ea typeface="IBM Plex Sans" pitchFamily="34" charset="-122"/>
                <a:cs typeface="IBM Plex Sans" pitchFamily="34" charset="-120"/>
              </a:rPr>
              <a:t>Hidden</a:t>
            </a:r>
            <a:endParaRPr lang="en-US" sz="1200" dirty="0"/>
          </a:p>
          <a:p>
            <a:pPr algn="ctr" indent="0" marL="0">
              <a:lnSpc>
                <a:spcPts val="1620"/>
              </a:lnSpc>
              <a:buNone/>
            </a:pPr>
            <a:r>
              <a:rPr lang="en-US" sz="1200" dirty="0">
                <a:solidFill>
                  <a:srgbClr val="16213A"/>
                </a:solidFill>
                <a:latin typeface="IBM Plex Sans" pitchFamily="34" charset="0"/>
                <a:ea typeface="IBM Plex Sans" pitchFamily="34" charset="-122"/>
                <a:cs typeface="IBM Plex Sans" pitchFamily="34" charset="-120"/>
              </a:rPr>
              <a:t>10 units</a:t>
            </a:r>
            <a:endParaRPr lang="en-US" sz="1200" dirty="0"/>
          </a:p>
        </p:txBody>
      </p:sp>
      <p:sp>
        <p:nvSpPr>
          <p:cNvPr id="7" name="Text 4"/>
          <p:cNvSpPr/>
          <p:nvPr/>
        </p:nvSpPr>
        <p:spPr>
          <a:xfrm>
            <a:off x="3835400" y="5280620"/>
            <a:ext cx="1574800" cy="436860"/>
          </a:xfrm>
          <a:prstGeom prst="rect">
            <a:avLst/>
          </a:prstGeom>
          <a:noFill/>
          <a:ln/>
        </p:spPr>
        <p:txBody>
          <a:bodyPr wrap="square" lIns="0" tIns="0" rIns="0" bIns="0" rtlCol="0" anchor="t">
            <a:normAutofit/>
          </a:bodyPr>
          <a:lstStyle/>
          <a:p>
            <a:pPr algn="ctr" indent="0" marL="0">
              <a:lnSpc>
                <a:spcPts val="1620"/>
              </a:lnSpc>
              <a:buNone/>
            </a:pPr>
            <a:r>
              <a:rPr lang="en-US" sz="1200" b="1" dirty="0">
                <a:solidFill>
                  <a:srgbClr val="16213A"/>
                </a:solidFill>
                <a:latin typeface="IBM Plex Sans" pitchFamily="34" charset="0"/>
                <a:ea typeface="IBM Plex Sans" pitchFamily="34" charset="-122"/>
                <a:cs typeface="IBM Plex Sans" pitchFamily="34" charset="-120"/>
              </a:rPr>
              <a:t>Output</a:t>
            </a:r>
            <a:endParaRPr lang="en-US" sz="1200" dirty="0"/>
          </a:p>
          <a:p>
            <a:pPr algn="ctr" indent="0" marL="0">
              <a:lnSpc>
                <a:spcPts val="1620"/>
              </a:lnSpc>
              <a:buNone/>
            </a:pPr>
            <a:r>
              <a:rPr lang="en-US" sz="1200" dirty="0">
                <a:solidFill>
                  <a:srgbClr val="16213A"/>
                </a:solidFill>
                <a:latin typeface="IBM Plex Sans" pitchFamily="34" charset="0"/>
                <a:ea typeface="IBM Plex Sans" pitchFamily="34" charset="-122"/>
                <a:cs typeface="IBM Plex Sans" pitchFamily="34" charset="-120"/>
              </a:rPr>
              <a:t>1 unit</a:t>
            </a:r>
            <a:endParaRPr lang="en-US" sz="1200" dirty="0"/>
          </a:p>
        </p:txBody>
      </p:sp>
      <p:sp>
        <p:nvSpPr>
          <p:cNvPr id="8" name="Shape 5"/>
          <p:cNvSpPr/>
          <p:nvPr/>
        </p:nvSpPr>
        <p:spPr>
          <a:xfrm>
            <a:off x="5791200" y="2268339"/>
            <a:ext cx="5588000" cy="1925141"/>
          </a:xfrm>
          <a:prstGeom prst="roundRect">
            <a:avLst>
              <a:gd name="adj" fmla="val 5278"/>
            </a:avLst>
          </a:prstGeom>
          <a:solidFill>
            <a:srgbClr val="16213A"/>
          </a:solidFill>
          <a:ln/>
        </p:spPr>
      </p:sp>
      <p:sp>
        <p:nvSpPr>
          <p:cNvPr id="9" name="Text 6"/>
          <p:cNvSpPr/>
          <p:nvPr/>
        </p:nvSpPr>
        <p:spPr>
          <a:xfrm>
            <a:off x="6045200" y="2522339"/>
            <a:ext cx="5232400" cy="1442541"/>
          </a:xfrm>
          <a:prstGeom prst="rect">
            <a:avLst/>
          </a:prstGeom>
          <a:noFill/>
          <a:ln/>
        </p:spPr>
        <p:txBody>
          <a:bodyPr wrap="square" lIns="0" tIns="0" rIns="0" bIns="0" rtlCol="0" anchor="t">
            <a:normAutofit/>
          </a:bodyPr>
          <a:lstStyle/>
          <a:p>
            <a:pPr algn="l" indent="0" marL="0">
              <a:lnSpc>
                <a:spcPts val="1860"/>
              </a:lnSpc>
              <a:buNone/>
            </a:pPr>
            <a:r>
              <a:rPr lang="en-US" sz="1200" dirty="0">
                <a:solidFill>
                  <a:srgbClr val="8FA0B8"/>
                </a:solidFill>
                <a:latin typeface="JetBrains Mono" pitchFamily="34" charset="0"/>
                <a:ea typeface="JetBrains Mono" pitchFamily="34" charset="-122"/>
                <a:cs typeface="JetBrains Mono" pitchFamily="34" charset="-120"/>
              </a:rPr>
              <a:t># NeuralNet.forward</a:t>
            </a:r>
            <a:endParaRPr lang="en-US" sz="1200" dirty="0"/>
          </a:p>
          <a:p>
            <a:pPr algn="l" indent="0" marL="0">
              <a:lnSpc>
                <a:spcPts val="1860"/>
              </a:lnSpc>
              <a:buNone/>
            </a:pPr>
            <a:r>
              <a:rPr lang="en-US" sz="1200" dirty="0">
                <a:solidFill>
                  <a:srgbClr val="F2A65A"/>
                </a:solidFill>
                <a:latin typeface="JetBrains Mono" pitchFamily="34" charset="0"/>
                <a:ea typeface="JetBrains Mono" pitchFamily="34" charset="-122"/>
                <a:cs typeface="JetBrains Mono" pitchFamily="34" charset="-120"/>
              </a:rPr>
              <a:t>for</a:t>
            </a:r>
            <a:r>
              <a:rPr lang="en-US" sz="1200" dirty="0">
                <a:solidFill>
                  <a:srgbClr val="E8E4D8"/>
                </a:solidFill>
                <a:latin typeface="JetBrains Mono" pitchFamily="34" charset="0"/>
                <a:ea typeface="JetBrains Mono" pitchFamily="34" charset="-122"/>
                <a:cs typeface="JetBrains Mono" pitchFamily="34" charset="-120"/>
              </a:rPr>
              <a:t> i </a:t>
            </a:r>
            <a:r>
              <a:rPr lang="en-US" sz="1200" dirty="0">
                <a:solidFill>
                  <a:srgbClr val="F2A65A"/>
                </a:solidFill>
                <a:latin typeface="JetBrains Mono" pitchFamily="34" charset="0"/>
                <a:ea typeface="JetBrains Mono" pitchFamily="34" charset="-122"/>
                <a:cs typeface="JetBrains Mono" pitchFamily="34" charset="-120"/>
              </a:rPr>
              <a:t>in</a:t>
            </a:r>
            <a:r>
              <a:rPr lang="en-US" sz="1200" dirty="0">
                <a:solidFill>
                  <a:srgbClr val="E8E4D8"/>
                </a:solidFill>
                <a:latin typeface="JetBrains Mono" pitchFamily="34" charset="0"/>
                <a:ea typeface="JetBrains Mono" pitchFamily="34" charset="-122"/>
                <a:cs typeface="JetBrains Mono" pitchFamily="34" charset="-120"/>
              </a:rPr>
              <a:t> range(self.nh):</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    self.hiddenOutput[i] =</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        self.H[i].forward(Input)</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self.output = self.nO.forward(</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    self.hiddenOutput)</a:t>
            </a:r>
            <a:endParaRPr lang="en-US" sz="1200" dirty="0"/>
          </a:p>
        </p:txBody>
      </p:sp>
      <p:sp>
        <p:nvSpPr>
          <p:cNvPr id="10" name="Text 7"/>
          <p:cNvSpPr/>
          <p:nvPr/>
        </p:nvSpPr>
        <p:spPr>
          <a:xfrm>
            <a:off x="5791200" y="4396680"/>
            <a:ext cx="5755640" cy="1056481"/>
          </a:xfrm>
          <a:prstGeom prst="rect">
            <a:avLst/>
          </a:prstGeom>
          <a:noFill/>
          <a:ln/>
        </p:spPr>
        <p:txBody>
          <a:bodyPr wrap="square" lIns="0" tIns="0" rIns="0" bIns="0" rtlCol="0" anchor="t">
            <a:normAutofit/>
          </a:bodyPr>
          <a:lstStyle/>
          <a:p>
            <a:pPr algn="l" marL="213360"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Every hidden unit is its own Perceptron, with its own weights and bias.</a:t>
            </a:r>
            <a:endParaRPr lang="en-US" sz="1400" dirty="0"/>
          </a:p>
          <a:p>
            <a:pPr algn="l" marL="213360"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The output neuron treats the hidden outputs as its inputs.</a:t>
            </a:r>
            <a:endParaRPr lang="en-US" sz="1400" dirty="0"/>
          </a:p>
          <a:p>
            <a:pPr algn="l" marL="213360"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train.py builds NeuralNet(2, 10).</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21C"/>
                </a:solidFill>
                <a:latin typeface="IBM Plex Sans" pitchFamily="34" charset="0"/>
                <a:ea typeface="IBM Plex Sans" pitchFamily="34" charset="-122"/>
                <a:cs typeface="IBM Plex Sans" pitchFamily="34" charset="-120"/>
              </a:rPr>
              <a:t>PART 1 · LEARNING</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13A"/>
                </a:solidFill>
                <a:latin typeface="IBM Plex Sans" pitchFamily="34" charset="0"/>
                <a:ea typeface="IBM Plex Sans" pitchFamily="34" charset="-122"/>
                <a:cs typeface="IBM Plex Sans" pitchFamily="34" charset="-120"/>
              </a:rPr>
              <a:t>Backprop: send the error backward</a:t>
            </a:r>
            <a:endParaRPr lang="en-US" sz="3200" dirty="0"/>
          </a:p>
        </p:txBody>
      </p:sp>
      <p:sp>
        <p:nvSpPr>
          <p:cNvPr id="4" name="Shape 2"/>
          <p:cNvSpPr/>
          <p:nvPr/>
        </p:nvSpPr>
        <p:spPr>
          <a:xfrm>
            <a:off x="815975" y="1857325"/>
            <a:ext cx="3380284" cy="2751931"/>
          </a:xfrm>
          <a:prstGeom prst="roundRect">
            <a:avLst>
              <a:gd name="adj" fmla="val 3577"/>
            </a:avLst>
          </a:prstGeom>
          <a:solidFill>
            <a:srgbClr val="FFFDF8"/>
          </a:solidFill>
          <a:ln w="6350">
            <a:solidFill>
              <a:srgbClr val="E2DDD0"/>
            </a:solidFill>
            <a:prstDash val="solid"/>
          </a:ln>
        </p:spPr>
      </p:sp>
      <p:sp>
        <p:nvSpPr>
          <p:cNvPr id="5" name="Text 3"/>
          <p:cNvSpPr/>
          <p:nvPr/>
        </p:nvSpPr>
        <p:spPr>
          <a:xfrm>
            <a:off x="1073150" y="2114500"/>
            <a:ext cx="2951912"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13A"/>
                </a:solidFill>
                <a:latin typeface="IBM Plex Sans" pitchFamily="34" charset="0"/>
                <a:ea typeface="IBM Plex Sans" pitchFamily="34" charset="-122"/>
                <a:cs typeface="IBM Plex Sans" pitchFamily="34" charset="-120"/>
              </a:rPr>
              <a:t>1 · Output error</a:t>
            </a:r>
            <a:endParaRPr lang="en-US" sz="1800" dirty="0"/>
          </a:p>
        </p:txBody>
      </p:sp>
      <p:sp>
        <p:nvSpPr>
          <p:cNvPr id="6" name="Text 4"/>
          <p:cNvSpPr/>
          <p:nvPr/>
        </p:nvSpPr>
        <p:spPr>
          <a:xfrm>
            <a:off x="1073150" y="2515791"/>
            <a:ext cx="2951912"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4521C"/>
                </a:solidFill>
                <a:latin typeface="JetBrains Mono" pitchFamily="34" charset="0"/>
                <a:ea typeface="JetBrains Mono" pitchFamily="34" charset="-122"/>
                <a:cs typeface="JetBrains Mono" pitchFamily="34" charset="-120"/>
              </a:rPr>
              <a:t>δ_out = (t − y)</a:t>
            </a:r>
            <a:endParaRPr lang="en-US" sz="1300" dirty="0"/>
          </a:p>
          <a:p>
            <a:pPr algn="l" indent="0" marL="0">
              <a:lnSpc>
                <a:spcPts val="1950"/>
              </a:lnSpc>
              <a:buNone/>
            </a:pPr>
            <a:r>
              <a:rPr lang="en-US" sz="1300" dirty="0">
                <a:solidFill>
                  <a:srgbClr val="B4521C"/>
                </a:solidFill>
                <a:latin typeface="JetBrains Mono" pitchFamily="34" charset="0"/>
                <a:ea typeface="JetBrains Mono" pitchFamily="34" charset="-122"/>
                <a:cs typeface="JetBrains Mono" pitchFamily="34" charset="-120"/>
              </a:rPr>
              <a:t>      · y(1 − y)</a:t>
            </a:r>
            <a:endParaRPr lang="en-US" sz="1300" dirty="0"/>
          </a:p>
        </p:txBody>
      </p:sp>
      <p:sp>
        <p:nvSpPr>
          <p:cNvPr id="7" name="Text 5"/>
          <p:cNvSpPr/>
          <p:nvPr/>
        </p:nvSpPr>
        <p:spPr>
          <a:xfrm>
            <a:off x="1073150" y="3138091"/>
            <a:ext cx="295191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How wrong the output is, scaled by the sigmoid's slope at that point.</a:t>
            </a:r>
            <a:endParaRPr lang="en-US" sz="1400" dirty="0"/>
          </a:p>
        </p:txBody>
      </p:sp>
      <p:sp>
        <p:nvSpPr>
          <p:cNvPr id="8" name="Text 6"/>
          <p:cNvSpPr/>
          <p:nvPr/>
        </p:nvSpPr>
        <p:spPr>
          <a:xfrm>
            <a:off x="1073150" y="4138761"/>
            <a:ext cx="29519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8"/>
                </a:solidFill>
                <a:latin typeface="JetBrains Mono" pitchFamily="34" charset="0"/>
                <a:ea typeface="JetBrains Mono" pitchFamily="34" charset="-122"/>
                <a:cs typeface="JetBrains Mono" pitchFamily="34" charset="-120"/>
              </a:rPr>
              <a:t>perceptron.py:51–52</a:t>
            </a:r>
            <a:endParaRPr lang="en-US" sz="1200" dirty="0"/>
          </a:p>
        </p:txBody>
      </p:sp>
      <p:sp>
        <p:nvSpPr>
          <p:cNvPr id="9" name="Shape 7"/>
          <p:cNvSpPr/>
          <p:nvPr/>
        </p:nvSpPr>
        <p:spPr>
          <a:xfrm>
            <a:off x="4405809" y="1857325"/>
            <a:ext cx="3380333" cy="2751931"/>
          </a:xfrm>
          <a:prstGeom prst="roundRect">
            <a:avLst>
              <a:gd name="adj" fmla="val 3577"/>
            </a:avLst>
          </a:prstGeom>
          <a:solidFill>
            <a:srgbClr val="FFFDF8"/>
          </a:solidFill>
          <a:ln w="6350">
            <a:solidFill>
              <a:srgbClr val="E2DDD0"/>
            </a:solidFill>
            <a:prstDash val="solid"/>
          </a:ln>
        </p:spPr>
      </p:sp>
      <p:sp>
        <p:nvSpPr>
          <p:cNvPr id="10" name="Text 8"/>
          <p:cNvSpPr/>
          <p:nvPr/>
        </p:nvSpPr>
        <p:spPr>
          <a:xfrm>
            <a:off x="4662984" y="2114500"/>
            <a:ext cx="295196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13A"/>
                </a:solidFill>
                <a:latin typeface="IBM Plex Sans" pitchFamily="34" charset="0"/>
                <a:ea typeface="IBM Plex Sans" pitchFamily="34" charset="-122"/>
                <a:cs typeface="IBM Plex Sans" pitchFamily="34" charset="-120"/>
              </a:rPr>
              <a:t>2 · Hidden errors</a:t>
            </a:r>
            <a:endParaRPr lang="en-US" sz="1800" dirty="0"/>
          </a:p>
        </p:txBody>
      </p:sp>
      <p:sp>
        <p:nvSpPr>
          <p:cNvPr id="11" name="Text 9"/>
          <p:cNvSpPr/>
          <p:nvPr/>
        </p:nvSpPr>
        <p:spPr>
          <a:xfrm>
            <a:off x="4662984" y="2515791"/>
            <a:ext cx="2951963"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4521C"/>
                </a:solidFill>
                <a:latin typeface="JetBrains Mono" pitchFamily="34" charset="0"/>
                <a:ea typeface="JetBrains Mono" pitchFamily="34" charset="-122"/>
                <a:cs typeface="JetBrains Mono" pitchFamily="34" charset="-120"/>
              </a:rPr>
              <a:t>δ_i = w_i · δ_out</a:t>
            </a:r>
            <a:endParaRPr lang="en-US" sz="1300" dirty="0"/>
          </a:p>
          <a:p>
            <a:pPr algn="l" indent="0" marL="0">
              <a:lnSpc>
                <a:spcPts val="1950"/>
              </a:lnSpc>
              <a:buNone/>
            </a:pPr>
            <a:r>
              <a:rPr lang="en-US" sz="1300" dirty="0">
                <a:solidFill>
                  <a:srgbClr val="B4521C"/>
                </a:solidFill>
                <a:latin typeface="JetBrains Mono" pitchFamily="34" charset="0"/>
                <a:ea typeface="JetBrains Mono" pitchFamily="34" charset="-122"/>
                <a:cs typeface="JetBrains Mono" pitchFamily="34" charset="-120"/>
              </a:rPr>
              <a:t>    · h_i(1 − h_i)</a:t>
            </a:r>
            <a:endParaRPr lang="en-US" sz="1300" dirty="0"/>
          </a:p>
        </p:txBody>
      </p:sp>
      <p:sp>
        <p:nvSpPr>
          <p:cNvPr id="12" name="Text 10"/>
          <p:cNvSpPr/>
          <p:nvPr/>
        </p:nvSpPr>
        <p:spPr>
          <a:xfrm>
            <a:off x="4662984" y="3138091"/>
            <a:ext cx="2951963"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Each hidden unit takes a share of the blame, in proportion to its weight onto the output.</a:t>
            </a:r>
            <a:endParaRPr lang="en-US" sz="1400" dirty="0"/>
          </a:p>
        </p:txBody>
      </p:sp>
      <p:sp>
        <p:nvSpPr>
          <p:cNvPr id="13" name="Text 11"/>
          <p:cNvSpPr/>
          <p:nvPr/>
        </p:nvSpPr>
        <p:spPr>
          <a:xfrm>
            <a:off x="4662984" y="4138761"/>
            <a:ext cx="29519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8"/>
                </a:solidFill>
                <a:latin typeface="JetBrains Mono" pitchFamily="34" charset="0"/>
                <a:ea typeface="JetBrains Mono" pitchFamily="34" charset="-122"/>
                <a:cs typeface="JetBrains Mono" pitchFamily="34" charset="-120"/>
              </a:rPr>
              <a:t>perceptron.py:55–59</a:t>
            </a:r>
            <a:endParaRPr lang="en-US" sz="1200" dirty="0"/>
          </a:p>
        </p:txBody>
      </p:sp>
      <p:sp>
        <p:nvSpPr>
          <p:cNvPr id="14" name="Shape 12"/>
          <p:cNvSpPr/>
          <p:nvPr/>
        </p:nvSpPr>
        <p:spPr>
          <a:xfrm>
            <a:off x="7995692" y="1857325"/>
            <a:ext cx="3380333" cy="2751931"/>
          </a:xfrm>
          <a:prstGeom prst="roundRect">
            <a:avLst>
              <a:gd name="adj" fmla="val 3577"/>
            </a:avLst>
          </a:prstGeom>
          <a:solidFill>
            <a:srgbClr val="FFFDF8"/>
          </a:solidFill>
          <a:ln w="6350">
            <a:solidFill>
              <a:srgbClr val="E2DDD0"/>
            </a:solidFill>
            <a:prstDash val="solid"/>
          </a:ln>
        </p:spPr>
      </p:sp>
      <p:sp>
        <p:nvSpPr>
          <p:cNvPr id="15" name="Text 13"/>
          <p:cNvSpPr/>
          <p:nvPr/>
        </p:nvSpPr>
        <p:spPr>
          <a:xfrm>
            <a:off x="8252867" y="2114500"/>
            <a:ext cx="2951963"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13A"/>
                </a:solidFill>
                <a:latin typeface="IBM Plex Sans" pitchFamily="34" charset="0"/>
                <a:ea typeface="IBM Plex Sans" pitchFamily="34" charset="-122"/>
                <a:cs typeface="IBM Plex Sans" pitchFamily="34" charset="-120"/>
              </a:rPr>
              <a:t>3 · Update</a:t>
            </a:r>
            <a:endParaRPr lang="en-US" sz="1800" dirty="0"/>
          </a:p>
        </p:txBody>
      </p:sp>
      <p:sp>
        <p:nvSpPr>
          <p:cNvPr id="16" name="Text 14"/>
          <p:cNvSpPr/>
          <p:nvPr/>
        </p:nvSpPr>
        <p:spPr>
          <a:xfrm>
            <a:off x="8252867" y="2515791"/>
            <a:ext cx="2951963" cy="5207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B4521C"/>
                </a:solidFill>
                <a:latin typeface="JetBrains Mono" pitchFamily="34" charset="0"/>
                <a:ea typeface="JetBrains Mono" pitchFamily="34" charset="-122"/>
                <a:cs typeface="JetBrains Mono" pitchFamily="34" charset="-120"/>
              </a:rPr>
              <a:t>w += η · input · δ</a:t>
            </a:r>
            <a:endParaRPr lang="en-US" sz="1300" dirty="0"/>
          </a:p>
          <a:p>
            <a:pPr algn="l" indent="0" marL="0">
              <a:lnSpc>
                <a:spcPts val="1950"/>
              </a:lnSpc>
              <a:buNone/>
            </a:pPr>
            <a:r>
              <a:rPr lang="en-US" sz="1300" dirty="0">
                <a:solidFill>
                  <a:srgbClr val="B4521C"/>
                </a:solidFill>
                <a:latin typeface="JetBrains Mono" pitchFamily="34" charset="0"/>
                <a:ea typeface="JetBrains Mono" pitchFamily="34" charset="-122"/>
                <a:cs typeface="JetBrains Mono" pitchFamily="34" charset="-120"/>
              </a:rPr>
              <a:t>b += η · δ</a:t>
            </a:r>
            <a:endParaRPr lang="en-US" sz="1300" dirty="0"/>
          </a:p>
        </p:txBody>
      </p:sp>
      <p:sp>
        <p:nvSpPr>
          <p:cNvPr id="17" name="Text 15"/>
          <p:cNvSpPr/>
          <p:nvPr/>
        </p:nvSpPr>
        <p:spPr>
          <a:xfrm>
            <a:off x="8252867" y="3138091"/>
            <a:ext cx="2951963" cy="77207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Every weight moves a little in the direction that shrinks the error. η is self.lc = 0.1.</a:t>
            </a:r>
            <a:endParaRPr lang="en-US" sz="1400" dirty="0"/>
          </a:p>
        </p:txBody>
      </p:sp>
      <p:sp>
        <p:nvSpPr>
          <p:cNvPr id="18" name="Text 16"/>
          <p:cNvSpPr/>
          <p:nvPr/>
        </p:nvSpPr>
        <p:spPr>
          <a:xfrm>
            <a:off x="8252867" y="4138761"/>
            <a:ext cx="29519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8"/>
                </a:solidFill>
                <a:latin typeface="JetBrains Mono" pitchFamily="34" charset="0"/>
                <a:ea typeface="JetBrains Mono" pitchFamily="34" charset="-122"/>
                <a:cs typeface="JetBrains Mono" pitchFamily="34" charset="-120"/>
              </a:rPr>
              <a:t>perceptron.py:64–74</a:t>
            </a:r>
            <a:endParaRPr lang="en-US" sz="1200" dirty="0"/>
          </a:p>
        </p:txBody>
      </p:sp>
      <p:sp>
        <p:nvSpPr>
          <p:cNvPr id="19" name="Shape 17"/>
          <p:cNvSpPr/>
          <p:nvPr/>
        </p:nvSpPr>
        <p:spPr>
          <a:xfrm>
            <a:off x="812800" y="4917232"/>
            <a:ext cx="10566400" cy="571500"/>
          </a:xfrm>
          <a:prstGeom prst="roundRect">
            <a:avLst>
              <a:gd name="adj" fmla="val 13333"/>
            </a:avLst>
          </a:prstGeom>
          <a:solidFill>
            <a:srgbClr val="F4D9C6"/>
          </a:solidFill>
          <a:ln/>
        </p:spPr>
      </p:sp>
      <p:sp>
        <p:nvSpPr>
          <p:cNvPr id="20" name="Text 18"/>
          <p:cNvSpPr/>
          <p:nvPr/>
        </p:nvSpPr>
        <p:spPr>
          <a:xfrm>
            <a:off x="1016000" y="5069632"/>
            <a:ext cx="104648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13A"/>
                </a:solidFill>
                <a:latin typeface="IBM Plex Sans" pitchFamily="34" charset="0"/>
                <a:ea typeface="IBM Plex Sans" pitchFamily="34" charset="-122"/>
                <a:cs typeface="IBM Plex Sans" pitchFamily="34" charset="-120"/>
              </a:rPr>
              <a:t>Order matters: every δ is computed with the current weights before any weight changes.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21C"/>
                </a:solidFill>
                <a:latin typeface="IBM Plex Sans" pitchFamily="34" charset="0"/>
                <a:ea typeface="IBM Plex Sans" pitchFamily="34" charset="-122"/>
                <a:cs typeface="IBM Plex Sans" pitchFamily="34" charset="-120"/>
              </a:rPr>
              <a:t>PART 1 · DEMO</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13A"/>
                </a:solidFill>
                <a:latin typeface="IBM Plex Sans" pitchFamily="34" charset="0"/>
                <a:ea typeface="IBM Plex Sans" pitchFamily="34" charset="-122"/>
                <a:cs typeface="IBM Plex Sans" pitchFamily="34" charset="-120"/>
              </a:rPr>
              <a:t>Training: many small nudges</a:t>
            </a:r>
            <a:endParaRPr lang="en-US" sz="3200" dirty="0"/>
          </a:p>
        </p:txBody>
      </p:sp>
      <p:sp>
        <p:nvSpPr>
          <p:cNvPr id="4" name="Shape 2"/>
          <p:cNvSpPr/>
          <p:nvPr/>
        </p:nvSpPr>
        <p:spPr>
          <a:xfrm>
            <a:off x="812800" y="1854150"/>
            <a:ext cx="5207000" cy="1925141"/>
          </a:xfrm>
          <a:prstGeom prst="roundRect">
            <a:avLst>
              <a:gd name="adj" fmla="val 5278"/>
            </a:avLst>
          </a:prstGeom>
          <a:solidFill>
            <a:srgbClr val="16213A"/>
          </a:solidFill>
          <a:ln/>
        </p:spPr>
      </p:sp>
      <p:sp>
        <p:nvSpPr>
          <p:cNvPr id="5" name="Text 3"/>
          <p:cNvSpPr/>
          <p:nvPr/>
        </p:nvSpPr>
        <p:spPr>
          <a:xfrm>
            <a:off x="1066800" y="2108150"/>
            <a:ext cx="4839970" cy="1442541"/>
          </a:xfrm>
          <a:prstGeom prst="rect">
            <a:avLst/>
          </a:prstGeom>
          <a:noFill/>
          <a:ln/>
        </p:spPr>
        <p:txBody>
          <a:bodyPr wrap="square" lIns="0" tIns="0" rIns="0" bIns="0" rtlCol="0" anchor="t">
            <a:normAutofit/>
          </a:bodyPr>
          <a:lstStyle/>
          <a:p>
            <a:pPr algn="l" indent="0" marL="0">
              <a:lnSpc>
                <a:spcPts val="1860"/>
              </a:lnSpc>
              <a:buNone/>
            </a:pPr>
            <a:r>
              <a:rPr lang="en-US" sz="1200" dirty="0">
                <a:solidFill>
                  <a:srgbClr val="8FA0B8"/>
                </a:solidFill>
                <a:latin typeface="JetBrains Mono" pitchFamily="34" charset="0"/>
                <a:ea typeface="JetBrains Mono" pitchFamily="34" charset="-122"/>
                <a:cs typeface="JetBrains Mono" pitchFamily="34" charset="-120"/>
              </a:rPr>
              <a:t># train.py</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a = pt.NeuralNet(2, 10)</a:t>
            </a:r>
            <a:endParaRPr lang="en-US" sz="1200" dirty="0"/>
          </a:p>
          <a:p>
            <a:pPr algn="l" indent="0" marL="0">
              <a:lnSpc>
                <a:spcPts val="1860"/>
              </a:lnSpc>
              <a:buNone/>
            </a:pPr>
            <a:r>
              <a:rPr lang="en-US" sz="1200" dirty="0">
                <a:solidFill>
                  <a:srgbClr val="F2A65A"/>
                </a:solidFill>
                <a:latin typeface="JetBrains Mono" pitchFamily="34" charset="0"/>
                <a:ea typeface="JetBrains Mono" pitchFamily="34" charset="-122"/>
                <a:cs typeface="JetBrains Mono" pitchFamily="34" charset="-120"/>
              </a:rPr>
              <a:t>for</a:t>
            </a:r>
            <a:r>
              <a:rPr lang="en-US" sz="1200" dirty="0">
                <a:solidFill>
                  <a:srgbClr val="E8E4D8"/>
                </a:solidFill>
                <a:latin typeface="JetBrains Mono" pitchFamily="34" charset="0"/>
                <a:ea typeface="JetBrains Mono" pitchFamily="34" charset="-122"/>
                <a:cs typeface="JetBrains Mono" pitchFamily="34" charset="-120"/>
              </a:rPr>
              <a:t> i </a:t>
            </a:r>
            <a:r>
              <a:rPr lang="en-US" sz="1200" dirty="0">
                <a:solidFill>
                  <a:srgbClr val="F2A65A"/>
                </a:solidFill>
                <a:latin typeface="JetBrains Mono" pitchFamily="34" charset="0"/>
                <a:ea typeface="JetBrains Mono" pitchFamily="34" charset="-122"/>
                <a:cs typeface="JetBrains Mono" pitchFamily="34" charset="-120"/>
              </a:rPr>
              <a:t>in</a:t>
            </a:r>
            <a:r>
              <a:rPr lang="en-US" sz="1200" dirty="0">
                <a:solidFill>
                  <a:srgbClr val="E8E4D8"/>
                </a:solidFill>
                <a:latin typeface="JetBrains Mono" pitchFamily="34" charset="0"/>
                <a:ea typeface="JetBrains Mono" pitchFamily="34" charset="-122"/>
                <a:cs typeface="JetBrains Mono" pitchFamily="34" charset="-120"/>
              </a:rPr>
              <a:t> range(dur):  </a:t>
            </a:r>
            <a:r>
              <a:rPr lang="en-US" sz="1200" dirty="0">
                <a:solidFill>
                  <a:srgbClr val="8FA0B8"/>
                </a:solidFill>
                <a:latin typeface="JetBrains Mono" pitchFamily="34" charset="0"/>
                <a:ea typeface="JetBrains Mono" pitchFamily="34" charset="-122"/>
                <a:cs typeface="JetBrains Mono" pitchFamily="34" charset="-120"/>
              </a:rPr>
              <a:t># dur = 10000</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    </a:t>
            </a:r>
            <a:r>
              <a:rPr lang="en-US" sz="1200" dirty="0">
                <a:solidFill>
                  <a:srgbClr val="F2A65A"/>
                </a:solidFill>
                <a:latin typeface="JetBrains Mono" pitchFamily="34" charset="0"/>
                <a:ea typeface="JetBrains Mono" pitchFamily="34" charset="-122"/>
                <a:cs typeface="JetBrains Mono" pitchFamily="34" charset="-120"/>
              </a:rPr>
              <a:t>for</a:t>
            </a:r>
            <a:r>
              <a:rPr lang="en-US" sz="1200" dirty="0">
                <a:solidFill>
                  <a:srgbClr val="E8E4D8"/>
                </a:solidFill>
                <a:latin typeface="JetBrains Mono" pitchFamily="34" charset="0"/>
                <a:ea typeface="JetBrains Mono" pitchFamily="34" charset="-122"/>
                <a:cs typeface="JetBrains Mono" pitchFamily="34" charset="-120"/>
              </a:rPr>
              <a:t> j </a:t>
            </a:r>
            <a:r>
              <a:rPr lang="en-US" sz="1200" dirty="0">
                <a:solidFill>
                  <a:srgbClr val="F2A65A"/>
                </a:solidFill>
                <a:latin typeface="JetBrains Mono" pitchFamily="34" charset="0"/>
                <a:ea typeface="JetBrains Mono" pitchFamily="34" charset="-122"/>
                <a:cs typeface="JetBrains Mono" pitchFamily="34" charset="-120"/>
              </a:rPr>
              <a:t>in</a:t>
            </a:r>
            <a:r>
              <a:rPr lang="en-US" sz="1200" dirty="0">
                <a:solidFill>
                  <a:srgbClr val="E8E4D8"/>
                </a:solidFill>
                <a:latin typeface="JetBrains Mono" pitchFamily="34" charset="0"/>
                <a:ea typeface="JetBrains Mono" pitchFamily="34" charset="-122"/>
                <a:cs typeface="JetBrains Mono" pitchFamily="34" charset="-120"/>
              </a:rPr>
              <a:t> range(len(dataset)):</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        error[i] += a.train(dataset[j],</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                            target[j])</a:t>
            </a:r>
            <a:endParaRPr lang="en-US" sz="1200" dirty="0"/>
          </a:p>
        </p:txBody>
      </p:sp>
      <p:sp>
        <p:nvSpPr>
          <p:cNvPr id="6" name="Text 4"/>
          <p:cNvSpPr/>
          <p:nvPr/>
        </p:nvSpPr>
        <p:spPr>
          <a:xfrm>
            <a:off x="812800" y="3982492"/>
            <a:ext cx="536321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C"/>
                </a:solidFill>
                <a:latin typeface="IBM Plex Sans" pitchFamily="34" charset="0"/>
                <a:ea typeface="IBM Plex Sans" pitchFamily="34" charset="-122"/>
                <a:cs typeface="IBM Plex Sans" pitchFamily="34" charset="-120"/>
              </a:rPr>
              <a:t>Weights update after </a:t>
            </a:r>
            <a:r>
              <a:rPr lang="en-US" sz="1400" b="1" dirty="0">
                <a:solidFill>
                  <a:srgbClr val="3E4A5C"/>
                </a:solidFill>
                <a:latin typeface="IBM Plex Sans" pitchFamily="34" charset="0"/>
                <a:ea typeface="IBM Plex Sans" pitchFamily="34" charset="-122"/>
                <a:cs typeface="IBM Plex Sans" pitchFamily="34" charset="-120"/>
              </a:rPr>
              <a:t>every single example</a:t>
            </a:r>
            <a:r>
              <a:rPr lang="en-US" sz="1400" dirty="0">
                <a:solidFill>
                  <a:srgbClr val="3E4A5C"/>
                </a:solidFill>
                <a:latin typeface="IBM Plex Sans" pitchFamily="34" charset="0"/>
                <a:ea typeface="IBM Plex Sans" pitchFamily="34" charset="-122"/>
                <a:cs typeface="IBM Plex Sans" pitchFamily="34" charset="-120"/>
              </a:rPr>
              <a:t>: 10,000 passes × 4 points = 40,000 small steps.</a:t>
            </a:r>
            <a:endParaRPr lang="en-US" sz="1400" dirty="0"/>
          </a:p>
        </p:txBody>
      </p:sp>
      <p:sp>
        <p:nvSpPr>
          <p:cNvPr id="7" name="Text 5"/>
          <p:cNvSpPr/>
          <p:nvPr/>
        </p:nvSpPr>
        <p:spPr>
          <a:xfrm>
            <a:off x="6426200" y="1854150"/>
            <a:ext cx="5101590" cy="29969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6213A"/>
                </a:solidFill>
                <a:latin typeface="IBM Plex Sans" pitchFamily="34" charset="0"/>
                <a:ea typeface="IBM Plex Sans" pitchFamily="34" charset="-122"/>
                <a:cs typeface="IBM Plex Sans" pitchFamily="34" charset="-120"/>
              </a:rPr>
              <a:t>What to watch</a:t>
            </a:r>
            <a:endParaRPr lang="en-US" sz="1800" dirty="0"/>
          </a:p>
        </p:txBody>
      </p:sp>
      <p:sp>
        <p:nvSpPr>
          <p:cNvPr id="8" name="Text 6"/>
          <p:cNvSpPr/>
          <p:nvPr/>
        </p:nvSpPr>
        <p:spPr>
          <a:xfrm>
            <a:off x="6426200" y="2280841"/>
            <a:ext cx="5101590" cy="1572022"/>
          </a:xfrm>
          <a:prstGeom prst="rect">
            <a:avLst/>
          </a:prstGeom>
          <a:noFill/>
          <a:ln/>
        </p:spPr>
        <p:txBody>
          <a:bodyPr wrap="square" lIns="0" tIns="0" rIns="0" bIns="0" rtlCol="0" anchor="t">
            <a:normAutofit/>
          </a:bodyPr>
          <a:lstStyle/>
          <a:p>
            <a:pPr algn="l" marL="213360"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20 networks, each from its own random starting weights</a:t>
            </a:r>
            <a:endParaRPr lang="en-US" sz="1400" dirty="0"/>
          </a:p>
          <a:p>
            <a:pPr algn="l" marL="213360"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Decision surfaces: color is the output across the whole input square</a:t>
            </a:r>
            <a:endParaRPr lang="en-US" sz="1400" dirty="0"/>
          </a:p>
          <a:p>
            <a:pPr algn="l" marL="213360"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Error curves: most fall toward zero, some sit on a plateau first</a:t>
            </a:r>
            <a:endParaRPr lang="en-US" sz="1400" dirty="0"/>
          </a:p>
          <a:p>
            <a:pPr algn="l" marL="213360"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Same data and code, different starts, different solutions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D6F66"/>
        </a:solidFill>
      </p:bgPr>
    </p:bg>
    <p:spTree>
      <p:nvGrpSpPr>
        <p:cNvPr id="1" name=""/>
        <p:cNvGrpSpPr/>
        <p:nvPr/>
      </p:nvGrpSpPr>
      <p:grpSpPr>
        <a:xfrm>
          <a:off x="0" y="0"/>
          <a:ext cx="0" cy="0"/>
          <a:chOff x="0" y="0"/>
          <a:chExt cx="0" cy="0"/>
        </a:xfrm>
      </p:grpSpPr>
      <p:sp>
        <p:nvSpPr>
          <p:cNvPr id="2" name="Text 0"/>
          <p:cNvSpPr/>
          <p:nvPr/>
        </p:nvSpPr>
        <p:spPr>
          <a:xfrm>
            <a:off x="812800" y="234697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CDEBE6"/>
                </a:solidFill>
                <a:latin typeface="IBM Plex Sans" pitchFamily="34" charset="0"/>
                <a:ea typeface="IBM Plex Sans" pitchFamily="34" charset="-122"/>
                <a:cs typeface="IBM Plex Sans" pitchFamily="34" charset="-120"/>
              </a:rPr>
              <a:t>PART 2 · EVOLUTIONARY SEARCH</a:t>
            </a:r>
            <a:endParaRPr lang="en-US" sz="1400" dirty="0"/>
          </a:p>
        </p:txBody>
      </p:sp>
      <p:sp>
        <p:nvSpPr>
          <p:cNvPr id="3" name="Text 1"/>
          <p:cNvSpPr/>
          <p:nvPr/>
        </p:nvSpPr>
        <p:spPr>
          <a:xfrm>
            <a:off x="812800" y="2849860"/>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F6F4EE"/>
                </a:solidFill>
                <a:latin typeface="IBM Plex Sans" pitchFamily="34" charset="0"/>
                <a:ea typeface="IBM Plex Sans" pitchFamily="34" charset="-122"/>
                <a:cs typeface="IBM Plex Sans" pitchFamily="34" charset="-120"/>
              </a:rPr>
              <a:t>What if we skip the gradient entirely?</a:t>
            </a:r>
            <a:endParaRPr lang="en-US" sz="4800" dirty="0"/>
          </a:p>
        </p:txBody>
      </p:sp>
      <p:sp>
        <p:nvSpPr>
          <p:cNvPr id="4" name="Text 2"/>
          <p:cNvSpPr/>
          <p:nvPr/>
        </p:nvSpPr>
        <p:spPr>
          <a:xfrm>
            <a:off x="812800" y="3774380"/>
            <a:ext cx="9156700" cy="762000"/>
          </a:xfrm>
          <a:prstGeom prst="rect">
            <a:avLst/>
          </a:prstGeom>
          <a:noFill/>
          <a:ln/>
        </p:spPr>
        <p:txBody>
          <a:bodyPr wrap="square" lIns="0" tIns="0" rIns="0" bIns="0" rtlCol="0" anchor="t">
            <a:normAutofit/>
          </a:bodyPr>
          <a:lstStyle/>
          <a:p>
            <a:pPr algn="l" indent="0" marL="0">
              <a:lnSpc>
                <a:spcPts val="2900"/>
              </a:lnSpc>
              <a:buNone/>
            </a:pPr>
            <a:r>
              <a:rPr lang="en-US" sz="2000" dirty="0">
                <a:solidFill>
                  <a:srgbClr val="DCEFEB"/>
                </a:solidFill>
                <a:latin typeface="IBM Plex Sans" pitchFamily="34" charset="0"/>
                <a:ea typeface="IBM Plex Sans" pitchFamily="34" charset="-122"/>
                <a:cs typeface="IBM Plex Sans" pitchFamily="34" charset="-120"/>
              </a:rPr>
              <a:t>Encode every weight, bias and activation choice as a genome. Score it. Keep the better ones, recombine, mutate, repeat.</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F66"/>
                </a:solidFill>
                <a:latin typeface="IBM Plex Sans" pitchFamily="34" charset="0"/>
                <a:ea typeface="IBM Plex Sans" pitchFamily="34" charset="-122"/>
                <a:cs typeface="IBM Plex Sans" pitchFamily="34" charset="-120"/>
              </a:rPr>
              <a:t>PART 2 · THE NETWORK</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13A"/>
                </a:solidFill>
                <a:latin typeface="IBM Plex Sans" pitchFamily="34" charset="0"/>
                <a:ea typeface="IBM Plex Sans" pitchFamily="34" charset="-122"/>
                <a:cs typeface="IBM Plex Sans" pitchFamily="34" charset="-120"/>
              </a:rPr>
              <a:t>fnn.py: one network, any shape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66850"/>
          <a:ext cx="4686300" cy="1437283"/>
        </p:xfrm>
        <a:graphic>
          <a:graphicData uri="http://schemas.openxmlformats.org/drawingml/2006/table">
            <a:tbl>
              <a:tblPr/>
              <a:tblGrid>
                <a:gridCol w="1030986"/>
                <a:gridCol w="2249424"/>
                <a:gridCol w="1405890"/>
              </a:tblGrid>
              <a:tr h="359321">
                <a:tc>
                  <a:txBody>
                    <a:bodyPr/>
                    <a:lstStyle/>
                    <a:p>
                      <a:pPr indent="0" marL="0">
                        <a:lnSpc>
                          <a:spcPts val="1820"/>
                        </a:lnSpc>
                        <a:buNone/>
                      </a:pPr>
                      <a:r>
                        <a:rPr lang="en-US" sz="1300" b="1" dirty="0">
                          <a:solidFill>
                            <a:srgbClr val="16213A"/>
                          </a:solidFill>
                          <a:latin typeface="IBM Plex Sans" pitchFamily="34" charset="0"/>
                          <a:ea typeface="IBM Plex Sans" pitchFamily="34" charset="-122"/>
                          <a:cs typeface="IBM Plex Sans" pitchFamily="34" charset="-120"/>
                        </a:rPr>
                        <a:t>Class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indent="0" marL="0">
                        <a:lnSpc>
                          <a:spcPts val="1820"/>
                        </a:lnSpc>
                        <a:buNone/>
                      </a:pPr>
                      <a:r>
                        <a:rPr lang="en-US" sz="1300" b="1" dirty="0">
                          <a:solidFill>
                            <a:srgbClr val="16213A"/>
                          </a:solidFill>
                          <a:latin typeface="IBM Plex Sans" pitchFamily="34" charset="0"/>
                          <a:ea typeface="IBM Plex Sans" pitchFamily="34" charset="-122"/>
                          <a:cs typeface="IBM Plex Sans" pitchFamily="34" charset="-120"/>
                        </a:rPr>
                        <a:t>How it computes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indent="0" marL="0">
                        <a:lnSpc>
                          <a:spcPts val="1820"/>
                        </a:lnSpc>
                        <a:buNone/>
                      </a:pPr>
                      <a:r>
                        <a:rPr lang="en-US" sz="1300" b="1" dirty="0">
                          <a:solidFill>
                            <a:srgbClr val="16213A"/>
                          </a:solidFill>
                          <a:latin typeface="IBM Plex Sans" pitchFamily="34" charset="0"/>
                          <a:ea typeface="IBM Plex Sans" pitchFamily="34" charset="-122"/>
                          <a:cs typeface="IBM Plex Sans" pitchFamily="34" charset="-120"/>
                        </a:rPr>
                        <a:t>Layers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r>
              <a:tr h="359321">
                <a:tc>
                  <a:txBody>
                    <a:bodyPr/>
                    <a:lstStyle/>
                    <a:p>
                      <a:pPr indent="0" marL="0">
                        <a:lnSpc>
                          <a:spcPts val="1820"/>
                        </a:lnSpc>
                        <a:buNone/>
                      </a:pPr>
                      <a:r>
                        <a:rPr lang="en-US" sz="1300" dirty="0">
                          <a:solidFill>
                            <a:srgbClr val="16213A"/>
                          </a:solidFill>
                          <a:latin typeface="IBM Plex Sans" pitchFamily="34" charset="0"/>
                          <a:ea typeface="IBM Plex Sans" pitchFamily="34" charset="-122"/>
                          <a:cs typeface="IBM Plex Sans" pitchFamily="34" charset="-120"/>
                        </a:rPr>
                        <a:t>ANNv1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6213A"/>
                          </a:solidFill>
                          <a:latin typeface="IBM Plex Sans" pitchFamily="34" charset="0"/>
                          <a:ea typeface="IBM Plex Sans" pitchFamily="34" charset="-122"/>
                          <a:cs typeface="IBM Plex Sans" pitchFamily="34" charset="-120"/>
                        </a:rPr>
                        <a:t>Nested for loops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6213A"/>
                          </a:solidFill>
                          <a:latin typeface="IBM Plex Sans" pitchFamily="34" charset="0"/>
                          <a:ea typeface="IBM Plex Sans" pitchFamily="34" charset="-122"/>
                          <a:cs typeface="IBM Plex Sans" pitchFamily="34" charset="-120"/>
                        </a:rPr>
                        <a:t>1 hidden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59321">
                <a:tc>
                  <a:txBody>
                    <a:bodyPr/>
                    <a:lstStyle/>
                    <a:p>
                      <a:pPr indent="0" marL="0">
                        <a:lnSpc>
                          <a:spcPts val="1820"/>
                        </a:lnSpc>
                        <a:buNone/>
                      </a:pPr>
                      <a:r>
                        <a:rPr lang="en-US" sz="1300" dirty="0">
                          <a:solidFill>
                            <a:srgbClr val="16213A"/>
                          </a:solidFill>
                          <a:latin typeface="IBM Plex Sans" pitchFamily="34" charset="0"/>
                          <a:ea typeface="IBM Plex Sans" pitchFamily="34" charset="-122"/>
                          <a:cs typeface="IBM Plex Sans" pitchFamily="34" charset="-120"/>
                        </a:rPr>
                        <a:t>ANNv2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6213A"/>
                          </a:solidFill>
                          <a:latin typeface="IBM Plex Sans" pitchFamily="34" charset="0"/>
                          <a:ea typeface="IBM Plex Sans" pitchFamily="34" charset="-122"/>
                          <a:cs typeface="IBM Plex Sans" pitchFamily="34" charset="-120"/>
                        </a:rPr>
                        <a:t>Dot products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6213A"/>
                          </a:solidFill>
                          <a:latin typeface="IBM Plex Sans" pitchFamily="34" charset="0"/>
                          <a:ea typeface="IBM Plex Sans" pitchFamily="34" charset="-122"/>
                          <a:cs typeface="IBM Plex Sans" pitchFamily="34" charset="-120"/>
                        </a:rPr>
                        <a:t>1 hidden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59321">
                <a:tc>
                  <a:txBody>
                    <a:bodyPr/>
                    <a:lstStyle/>
                    <a:p>
                      <a:pPr indent="0" marL="0">
                        <a:lnSpc>
                          <a:spcPts val="1820"/>
                        </a:lnSpc>
                        <a:buNone/>
                      </a:pPr>
                      <a:r>
                        <a:rPr lang="en-US" sz="1300" dirty="0">
                          <a:solidFill>
                            <a:srgbClr val="16213A"/>
                          </a:solidFill>
                          <a:latin typeface="IBM Plex Sans" pitchFamily="34" charset="0"/>
                          <a:ea typeface="IBM Plex Sans" pitchFamily="34" charset="-122"/>
                          <a:cs typeface="IBM Plex Sans" pitchFamily="34" charset="-120"/>
                        </a:rPr>
                        <a:t>FNN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ABBCB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ABBCB8"/>
                      </a:solidFill>
                      <a:prstDash val="solid"/>
                      <a:round/>
                      <a:headEnd type="none" w="med" len="med"/>
                      <a:tailEnd type="none" w="med" len="med"/>
                    </a:lnB>
                    <a:solidFill>
                      <a:srgbClr val="D6EBE7"/>
                    </a:solidFill>
                  </a:tcPr>
                </a:tc>
                <a:tc>
                  <a:txBody>
                    <a:bodyPr/>
                    <a:lstStyle/>
                    <a:p>
                      <a:pPr indent="0" marL="0">
                        <a:lnSpc>
                          <a:spcPts val="1820"/>
                        </a:lnSpc>
                        <a:buNone/>
                      </a:pPr>
                      <a:r>
                        <a:rPr lang="en-US" sz="1300" dirty="0">
                          <a:solidFill>
                            <a:srgbClr val="16213A"/>
                          </a:solidFill>
                          <a:latin typeface="IBM Plex Sans" pitchFamily="34" charset="0"/>
                          <a:ea typeface="IBM Plex Sans" pitchFamily="34" charset="-122"/>
                          <a:cs typeface="IBM Plex Sans" pitchFamily="34" charset="-120"/>
                        </a:rPr>
                        <a:t>Matrix multiply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ABBCB8"/>
                      </a:solidFill>
                      <a:prstDash val="solid"/>
                      <a:round/>
                      <a:headEnd type="none" w="med" len="med"/>
                      <a:tailEnd type="none" w="med" len="med"/>
                    </a:lnL>
                    <a:lnR w="12700" cap="flat" cmpd="sng" algn="ctr">
                      <a:solidFill>
                        <a:srgbClr val="ABBCB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ABBCB8"/>
                      </a:solidFill>
                      <a:prstDash val="solid"/>
                      <a:round/>
                      <a:headEnd type="none" w="med" len="med"/>
                      <a:tailEnd type="none" w="med" len="med"/>
                    </a:lnB>
                    <a:solidFill>
                      <a:srgbClr val="D6EBE7"/>
                    </a:solidFill>
                  </a:tcPr>
                </a:tc>
                <a:tc>
                  <a:txBody>
                    <a:bodyPr/>
                    <a:lstStyle/>
                    <a:p>
                      <a:pPr indent="0" marL="0">
                        <a:lnSpc>
                          <a:spcPts val="1820"/>
                        </a:lnSpc>
                        <a:buNone/>
                      </a:pPr>
                      <a:r>
                        <a:rPr lang="en-US" sz="1300" dirty="0">
                          <a:solidFill>
                            <a:srgbClr val="16213A"/>
                          </a:solidFill>
                          <a:latin typeface="IBM Plex Sans" pitchFamily="34" charset="0"/>
                          <a:ea typeface="IBM Plex Sans" pitchFamily="34" charset="-122"/>
                          <a:cs typeface="IBM Plex Sans" pitchFamily="34" charset="-120"/>
                        </a:rPr>
                        <a:t>Any number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ABBCB8"/>
                      </a:solidFill>
                      <a:prstDash val="solid"/>
                      <a:round/>
                      <a:headEnd type="none" w="med" len="med"/>
                      <a:tailEnd type="none" w="med" len="med"/>
                    </a:lnL>
                    <a:lnR w="12700" cap="flat" cmpd="sng" algn="ctr">
                      <a:solidFill>
                        <a:srgbClr val="ABBCB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ABBCB8"/>
                      </a:solidFill>
                      <a:prstDash val="solid"/>
                      <a:round/>
                      <a:headEnd type="none" w="med" len="med"/>
                      <a:tailEnd type="none" w="med" len="med"/>
                    </a:lnB>
                    <a:solidFill>
                      <a:srgbClr val="D6EBE7"/>
                    </a:solidFill>
                  </a:tcPr>
                </a:tc>
              </a:tr>
            </a:tbl>
          </a:graphicData>
        </a:graphic>
      </p:graphicFrame>
      <p:sp>
        <p:nvSpPr>
          <p:cNvPr id="5" name="Text 2"/>
          <p:cNvSpPr/>
          <p:nvPr/>
        </p:nvSpPr>
        <p:spPr>
          <a:xfrm>
            <a:off x="812800" y="3532733"/>
            <a:ext cx="4839970" cy="540941"/>
          </a:xfrm>
          <a:prstGeom prst="rect">
            <a:avLst/>
          </a:prstGeom>
          <a:noFill/>
          <a:ln/>
        </p:spPr>
        <p:txBody>
          <a:bodyPr wrap="square" lIns="0" tIns="0" rIns="0" bIns="0" rtlCol="0" anchor="t">
            <a:normAutofit/>
          </a:bodyPr>
          <a:lstStyle/>
          <a:p>
            <a:pPr algn="l" indent="0" marL="0">
              <a:lnSpc>
                <a:spcPts val="2030"/>
              </a:lnSpc>
              <a:buNone/>
            </a:pPr>
            <a:r>
              <a:rPr lang="en-US" sz="1400" b="1" dirty="0">
                <a:solidFill>
                  <a:srgbClr val="3E4A5C"/>
                </a:solidFill>
                <a:latin typeface="IBM Plex Sans" pitchFamily="34" charset="0"/>
                <a:ea typeface="IBM Plex Sans" pitchFamily="34" charset="-122"/>
                <a:cs typeface="IBM Plex Sans" pitchFamily="34" charset="-120"/>
              </a:rPr>
              <a:t>FNN([2, 5, 1])</a:t>
            </a:r>
            <a:r>
              <a:rPr lang="en-US" sz="1400" dirty="0">
                <a:solidFill>
                  <a:srgbClr val="3E4A5C"/>
                </a:solidFill>
                <a:latin typeface="IBM Plex Sans" pitchFamily="34" charset="0"/>
                <a:ea typeface="IBM Plex Sans" pitchFamily="34" charset="-122"/>
                <a:cs typeface="IBM Plex Sans" pitchFamily="34" charset="-120"/>
              </a:rPr>
              <a:t> is 2 inputs, 5 hidden units, 1 output. Add numbers to the list to add layers.</a:t>
            </a:r>
            <a:endParaRPr lang="en-US" sz="1400" dirty="0"/>
          </a:p>
        </p:txBody>
      </p:sp>
      <p:sp>
        <p:nvSpPr>
          <p:cNvPr id="6" name="Text 3"/>
          <p:cNvSpPr/>
          <p:nvPr/>
        </p:nvSpPr>
        <p:spPr>
          <a:xfrm>
            <a:off x="812800" y="4276874"/>
            <a:ext cx="483997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C"/>
                </a:solidFill>
                <a:latin typeface="IBM Plex Sans" pitchFamily="34" charset="0"/>
                <a:ea typeface="IBM Plex Sans" pitchFamily="34" charset="-122"/>
                <a:cs typeface="IBM Plex Sans" pitchFamily="34" charset="-120"/>
              </a:rPr>
              <a:t>Each layer uses one of 5 activations: sigmoid, tanh, ReLU, linear, Gaussian.</a:t>
            </a:r>
            <a:endParaRPr lang="en-US" sz="1400" dirty="0"/>
          </a:p>
        </p:txBody>
      </p:sp>
      <p:sp>
        <p:nvSpPr>
          <p:cNvPr id="7" name="Shape 4"/>
          <p:cNvSpPr/>
          <p:nvPr/>
        </p:nvSpPr>
        <p:spPr>
          <a:xfrm>
            <a:off x="5918200" y="1854150"/>
            <a:ext cx="5461000" cy="2161332"/>
          </a:xfrm>
          <a:prstGeom prst="roundRect">
            <a:avLst>
              <a:gd name="adj" fmla="val 4701"/>
            </a:avLst>
          </a:prstGeom>
          <a:solidFill>
            <a:srgbClr val="16213A"/>
          </a:solidFill>
          <a:ln/>
        </p:spPr>
      </p:sp>
      <p:sp>
        <p:nvSpPr>
          <p:cNvPr id="8" name="Text 5"/>
          <p:cNvSpPr/>
          <p:nvPr/>
        </p:nvSpPr>
        <p:spPr>
          <a:xfrm>
            <a:off x="6172200" y="2108150"/>
            <a:ext cx="5101590" cy="1678732"/>
          </a:xfrm>
          <a:prstGeom prst="rect">
            <a:avLst/>
          </a:prstGeom>
          <a:noFill/>
          <a:ln/>
        </p:spPr>
        <p:txBody>
          <a:bodyPr wrap="square" lIns="0" tIns="0" rIns="0" bIns="0" rtlCol="0" anchor="t">
            <a:normAutofit/>
          </a:bodyPr>
          <a:lstStyle/>
          <a:p>
            <a:pPr algn="l" indent="0" marL="0">
              <a:lnSpc>
                <a:spcPts val="1860"/>
              </a:lnSpc>
              <a:buNone/>
            </a:pPr>
            <a:r>
              <a:rPr lang="en-US" sz="1200" dirty="0">
                <a:solidFill>
                  <a:srgbClr val="8FA0B8"/>
                </a:solidFill>
                <a:latin typeface="JetBrains Mono" pitchFamily="34" charset="0"/>
                <a:ea typeface="JetBrains Mono" pitchFamily="34" charset="-122"/>
                <a:cs typeface="JetBrains Mono" pitchFamily="34" charset="-120"/>
              </a:rPr>
              <a:t># FNN.forward (trimmed)</a:t>
            </a:r>
            <a:endParaRPr lang="en-US" sz="1200" dirty="0"/>
          </a:p>
          <a:p>
            <a:pPr algn="l" indent="0" marL="0">
              <a:lnSpc>
                <a:spcPts val="1860"/>
              </a:lnSpc>
              <a:buNone/>
            </a:pPr>
            <a:r>
              <a:rPr lang="en-US" sz="1200" dirty="0">
                <a:solidFill>
                  <a:srgbClr val="F2A65A"/>
                </a:solidFill>
                <a:latin typeface="JetBrains Mono" pitchFamily="34" charset="0"/>
                <a:ea typeface="JetBrains Mono" pitchFamily="34" charset="-122"/>
                <a:cs typeface="JetBrains Mono" pitchFamily="34" charset="-120"/>
              </a:rPr>
              <a:t>def</a:t>
            </a:r>
            <a:r>
              <a:rPr lang="en-US" sz="1200" dirty="0">
                <a:solidFill>
                  <a:srgbClr val="E8E4D8"/>
                </a:solidFill>
                <a:latin typeface="JetBrains Mono" pitchFamily="34" charset="0"/>
                <a:ea typeface="JetBrains Mono" pitchFamily="34" charset="-122"/>
                <a:cs typeface="JetBrains Mono" pitchFamily="34" charset="-120"/>
              </a:rPr>
              <a:t> forward(self, inputs):</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    states = np.asarray(inputs)</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    </a:t>
            </a:r>
            <a:r>
              <a:rPr lang="en-US" sz="1200" dirty="0">
                <a:solidFill>
                  <a:srgbClr val="F2A65A"/>
                </a:solidFill>
                <a:latin typeface="JetBrains Mono" pitchFamily="34" charset="0"/>
                <a:ea typeface="JetBrains Mono" pitchFamily="34" charset="-122"/>
                <a:cs typeface="JetBrains Mono" pitchFamily="34" charset="-120"/>
              </a:rPr>
              <a:t>for</a:t>
            </a:r>
            <a:r>
              <a:rPr lang="en-US" sz="1200" dirty="0">
                <a:solidFill>
                  <a:srgbClr val="E8E4D8"/>
                </a:solidFill>
                <a:latin typeface="JetBrains Mono" pitchFamily="34" charset="0"/>
                <a:ea typeface="JetBrains Mono" pitchFamily="34" charset="-122"/>
                <a:cs typeface="JetBrains Mono" pitchFamily="34" charset="-120"/>
              </a:rPr>
              <a:t> l </a:t>
            </a:r>
            <a:r>
              <a:rPr lang="en-US" sz="1200" dirty="0">
                <a:solidFill>
                  <a:srgbClr val="F2A65A"/>
                </a:solidFill>
                <a:latin typeface="JetBrains Mono" pitchFamily="34" charset="0"/>
                <a:ea typeface="JetBrains Mono" pitchFamily="34" charset="-122"/>
                <a:cs typeface="JetBrains Mono" pitchFamily="34" charset="-120"/>
              </a:rPr>
              <a:t>in</a:t>
            </a:r>
            <a:r>
              <a:rPr lang="en-US" sz="1200" dirty="0">
                <a:solidFill>
                  <a:srgbClr val="E8E4D8"/>
                </a:solidFill>
                <a:latin typeface="JetBrains Mono" pitchFamily="34" charset="0"/>
                <a:ea typeface="JetBrains Mono" pitchFamily="34" charset="-122"/>
                <a:cs typeface="JetBrains Mono" pitchFamily="34" charset="-120"/>
              </a:rPr>
              <a:t> range(self.num_layers - 1):</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        z = states @ self.weights[l] + self.biases[l]</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        states = self.activation[l](z)</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    </a:t>
            </a:r>
            <a:r>
              <a:rPr lang="en-US" sz="1200" dirty="0">
                <a:solidFill>
                  <a:srgbClr val="F2A65A"/>
                </a:solidFill>
                <a:latin typeface="JetBrains Mono" pitchFamily="34" charset="0"/>
                <a:ea typeface="JetBrains Mono" pitchFamily="34" charset="-122"/>
                <a:cs typeface="JetBrains Mono" pitchFamily="34" charset="-120"/>
              </a:rPr>
              <a:t>return</a:t>
            </a:r>
            <a:r>
              <a:rPr lang="en-US" sz="1200" dirty="0">
                <a:solidFill>
                  <a:srgbClr val="E8E4D8"/>
                </a:solidFill>
                <a:latin typeface="JetBrains Mono" pitchFamily="34" charset="0"/>
                <a:ea typeface="JetBrains Mono" pitchFamily="34" charset="-122"/>
                <a:cs typeface="JetBrains Mono" pitchFamily="34" charset="-120"/>
              </a:rPr>
              <a:t> states</a:t>
            </a:r>
            <a:endParaRPr lang="en-US" sz="1200" dirty="0"/>
          </a:p>
        </p:txBody>
      </p:sp>
      <p:sp>
        <p:nvSpPr>
          <p:cNvPr id="9" name="Text 6"/>
          <p:cNvSpPr/>
          <p:nvPr/>
        </p:nvSpPr>
        <p:spPr>
          <a:xfrm>
            <a:off x="5918200" y="4167882"/>
            <a:ext cx="562483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C"/>
                </a:solidFill>
                <a:latin typeface="IBM Plex Sans" pitchFamily="34" charset="0"/>
                <a:ea typeface="IBM Plex Sans" pitchFamily="34" charset="-122"/>
                <a:cs typeface="IBM Plex Sans" pitchFamily="34" charset="-120"/>
              </a:rPr>
              <a:t>Same math as Part 1, a whole layer at a time. There is </a:t>
            </a:r>
            <a:r>
              <a:rPr lang="en-US" sz="1400" b="1" dirty="0">
                <a:solidFill>
                  <a:srgbClr val="3E4A5C"/>
                </a:solidFill>
                <a:latin typeface="IBM Plex Sans" pitchFamily="34" charset="0"/>
                <a:ea typeface="IBM Plex Sans" pitchFamily="34" charset="-122"/>
                <a:cs typeface="IBM Plex Sans" pitchFamily="34" charset="-120"/>
              </a:rPr>
              <a:t>no train()</a:t>
            </a:r>
            <a:r>
              <a:rPr lang="en-US" sz="1400" dirty="0">
                <a:solidFill>
                  <a:srgbClr val="3E4A5C"/>
                </a:solidFill>
                <a:latin typeface="IBM Plex Sans" pitchFamily="34" charset="0"/>
                <a:ea typeface="IBM Plex Sans" pitchFamily="34" charset="-122"/>
                <a:cs typeface="IBM Plex Sans" pitchFamily="34" charset="-120"/>
              </a:rPr>
              <a:t> method: something else has to set the parameters.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F66"/>
                </a:solidFill>
                <a:latin typeface="IBM Plex Sans" pitchFamily="34" charset="0"/>
                <a:ea typeface="IBM Plex Sans" pitchFamily="34" charset="-122"/>
                <a:cs typeface="IBM Plex Sans" pitchFamily="34" charset="-120"/>
              </a:rPr>
              <a:t>PART 2 · ENCODING</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13A"/>
                </a:solidFill>
                <a:latin typeface="IBM Plex Sans" pitchFamily="34" charset="0"/>
                <a:ea typeface="IBM Plex Sans" pitchFamily="34" charset="-122"/>
                <a:cs typeface="IBM Plex Sans" pitchFamily="34" charset="-120"/>
              </a:rPr>
              <a:t>Every parameter lives in one vector</a:t>
            </a:r>
            <a:endParaRPr lang="en-US" sz="3200" dirty="0"/>
          </a:p>
        </p:txBody>
      </p:sp>
      <p:sp>
        <p:nvSpPr>
          <p:cNvPr id="4" name="Text 2"/>
          <p:cNvSpPr/>
          <p:nvPr/>
        </p:nvSpPr>
        <p:spPr>
          <a:xfrm>
            <a:off x="812800" y="1854150"/>
            <a:ext cx="10883392"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A5C"/>
                </a:solidFill>
                <a:latin typeface="IBM Plex Sans" pitchFamily="34" charset="0"/>
                <a:ea typeface="IBM Plex Sans" pitchFamily="34" charset="-122"/>
                <a:cs typeface="IBM Plex Sans" pitchFamily="34" charset="-120"/>
              </a:rPr>
              <a:t>For layers = [2, 5, 1] the genotype is </a:t>
            </a:r>
            <a:r>
              <a:rPr lang="en-US" sz="1500" b="1" dirty="0">
                <a:solidFill>
                  <a:srgbClr val="3E4A5C"/>
                </a:solidFill>
                <a:latin typeface="IBM Plex Sans" pitchFamily="34" charset="0"/>
                <a:ea typeface="IBM Plex Sans" pitchFamily="34" charset="-122"/>
                <a:cs typeface="IBM Plex Sans" pitchFamily="34" charset="-120"/>
              </a:rPr>
              <a:t>31 numbers</a:t>
            </a:r>
            <a:r>
              <a:rPr lang="en-US" sz="1500" dirty="0">
                <a:solidFill>
                  <a:srgbClr val="3E4A5C"/>
                </a:solidFill>
                <a:latin typeface="IBM Plex Sans" pitchFamily="34" charset="0"/>
                <a:ea typeface="IBM Plex Sans" pitchFamily="34" charset="-122"/>
                <a:cs typeface="IBM Plex Sans" pitchFamily="34" charset="-120"/>
              </a:rPr>
              <a:t>, each in [−1, 1]. setParams() slices it into a network.</a:t>
            </a:r>
            <a:endParaRPr lang="en-US" sz="1500" dirty="0"/>
          </a:p>
        </p:txBody>
      </p:sp>
      <p:sp>
        <p:nvSpPr>
          <p:cNvPr id="5" name="Shape 3"/>
          <p:cNvSpPr/>
          <p:nvPr/>
        </p:nvSpPr>
        <p:spPr>
          <a:xfrm>
            <a:off x="812800" y="2435175"/>
            <a:ext cx="4902994" cy="589260"/>
          </a:xfrm>
          <a:prstGeom prst="roundRect">
            <a:avLst>
              <a:gd name="adj" fmla="val 12931"/>
            </a:avLst>
          </a:prstGeom>
          <a:solidFill>
            <a:srgbClr val="1D6F66"/>
          </a:solidFill>
          <a:ln/>
        </p:spPr>
      </p:sp>
      <p:sp>
        <p:nvSpPr>
          <p:cNvPr id="6" name="Text 4"/>
          <p:cNvSpPr/>
          <p:nvPr/>
        </p:nvSpPr>
        <p:spPr>
          <a:xfrm>
            <a:off x="990600" y="2587575"/>
            <a:ext cx="4683816"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4EE"/>
                </a:solidFill>
                <a:latin typeface="IBM Plex Sans" pitchFamily="34" charset="0"/>
                <a:ea typeface="IBM Plex Sans" pitchFamily="34" charset="-122"/>
                <a:cs typeface="IBM Plex Sans" pitchFamily="34" charset="-120"/>
              </a:rPr>
              <a:t>Weights · 15</a:t>
            </a:r>
            <a:endParaRPr lang="en-US" sz="1600" dirty="0"/>
          </a:p>
        </p:txBody>
      </p:sp>
      <p:sp>
        <p:nvSpPr>
          <p:cNvPr id="7" name="Shape 5"/>
          <p:cNvSpPr/>
          <p:nvPr/>
        </p:nvSpPr>
        <p:spPr>
          <a:xfrm>
            <a:off x="5766594" y="2435175"/>
            <a:ext cx="2174577" cy="589260"/>
          </a:xfrm>
          <a:prstGeom prst="roundRect">
            <a:avLst>
              <a:gd name="adj" fmla="val 12931"/>
            </a:avLst>
          </a:prstGeom>
          <a:solidFill>
            <a:srgbClr val="16213A"/>
          </a:solidFill>
          <a:ln/>
        </p:spPr>
      </p:sp>
      <p:sp>
        <p:nvSpPr>
          <p:cNvPr id="8" name="Text 6"/>
          <p:cNvSpPr/>
          <p:nvPr/>
        </p:nvSpPr>
        <p:spPr>
          <a:xfrm>
            <a:off x="5944394" y="2587575"/>
            <a:ext cx="1873547"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4EE"/>
                </a:solidFill>
                <a:latin typeface="IBM Plex Sans" pitchFamily="34" charset="0"/>
                <a:ea typeface="IBM Plex Sans" pitchFamily="34" charset="-122"/>
                <a:cs typeface="IBM Plex Sans" pitchFamily="34" charset="-120"/>
              </a:rPr>
              <a:t>Biases · 6</a:t>
            </a:r>
            <a:endParaRPr lang="en-US" sz="1600" dirty="0"/>
          </a:p>
        </p:txBody>
      </p:sp>
      <p:sp>
        <p:nvSpPr>
          <p:cNvPr id="9" name="Shape 7"/>
          <p:cNvSpPr/>
          <p:nvPr/>
        </p:nvSpPr>
        <p:spPr>
          <a:xfrm>
            <a:off x="7991971" y="2435175"/>
            <a:ext cx="3387229" cy="589260"/>
          </a:xfrm>
          <a:prstGeom prst="roundRect">
            <a:avLst>
              <a:gd name="adj" fmla="val 12931"/>
            </a:avLst>
          </a:prstGeom>
          <a:solidFill>
            <a:srgbClr val="B4521C"/>
          </a:solidFill>
          <a:ln/>
        </p:spPr>
      </p:sp>
      <p:sp>
        <p:nvSpPr>
          <p:cNvPr id="10" name="Text 8"/>
          <p:cNvSpPr/>
          <p:nvPr/>
        </p:nvSpPr>
        <p:spPr>
          <a:xfrm>
            <a:off x="8169771" y="2587575"/>
            <a:ext cx="3122578" cy="3098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F6F4EE"/>
                </a:solidFill>
                <a:latin typeface="IBM Plex Sans" pitchFamily="34" charset="0"/>
                <a:ea typeface="IBM Plex Sans" pitchFamily="34" charset="-122"/>
                <a:cs typeface="IBM Plex Sans" pitchFamily="34" charset="-120"/>
              </a:rPr>
              <a:t>Activations · 10</a:t>
            </a:r>
            <a:endParaRPr lang="en-US" sz="1600" dirty="0"/>
          </a:p>
        </p:txBody>
      </p:sp>
      <p:sp>
        <p:nvSpPr>
          <p:cNvPr id="11" name="Text 9"/>
          <p:cNvSpPr/>
          <p:nvPr/>
        </p:nvSpPr>
        <p:spPr>
          <a:xfrm>
            <a:off x="990600" y="3151436"/>
            <a:ext cx="4683816"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A5C"/>
                </a:solidFill>
                <a:latin typeface="IBM Plex Sans" pitchFamily="34" charset="0"/>
                <a:ea typeface="IBM Plex Sans" pitchFamily="34" charset="-122"/>
                <a:cs typeface="IBM Plex Sans" pitchFamily="34" charset="-120"/>
              </a:rPr>
              <a:t>2×5 + 5×1 = 15. Scaled ×10, then reshaped into one matrix per layer.</a:t>
            </a:r>
            <a:endParaRPr lang="en-US" sz="1300" dirty="0"/>
          </a:p>
        </p:txBody>
      </p:sp>
      <p:sp>
        <p:nvSpPr>
          <p:cNvPr id="12" name="Text 10"/>
          <p:cNvSpPr/>
          <p:nvPr/>
        </p:nvSpPr>
        <p:spPr>
          <a:xfrm>
            <a:off x="5944394" y="3151436"/>
            <a:ext cx="1873547"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A5C"/>
                </a:solidFill>
                <a:latin typeface="IBM Plex Sans" pitchFamily="34" charset="0"/>
                <a:ea typeface="IBM Plex Sans" pitchFamily="34" charset="-122"/>
                <a:cs typeface="IBM Plex Sans" pitchFamily="34" charset="-120"/>
              </a:rPr>
              <a:t>5 + 1 = 6. Scaled ×10.</a:t>
            </a:r>
            <a:endParaRPr lang="en-US" sz="1300" dirty="0"/>
          </a:p>
        </p:txBody>
      </p:sp>
      <p:sp>
        <p:nvSpPr>
          <p:cNvPr id="13" name="Text 11"/>
          <p:cNvSpPr/>
          <p:nvPr/>
        </p:nvSpPr>
        <p:spPr>
          <a:xfrm>
            <a:off x="8169771" y="3151436"/>
            <a:ext cx="3122578"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3E4A5C"/>
                </a:solidFill>
                <a:latin typeface="IBM Plex Sans" pitchFamily="34" charset="0"/>
                <a:ea typeface="IBM Plex Sans" pitchFamily="34" charset="-122"/>
                <a:cs typeface="IBM Plex Sans" pitchFamily="34" charset="-120"/>
              </a:rPr>
              <a:t>5 genes per layer. The largest one picks that layer's function.</a:t>
            </a:r>
            <a:endParaRPr lang="en-US" sz="1300" dirty="0"/>
          </a:p>
        </p:txBody>
      </p:sp>
      <p:sp>
        <p:nvSpPr>
          <p:cNvPr id="14" name="Shape 12"/>
          <p:cNvSpPr/>
          <p:nvPr/>
        </p:nvSpPr>
        <p:spPr>
          <a:xfrm>
            <a:off x="812800" y="3934966"/>
            <a:ext cx="10566400" cy="654050"/>
          </a:xfrm>
          <a:prstGeom prst="roundRect">
            <a:avLst>
              <a:gd name="adj" fmla="val 15534"/>
            </a:avLst>
          </a:prstGeom>
          <a:solidFill>
            <a:srgbClr val="16213A"/>
          </a:solidFill>
          <a:ln/>
        </p:spPr>
      </p:sp>
      <p:sp>
        <p:nvSpPr>
          <p:cNvPr id="15" name="Text 13"/>
          <p:cNvSpPr/>
          <p:nvPr/>
        </p:nvSpPr>
        <p:spPr>
          <a:xfrm>
            <a:off x="1066800" y="4138166"/>
            <a:ext cx="10360152" cy="27305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E8E4D8"/>
                </a:solidFill>
                <a:latin typeface="JetBrains Mono" pitchFamily="34" charset="0"/>
                <a:ea typeface="JetBrains Mono" pitchFamily="34" charset="-122"/>
                <a:cs typeface="JetBrains Mono" pitchFamily="34" charset="-120"/>
              </a:rPr>
              <a:t>genesize = weights + biases + 5 × (len(layers) − 1)  </a:t>
            </a:r>
            <a:r>
              <a:rPr lang="en-US" sz="1300" dirty="0">
                <a:solidFill>
                  <a:srgbClr val="8FA0B8"/>
                </a:solidFill>
                <a:latin typeface="JetBrains Mono" pitchFamily="34" charset="0"/>
                <a:ea typeface="JetBrains Mono" pitchFamily="34" charset="-122"/>
                <a:cs typeface="JetBrains Mono" pitchFamily="34" charset="-120"/>
              </a:rPr>
              <a:t># evolve.py:22</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F66"/>
                </a:solidFill>
                <a:latin typeface="IBM Plex Sans" pitchFamily="34" charset="0"/>
                <a:ea typeface="IBM Plex Sans" pitchFamily="34" charset="-122"/>
                <a:cs typeface="IBM Plex Sans" pitchFamily="34" charset="-120"/>
              </a:rPr>
              <a:t>PART 2 · SCORING</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13A"/>
                </a:solidFill>
                <a:latin typeface="IBM Plex Sans" pitchFamily="34" charset="0"/>
                <a:ea typeface="IBM Plex Sans" pitchFamily="34" charset="-122"/>
                <a:cs typeface="IBM Plex Sans" pitchFamily="34" charset="-120"/>
              </a:rPr>
              <a:t>Fitness: one number per network</a:t>
            </a:r>
            <a:endParaRPr lang="en-US" sz="3200" dirty="0"/>
          </a:p>
        </p:txBody>
      </p:sp>
      <p:sp>
        <p:nvSpPr>
          <p:cNvPr id="4" name="Shape 2"/>
          <p:cNvSpPr/>
          <p:nvPr/>
        </p:nvSpPr>
        <p:spPr>
          <a:xfrm>
            <a:off x="812800" y="1854150"/>
            <a:ext cx="5461000" cy="2633712"/>
          </a:xfrm>
          <a:prstGeom prst="roundRect">
            <a:avLst>
              <a:gd name="adj" fmla="val 3858"/>
            </a:avLst>
          </a:prstGeom>
          <a:solidFill>
            <a:srgbClr val="16213A"/>
          </a:solidFill>
          <a:ln/>
        </p:spPr>
      </p:sp>
      <p:sp>
        <p:nvSpPr>
          <p:cNvPr id="5" name="Text 3"/>
          <p:cNvSpPr/>
          <p:nvPr/>
        </p:nvSpPr>
        <p:spPr>
          <a:xfrm>
            <a:off x="1066800" y="2108150"/>
            <a:ext cx="5101590" cy="2151112"/>
          </a:xfrm>
          <a:prstGeom prst="rect">
            <a:avLst/>
          </a:prstGeom>
          <a:noFill/>
          <a:ln/>
        </p:spPr>
        <p:txBody>
          <a:bodyPr wrap="square" lIns="0" tIns="0" rIns="0" bIns="0" rtlCol="0" anchor="t">
            <a:normAutofit/>
          </a:bodyPr>
          <a:lstStyle/>
          <a:p>
            <a:pPr algn="l" indent="0" marL="0">
              <a:lnSpc>
                <a:spcPts val="1860"/>
              </a:lnSpc>
              <a:buNone/>
            </a:pPr>
            <a:r>
              <a:rPr lang="en-US" sz="1200" dirty="0">
                <a:solidFill>
                  <a:srgbClr val="8FA0B8"/>
                </a:solidFill>
                <a:latin typeface="JetBrains Mono" pitchFamily="34" charset="0"/>
                <a:ea typeface="JetBrains Mono" pitchFamily="34" charset="-122"/>
                <a:cs typeface="JetBrains Mono" pitchFamily="34" charset="-120"/>
              </a:rPr>
              <a:t># evolve.py:32 (trimmed)</a:t>
            </a:r>
            <a:endParaRPr lang="en-US" sz="1200" dirty="0"/>
          </a:p>
          <a:p>
            <a:pPr algn="l" indent="0" marL="0">
              <a:lnSpc>
                <a:spcPts val="1860"/>
              </a:lnSpc>
              <a:buNone/>
            </a:pPr>
            <a:r>
              <a:rPr lang="en-US" sz="1200" dirty="0">
                <a:solidFill>
                  <a:srgbClr val="F2A65A"/>
                </a:solidFill>
                <a:latin typeface="JetBrains Mono" pitchFamily="34" charset="0"/>
                <a:ea typeface="JetBrains Mono" pitchFamily="34" charset="-122"/>
                <a:cs typeface="JetBrains Mono" pitchFamily="34" charset="-120"/>
              </a:rPr>
              <a:t>def</a:t>
            </a:r>
            <a:r>
              <a:rPr lang="en-US" sz="1200" dirty="0">
                <a:solidFill>
                  <a:srgbClr val="E8E4D8"/>
                </a:solidFill>
                <a:latin typeface="JetBrains Mono" pitchFamily="34" charset="0"/>
                <a:ea typeface="JetBrains Mono" pitchFamily="34" charset="-122"/>
                <a:cs typeface="JetBrains Mono" pitchFamily="34" charset="-120"/>
              </a:rPr>
              <a:t> fitnessFunction(genotype):</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    a = fnn.FNN(layers)</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    a.setParams(genotype)</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    error = 0.0</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    </a:t>
            </a:r>
            <a:r>
              <a:rPr lang="en-US" sz="1200" dirty="0">
                <a:solidFill>
                  <a:srgbClr val="F2A65A"/>
                </a:solidFill>
                <a:latin typeface="JetBrains Mono" pitchFamily="34" charset="0"/>
                <a:ea typeface="JetBrains Mono" pitchFamily="34" charset="-122"/>
                <a:cs typeface="JetBrains Mono" pitchFamily="34" charset="-120"/>
              </a:rPr>
              <a:t>for</a:t>
            </a:r>
            <a:r>
              <a:rPr lang="en-US" sz="1200" dirty="0">
                <a:solidFill>
                  <a:srgbClr val="E8E4D8"/>
                </a:solidFill>
                <a:latin typeface="JetBrains Mono" pitchFamily="34" charset="0"/>
                <a:ea typeface="JetBrains Mono" pitchFamily="34" charset="-122"/>
                <a:cs typeface="JetBrains Mono" pitchFamily="34" charset="-120"/>
              </a:rPr>
              <a:t> i </a:t>
            </a:r>
            <a:r>
              <a:rPr lang="en-US" sz="1200" dirty="0">
                <a:solidFill>
                  <a:srgbClr val="F2A65A"/>
                </a:solidFill>
                <a:latin typeface="JetBrains Mono" pitchFamily="34" charset="0"/>
                <a:ea typeface="JetBrains Mono" pitchFamily="34" charset="-122"/>
                <a:cs typeface="JetBrains Mono" pitchFamily="34" charset="-120"/>
              </a:rPr>
              <a:t>in</a:t>
            </a:r>
            <a:r>
              <a:rPr lang="en-US" sz="1200" dirty="0">
                <a:solidFill>
                  <a:srgbClr val="E8E4D8"/>
                </a:solidFill>
                <a:latin typeface="JetBrains Mono" pitchFamily="34" charset="0"/>
                <a:ea typeface="JetBrains Mono" pitchFamily="34" charset="-122"/>
                <a:cs typeface="JetBrains Mono" pitchFamily="34" charset="-120"/>
              </a:rPr>
              <a:t> range(len(dataset)):</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        out = a.forward(dataset[i])[0,0]</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        error += min(abs(out - labels[i]), 1)</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    </a:t>
            </a:r>
            <a:r>
              <a:rPr lang="en-US" sz="1200" dirty="0">
                <a:solidFill>
                  <a:srgbClr val="F2A65A"/>
                </a:solidFill>
                <a:latin typeface="JetBrains Mono" pitchFamily="34" charset="0"/>
                <a:ea typeface="JetBrains Mono" pitchFamily="34" charset="-122"/>
                <a:cs typeface="JetBrains Mono" pitchFamily="34" charset="-120"/>
              </a:rPr>
              <a:t>return</a:t>
            </a:r>
            <a:r>
              <a:rPr lang="en-US" sz="1200" dirty="0">
                <a:solidFill>
                  <a:srgbClr val="E8E4D8"/>
                </a:solidFill>
                <a:latin typeface="JetBrains Mono" pitchFamily="34" charset="0"/>
                <a:ea typeface="JetBrains Mono" pitchFamily="34" charset="-122"/>
                <a:cs typeface="JetBrains Mono" pitchFamily="34" charset="-120"/>
              </a:rPr>
              <a:t> 1 - error/len(dataset)</a:t>
            </a:r>
            <a:endParaRPr lang="en-US" sz="1200" dirty="0"/>
          </a:p>
        </p:txBody>
      </p:sp>
      <p:sp>
        <p:nvSpPr>
          <p:cNvPr id="6" name="Text 4"/>
          <p:cNvSpPr/>
          <p:nvPr/>
        </p:nvSpPr>
        <p:spPr>
          <a:xfrm>
            <a:off x="6680200" y="1854150"/>
            <a:ext cx="690910"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D6F66"/>
                </a:solidFill>
                <a:latin typeface="JetBrains Mono" pitchFamily="34" charset="0"/>
                <a:ea typeface="JetBrains Mono" pitchFamily="34" charset="-122"/>
                <a:cs typeface="JetBrains Mono" pitchFamily="34" charset="-120"/>
              </a:rPr>
              <a:t>1.0</a:t>
            </a:r>
            <a:endParaRPr lang="en-US" sz="2800" dirty="0"/>
          </a:p>
        </p:txBody>
      </p:sp>
      <p:sp>
        <p:nvSpPr>
          <p:cNvPr id="7" name="Text 5"/>
          <p:cNvSpPr/>
          <p:nvPr/>
        </p:nvSpPr>
        <p:spPr>
          <a:xfrm>
            <a:off x="7472710" y="2038300"/>
            <a:ext cx="196393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every point exactly right</a:t>
            </a:r>
            <a:endParaRPr lang="en-US" sz="1400" dirty="0"/>
          </a:p>
        </p:txBody>
      </p:sp>
      <p:sp>
        <p:nvSpPr>
          <p:cNvPr id="8" name="Text 6"/>
          <p:cNvSpPr/>
          <p:nvPr/>
        </p:nvSpPr>
        <p:spPr>
          <a:xfrm>
            <a:off x="6680200" y="2529780"/>
            <a:ext cx="690910" cy="523230"/>
          </a:xfrm>
          <a:prstGeom prst="rect">
            <a:avLst/>
          </a:prstGeom>
          <a:noFill/>
          <a:ln/>
        </p:spPr>
        <p:txBody>
          <a:bodyPr wrap="square" lIns="0" tIns="0" rIns="0" bIns="0" rtlCol="0" anchor="t">
            <a:normAutofit/>
          </a:bodyPr>
          <a:lstStyle/>
          <a:p>
            <a:pPr algn="l" indent="0" marL="0">
              <a:lnSpc>
                <a:spcPts val="3920"/>
              </a:lnSpc>
              <a:buNone/>
            </a:pPr>
            <a:r>
              <a:rPr lang="en-US" sz="2800" b="1" dirty="0">
                <a:solidFill>
                  <a:srgbClr val="16213A"/>
                </a:solidFill>
                <a:latin typeface="JetBrains Mono" pitchFamily="34" charset="0"/>
                <a:ea typeface="JetBrains Mono" pitchFamily="34" charset="-122"/>
                <a:cs typeface="JetBrains Mono" pitchFamily="34" charset="-120"/>
              </a:rPr>
              <a:t>0.0</a:t>
            </a:r>
            <a:endParaRPr lang="en-US" sz="2800" dirty="0"/>
          </a:p>
        </p:txBody>
      </p:sp>
      <p:sp>
        <p:nvSpPr>
          <p:cNvPr id="9" name="Text 7"/>
          <p:cNvSpPr/>
          <p:nvPr/>
        </p:nvSpPr>
        <p:spPr>
          <a:xfrm>
            <a:off x="7472710" y="2713930"/>
            <a:ext cx="2256626"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every point off by 1 or more</a:t>
            </a:r>
            <a:endParaRPr lang="en-US" sz="1400" dirty="0"/>
          </a:p>
        </p:txBody>
      </p:sp>
      <p:sp>
        <p:nvSpPr>
          <p:cNvPr id="10" name="Text 8"/>
          <p:cNvSpPr/>
          <p:nvPr/>
        </p:nvSpPr>
        <p:spPr>
          <a:xfrm>
            <a:off x="6680200" y="3205411"/>
            <a:ext cx="483997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C"/>
                </a:solidFill>
                <a:latin typeface="IBM Plex Sans" pitchFamily="34" charset="0"/>
                <a:ea typeface="IBM Plex Sans" pitchFamily="34" charset="-122"/>
                <a:cs typeface="IBM Plex Sans" pitchFamily="34" charset="-120"/>
              </a:rPr>
              <a:t>Error per point is capped at 1, so a ReLU or linear output that shoots off can't dominate the score.</a:t>
            </a:r>
            <a:endParaRPr lang="en-US" sz="1400" dirty="0"/>
          </a:p>
        </p:txBody>
      </p:sp>
      <p:sp>
        <p:nvSpPr>
          <p:cNvPr id="11" name="Text 9"/>
          <p:cNvSpPr/>
          <p:nvPr/>
        </p:nvSpPr>
        <p:spPr>
          <a:xfrm>
            <a:off x="6680200" y="3898751"/>
            <a:ext cx="483997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3E4A5C"/>
                </a:solidFill>
                <a:latin typeface="IBM Plex Sans" pitchFamily="34" charset="0"/>
                <a:ea typeface="IBM Plex Sans" pitchFamily="34" charset="-122"/>
                <a:cs typeface="IBM Plex Sans" pitchFamily="34" charset="-120"/>
              </a:rPr>
              <a:t>The algorithm never looks inside the network. It only sees this number.</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F66"/>
                </a:solidFill>
                <a:latin typeface="IBM Plex Sans" pitchFamily="34" charset="0"/>
                <a:ea typeface="IBM Plex Sans" pitchFamily="34" charset="-122"/>
                <a:cs typeface="IBM Plex Sans" pitchFamily="34" charset="-120"/>
              </a:rPr>
              <a:t>PART 2 · GENERATIONAL GA</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13A"/>
                </a:solidFill>
                <a:latin typeface="IBM Plex Sans" pitchFamily="34" charset="0"/>
                <a:ea typeface="IBM Plex Sans" pitchFamily="34" charset="-122"/>
                <a:cs typeface="IBM Plex Sans" pitchFamily="34" charset="-120"/>
              </a:rPr>
              <a:t>One generation of the GA</a:t>
            </a:r>
            <a:endParaRPr lang="en-US" sz="3200" dirty="0"/>
          </a:p>
        </p:txBody>
      </p:sp>
      <p:sp>
        <p:nvSpPr>
          <p:cNvPr id="4" name="Shape 2"/>
          <p:cNvSpPr/>
          <p:nvPr/>
        </p:nvSpPr>
        <p:spPr>
          <a:xfrm>
            <a:off x="815975" y="1857325"/>
            <a:ext cx="1781770" cy="1662261"/>
          </a:xfrm>
          <a:prstGeom prst="roundRect">
            <a:avLst>
              <a:gd name="adj" fmla="val 5921"/>
            </a:avLst>
          </a:prstGeom>
          <a:solidFill>
            <a:srgbClr val="FFFDF8"/>
          </a:solidFill>
          <a:ln w="6350">
            <a:solidFill>
              <a:srgbClr val="E2DDD0"/>
            </a:solidFill>
            <a:prstDash val="solid"/>
          </a:ln>
        </p:spPr>
      </p:sp>
      <p:sp>
        <p:nvSpPr>
          <p:cNvPr id="5" name="Text 3"/>
          <p:cNvSpPr/>
          <p:nvPr/>
        </p:nvSpPr>
        <p:spPr>
          <a:xfrm>
            <a:off x="1022350" y="2063700"/>
            <a:ext cx="141982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6F66"/>
                </a:solidFill>
                <a:latin typeface="IBM Plex Sans" pitchFamily="34" charset="0"/>
                <a:ea typeface="IBM Plex Sans" pitchFamily="34" charset="-122"/>
                <a:cs typeface="IBM Plex Sans" pitchFamily="34" charset="-120"/>
              </a:rPr>
              <a:t>1</a:t>
            </a:r>
            <a:endParaRPr lang="en-US" sz="1200" dirty="0"/>
          </a:p>
        </p:txBody>
      </p:sp>
      <p:sp>
        <p:nvSpPr>
          <p:cNvPr id="6" name="Text 4"/>
          <p:cNvSpPr/>
          <p:nvPr/>
        </p:nvSpPr>
        <p:spPr>
          <a:xfrm>
            <a:off x="1022350" y="2353221"/>
            <a:ext cx="141982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BM Plex Sans" pitchFamily="34" charset="0"/>
                <a:ea typeface="IBM Plex Sans" pitchFamily="34" charset="-122"/>
                <a:cs typeface="IBM Plex Sans" pitchFamily="34" charset="-120"/>
              </a:rPr>
              <a:t>Rank</a:t>
            </a:r>
            <a:endParaRPr lang="en-US" sz="1600" dirty="0"/>
          </a:p>
        </p:txBody>
      </p:sp>
      <p:sp>
        <p:nvSpPr>
          <p:cNvPr id="7" name="Text 5"/>
          <p:cNvSpPr/>
          <p:nvPr/>
        </p:nvSpPr>
        <p:spPr>
          <a:xfrm>
            <a:off x="1022350" y="2673251"/>
            <a:ext cx="14198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Sort the population by fitness.</a:t>
            </a:r>
            <a:endParaRPr lang="en-US" sz="1200" dirty="0"/>
          </a:p>
        </p:txBody>
      </p:sp>
      <p:pic>
        <p:nvPicPr>
          <p:cNvPr id="8" name="Image 0" descr="arrow-right">    </p:cNvPr>
          <p:cNvPicPr>
            <a:picLocks noChangeAspect="1"/>
          </p:cNvPicPr>
          <p:nvPr/>
        </p:nvPicPr>
        <p:blipFill>
          <a:blip r:embed="rId1"/>
          <a:srcRect l="0" r="0" t="0" b="0"/>
          <a:stretch/>
        </p:blipFill>
        <p:spPr>
          <a:xfrm>
            <a:off x="2702520" y="2637631"/>
            <a:ext cx="203200" cy="101600"/>
          </a:xfrm>
          <a:prstGeom prst="rect">
            <a:avLst/>
          </a:prstGeom>
        </p:spPr>
      </p:pic>
      <p:sp>
        <p:nvSpPr>
          <p:cNvPr id="9" name="Shape 6"/>
          <p:cNvSpPr/>
          <p:nvPr/>
        </p:nvSpPr>
        <p:spPr>
          <a:xfrm>
            <a:off x="3010495" y="1857325"/>
            <a:ext cx="1781820" cy="1662261"/>
          </a:xfrm>
          <a:prstGeom prst="roundRect">
            <a:avLst>
              <a:gd name="adj" fmla="val 5921"/>
            </a:avLst>
          </a:prstGeom>
          <a:solidFill>
            <a:srgbClr val="FFFDF8"/>
          </a:solidFill>
          <a:ln w="6350">
            <a:solidFill>
              <a:srgbClr val="E2DDD0"/>
            </a:solidFill>
            <a:prstDash val="solid"/>
          </a:ln>
        </p:spPr>
      </p:sp>
      <p:sp>
        <p:nvSpPr>
          <p:cNvPr id="10" name="Text 7"/>
          <p:cNvSpPr/>
          <p:nvPr/>
        </p:nvSpPr>
        <p:spPr>
          <a:xfrm>
            <a:off x="3216870" y="2063700"/>
            <a:ext cx="14198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6F66"/>
                </a:solidFill>
                <a:latin typeface="IBM Plex Sans" pitchFamily="34" charset="0"/>
                <a:ea typeface="IBM Plex Sans" pitchFamily="34" charset="-122"/>
                <a:cs typeface="IBM Plex Sans" pitchFamily="34" charset="-120"/>
              </a:rPr>
              <a:t>2</a:t>
            </a:r>
            <a:endParaRPr lang="en-US" sz="1200" dirty="0"/>
          </a:p>
        </p:txBody>
      </p:sp>
      <p:sp>
        <p:nvSpPr>
          <p:cNvPr id="11" name="Text 8"/>
          <p:cNvSpPr/>
          <p:nvPr/>
        </p:nvSpPr>
        <p:spPr>
          <a:xfrm>
            <a:off x="3216870" y="2353221"/>
            <a:ext cx="14198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BM Plex Sans" pitchFamily="34" charset="0"/>
                <a:ea typeface="IBM Plex Sans" pitchFamily="34" charset="-122"/>
                <a:cs typeface="IBM Plex Sans" pitchFamily="34" charset="-120"/>
              </a:rPr>
              <a:t>Keep elite</a:t>
            </a:r>
            <a:endParaRPr lang="en-US" sz="1600" dirty="0"/>
          </a:p>
        </p:txBody>
      </p:sp>
      <p:sp>
        <p:nvSpPr>
          <p:cNvPr id="12" name="Text 9"/>
          <p:cNvSpPr/>
          <p:nvPr/>
        </p:nvSpPr>
        <p:spPr>
          <a:xfrm>
            <a:off x="3216870" y="2673251"/>
            <a:ext cx="141987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Top 10% copied over unchanged.</a:t>
            </a:r>
            <a:endParaRPr lang="en-US" sz="1200" dirty="0"/>
          </a:p>
        </p:txBody>
      </p:sp>
      <p:pic>
        <p:nvPicPr>
          <p:cNvPr id="13" name="Image 1" descr="arrow-right">    </p:cNvPr>
          <p:cNvPicPr>
            <a:picLocks noChangeAspect="1"/>
          </p:cNvPicPr>
          <p:nvPr/>
        </p:nvPicPr>
        <p:blipFill>
          <a:blip r:embed="rId2"/>
          <a:srcRect l="0" r="0" t="0" b="0"/>
          <a:stretch/>
        </p:blipFill>
        <p:spPr>
          <a:xfrm>
            <a:off x="4897090" y="2637631"/>
            <a:ext cx="203200" cy="101600"/>
          </a:xfrm>
          <a:prstGeom prst="rect">
            <a:avLst/>
          </a:prstGeom>
        </p:spPr>
      </p:pic>
      <p:sp>
        <p:nvSpPr>
          <p:cNvPr id="14" name="Shape 10"/>
          <p:cNvSpPr/>
          <p:nvPr/>
        </p:nvSpPr>
        <p:spPr>
          <a:xfrm>
            <a:off x="5205065" y="1857325"/>
            <a:ext cx="1781820" cy="1662261"/>
          </a:xfrm>
          <a:prstGeom prst="roundRect">
            <a:avLst>
              <a:gd name="adj" fmla="val 5921"/>
            </a:avLst>
          </a:prstGeom>
          <a:solidFill>
            <a:srgbClr val="FFFDF8"/>
          </a:solidFill>
          <a:ln w="6350">
            <a:solidFill>
              <a:srgbClr val="E2DDD0"/>
            </a:solidFill>
            <a:prstDash val="solid"/>
          </a:ln>
        </p:spPr>
      </p:sp>
      <p:sp>
        <p:nvSpPr>
          <p:cNvPr id="15" name="Text 11"/>
          <p:cNvSpPr/>
          <p:nvPr/>
        </p:nvSpPr>
        <p:spPr>
          <a:xfrm>
            <a:off x="5411440" y="2063700"/>
            <a:ext cx="14198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6F66"/>
                </a:solidFill>
                <a:latin typeface="IBM Plex Sans" pitchFamily="34" charset="0"/>
                <a:ea typeface="IBM Plex Sans" pitchFamily="34" charset="-122"/>
                <a:cs typeface="IBM Plex Sans" pitchFamily="34" charset="-120"/>
              </a:rPr>
              <a:t>3</a:t>
            </a:r>
            <a:endParaRPr lang="en-US" sz="1200" dirty="0"/>
          </a:p>
        </p:txBody>
      </p:sp>
      <p:sp>
        <p:nvSpPr>
          <p:cNvPr id="16" name="Text 12"/>
          <p:cNvSpPr/>
          <p:nvPr/>
        </p:nvSpPr>
        <p:spPr>
          <a:xfrm>
            <a:off x="5411440" y="2353221"/>
            <a:ext cx="14198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BM Plex Sans" pitchFamily="34" charset="0"/>
                <a:ea typeface="IBM Plex Sans" pitchFamily="34" charset="-122"/>
                <a:cs typeface="IBM Plex Sans" pitchFamily="34" charset="-120"/>
              </a:rPr>
              <a:t>Select</a:t>
            </a:r>
            <a:endParaRPr lang="en-US" sz="1600" dirty="0"/>
          </a:p>
        </p:txBody>
      </p:sp>
      <p:sp>
        <p:nvSpPr>
          <p:cNvPr id="17" name="Text 13"/>
          <p:cNvSpPr/>
          <p:nvPr/>
        </p:nvSpPr>
        <p:spPr>
          <a:xfrm>
            <a:off x="5411440" y="2673251"/>
            <a:ext cx="141987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Pick two parents, biased toward the top ranks.</a:t>
            </a:r>
            <a:endParaRPr lang="en-US" sz="1200" dirty="0"/>
          </a:p>
        </p:txBody>
      </p:sp>
      <p:pic>
        <p:nvPicPr>
          <p:cNvPr id="18" name="Image 2" descr="arrow-right">    </p:cNvPr>
          <p:cNvPicPr>
            <a:picLocks noChangeAspect="1"/>
          </p:cNvPicPr>
          <p:nvPr/>
        </p:nvPicPr>
        <p:blipFill>
          <a:blip r:embed="rId3"/>
          <a:srcRect l="0" r="0" t="0" b="0"/>
          <a:stretch/>
        </p:blipFill>
        <p:spPr>
          <a:xfrm>
            <a:off x="7091660" y="2637631"/>
            <a:ext cx="203200" cy="101600"/>
          </a:xfrm>
          <a:prstGeom prst="rect">
            <a:avLst/>
          </a:prstGeom>
        </p:spPr>
      </p:pic>
      <p:sp>
        <p:nvSpPr>
          <p:cNvPr id="19" name="Shape 14"/>
          <p:cNvSpPr/>
          <p:nvPr/>
        </p:nvSpPr>
        <p:spPr>
          <a:xfrm>
            <a:off x="7399635" y="1857325"/>
            <a:ext cx="1781820" cy="1662261"/>
          </a:xfrm>
          <a:prstGeom prst="roundRect">
            <a:avLst>
              <a:gd name="adj" fmla="val 5921"/>
            </a:avLst>
          </a:prstGeom>
          <a:solidFill>
            <a:srgbClr val="FFFDF8"/>
          </a:solidFill>
          <a:ln w="6350">
            <a:solidFill>
              <a:srgbClr val="E2DDD0"/>
            </a:solidFill>
            <a:prstDash val="solid"/>
          </a:ln>
        </p:spPr>
      </p:sp>
      <p:sp>
        <p:nvSpPr>
          <p:cNvPr id="20" name="Text 15"/>
          <p:cNvSpPr/>
          <p:nvPr/>
        </p:nvSpPr>
        <p:spPr>
          <a:xfrm>
            <a:off x="7606010" y="2063700"/>
            <a:ext cx="14198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6F66"/>
                </a:solidFill>
                <a:latin typeface="IBM Plex Sans" pitchFamily="34" charset="0"/>
                <a:ea typeface="IBM Plex Sans" pitchFamily="34" charset="-122"/>
                <a:cs typeface="IBM Plex Sans" pitchFamily="34" charset="-120"/>
              </a:rPr>
              <a:t>4</a:t>
            </a:r>
            <a:endParaRPr lang="en-US" sz="1200" dirty="0"/>
          </a:p>
        </p:txBody>
      </p:sp>
      <p:sp>
        <p:nvSpPr>
          <p:cNvPr id="21" name="Text 16"/>
          <p:cNvSpPr/>
          <p:nvPr/>
        </p:nvSpPr>
        <p:spPr>
          <a:xfrm>
            <a:off x="7606010" y="2353221"/>
            <a:ext cx="14198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BM Plex Sans" pitchFamily="34" charset="0"/>
                <a:ea typeface="IBM Plex Sans" pitchFamily="34" charset="-122"/>
                <a:cs typeface="IBM Plex Sans" pitchFamily="34" charset="-120"/>
              </a:rPr>
              <a:t>Crossover</a:t>
            </a:r>
            <a:endParaRPr lang="en-US" sz="1600" dirty="0"/>
          </a:p>
        </p:txBody>
      </p:sp>
      <p:sp>
        <p:nvSpPr>
          <p:cNvPr id="22" name="Text 17"/>
          <p:cNvSpPr/>
          <p:nvPr/>
        </p:nvSpPr>
        <p:spPr>
          <a:xfrm>
            <a:off x="7606010" y="2673251"/>
            <a:ext cx="141987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Each gene comes from parent a or b, 50/50.</a:t>
            </a:r>
            <a:endParaRPr lang="en-US" sz="1200" dirty="0"/>
          </a:p>
        </p:txBody>
      </p:sp>
      <p:pic>
        <p:nvPicPr>
          <p:cNvPr id="23" name="Image 3" descr="arrow-right">    </p:cNvPr>
          <p:cNvPicPr>
            <a:picLocks noChangeAspect="1"/>
          </p:cNvPicPr>
          <p:nvPr/>
        </p:nvPicPr>
        <p:blipFill>
          <a:blip r:embed="rId4"/>
          <a:srcRect l="0" r="0" t="0" b="0"/>
          <a:stretch/>
        </p:blipFill>
        <p:spPr>
          <a:xfrm>
            <a:off x="9286230" y="2637631"/>
            <a:ext cx="203200" cy="101600"/>
          </a:xfrm>
          <a:prstGeom prst="rect">
            <a:avLst/>
          </a:prstGeom>
        </p:spPr>
      </p:pic>
      <p:sp>
        <p:nvSpPr>
          <p:cNvPr id="24" name="Shape 18"/>
          <p:cNvSpPr/>
          <p:nvPr/>
        </p:nvSpPr>
        <p:spPr>
          <a:xfrm>
            <a:off x="9594205" y="1857325"/>
            <a:ext cx="1781820" cy="1662261"/>
          </a:xfrm>
          <a:prstGeom prst="roundRect">
            <a:avLst>
              <a:gd name="adj" fmla="val 5921"/>
            </a:avLst>
          </a:prstGeom>
          <a:solidFill>
            <a:srgbClr val="FFFDF8"/>
          </a:solidFill>
          <a:ln w="6350">
            <a:solidFill>
              <a:srgbClr val="E2DDD0"/>
            </a:solidFill>
            <a:prstDash val="solid"/>
          </a:ln>
        </p:spPr>
      </p:sp>
      <p:sp>
        <p:nvSpPr>
          <p:cNvPr id="25" name="Text 19"/>
          <p:cNvSpPr/>
          <p:nvPr/>
        </p:nvSpPr>
        <p:spPr>
          <a:xfrm>
            <a:off x="9800580" y="2063700"/>
            <a:ext cx="141987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6F66"/>
                </a:solidFill>
                <a:latin typeface="IBM Plex Sans" pitchFamily="34" charset="0"/>
                <a:ea typeface="IBM Plex Sans" pitchFamily="34" charset="-122"/>
                <a:cs typeface="IBM Plex Sans" pitchFamily="34" charset="-120"/>
              </a:rPr>
              <a:t>5</a:t>
            </a:r>
            <a:endParaRPr lang="en-US" sz="1200" dirty="0"/>
          </a:p>
        </p:txBody>
      </p:sp>
      <p:sp>
        <p:nvSpPr>
          <p:cNvPr id="26" name="Text 20"/>
          <p:cNvSpPr/>
          <p:nvPr/>
        </p:nvSpPr>
        <p:spPr>
          <a:xfrm>
            <a:off x="9800580" y="2353221"/>
            <a:ext cx="141987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BM Plex Sans" pitchFamily="34" charset="0"/>
                <a:ea typeface="IBM Plex Sans" pitchFamily="34" charset="-122"/>
                <a:cs typeface="IBM Plex Sans" pitchFamily="34" charset="-120"/>
              </a:rPr>
              <a:t>Mutate</a:t>
            </a:r>
            <a:endParaRPr lang="en-US" sz="1600" dirty="0"/>
          </a:p>
        </p:txBody>
      </p:sp>
      <p:sp>
        <p:nvSpPr>
          <p:cNvPr id="27" name="Text 21"/>
          <p:cNvSpPr/>
          <p:nvPr/>
        </p:nvSpPr>
        <p:spPr>
          <a:xfrm>
            <a:off x="9800580" y="2673251"/>
            <a:ext cx="141987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3E4A5C"/>
                </a:solidFill>
                <a:latin typeface="IBM Plex Sans" pitchFamily="34" charset="0"/>
                <a:ea typeface="IBM Plex Sans" pitchFamily="34" charset="-122"/>
                <a:cs typeface="IBM Plex Sans" pitchFamily="34" charset="-120"/>
              </a:rPr>
              <a:t>Add small Gaussian noise, clip to [−1, 1], re-score.</a:t>
            </a:r>
            <a:endParaRPr lang="en-US" sz="1200" dirty="0"/>
          </a:p>
        </p:txBody>
      </p:sp>
      <p:sp>
        <p:nvSpPr>
          <p:cNvPr id="28" name="Shape 22"/>
          <p:cNvSpPr/>
          <p:nvPr/>
        </p:nvSpPr>
        <p:spPr>
          <a:xfrm>
            <a:off x="812800" y="3827562"/>
            <a:ext cx="10566400" cy="1000720"/>
          </a:xfrm>
          <a:prstGeom prst="roundRect">
            <a:avLst>
              <a:gd name="adj" fmla="val 10153"/>
            </a:avLst>
          </a:prstGeom>
          <a:solidFill>
            <a:srgbClr val="ECE8DE"/>
          </a:solidFill>
          <a:ln/>
        </p:spPr>
      </p:sp>
      <p:sp>
        <p:nvSpPr>
          <p:cNvPr id="29" name="Text 23"/>
          <p:cNvSpPr/>
          <p:nvPr/>
        </p:nvSpPr>
        <p:spPr>
          <a:xfrm>
            <a:off x="1066800" y="4030762"/>
            <a:ext cx="19883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8"/>
                </a:solidFill>
                <a:latin typeface="IBM Plex Sans" pitchFamily="34" charset="0"/>
                <a:ea typeface="IBM Plex Sans" pitchFamily="34" charset="-122"/>
                <a:cs typeface="IBM Plex Sans" pitchFamily="34" charset="-120"/>
              </a:rPr>
              <a:t>popsize</a:t>
            </a:r>
            <a:endParaRPr lang="en-US" sz="1200" dirty="0"/>
          </a:p>
        </p:txBody>
      </p:sp>
      <p:sp>
        <p:nvSpPr>
          <p:cNvPr id="30" name="Text 24"/>
          <p:cNvSpPr/>
          <p:nvPr/>
        </p:nvSpPr>
        <p:spPr>
          <a:xfrm>
            <a:off x="1066800" y="4269482"/>
            <a:ext cx="198831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6213A"/>
                </a:solidFill>
                <a:latin typeface="JetBrains Mono" pitchFamily="34" charset="0"/>
                <a:ea typeface="JetBrains Mono" pitchFamily="34" charset="-122"/>
                <a:cs typeface="JetBrains Mono" pitchFamily="34" charset="-120"/>
              </a:rPr>
              <a:t>100</a:t>
            </a:r>
            <a:endParaRPr lang="en-US" sz="2000" dirty="0"/>
          </a:p>
        </p:txBody>
      </p:sp>
      <p:sp>
        <p:nvSpPr>
          <p:cNvPr id="31" name="Text 25"/>
          <p:cNvSpPr/>
          <p:nvPr/>
        </p:nvSpPr>
        <p:spPr>
          <a:xfrm>
            <a:off x="3098800" y="4030762"/>
            <a:ext cx="19883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8"/>
                </a:solidFill>
                <a:latin typeface="IBM Plex Sans" pitchFamily="34" charset="0"/>
                <a:ea typeface="IBM Plex Sans" pitchFamily="34" charset="-122"/>
                <a:cs typeface="IBM Plex Sans" pitchFamily="34" charset="-120"/>
              </a:rPr>
              <a:t>generations</a:t>
            </a:r>
            <a:endParaRPr lang="en-US" sz="1200" dirty="0"/>
          </a:p>
        </p:txBody>
      </p:sp>
      <p:sp>
        <p:nvSpPr>
          <p:cNvPr id="32" name="Text 26"/>
          <p:cNvSpPr/>
          <p:nvPr/>
        </p:nvSpPr>
        <p:spPr>
          <a:xfrm>
            <a:off x="3098800" y="4269482"/>
            <a:ext cx="198831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6213A"/>
                </a:solidFill>
                <a:latin typeface="JetBrains Mono" pitchFamily="34" charset="0"/>
                <a:ea typeface="JetBrains Mono" pitchFamily="34" charset="-122"/>
                <a:cs typeface="JetBrains Mono" pitchFamily="34" charset="-120"/>
              </a:rPr>
              <a:t>500</a:t>
            </a:r>
            <a:endParaRPr lang="en-US" sz="2000" dirty="0"/>
          </a:p>
        </p:txBody>
      </p:sp>
      <p:sp>
        <p:nvSpPr>
          <p:cNvPr id="33" name="Text 27"/>
          <p:cNvSpPr/>
          <p:nvPr/>
        </p:nvSpPr>
        <p:spPr>
          <a:xfrm>
            <a:off x="5130800" y="4030762"/>
            <a:ext cx="19883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8"/>
                </a:solidFill>
                <a:latin typeface="IBM Plex Sans" pitchFamily="34" charset="0"/>
                <a:ea typeface="IBM Plex Sans" pitchFamily="34" charset="-122"/>
                <a:cs typeface="IBM Plex Sans" pitchFamily="34" charset="-120"/>
              </a:rPr>
              <a:t>eliteprop</a:t>
            </a:r>
            <a:endParaRPr lang="en-US" sz="1200" dirty="0"/>
          </a:p>
        </p:txBody>
      </p:sp>
      <p:sp>
        <p:nvSpPr>
          <p:cNvPr id="34" name="Text 28"/>
          <p:cNvSpPr/>
          <p:nvPr/>
        </p:nvSpPr>
        <p:spPr>
          <a:xfrm>
            <a:off x="5130800" y="4269482"/>
            <a:ext cx="198831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6213A"/>
                </a:solidFill>
                <a:latin typeface="JetBrains Mono" pitchFamily="34" charset="0"/>
                <a:ea typeface="JetBrains Mono" pitchFamily="34" charset="-122"/>
                <a:cs typeface="JetBrains Mono" pitchFamily="34" charset="-120"/>
              </a:rPr>
              <a:t>0.1</a:t>
            </a:r>
            <a:endParaRPr lang="en-US" sz="2000" dirty="0"/>
          </a:p>
        </p:txBody>
      </p:sp>
      <p:sp>
        <p:nvSpPr>
          <p:cNvPr id="35" name="Text 29"/>
          <p:cNvSpPr/>
          <p:nvPr/>
        </p:nvSpPr>
        <p:spPr>
          <a:xfrm>
            <a:off x="7162800" y="4030762"/>
            <a:ext cx="19883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8"/>
                </a:solidFill>
                <a:latin typeface="IBM Plex Sans" pitchFamily="34" charset="0"/>
                <a:ea typeface="IBM Plex Sans" pitchFamily="34" charset="-122"/>
                <a:cs typeface="IBM Plex Sans" pitchFamily="34" charset="-120"/>
              </a:rPr>
              <a:t>recombProb</a:t>
            </a:r>
            <a:endParaRPr lang="en-US" sz="1200" dirty="0"/>
          </a:p>
        </p:txBody>
      </p:sp>
      <p:sp>
        <p:nvSpPr>
          <p:cNvPr id="36" name="Text 30"/>
          <p:cNvSpPr/>
          <p:nvPr/>
        </p:nvSpPr>
        <p:spPr>
          <a:xfrm>
            <a:off x="7162800" y="4269482"/>
            <a:ext cx="198831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6213A"/>
                </a:solidFill>
                <a:latin typeface="JetBrains Mono" pitchFamily="34" charset="0"/>
                <a:ea typeface="JetBrains Mono" pitchFamily="34" charset="-122"/>
                <a:cs typeface="JetBrains Mono" pitchFamily="34" charset="-120"/>
              </a:rPr>
              <a:t>0.5</a:t>
            </a:r>
            <a:endParaRPr lang="en-US" sz="2000" dirty="0"/>
          </a:p>
        </p:txBody>
      </p:sp>
      <p:sp>
        <p:nvSpPr>
          <p:cNvPr id="37" name="Text 31"/>
          <p:cNvSpPr/>
          <p:nvPr/>
        </p:nvSpPr>
        <p:spPr>
          <a:xfrm>
            <a:off x="9194800" y="4030762"/>
            <a:ext cx="198831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8"/>
                </a:solidFill>
                <a:latin typeface="IBM Plex Sans" pitchFamily="34" charset="0"/>
                <a:ea typeface="IBM Plex Sans" pitchFamily="34" charset="-122"/>
                <a:cs typeface="IBM Plex Sans" pitchFamily="34" charset="-120"/>
              </a:rPr>
              <a:t>mutatStd (σ)</a:t>
            </a:r>
            <a:endParaRPr lang="en-US" sz="1200" dirty="0"/>
          </a:p>
        </p:txBody>
      </p:sp>
      <p:sp>
        <p:nvSpPr>
          <p:cNvPr id="38" name="Text 32"/>
          <p:cNvSpPr/>
          <p:nvPr/>
        </p:nvSpPr>
        <p:spPr>
          <a:xfrm>
            <a:off x="9194800" y="4269482"/>
            <a:ext cx="1988312" cy="381000"/>
          </a:xfrm>
          <a:prstGeom prst="rect">
            <a:avLst/>
          </a:prstGeom>
          <a:noFill/>
          <a:ln/>
        </p:spPr>
        <p:txBody>
          <a:bodyPr wrap="square" lIns="0" tIns="0" rIns="0" bIns="0" rtlCol="0" anchor="t">
            <a:normAutofit/>
          </a:bodyPr>
          <a:lstStyle/>
          <a:p>
            <a:pPr algn="l" indent="0" marL="0">
              <a:lnSpc>
                <a:spcPts val="2800"/>
              </a:lnSpc>
              <a:buNone/>
            </a:pPr>
            <a:r>
              <a:rPr lang="en-US" sz="2000" b="1" dirty="0">
                <a:solidFill>
                  <a:srgbClr val="16213A"/>
                </a:solidFill>
                <a:latin typeface="JetBrains Mono" pitchFamily="34" charset="0"/>
                <a:ea typeface="JetBrains Mono" pitchFamily="34" charset="-122"/>
                <a:cs typeface="JetBrains Mono" pitchFamily="34" charset="-120"/>
              </a:rPr>
              <a:t>0.01</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F66"/>
                </a:solidFill>
                <a:latin typeface="IBM Plex Sans" pitchFamily="34" charset="0"/>
                <a:ea typeface="IBM Plex Sans" pitchFamily="34" charset="-122"/>
                <a:cs typeface="IBM Plex Sans" pitchFamily="34" charset="-120"/>
              </a:rPr>
              <a:t>PART 2 · ALGORITHMS</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13A"/>
                </a:solidFill>
                <a:latin typeface="IBM Plex Sans" pitchFamily="34" charset="0"/>
                <a:ea typeface="IBM Plex Sans" pitchFamily="34" charset="-122"/>
                <a:cs typeface="IBM Plex Sans" pitchFamily="34" charset="-120"/>
              </a:rPr>
              <a:t>Four search strategies in eas.py</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66850"/>
          <a:ext cx="10553700" cy="2303363"/>
        </p:xfrm>
        <a:graphic>
          <a:graphicData uri="http://schemas.openxmlformats.org/drawingml/2006/table">
            <a:tbl>
              <a:tblPr/>
              <a:tblGrid>
                <a:gridCol w="2321814"/>
                <a:gridCol w="2110740"/>
                <a:gridCol w="3588258"/>
                <a:gridCol w="2532888"/>
              </a:tblGrid>
              <a:tr h="332680">
                <a:tc>
                  <a:txBody>
                    <a:bodyPr/>
                    <a:lstStyle/>
                    <a:p>
                      <a:pPr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Algorithm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Population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New candidates come from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indent="0" marL="0">
                        <a:lnSpc>
                          <a:spcPts val="1680"/>
                        </a:lnSpc>
                        <a:buNone/>
                      </a:pPr>
                      <a:r>
                        <a:rPr lang="en-US" sz="1200" b="1" dirty="0">
                          <a:solidFill>
                            <a:srgbClr val="16213A"/>
                          </a:solidFill>
                          <a:latin typeface="IBM Plex Sans" pitchFamily="34" charset="0"/>
                          <a:ea typeface="IBM Plex Sans" pitchFamily="34" charset="-122"/>
                          <a:cs typeface="IBM Plex Sans" pitchFamily="34" charset="-120"/>
                        </a:rPr>
                        <a:t>Who gets replaced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r>
              <a:tr h="546001">
                <a:tc>
                  <a:txBody>
                    <a:bodyPr/>
                    <a:lstStyle/>
                    <a:p>
                      <a:pPr indent="0" marL="0">
                        <a:lnSpc>
                          <a:spcPts val="1680"/>
                        </a:lnSpc>
                        <a:buNone/>
                      </a:pPr>
                      <a:r>
                        <a:rPr lang="en-US" sz="1200" dirty="0">
                          <a:solidFill>
                            <a:srgbClr val="16213A"/>
                          </a:solidFill>
                          <a:latin typeface="IBM Plex Sans" pitchFamily="34" charset="0"/>
                          <a:ea typeface="IBM Plex Sans" pitchFamily="34" charset="-122"/>
                          <a:cs typeface="IBM Plex Sans" pitchFamily="34" charset="-120"/>
                        </a:rPr>
                        <a:t>HillClimber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BM Plex Sans" pitchFamily="34" charset="0"/>
                          <a:ea typeface="IBM Plex Sans" pitchFamily="34" charset="-122"/>
                          <a:cs typeface="IBM Plex Sans" pitchFamily="34" charset="-120"/>
                        </a:rPr>
                        <a:t>1 individual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BM Plex Sans" pitchFamily="34" charset="0"/>
                          <a:ea typeface="IBM Plex Sans" pitchFamily="34" charset="-122"/>
                          <a:cs typeface="IBM Plex Sans" pitchFamily="34" charset="-120"/>
                        </a:rPr>
                        <a:t>Mutating that one individual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BM Plex Sans" pitchFamily="34" charset="0"/>
                          <a:ea typeface="IBM Plex Sans" pitchFamily="34" charset="-122"/>
                          <a:cs typeface="IBM Plex Sans" pitchFamily="34" charset="-120"/>
                        </a:rPr>
                        <a:t>The parent, if the child is at least as fit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546001">
                <a:tc>
                  <a:txBody>
                    <a:bodyPr/>
                    <a:lstStyle/>
                    <a:p>
                      <a:pPr indent="0" marL="0">
                        <a:lnSpc>
                          <a:spcPts val="1680"/>
                        </a:lnSpc>
                        <a:buNone/>
                      </a:pPr>
                      <a:r>
                        <a:rPr lang="en-US" sz="1200" dirty="0">
                          <a:solidFill>
                            <a:srgbClr val="16213A"/>
                          </a:solidFill>
                          <a:latin typeface="IBM Plex Sans" pitchFamily="34" charset="0"/>
                          <a:ea typeface="IBM Plex Sans" pitchFamily="34" charset="-122"/>
                          <a:cs typeface="IBM Plex Sans" pitchFamily="34" charset="-120"/>
                        </a:rPr>
                        <a:t>ParallelHillClimber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BM Plex Sans" pitchFamily="34" charset="0"/>
                          <a:ea typeface="IBM Plex Sans" pitchFamily="34" charset="-122"/>
                          <a:cs typeface="IBM Plex Sans" pitchFamily="34" charset="-120"/>
                        </a:rPr>
                        <a:t>popsize separate climbers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BM Plex Sans" pitchFamily="34" charset="0"/>
                          <a:ea typeface="IBM Plex Sans" pitchFamily="34" charset="-122"/>
                          <a:cs typeface="IBM Plex Sans" pitchFamily="34" charset="-120"/>
                        </a:rPr>
                        <a:t>Mutating each climber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BM Plex Sans" pitchFamily="34" charset="0"/>
                          <a:ea typeface="IBM Plex Sans" pitchFamily="34" charset="-122"/>
                          <a:cs typeface="IBM Plex Sans" pitchFamily="34" charset="-120"/>
                        </a:rPr>
                        <a:t>Each parent, if its own child is at least as fit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80">
                <a:tc>
                  <a:txBody>
                    <a:bodyPr/>
                    <a:lstStyle/>
                    <a:p>
                      <a:pPr indent="0" marL="0">
                        <a:lnSpc>
                          <a:spcPts val="1680"/>
                        </a:lnSpc>
                        <a:buNone/>
                      </a:pPr>
                      <a:r>
                        <a:rPr lang="en-US" sz="1200" dirty="0">
                          <a:solidFill>
                            <a:srgbClr val="16213A"/>
                          </a:solidFill>
                          <a:latin typeface="IBM Plex Sans" pitchFamily="34" charset="0"/>
                          <a:ea typeface="IBM Plex Sans" pitchFamily="34" charset="-122"/>
                          <a:cs typeface="IBM Plex Sans" pitchFamily="34" charset="-120"/>
                        </a:rPr>
                        <a:t>Generational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ABBCB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ABBCB8"/>
                      </a:solidFill>
                      <a:prstDash val="solid"/>
                      <a:round/>
                      <a:headEnd type="none" w="med" len="med"/>
                      <a:tailEnd type="none" w="med" len="med"/>
                    </a:lnB>
                    <a:solidFill>
                      <a:srgbClr val="D6EBE7"/>
                    </a:solidFill>
                  </a:tcPr>
                </a:tc>
                <a:tc>
                  <a:txBody>
                    <a:bodyPr/>
                    <a:lstStyle/>
                    <a:p>
                      <a:pPr indent="0" marL="0">
                        <a:lnSpc>
                          <a:spcPts val="1680"/>
                        </a:lnSpc>
                        <a:buNone/>
                      </a:pPr>
                      <a:r>
                        <a:rPr lang="en-US" sz="1200" dirty="0">
                          <a:solidFill>
                            <a:srgbClr val="16213A"/>
                          </a:solidFill>
                          <a:latin typeface="IBM Plex Sans" pitchFamily="34" charset="0"/>
                          <a:ea typeface="IBM Plex Sans" pitchFamily="34" charset="-122"/>
                          <a:cs typeface="IBM Plex Sans" pitchFamily="34" charset="-120"/>
                        </a:rPr>
                        <a:t>popsize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ABBCB8"/>
                      </a:solidFill>
                      <a:prstDash val="solid"/>
                      <a:round/>
                      <a:headEnd type="none" w="med" len="med"/>
                      <a:tailEnd type="none" w="med" len="med"/>
                    </a:lnL>
                    <a:lnR w="12700" cap="flat" cmpd="sng" algn="ctr">
                      <a:solidFill>
                        <a:srgbClr val="ABBCB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ABBCB8"/>
                      </a:solidFill>
                      <a:prstDash val="solid"/>
                      <a:round/>
                      <a:headEnd type="none" w="med" len="med"/>
                      <a:tailEnd type="none" w="med" len="med"/>
                    </a:lnB>
                    <a:solidFill>
                      <a:srgbClr val="D6EBE7"/>
                    </a:solidFill>
                  </a:tcPr>
                </a:tc>
                <a:tc>
                  <a:txBody>
                    <a:bodyPr/>
                    <a:lstStyle/>
                    <a:p>
                      <a:pPr indent="0" marL="0">
                        <a:lnSpc>
                          <a:spcPts val="1680"/>
                        </a:lnSpc>
                        <a:buNone/>
                      </a:pPr>
                      <a:r>
                        <a:rPr lang="en-US" sz="1200" dirty="0">
                          <a:solidFill>
                            <a:srgbClr val="16213A"/>
                          </a:solidFill>
                          <a:latin typeface="IBM Plex Sans" pitchFamily="34" charset="0"/>
                          <a:ea typeface="IBM Plex Sans" pitchFamily="34" charset="-122"/>
                          <a:cs typeface="IBM Plex Sans" pitchFamily="34" charset="-120"/>
                        </a:rPr>
                        <a:t>Ranked parents, crossover, mutation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ABBCB8"/>
                      </a:solidFill>
                      <a:prstDash val="solid"/>
                      <a:round/>
                      <a:headEnd type="none" w="med" len="med"/>
                      <a:tailEnd type="none" w="med" len="med"/>
                    </a:lnL>
                    <a:lnR w="12700" cap="flat" cmpd="sng" algn="ctr">
                      <a:solidFill>
                        <a:srgbClr val="ABBCB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ABBCB8"/>
                      </a:solidFill>
                      <a:prstDash val="solid"/>
                      <a:round/>
                      <a:headEnd type="none" w="med" len="med"/>
                      <a:tailEnd type="none" w="med" len="med"/>
                    </a:lnB>
                    <a:solidFill>
                      <a:srgbClr val="D6EBE7"/>
                    </a:solidFill>
                  </a:tcPr>
                </a:tc>
                <a:tc>
                  <a:txBody>
                    <a:bodyPr/>
                    <a:lstStyle/>
                    <a:p>
                      <a:pPr indent="0" marL="0">
                        <a:lnSpc>
                          <a:spcPts val="1680"/>
                        </a:lnSpc>
                        <a:buNone/>
                      </a:pPr>
                      <a:r>
                        <a:rPr lang="en-US" sz="1200" dirty="0">
                          <a:solidFill>
                            <a:srgbClr val="16213A"/>
                          </a:solidFill>
                          <a:latin typeface="IBM Plex Sans" pitchFamily="34" charset="0"/>
                          <a:ea typeface="IBM Plex Sans" pitchFamily="34" charset="-122"/>
                          <a:cs typeface="IBM Plex Sans" pitchFamily="34" charset="-120"/>
                        </a:rPr>
                        <a:t>Everyone except the elite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ABBCB8"/>
                      </a:solidFill>
                      <a:prstDash val="solid"/>
                      <a:round/>
                      <a:headEnd type="none" w="med" len="med"/>
                      <a:tailEnd type="none" w="med" len="med"/>
                    </a:lnL>
                    <a:lnR w="12700" cap="flat" cmpd="sng" algn="ctr">
                      <a:solidFill>
                        <a:srgbClr val="ABBCB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ABBCB8"/>
                      </a:solidFill>
                      <a:prstDash val="solid"/>
                      <a:round/>
                      <a:headEnd type="none" w="med" len="med"/>
                      <a:tailEnd type="none" w="med" len="med"/>
                    </a:lnB>
                    <a:solidFill>
                      <a:srgbClr val="D6EBE7"/>
                    </a:solidFill>
                  </a:tcPr>
                </a:tc>
              </a:tr>
              <a:tr h="546001">
                <a:tc>
                  <a:txBody>
                    <a:bodyPr/>
                    <a:lstStyle/>
                    <a:p>
                      <a:pPr indent="0" marL="0">
                        <a:lnSpc>
                          <a:spcPts val="1680"/>
                        </a:lnSpc>
                        <a:buNone/>
                      </a:pPr>
                      <a:r>
                        <a:rPr lang="en-US" sz="1200" dirty="0">
                          <a:solidFill>
                            <a:srgbClr val="16213A"/>
                          </a:solidFill>
                          <a:latin typeface="IBM Plex Sans" pitchFamily="34" charset="0"/>
                          <a:ea typeface="IBM Plex Sans" pitchFamily="34" charset="-122"/>
                          <a:cs typeface="IBM Plex Sans" pitchFamily="34" charset="-120"/>
                        </a:rPr>
                        <a:t>Microbial</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ABBCB8"/>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BM Plex Sans" pitchFamily="34" charset="0"/>
                          <a:ea typeface="IBM Plex Sans" pitchFamily="34" charset="-122"/>
                          <a:cs typeface="IBM Plex Sans" pitchFamily="34" charset="-120"/>
                        </a:rPr>
                        <a:t>popsize, in local demes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ABBCB8"/>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BM Plex Sans" pitchFamily="34" charset="0"/>
                          <a:ea typeface="IBM Plex Sans" pitchFamily="34" charset="-122"/>
                          <a:cs typeface="IBM Plex Sans" pitchFamily="34" charset="-120"/>
                        </a:rPr>
                        <a:t>Two neighbors compete; the loser copies some of the winner's genes, then mutates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ABBCB8"/>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IBM Plex Sans" pitchFamily="34" charset="0"/>
                          <a:ea typeface="IBM Plex Sans" pitchFamily="34" charset="-122"/>
                          <a:cs typeface="IBM Plex Sans" pitchFamily="34" charset="-120"/>
                        </a:rPr>
                        <a:t>Only the loser</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ABBCB8"/>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
        <p:nvSpPr>
          <p:cNvPr id="5" name="Text 2"/>
          <p:cNvSpPr/>
          <p:nvPr/>
        </p:nvSpPr>
        <p:spPr>
          <a:xfrm>
            <a:off x="812800" y="4475014"/>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E4A5C"/>
                </a:solidFill>
                <a:latin typeface="IBM Plex Sans" pitchFamily="34" charset="0"/>
                <a:ea typeface="IBM Plex Sans" pitchFamily="34" charset="-122"/>
                <a:cs typeface="IBM Plex Sans" pitchFamily="34" charset="-120"/>
              </a:rPr>
              <a:t>All four share one constructor and </a:t>
            </a:r>
            <a:r>
              <a:rPr lang="en-US" sz="1500" b="1" dirty="0">
                <a:solidFill>
                  <a:srgbClr val="3E4A5C"/>
                </a:solidFill>
                <a:latin typeface="IBM Plex Sans" pitchFamily="34" charset="0"/>
                <a:ea typeface="IBM Plex Sans" pitchFamily="34" charset="-122"/>
                <a:cs typeface="IBM Plex Sans" pitchFamily="34" charset="-120"/>
              </a:rPr>
              <a:t>run()</a:t>
            </a:r>
            <a:r>
              <a:rPr lang="en-US" sz="1500" dirty="0">
                <a:solidFill>
                  <a:srgbClr val="3E4A5C"/>
                </a:solidFill>
                <a:latin typeface="IBM Plex Sans" pitchFamily="34" charset="0"/>
                <a:ea typeface="IBM Plex Sans" pitchFamily="34" charset="-122"/>
                <a:cs typeface="IBM Plex Sans" pitchFamily="34" charset="-120"/>
              </a:rPr>
              <a:t>, so switching is a one-word change in evolve.py:52.</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F66"/>
                </a:solidFill>
                <a:latin typeface="IBM Plex Sans" pitchFamily="34" charset="0"/>
                <a:ea typeface="IBM Plex Sans" pitchFamily="34" charset="-122"/>
                <a:cs typeface="IBM Plex Sans" pitchFamily="34" charset="-120"/>
              </a:rPr>
              <a:t>PART 2 · THE DATASET</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13A"/>
                </a:solidFill>
                <a:latin typeface="IBM Plex Sans" pitchFamily="34" charset="0"/>
                <a:ea typeface="IBM Plex Sans" pitchFamily="34" charset="-122"/>
                <a:cs typeface="IBM Plex Sans" pitchFamily="34" charset="-120"/>
              </a:rPr>
              <a:t>A harder task: ring vs. center</a:t>
            </a:r>
            <a:endParaRPr lang="en-US" sz="3200" dirty="0"/>
          </a:p>
        </p:txBody>
      </p:sp>
      <p:pic>
        <p:nvPicPr>
          <p:cNvPr id="4" name="Image 0" descr="Twelve points on a square. Eight filled dots (target 1) on the border at the corners and edge midpoints; four crosses (target 0) inside at plus or minus one half. A dashed circle separates them.">    </p:cNvPr>
          <p:cNvPicPr>
            <a:picLocks noChangeAspect="1"/>
          </p:cNvPicPr>
          <p:nvPr/>
        </p:nvPicPr>
        <p:blipFill>
          <a:blip r:embed="rId1"/>
          <a:srcRect l="0" r="0" t="0" b="0"/>
          <a:stretch/>
        </p:blipFill>
        <p:spPr>
          <a:xfrm>
            <a:off x="812800" y="1932930"/>
            <a:ext cx="3302000" cy="3302000"/>
          </a:xfrm>
          <a:prstGeom prst="rect">
            <a:avLst/>
          </a:prstGeom>
        </p:spPr>
      </p:pic>
      <p:sp>
        <p:nvSpPr>
          <p:cNvPr id="5" name="Text 2"/>
          <p:cNvSpPr/>
          <p:nvPr/>
        </p:nvSpPr>
        <p:spPr>
          <a:xfrm>
            <a:off x="812800" y="5336530"/>
            <a:ext cx="34010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8"/>
                </a:solidFill>
                <a:latin typeface="IBM Plex Sans" pitchFamily="34" charset="0"/>
                <a:ea typeface="IBM Plex Sans" pitchFamily="34" charset="-122"/>
                <a:cs typeface="IBM Plex Sans" pitchFamily="34" charset="-120"/>
              </a:rPr>
              <a:t>Dots: target 1. Crosses: target 0. Dashed: one closed boundary that would work.</a:t>
            </a:r>
            <a:endParaRPr lang="en-US" sz="1200" dirty="0"/>
          </a:p>
        </p:txBody>
      </p:sp>
      <p:sp>
        <p:nvSpPr>
          <p:cNvPr id="6" name="Text 3"/>
          <p:cNvSpPr/>
          <p:nvPr/>
        </p:nvSpPr>
        <p:spPr>
          <a:xfrm>
            <a:off x="4622800" y="2467620"/>
            <a:ext cx="6959092"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A5C"/>
                </a:solidFill>
                <a:latin typeface="IBM Plex Sans" pitchFamily="34" charset="0"/>
                <a:ea typeface="IBM Plex Sans" pitchFamily="34" charset="-122"/>
                <a:cs typeface="IBM Plex Sans" pitchFamily="34" charset="-120"/>
              </a:rPr>
              <a:t>evolve.py:15–16 swaps XOR for 12 points: the 8 on the border are 1, the 4 inside are 0.</a:t>
            </a:r>
            <a:endParaRPr lang="en-US" sz="1500" dirty="0"/>
          </a:p>
        </p:txBody>
      </p:sp>
      <p:sp>
        <p:nvSpPr>
          <p:cNvPr id="7" name="Text 4"/>
          <p:cNvSpPr/>
          <p:nvPr/>
        </p:nvSpPr>
        <p:spPr>
          <a:xfrm>
            <a:off x="4622800" y="3223270"/>
            <a:ext cx="6959092"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3E4A5C"/>
                </a:solidFill>
                <a:latin typeface="IBM Plex Sans" pitchFamily="34" charset="0"/>
                <a:ea typeface="IBM Plex Sans" pitchFamily="34" charset="-122"/>
                <a:cs typeface="IBM Plex Sans" pitchFamily="34" charset="-120"/>
              </a:rPr>
              <a:t>The 1s surround the 0s, so the network needs a </a:t>
            </a:r>
            <a:r>
              <a:rPr lang="en-US" sz="1500" b="1" dirty="0">
                <a:solidFill>
                  <a:srgbClr val="3E4A5C"/>
                </a:solidFill>
                <a:latin typeface="IBM Plex Sans" pitchFamily="34" charset="0"/>
                <a:ea typeface="IBM Plex Sans" pitchFamily="34" charset="-122"/>
                <a:cs typeface="IBM Plex Sans" pitchFamily="34" charset="-120"/>
              </a:rPr>
              <a:t>closed</a:t>
            </a:r>
            <a:r>
              <a:rPr lang="en-US" sz="1500" dirty="0">
                <a:solidFill>
                  <a:srgbClr val="3E4A5C"/>
                </a:solidFill>
                <a:latin typeface="IBM Plex Sans" pitchFamily="34" charset="0"/>
                <a:ea typeface="IBM Plex Sans" pitchFamily="34" charset="-122"/>
                <a:cs typeface="IBM Plex Sans" pitchFamily="34" charset="-120"/>
              </a:rPr>
              <a:t> boundary, not just two parallel lines.</a:t>
            </a:r>
            <a:endParaRPr lang="en-US" sz="1500" dirty="0"/>
          </a:p>
        </p:txBody>
      </p:sp>
      <p:sp>
        <p:nvSpPr>
          <p:cNvPr id="8" name="Shape 5"/>
          <p:cNvSpPr/>
          <p:nvPr/>
        </p:nvSpPr>
        <p:spPr>
          <a:xfrm>
            <a:off x="4622800" y="3978920"/>
            <a:ext cx="6756400" cy="1249611"/>
          </a:xfrm>
          <a:prstGeom prst="roundRect">
            <a:avLst>
              <a:gd name="adj" fmla="val 8131"/>
            </a:avLst>
          </a:prstGeom>
          <a:solidFill>
            <a:srgbClr val="D6EBE7"/>
          </a:solidFill>
          <a:ln/>
        </p:spPr>
      </p:sp>
      <p:sp>
        <p:nvSpPr>
          <p:cNvPr id="9" name="Text 6"/>
          <p:cNvSpPr/>
          <p:nvPr/>
        </p:nvSpPr>
        <p:spPr>
          <a:xfrm>
            <a:off x="4876800" y="4182120"/>
            <a:ext cx="6435852"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BM Plex Sans" pitchFamily="34" charset="0"/>
                <a:ea typeface="IBM Plex Sans" pitchFamily="34" charset="-122"/>
                <a:cs typeface="IBM Plex Sans" pitchFamily="34" charset="-120"/>
              </a:rPr>
              <a:t>Ask while it runs</a:t>
            </a:r>
            <a:endParaRPr lang="en-US" sz="1600" dirty="0"/>
          </a:p>
        </p:txBody>
      </p:sp>
      <p:sp>
        <p:nvSpPr>
          <p:cNvPr id="10" name="Text 7"/>
          <p:cNvSpPr/>
          <p:nvPr/>
        </p:nvSpPr>
        <p:spPr>
          <a:xfrm>
            <a:off x="4876800" y="4527550"/>
            <a:ext cx="6435852" cy="523180"/>
          </a:xfrm>
          <a:prstGeom prst="rect">
            <a:avLst/>
          </a:prstGeom>
          <a:noFill/>
          <a:ln/>
        </p:spPr>
        <p:txBody>
          <a:bodyPr wrap="square" lIns="0" tIns="0" rIns="0" bIns="0" rtlCol="0" anchor="t">
            <a:normAutofit/>
          </a:bodyPr>
          <a:lstStyle/>
          <a:p>
            <a:pPr algn="l" marL="213360" indent="-175768">
              <a:lnSpc>
                <a:spcPts val="1960"/>
              </a:lnSpc>
              <a:buSzPct val="100000"/>
              <a:buChar char="•"/>
            </a:pPr>
            <a:r>
              <a:rPr lang="en-US" sz="1400" dirty="0">
                <a:solidFill>
                  <a:srgbClr val="3E4A5C"/>
                </a:solidFill>
                <a:latin typeface="IBM Plex Sans" pitchFamily="34" charset="0"/>
                <a:ea typeface="IBM Plex Sans" pitchFamily="34" charset="-122"/>
                <a:cs typeface="IBM Plex Sans" pitchFamily="34" charset="-120"/>
              </a:rPr>
              <a:t>Which activation functions did the best network end up with?</a:t>
            </a:r>
            <a:endParaRPr lang="en-US" sz="1400" dirty="0"/>
          </a:p>
          <a:p>
            <a:pPr algn="l" marL="213360" indent="-175768">
              <a:lnSpc>
                <a:spcPts val="1960"/>
              </a:lnSpc>
              <a:buSzPct val="100000"/>
              <a:buChar char="•"/>
            </a:pPr>
            <a:r>
              <a:rPr lang="en-US" sz="1400" dirty="0">
                <a:solidFill>
                  <a:srgbClr val="3E4A5C"/>
                </a:solidFill>
                <a:latin typeface="IBM Plex Sans" pitchFamily="34" charset="0"/>
                <a:ea typeface="IBM Plex Sans" pitchFamily="34" charset="-122"/>
                <a:cs typeface="IBM Plex Sans" pitchFamily="34" charset="-120"/>
              </a:rPr>
              <a:t>Is the boundary a ring, a square, or something else?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F66"/>
                </a:solidFill>
                <a:latin typeface="IBM Plex Sans" pitchFamily="34" charset="0"/>
                <a:ea typeface="IBM Plex Sans" pitchFamily="34" charset="-122"/>
                <a:cs typeface="IBM Plex Sans" pitchFamily="34" charset="-120"/>
              </a:rPr>
              <a:t>PART 2 · DEMO</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13A"/>
                </a:solidFill>
                <a:latin typeface="IBM Plex Sans" pitchFamily="34" charset="0"/>
                <a:ea typeface="IBM Plex Sans" pitchFamily="34" charset="-122"/>
                <a:cs typeface="IBM Plex Sans" pitchFamily="34" charset="-120"/>
              </a:rPr>
              <a:t>compare.py: does shape matter?</a:t>
            </a:r>
            <a:endParaRPr lang="en-US" sz="3200" dirty="0"/>
          </a:p>
        </p:txBody>
      </p:sp>
      <p:sp>
        <p:nvSpPr>
          <p:cNvPr id="4" name="Shape 2"/>
          <p:cNvSpPr/>
          <p:nvPr/>
        </p:nvSpPr>
        <p:spPr>
          <a:xfrm>
            <a:off x="815975" y="1857325"/>
            <a:ext cx="3380284" cy="1921371"/>
          </a:xfrm>
          <a:prstGeom prst="roundRect">
            <a:avLst>
              <a:gd name="adj" fmla="val 5123"/>
            </a:avLst>
          </a:prstGeom>
          <a:solidFill>
            <a:srgbClr val="FFFDF8"/>
          </a:solidFill>
          <a:ln w="6350">
            <a:solidFill>
              <a:srgbClr val="E2DDD0"/>
            </a:solidFill>
            <a:prstDash val="solid"/>
          </a:ln>
        </p:spPr>
      </p:sp>
      <p:sp>
        <p:nvSpPr>
          <p:cNvPr id="5" name="Text 3"/>
          <p:cNvSpPr/>
          <p:nvPr/>
        </p:nvSpPr>
        <p:spPr>
          <a:xfrm>
            <a:off x="1073150" y="2114500"/>
            <a:ext cx="295191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6213A"/>
                </a:solidFill>
                <a:latin typeface="JetBrains Mono" pitchFamily="34" charset="0"/>
                <a:ea typeface="JetBrains Mono" pitchFamily="34" charset="-122"/>
                <a:cs typeface="JetBrains Mono" pitchFamily="34" charset="-120"/>
              </a:rPr>
              <a:t>[2, 2, 1]</a:t>
            </a:r>
            <a:endParaRPr lang="en-US" sz="2200" dirty="0"/>
          </a:p>
        </p:txBody>
      </p:sp>
      <p:sp>
        <p:nvSpPr>
          <p:cNvPr id="6" name="Text 4"/>
          <p:cNvSpPr/>
          <p:nvPr/>
        </p:nvSpPr>
        <p:spPr>
          <a:xfrm>
            <a:off x="1073150" y="2607221"/>
            <a:ext cx="295191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Narrow: 2 hidden units</a:t>
            </a:r>
            <a:endParaRPr lang="en-US" sz="1400" dirty="0"/>
          </a:p>
        </p:txBody>
      </p:sp>
      <p:sp>
        <p:nvSpPr>
          <p:cNvPr id="7" name="Text 5"/>
          <p:cNvSpPr/>
          <p:nvPr/>
        </p:nvSpPr>
        <p:spPr>
          <a:xfrm>
            <a:off x="1073150" y="2957711"/>
            <a:ext cx="2951912"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6F66"/>
                </a:solidFill>
                <a:latin typeface="IBM Plex Sans" pitchFamily="34" charset="0"/>
                <a:ea typeface="IBM Plex Sans" pitchFamily="34" charset="-122"/>
                <a:cs typeface="IBM Plex Sans" pitchFamily="34" charset="-120"/>
              </a:rPr>
              <a:t>19 genes</a:t>
            </a:r>
            <a:endParaRPr lang="en-US" sz="1400" dirty="0"/>
          </a:p>
        </p:txBody>
      </p:sp>
      <p:sp>
        <p:nvSpPr>
          <p:cNvPr id="8" name="Shape 6"/>
          <p:cNvSpPr/>
          <p:nvPr/>
        </p:nvSpPr>
        <p:spPr>
          <a:xfrm>
            <a:off x="1073150" y="3389461"/>
            <a:ext cx="355600" cy="50800"/>
          </a:xfrm>
          <a:prstGeom prst="roundRect">
            <a:avLst>
              <a:gd name="adj" fmla="val 50000"/>
            </a:avLst>
          </a:prstGeom>
          <a:solidFill>
            <a:srgbClr val="FF0000"/>
          </a:solidFill>
          <a:ln/>
        </p:spPr>
      </p:sp>
      <p:sp>
        <p:nvSpPr>
          <p:cNvPr id="9" name="Text 7"/>
          <p:cNvSpPr/>
          <p:nvPr/>
        </p:nvSpPr>
        <p:spPr>
          <a:xfrm>
            <a:off x="1530350" y="3308201"/>
            <a:ext cx="6380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8"/>
                </a:solidFill>
                <a:latin typeface="IBM Plex Sans" pitchFamily="34" charset="0"/>
                <a:ea typeface="IBM Plex Sans" pitchFamily="34" charset="-122"/>
                <a:cs typeface="IBM Plex Sans" pitchFamily="34" charset="-120"/>
              </a:rPr>
              <a:t>red lines</a:t>
            </a:r>
            <a:endParaRPr lang="en-US" sz="1200" dirty="0"/>
          </a:p>
        </p:txBody>
      </p:sp>
      <p:sp>
        <p:nvSpPr>
          <p:cNvPr id="10" name="Shape 8"/>
          <p:cNvSpPr/>
          <p:nvPr/>
        </p:nvSpPr>
        <p:spPr>
          <a:xfrm>
            <a:off x="4405809" y="1857325"/>
            <a:ext cx="3380333" cy="1921371"/>
          </a:xfrm>
          <a:prstGeom prst="roundRect">
            <a:avLst>
              <a:gd name="adj" fmla="val 5123"/>
            </a:avLst>
          </a:prstGeom>
          <a:solidFill>
            <a:srgbClr val="FFFDF8"/>
          </a:solidFill>
          <a:ln w="6350">
            <a:solidFill>
              <a:srgbClr val="E2DDD0"/>
            </a:solidFill>
            <a:prstDash val="solid"/>
          </a:ln>
        </p:spPr>
      </p:sp>
      <p:sp>
        <p:nvSpPr>
          <p:cNvPr id="11" name="Text 9"/>
          <p:cNvSpPr/>
          <p:nvPr/>
        </p:nvSpPr>
        <p:spPr>
          <a:xfrm>
            <a:off x="4662984" y="2114500"/>
            <a:ext cx="2951963"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6213A"/>
                </a:solidFill>
                <a:latin typeface="JetBrains Mono" pitchFamily="34" charset="0"/>
                <a:ea typeface="JetBrains Mono" pitchFamily="34" charset="-122"/>
                <a:cs typeface="JetBrains Mono" pitchFamily="34" charset="-120"/>
              </a:rPr>
              <a:t>[2, 5, 1]</a:t>
            </a:r>
            <a:endParaRPr lang="en-US" sz="2200" dirty="0"/>
          </a:p>
        </p:txBody>
      </p:sp>
      <p:sp>
        <p:nvSpPr>
          <p:cNvPr id="12" name="Text 10"/>
          <p:cNvSpPr/>
          <p:nvPr/>
        </p:nvSpPr>
        <p:spPr>
          <a:xfrm>
            <a:off x="4662984" y="2607221"/>
            <a:ext cx="295196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Wide: 5 hidden units</a:t>
            </a:r>
            <a:endParaRPr lang="en-US" sz="1400" dirty="0"/>
          </a:p>
        </p:txBody>
      </p:sp>
      <p:sp>
        <p:nvSpPr>
          <p:cNvPr id="13" name="Text 11"/>
          <p:cNvSpPr/>
          <p:nvPr/>
        </p:nvSpPr>
        <p:spPr>
          <a:xfrm>
            <a:off x="4662984" y="2957711"/>
            <a:ext cx="295196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6F66"/>
                </a:solidFill>
                <a:latin typeface="IBM Plex Sans" pitchFamily="34" charset="0"/>
                <a:ea typeface="IBM Plex Sans" pitchFamily="34" charset="-122"/>
                <a:cs typeface="IBM Plex Sans" pitchFamily="34" charset="-120"/>
              </a:rPr>
              <a:t>31 genes</a:t>
            </a:r>
            <a:endParaRPr lang="en-US" sz="1400" dirty="0"/>
          </a:p>
        </p:txBody>
      </p:sp>
      <p:sp>
        <p:nvSpPr>
          <p:cNvPr id="14" name="Shape 12"/>
          <p:cNvSpPr/>
          <p:nvPr/>
        </p:nvSpPr>
        <p:spPr>
          <a:xfrm>
            <a:off x="4662984" y="3389461"/>
            <a:ext cx="355600" cy="50800"/>
          </a:xfrm>
          <a:prstGeom prst="roundRect">
            <a:avLst>
              <a:gd name="adj" fmla="val 50000"/>
            </a:avLst>
          </a:prstGeom>
          <a:solidFill>
            <a:srgbClr val="0000FF"/>
          </a:solidFill>
          <a:ln/>
        </p:spPr>
      </p:sp>
      <p:sp>
        <p:nvSpPr>
          <p:cNvPr id="15" name="Text 13"/>
          <p:cNvSpPr/>
          <p:nvPr/>
        </p:nvSpPr>
        <p:spPr>
          <a:xfrm>
            <a:off x="5120184" y="3308201"/>
            <a:ext cx="71085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8"/>
                </a:solidFill>
                <a:latin typeface="IBM Plex Sans" pitchFamily="34" charset="0"/>
                <a:ea typeface="IBM Plex Sans" pitchFamily="34" charset="-122"/>
                <a:cs typeface="IBM Plex Sans" pitchFamily="34" charset="-120"/>
              </a:rPr>
              <a:t>blue lines</a:t>
            </a:r>
            <a:endParaRPr lang="en-US" sz="1200" dirty="0"/>
          </a:p>
        </p:txBody>
      </p:sp>
      <p:sp>
        <p:nvSpPr>
          <p:cNvPr id="16" name="Shape 14"/>
          <p:cNvSpPr/>
          <p:nvPr/>
        </p:nvSpPr>
        <p:spPr>
          <a:xfrm>
            <a:off x="7995692" y="1857325"/>
            <a:ext cx="3380333" cy="1921371"/>
          </a:xfrm>
          <a:prstGeom prst="roundRect">
            <a:avLst>
              <a:gd name="adj" fmla="val 5123"/>
            </a:avLst>
          </a:prstGeom>
          <a:solidFill>
            <a:srgbClr val="FFFDF8"/>
          </a:solidFill>
          <a:ln w="6350">
            <a:solidFill>
              <a:srgbClr val="E2DDD0"/>
            </a:solidFill>
            <a:prstDash val="solid"/>
          </a:ln>
        </p:spPr>
      </p:sp>
      <p:sp>
        <p:nvSpPr>
          <p:cNvPr id="17" name="Text 15"/>
          <p:cNvSpPr/>
          <p:nvPr/>
        </p:nvSpPr>
        <p:spPr>
          <a:xfrm>
            <a:off x="8252867" y="2114500"/>
            <a:ext cx="2951963"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6213A"/>
                </a:solidFill>
                <a:latin typeface="JetBrains Mono" pitchFamily="34" charset="0"/>
                <a:ea typeface="JetBrains Mono" pitchFamily="34" charset="-122"/>
                <a:cs typeface="JetBrains Mono" pitchFamily="34" charset="-120"/>
              </a:rPr>
              <a:t>[2, 2, 2, 1]</a:t>
            </a:r>
            <a:endParaRPr lang="en-US" sz="2200" dirty="0"/>
          </a:p>
        </p:txBody>
      </p:sp>
      <p:sp>
        <p:nvSpPr>
          <p:cNvPr id="18" name="Text 16"/>
          <p:cNvSpPr/>
          <p:nvPr/>
        </p:nvSpPr>
        <p:spPr>
          <a:xfrm>
            <a:off x="8252867" y="2607221"/>
            <a:ext cx="2951963"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Deep: two hidden layers of 2</a:t>
            </a:r>
            <a:endParaRPr lang="en-US" sz="1400" dirty="0"/>
          </a:p>
        </p:txBody>
      </p:sp>
      <p:sp>
        <p:nvSpPr>
          <p:cNvPr id="19" name="Text 17"/>
          <p:cNvSpPr/>
          <p:nvPr/>
        </p:nvSpPr>
        <p:spPr>
          <a:xfrm>
            <a:off x="8252867" y="2957711"/>
            <a:ext cx="2951963" cy="27429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D6F66"/>
                </a:solidFill>
                <a:latin typeface="IBM Plex Sans" pitchFamily="34" charset="0"/>
                <a:ea typeface="IBM Plex Sans" pitchFamily="34" charset="-122"/>
                <a:cs typeface="IBM Plex Sans" pitchFamily="34" charset="-120"/>
              </a:rPr>
              <a:t>30 genes</a:t>
            </a:r>
            <a:endParaRPr lang="en-US" sz="1400" dirty="0"/>
          </a:p>
        </p:txBody>
      </p:sp>
      <p:sp>
        <p:nvSpPr>
          <p:cNvPr id="20" name="Shape 18"/>
          <p:cNvSpPr/>
          <p:nvPr/>
        </p:nvSpPr>
        <p:spPr>
          <a:xfrm>
            <a:off x="8252867" y="3389461"/>
            <a:ext cx="355600" cy="50800"/>
          </a:xfrm>
          <a:prstGeom prst="roundRect">
            <a:avLst>
              <a:gd name="adj" fmla="val 50000"/>
            </a:avLst>
          </a:prstGeom>
          <a:solidFill>
            <a:srgbClr val="008000"/>
          </a:solidFill>
          <a:ln/>
        </p:spPr>
      </p:sp>
      <p:sp>
        <p:nvSpPr>
          <p:cNvPr id="21" name="Text 19"/>
          <p:cNvSpPr/>
          <p:nvPr/>
        </p:nvSpPr>
        <p:spPr>
          <a:xfrm>
            <a:off x="8710067" y="3308201"/>
            <a:ext cx="80034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8"/>
                </a:solidFill>
                <a:latin typeface="IBM Plex Sans" pitchFamily="34" charset="0"/>
                <a:ea typeface="IBM Plex Sans" pitchFamily="34" charset="-122"/>
                <a:cs typeface="IBM Plex Sans" pitchFamily="34" charset="-120"/>
              </a:rPr>
              <a:t>green lines</a:t>
            </a:r>
            <a:endParaRPr lang="en-US" sz="1200" dirty="0"/>
          </a:p>
        </p:txBody>
      </p:sp>
      <p:sp>
        <p:nvSpPr>
          <p:cNvPr id="22" name="Text 20"/>
          <p:cNvSpPr/>
          <p:nvPr/>
        </p:nvSpPr>
        <p:spPr>
          <a:xfrm>
            <a:off x="812800" y="4086671"/>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6213A"/>
                </a:solidFill>
                <a:latin typeface="IBM Plex Sans" pitchFamily="34" charset="0"/>
                <a:ea typeface="IBM Plex Sans" pitchFamily="34" charset="-122"/>
                <a:cs typeface="IBM Plex Sans" pitchFamily="34" charset="-120"/>
              </a:rPr>
              <a:t>5 runs each on the ring task, best fitness per generation, all on one plot.</a:t>
            </a:r>
            <a:endParaRPr lang="en-US" sz="1500" dirty="0"/>
          </a:p>
        </p:txBody>
      </p:sp>
      <p:sp>
        <p:nvSpPr>
          <p:cNvPr id="23" name="Text 21"/>
          <p:cNvSpPr/>
          <p:nvPr/>
        </p:nvSpPr>
        <p:spPr>
          <a:xfrm>
            <a:off x="812800" y="4429571"/>
            <a:ext cx="10883392" cy="798711"/>
          </a:xfrm>
          <a:prstGeom prst="rect">
            <a:avLst/>
          </a:prstGeom>
          <a:noFill/>
          <a:ln/>
        </p:spPr>
        <p:txBody>
          <a:bodyPr wrap="square" lIns="0" tIns="0" rIns="0" bIns="0" rtlCol="0" anchor="t">
            <a:normAutofit/>
          </a:bodyPr>
          <a:lstStyle/>
          <a:p>
            <a:pPr algn="l" marL="213360"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Which shape gets closest to 1.0?</a:t>
            </a:r>
            <a:endParaRPr lang="en-US" sz="1400" dirty="0"/>
          </a:p>
          <a:p>
            <a:pPr algn="l" marL="213360"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Which is most consistent from run to run?</a:t>
            </a:r>
            <a:endParaRPr lang="en-US" sz="1400" dirty="0"/>
          </a:p>
          <a:p>
            <a:pPr algn="l" marL="213360"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Deep with 30 genes or wide with 31: which wins?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4A3D86"/>
        </a:solidFill>
      </p:bgPr>
    </p:bg>
    <p:spTree>
      <p:nvGrpSpPr>
        <p:cNvPr id="1" name=""/>
        <p:cNvGrpSpPr/>
        <p:nvPr/>
      </p:nvGrpSpPr>
      <p:grpSpPr>
        <a:xfrm>
          <a:off x="0" y="0"/>
          <a:ext cx="0" cy="0"/>
          <a:chOff x="0" y="0"/>
          <a:chExt cx="0" cy="0"/>
        </a:xfrm>
      </p:grpSpPr>
      <p:sp>
        <p:nvSpPr>
          <p:cNvPr id="2" name="Text 0"/>
          <p:cNvSpPr/>
          <p:nvPr/>
        </p:nvSpPr>
        <p:spPr>
          <a:xfrm>
            <a:off x="812800" y="234697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DAD3F7"/>
                </a:solidFill>
                <a:latin typeface="IBM Plex Sans" pitchFamily="34" charset="0"/>
                <a:ea typeface="IBM Plex Sans" pitchFamily="34" charset="-122"/>
                <a:cs typeface="IBM Plex Sans" pitchFamily="34" charset="-120"/>
              </a:rPr>
              <a:t>PART 3 · PYTORCH + EVOTORCH</a:t>
            </a:r>
            <a:endParaRPr lang="en-US" sz="1400" dirty="0"/>
          </a:p>
        </p:txBody>
      </p:sp>
      <p:sp>
        <p:nvSpPr>
          <p:cNvPr id="3" name="Text 1"/>
          <p:cNvSpPr/>
          <p:nvPr/>
        </p:nvSpPr>
        <p:spPr>
          <a:xfrm>
            <a:off x="812800" y="2849860"/>
            <a:ext cx="10883392" cy="695920"/>
          </a:xfrm>
          <a:prstGeom prst="rect">
            <a:avLst/>
          </a:prstGeom>
          <a:noFill/>
          <a:ln/>
        </p:spPr>
        <p:txBody>
          <a:bodyPr wrap="square" lIns="0" tIns="0" rIns="0" bIns="0" rtlCol="0" anchor="t">
            <a:normAutofit/>
          </a:bodyPr>
          <a:lstStyle/>
          <a:p>
            <a:pPr algn="l" indent="0" marL="0">
              <a:lnSpc>
                <a:spcPts val="5280"/>
              </a:lnSpc>
              <a:buNone/>
            </a:pPr>
            <a:r>
              <a:rPr lang="en-US" sz="4800" b="1" dirty="0">
                <a:solidFill>
                  <a:srgbClr val="F6F4EE"/>
                </a:solidFill>
                <a:latin typeface="IBM Plex Sans" pitchFamily="34" charset="0"/>
                <a:ea typeface="IBM Plex Sans" pitchFamily="34" charset="-122"/>
                <a:cs typeface="IBM Plex Sans" pitchFamily="34" charset="-120"/>
              </a:rPr>
              <a:t>Same ideas, library-grade tools</a:t>
            </a:r>
            <a:endParaRPr lang="en-US" sz="4800" dirty="0"/>
          </a:p>
        </p:txBody>
      </p:sp>
      <p:sp>
        <p:nvSpPr>
          <p:cNvPr id="4" name="Text 2"/>
          <p:cNvSpPr/>
          <p:nvPr/>
        </p:nvSpPr>
        <p:spPr>
          <a:xfrm>
            <a:off x="812800" y="3774380"/>
            <a:ext cx="9156700" cy="762000"/>
          </a:xfrm>
          <a:prstGeom prst="rect">
            <a:avLst/>
          </a:prstGeom>
          <a:noFill/>
          <a:ln/>
        </p:spPr>
        <p:txBody>
          <a:bodyPr wrap="square" lIns="0" tIns="0" rIns="0" bIns="0" rtlCol="0" anchor="t">
            <a:normAutofit/>
          </a:bodyPr>
          <a:lstStyle/>
          <a:p>
            <a:pPr algn="l" indent="0" marL="0">
              <a:lnSpc>
                <a:spcPts val="2900"/>
              </a:lnSpc>
              <a:buNone/>
            </a:pPr>
            <a:r>
              <a:rPr lang="en-US" sz="2000" dirty="0">
                <a:solidFill>
                  <a:srgbClr val="E4DFF8"/>
                </a:solidFill>
                <a:latin typeface="IBM Plex Sans" pitchFamily="34" charset="0"/>
                <a:ea typeface="IBM Plex Sans" pitchFamily="34" charset="-122"/>
                <a:cs typeface="IBM Plex Sans" pitchFamily="34" charset="-120"/>
              </a:rPr>
              <a:t>Part3/evolve.py rebuilds Part 2 with PyTorch for the network and EvoTorch for the evolutionary algorithm. You already know every piece.</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4B9A"/>
                </a:solidFill>
                <a:latin typeface="IBM Plex Sans" pitchFamily="34" charset="0"/>
                <a:ea typeface="IBM Plex Sans" pitchFamily="34" charset="-122"/>
                <a:cs typeface="IBM Plex Sans" pitchFamily="34" charset="-120"/>
              </a:rPr>
              <a:t>PART 3 · THE TRANSLATION</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13A"/>
                </a:solidFill>
                <a:latin typeface="IBM Plex Sans" pitchFamily="34" charset="0"/>
                <a:ea typeface="IBM Plex Sans" pitchFamily="34" charset="-122"/>
                <a:cs typeface="IBM Plex Sans" pitchFamily="34" charset="-120"/>
              </a:rPr>
              <a:t>Your code, and its library twin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66850"/>
          <a:ext cx="10553700" cy="3326805"/>
        </p:xfrm>
        <a:graphic>
          <a:graphicData uri="http://schemas.openxmlformats.org/drawingml/2006/table">
            <a:tbl>
              <a:tblPr/>
              <a:tblGrid>
                <a:gridCol w="1899666"/>
                <a:gridCol w="3588258"/>
                <a:gridCol w="5065776"/>
              </a:tblGrid>
              <a:tr h="332680">
                <a:tc>
                  <a:txBody>
                    <a:bodyPr/>
                    <a:lstStyle/>
                    <a:p>
                      <a:pPr indent="0" marL="0">
                        <a:lnSpc>
                          <a:spcPts val="1680"/>
                        </a:lnSpc>
                        <a:buNone/>
                      </a:pP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indent="0" marL="0">
                        <a:lnSpc>
                          <a:spcPts val="1680"/>
                        </a:lnSpc>
                        <a:buNone/>
                      </a:pPr>
                      <a:r>
                        <a:rPr lang="en-US" sz="1200" b="1" dirty="0">
                          <a:solidFill>
                            <a:srgbClr val="16213A"/>
                          </a:solidFill>
                          <a:latin typeface="JetBrains Mono" pitchFamily="34" charset="0"/>
                          <a:ea typeface="JetBrains Mono" pitchFamily="34" charset="-122"/>
                          <a:cs typeface="JetBrains Mono" pitchFamily="34" charset="-120"/>
                        </a:rPr>
                        <a:t>Part 2 (our code)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indent="0" marL="0">
                        <a:lnSpc>
                          <a:spcPts val="1680"/>
                        </a:lnSpc>
                        <a:buNone/>
                      </a:pPr>
                      <a:r>
                        <a:rPr lang="en-US" sz="1200" b="1" dirty="0">
                          <a:solidFill>
                            <a:srgbClr val="16213A"/>
                          </a:solidFill>
                          <a:latin typeface="JetBrains Mono" pitchFamily="34" charset="0"/>
                          <a:ea typeface="JetBrains Mono" pitchFamily="34" charset="-122"/>
                          <a:cs typeface="JetBrains Mono" pitchFamily="34" charset="-120"/>
                        </a:rPr>
                        <a:t>Part 3 (PyTorch / EvoTorch)</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r>
              <a:tr h="332680">
                <a:tc>
                  <a:txBody>
                    <a:bodyPr/>
                    <a:lstStyle/>
                    <a:p>
                      <a:pPr indent="0" marL="0">
                        <a:lnSpc>
                          <a:spcPts val="1680"/>
                        </a:lnSpc>
                        <a:buNone/>
                      </a:pPr>
                      <a:r>
                        <a:rPr lang="en-US" sz="1200" dirty="0">
                          <a:solidFill>
                            <a:srgbClr val="16213A"/>
                          </a:solidFill>
                          <a:latin typeface="JetBrains Mono" pitchFamily="34" charset="0"/>
                          <a:ea typeface="JetBrains Mono" pitchFamily="34" charset="-122"/>
                          <a:cs typeface="JetBrains Mono" pitchFamily="34" charset="-120"/>
                        </a:rPr>
                        <a:t>Network</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JetBrains Mono" pitchFamily="34" charset="0"/>
                          <a:ea typeface="JetBrains Mono" pitchFamily="34" charset="-122"/>
                          <a:cs typeface="JetBrains Mono" pitchFamily="34" charset="-120"/>
                        </a:rPr>
                        <a:t>fnn.FNN(layers)</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JetBrains Mono" pitchFamily="34" charset="0"/>
                          <a:ea typeface="JetBrains Mono" pitchFamily="34" charset="-122"/>
                          <a:cs typeface="JetBrains Mono" pitchFamily="34" charset="-120"/>
                        </a:rPr>
                        <a:t>XORNet(nn.Module)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80">
                <a:tc>
                  <a:txBody>
                    <a:bodyPr/>
                    <a:lstStyle/>
                    <a:p>
                      <a:pPr indent="0" marL="0">
                        <a:lnSpc>
                          <a:spcPts val="1680"/>
                        </a:lnSpc>
                        <a:buNone/>
                      </a:pPr>
                      <a:r>
                        <a:rPr lang="en-US" sz="1200" dirty="0">
                          <a:solidFill>
                            <a:srgbClr val="16213A"/>
                          </a:solidFill>
                          <a:latin typeface="JetBrains Mono" pitchFamily="34" charset="0"/>
                          <a:ea typeface="JetBrains Mono" pitchFamily="34" charset="-122"/>
                          <a:cs typeface="JetBrains Mono" pitchFamily="34" charset="-120"/>
                        </a:rPr>
                        <a:t>Layer</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indent="0" marL="0">
                        <a:lnSpc>
                          <a:spcPts val="1680"/>
                        </a:lnSpc>
                        <a:buNone/>
                      </a:pPr>
                      <a:r>
                        <a:rPr lang="en-US" sz="1200" dirty="0">
                          <a:solidFill>
                            <a:srgbClr val="16213A"/>
                          </a:solidFill>
                          <a:latin typeface="JetBrains Mono" pitchFamily="34" charset="0"/>
                          <a:ea typeface="JetBrains Mono" pitchFamily="34" charset="-122"/>
                          <a:cs typeface="JetBrains Mono" pitchFamily="34" charset="-120"/>
                        </a:rPr>
                        <a:t>weights[l], biases[l]</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indent="0" marL="0">
                        <a:lnSpc>
                          <a:spcPts val="1680"/>
                        </a:lnSpc>
                        <a:buNone/>
                      </a:pPr>
                      <a:r>
                        <a:rPr lang="en-US" sz="1200" dirty="0">
                          <a:solidFill>
                            <a:srgbClr val="16213A"/>
                          </a:solidFill>
                          <a:latin typeface="JetBrains Mono" pitchFamily="34" charset="0"/>
                          <a:ea typeface="JetBrains Mono" pitchFamily="34" charset="-122"/>
                          <a:cs typeface="JetBrains Mono" pitchFamily="34" charset="-120"/>
                        </a:rPr>
                        <a:t>nn.Linear(in, out)</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r>
              <a:tr h="332680">
                <a:tc>
                  <a:txBody>
                    <a:bodyPr/>
                    <a:lstStyle/>
                    <a:p>
                      <a:pPr indent="0" marL="0">
                        <a:lnSpc>
                          <a:spcPts val="1680"/>
                        </a:lnSpc>
                        <a:buNone/>
                      </a:pPr>
                      <a:r>
                        <a:rPr lang="en-US" sz="1200" dirty="0">
                          <a:solidFill>
                            <a:srgbClr val="16213A"/>
                          </a:solidFill>
                          <a:latin typeface="JetBrains Mono" pitchFamily="34" charset="0"/>
                          <a:ea typeface="JetBrains Mono" pitchFamily="34" charset="-122"/>
                          <a:cs typeface="JetBrains Mono" pitchFamily="34" charset="-120"/>
                        </a:rPr>
                        <a:t>Genome → net</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JetBrains Mono" pitchFamily="34" charset="0"/>
                          <a:ea typeface="JetBrains Mono" pitchFamily="34" charset="-122"/>
                          <a:cs typeface="JetBrains Mono" pitchFamily="34" charset="-120"/>
                        </a:rPr>
                        <a:t>a.setParams(genotype)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JetBrains Mono" pitchFamily="34" charset="0"/>
                          <a:ea typeface="JetBrains Mono" pitchFamily="34" charset="-122"/>
                          <a:cs typeface="JetBrains Mono" pitchFamily="34" charset="-120"/>
                        </a:rPr>
                        <a:t>vector_to_parameters(g, net.parameters())</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80">
                <a:tc>
                  <a:txBody>
                    <a:bodyPr/>
                    <a:lstStyle/>
                    <a:p>
                      <a:pPr indent="0" marL="0">
                        <a:lnSpc>
                          <a:spcPts val="1680"/>
                        </a:lnSpc>
                        <a:buNone/>
                      </a:pPr>
                      <a:r>
                        <a:rPr lang="en-US" sz="1200" dirty="0">
                          <a:solidFill>
                            <a:srgbClr val="16213A"/>
                          </a:solidFill>
                          <a:latin typeface="JetBrains Mono" pitchFamily="34" charset="0"/>
                          <a:ea typeface="JetBrains Mono" pitchFamily="34" charset="-122"/>
                          <a:cs typeface="JetBrains Mono" pitchFamily="34" charset="-120"/>
                        </a:rPr>
                        <a:t>Fitness</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indent="0" marL="0">
                        <a:lnSpc>
                          <a:spcPts val="1680"/>
                        </a:lnSpc>
                        <a:buNone/>
                      </a:pPr>
                      <a:r>
                        <a:rPr lang="en-US" sz="1200" dirty="0">
                          <a:solidFill>
                            <a:srgbClr val="16213A"/>
                          </a:solidFill>
                          <a:latin typeface="JetBrains Mono" pitchFamily="34" charset="0"/>
                          <a:ea typeface="JetBrains Mono" pitchFamily="34" charset="-122"/>
                          <a:cs typeface="JetBrains Mono" pitchFamily="34" charset="-120"/>
                        </a:rPr>
                        <a:t>fitnessFunction(genotype)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indent="0" marL="0">
                        <a:lnSpc>
                          <a:spcPts val="1680"/>
                        </a:lnSpc>
                        <a:buNone/>
                      </a:pPr>
                      <a:r>
                        <a:rPr lang="en-US" sz="1200" dirty="0">
                          <a:solidFill>
                            <a:srgbClr val="16213A"/>
                          </a:solidFill>
                          <a:latin typeface="JetBrains Mono" pitchFamily="34" charset="0"/>
                          <a:ea typeface="JetBrains Mono" pitchFamily="34" charset="-122"/>
                          <a:cs typeface="JetBrains Mono" pitchFamily="34" charset="-120"/>
                        </a:rPr>
                        <a:t>Problem(objective_func=fitness_fn)</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r>
              <a:tr h="332680">
                <a:tc>
                  <a:txBody>
                    <a:bodyPr/>
                    <a:lstStyle/>
                    <a:p>
                      <a:pPr indent="0" marL="0">
                        <a:lnSpc>
                          <a:spcPts val="1680"/>
                        </a:lnSpc>
                        <a:buNone/>
                      </a:pPr>
                      <a:r>
                        <a:rPr lang="en-US" sz="1200" dirty="0">
                          <a:solidFill>
                            <a:srgbClr val="16213A"/>
                          </a:solidFill>
                          <a:latin typeface="JetBrains Mono" pitchFamily="34" charset="0"/>
                          <a:ea typeface="JetBrains Mono" pitchFamily="34" charset="-122"/>
                          <a:cs typeface="JetBrains Mono" pitchFamily="34" charset="-120"/>
                        </a:rPr>
                        <a:t>Algorithm</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JetBrains Mono" pitchFamily="34" charset="0"/>
                          <a:ea typeface="JetBrains Mono" pitchFamily="34" charset="-122"/>
                          <a:cs typeface="JetBrains Mono" pitchFamily="34" charset="-120"/>
                        </a:rPr>
                        <a:t>ea.Generational(...)</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JetBrains Mono" pitchFamily="34" charset="0"/>
                          <a:ea typeface="JetBrains Mono" pitchFamily="34" charset="-122"/>
                          <a:cs typeface="JetBrains Mono" pitchFamily="34" charset="-120"/>
                        </a:rPr>
                        <a:t>GeneticAlgorithm(problem, ...)</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80">
                <a:tc>
                  <a:txBody>
                    <a:bodyPr/>
                    <a:lstStyle/>
                    <a:p>
                      <a:pPr indent="0" marL="0">
                        <a:lnSpc>
                          <a:spcPts val="1680"/>
                        </a:lnSpc>
                        <a:buNone/>
                      </a:pPr>
                      <a:r>
                        <a:rPr lang="en-US" sz="1200" dirty="0">
                          <a:solidFill>
                            <a:srgbClr val="16213A"/>
                          </a:solidFill>
                          <a:latin typeface="JetBrains Mono" pitchFamily="34" charset="0"/>
                          <a:ea typeface="JetBrains Mono" pitchFamily="34" charset="-122"/>
                          <a:cs typeface="JetBrains Mono" pitchFamily="34" charset="-120"/>
                        </a:rPr>
                        <a:t>Crossover</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indent="0" marL="0">
                        <a:lnSpc>
                          <a:spcPts val="1680"/>
                        </a:lnSpc>
                        <a:buNone/>
                      </a:pPr>
                      <a:r>
                        <a:rPr lang="en-US" sz="1200" dirty="0">
                          <a:solidFill>
                            <a:srgbClr val="16213A"/>
                          </a:solidFill>
                          <a:latin typeface="JetBrains Mono" pitchFamily="34" charset="0"/>
                          <a:ea typeface="JetBrains Mono" pitchFamily="34" charset="-122"/>
                          <a:cs typeface="JetBrains Mono" pitchFamily="34" charset="-120"/>
                        </a:rPr>
                        <a:t>uniform, recombProb</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indent="0" marL="0">
                        <a:lnSpc>
                          <a:spcPts val="1680"/>
                        </a:lnSpc>
                        <a:buNone/>
                      </a:pPr>
                      <a:r>
                        <a:rPr lang="en-US" sz="1200" dirty="0">
                          <a:solidFill>
                            <a:srgbClr val="16213A"/>
                          </a:solidFill>
                          <a:latin typeface="JetBrains Mono" pitchFamily="34" charset="0"/>
                          <a:ea typeface="JetBrains Mono" pitchFamily="34" charset="-122"/>
                          <a:cs typeface="JetBrains Mono" pitchFamily="34" charset="-120"/>
                        </a:rPr>
                        <a:t>SimulatedBinaryCrossOver(...)</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r>
              <a:tr h="332680">
                <a:tc>
                  <a:txBody>
                    <a:bodyPr/>
                    <a:lstStyle/>
                    <a:p>
                      <a:pPr indent="0" marL="0">
                        <a:lnSpc>
                          <a:spcPts val="1680"/>
                        </a:lnSpc>
                        <a:buNone/>
                      </a:pPr>
                      <a:r>
                        <a:rPr lang="en-US" sz="1200" dirty="0">
                          <a:solidFill>
                            <a:srgbClr val="16213A"/>
                          </a:solidFill>
                          <a:latin typeface="JetBrains Mono" pitchFamily="34" charset="0"/>
                          <a:ea typeface="JetBrains Mono" pitchFamily="34" charset="-122"/>
                          <a:cs typeface="JetBrains Mono" pitchFamily="34" charset="-120"/>
                        </a:rPr>
                        <a:t>Mutation</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JetBrains Mono" pitchFamily="34" charset="0"/>
                          <a:ea typeface="JetBrains Mono" pitchFamily="34" charset="-122"/>
                          <a:cs typeface="JetBrains Mono" pitchFamily="34" charset="-120"/>
                        </a:rPr>
                        <a:t>Gaussian, mutatStd</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JetBrains Mono" pitchFamily="34" charset="0"/>
                          <a:ea typeface="JetBrains Mono" pitchFamily="34" charset="-122"/>
                          <a:cs typeface="JetBrains Mono" pitchFamily="34" charset="-120"/>
                        </a:rPr>
                        <a:t>GaussianMutation(stdev=...)</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32680">
                <a:tc>
                  <a:txBody>
                    <a:bodyPr/>
                    <a:lstStyle/>
                    <a:p>
                      <a:pPr indent="0" marL="0">
                        <a:lnSpc>
                          <a:spcPts val="1680"/>
                        </a:lnSpc>
                        <a:buNone/>
                      </a:pPr>
                      <a:r>
                        <a:rPr lang="en-US" sz="1200" dirty="0">
                          <a:solidFill>
                            <a:srgbClr val="16213A"/>
                          </a:solidFill>
                          <a:latin typeface="JetBrains Mono" pitchFamily="34" charset="0"/>
                          <a:ea typeface="JetBrains Mono" pitchFamily="34" charset="-122"/>
                          <a:cs typeface="JetBrains Mono" pitchFamily="34" charset="-120"/>
                        </a:rPr>
                        <a:t>Elitism</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indent="0" marL="0">
                        <a:lnSpc>
                          <a:spcPts val="1680"/>
                        </a:lnSpc>
                        <a:buNone/>
                      </a:pPr>
                      <a:r>
                        <a:rPr lang="en-US" sz="1200" dirty="0">
                          <a:solidFill>
                            <a:srgbClr val="16213A"/>
                          </a:solidFill>
                          <a:latin typeface="JetBrains Mono" pitchFamily="34" charset="0"/>
                          <a:ea typeface="JetBrains Mono" pitchFamily="34" charset="-122"/>
                          <a:cs typeface="JetBrains Mono" pitchFamily="34" charset="-120"/>
                        </a:rPr>
                        <a:t>eliteprop = 0.1</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indent="0" marL="0">
                        <a:lnSpc>
                          <a:spcPts val="1680"/>
                        </a:lnSpc>
                        <a:buNone/>
                      </a:pPr>
                      <a:r>
                        <a:rPr lang="en-US" sz="1200" dirty="0">
                          <a:solidFill>
                            <a:srgbClr val="16213A"/>
                          </a:solidFill>
                          <a:latin typeface="JetBrains Mono" pitchFamily="34" charset="0"/>
                          <a:ea typeface="JetBrains Mono" pitchFamily="34" charset="-122"/>
                          <a:cs typeface="JetBrains Mono" pitchFamily="34" charset="-120"/>
                        </a:rPr>
                        <a:t>elitist=True</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r>
              <a:tr h="332680">
                <a:tc>
                  <a:txBody>
                    <a:bodyPr/>
                    <a:lstStyle/>
                    <a:p>
                      <a:pPr indent="0" marL="0">
                        <a:lnSpc>
                          <a:spcPts val="1680"/>
                        </a:lnSpc>
                        <a:buNone/>
                      </a:pPr>
                      <a:r>
                        <a:rPr lang="en-US" sz="1200" dirty="0">
                          <a:solidFill>
                            <a:srgbClr val="16213A"/>
                          </a:solidFill>
                          <a:latin typeface="JetBrains Mono" pitchFamily="34" charset="0"/>
                          <a:ea typeface="JetBrains Mono" pitchFamily="34" charset="-122"/>
                          <a:cs typeface="JetBrains Mono" pitchFamily="34" charset="-120"/>
                        </a:rPr>
                        <a:t>Main loop</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JetBrains Mono" pitchFamily="34" charset="0"/>
                          <a:ea typeface="JetBrains Mono" pitchFamily="34" charset="-122"/>
                          <a:cs typeface="JetBrains Mono" pitchFamily="34" charset="-120"/>
                        </a:rPr>
                        <a:t>ga.run()</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680"/>
                        </a:lnSpc>
                        <a:buNone/>
                      </a:pPr>
                      <a:r>
                        <a:rPr lang="en-US" sz="1200" dirty="0">
                          <a:solidFill>
                            <a:srgbClr val="16213A"/>
                          </a:solidFill>
                          <a:latin typeface="JetBrains Mono" pitchFamily="34" charset="0"/>
                          <a:ea typeface="JetBrains Mono" pitchFamily="34" charset="-122"/>
                          <a:cs typeface="JetBrains Mono" pitchFamily="34" charset="-120"/>
                        </a:rPr>
                        <a:t>algorithm.step(), once per generation</a:t>
                      </a:r>
                      <a:endParaRPr lang="en-US" sz="1200" dirty="0">
                        <a:latin typeface="JetBrains Mono" charset="0"/>
                        <a:ea typeface="JetBrains Mono" charset="0"/>
                        <a:cs typeface="JetBrains Mono" charset="0"/>
                      </a:endParaRPr>
                    </a:p>
                  </a:txBody>
                  <a:tcPr marL="53340" marR="53340" marT="53340" marB="53340"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4B9A"/>
                </a:solidFill>
                <a:latin typeface="IBM Plex Sans" pitchFamily="34" charset="0"/>
                <a:ea typeface="IBM Plex Sans" pitchFamily="34" charset="-122"/>
                <a:cs typeface="IBM Plex Sans" pitchFamily="34" charset="-120"/>
              </a:rPr>
              <a:t>PART 3 · STEP 1</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13A"/>
                </a:solidFill>
                <a:latin typeface="IBM Plex Sans" pitchFamily="34" charset="0"/>
                <a:ea typeface="IBM Plex Sans" pitchFamily="34" charset="-122"/>
                <a:cs typeface="IBM Plex Sans" pitchFamily="34" charset="-120"/>
              </a:rPr>
              <a:t>The network is an nn.Module</a:t>
            </a:r>
            <a:endParaRPr lang="en-US" sz="3200" dirty="0"/>
          </a:p>
        </p:txBody>
      </p:sp>
      <p:sp>
        <p:nvSpPr>
          <p:cNvPr id="4" name="Shape 2"/>
          <p:cNvSpPr/>
          <p:nvPr/>
        </p:nvSpPr>
        <p:spPr>
          <a:xfrm>
            <a:off x="812800" y="1854150"/>
            <a:ext cx="5715000" cy="3106093"/>
          </a:xfrm>
          <a:prstGeom prst="roundRect">
            <a:avLst>
              <a:gd name="adj" fmla="val 3271"/>
            </a:avLst>
          </a:prstGeom>
          <a:solidFill>
            <a:srgbClr val="16213A"/>
          </a:solidFill>
          <a:ln/>
        </p:spPr>
      </p:sp>
      <p:sp>
        <p:nvSpPr>
          <p:cNvPr id="5" name="Text 3"/>
          <p:cNvSpPr/>
          <p:nvPr/>
        </p:nvSpPr>
        <p:spPr>
          <a:xfrm>
            <a:off x="1066800" y="2108150"/>
            <a:ext cx="5363210" cy="2623493"/>
          </a:xfrm>
          <a:prstGeom prst="rect">
            <a:avLst/>
          </a:prstGeom>
          <a:noFill/>
          <a:ln/>
        </p:spPr>
        <p:txBody>
          <a:bodyPr wrap="square" lIns="0" tIns="0" rIns="0" bIns="0" rtlCol="0" anchor="t">
            <a:normAutofit/>
          </a:bodyPr>
          <a:lstStyle/>
          <a:p>
            <a:pPr algn="l" indent="0" marL="0">
              <a:lnSpc>
                <a:spcPts val="1860"/>
              </a:lnSpc>
              <a:buNone/>
            </a:pPr>
            <a:r>
              <a:rPr lang="en-US" sz="1200" dirty="0">
                <a:solidFill>
                  <a:srgbClr val="8FA0B8"/>
                </a:solidFill>
                <a:latin typeface="JetBrains Mono" pitchFamily="34" charset="0"/>
                <a:ea typeface="JetBrains Mono" pitchFamily="34" charset="-122"/>
                <a:cs typeface="JetBrains Mono" pitchFamily="34" charset="-120"/>
              </a:rPr>
              <a:t># Part3/evolve.py (trimmed)</a:t>
            </a:r>
            <a:endParaRPr lang="en-US" sz="1200" dirty="0"/>
          </a:p>
          <a:p>
            <a:pPr algn="l" indent="0" marL="0">
              <a:lnSpc>
                <a:spcPts val="1860"/>
              </a:lnSpc>
              <a:buNone/>
            </a:pPr>
            <a:r>
              <a:rPr lang="en-US" sz="1200" dirty="0">
                <a:solidFill>
                  <a:srgbClr val="B7A9F0"/>
                </a:solidFill>
                <a:latin typeface="JetBrains Mono" pitchFamily="34" charset="0"/>
                <a:ea typeface="JetBrains Mono" pitchFamily="34" charset="-122"/>
                <a:cs typeface="JetBrains Mono" pitchFamily="34" charset="-120"/>
              </a:rPr>
              <a:t>class</a:t>
            </a:r>
            <a:r>
              <a:rPr lang="en-US" sz="1200" dirty="0">
                <a:solidFill>
                  <a:srgbClr val="E8E4D8"/>
                </a:solidFill>
                <a:latin typeface="JetBrains Mono" pitchFamily="34" charset="0"/>
                <a:ea typeface="JetBrains Mono" pitchFamily="34" charset="-122"/>
                <a:cs typeface="JetBrains Mono" pitchFamily="34" charset="-120"/>
              </a:rPr>
              <a:t> XORNet(nn.Module):</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    </a:t>
            </a:r>
            <a:r>
              <a:rPr lang="en-US" sz="1200" dirty="0">
                <a:solidFill>
                  <a:srgbClr val="B7A9F0"/>
                </a:solidFill>
                <a:latin typeface="JetBrains Mono" pitchFamily="34" charset="0"/>
                <a:ea typeface="JetBrains Mono" pitchFamily="34" charset="-122"/>
                <a:cs typeface="JetBrains Mono" pitchFamily="34" charset="-120"/>
              </a:rPr>
              <a:t>def</a:t>
            </a:r>
            <a:r>
              <a:rPr lang="en-US" sz="1200" dirty="0">
                <a:solidFill>
                  <a:srgbClr val="E8E4D8"/>
                </a:solidFill>
                <a:latin typeface="JetBrains Mono" pitchFamily="34" charset="0"/>
                <a:ea typeface="JetBrains Mono" pitchFamily="34" charset="-122"/>
                <a:cs typeface="JetBrains Mono" pitchFamily="34" charset="-120"/>
              </a:rPr>
              <a:t> __init__(self, hidden=3, activation="tanh"):</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        super().__init__()</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        self.net = nn.Sequential(</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            nn.Linear(2, hidden),</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            self.ACTIVATIONS[activation](),</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            nn.Linear(hidden, 1))</a:t>
            </a:r>
            <a:endParaRPr lang="en-US" sz="1200" dirty="0"/>
          </a:p>
          <a:p>
            <a:pPr algn="l" indent="0" marL="0">
              <a:lnSpc>
                <a:spcPts val="1860"/>
              </a:lnSpc>
              <a:buNone/>
            </a:pP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    </a:t>
            </a:r>
            <a:r>
              <a:rPr lang="en-US" sz="1200" dirty="0">
                <a:solidFill>
                  <a:srgbClr val="B7A9F0"/>
                </a:solidFill>
                <a:latin typeface="JetBrains Mono" pitchFamily="34" charset="0"/>
                <a:ea typeface="JetBrains Mono" pitchFamily="34" charset="-122"/>
                <a:cs typeface="JetBrains Mono" pitchFamily="34" charset="-120"/>
              </a:rPr>
              <a:t>def</a:t>
            </a:r>
            <a:r>
              <a:rPr lang="en-US" sz="1200" dirty="0">
                <a:solidFill>
                  <a:srgbClr val="E8E4D8"/>
                </a:solidFill>
                <a:latin typeface="JetBrains Mono" pitchFamily="34" charset="0"/>
                <a:ea typeface="JetBrains Mono" pitchFamily="34" charset="-122"/>
                <a:cs typeface="JetBrains Mono" pitchFamily="34" charset="-120"/>
              </a:rPr>
              <a:t> forward(self, x):</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        </a:t>
            </a:r>
            <a:r>
              <a:rPr lang="en-US" sz="1200" dirty="0">
                <a:solidFill>
                  <a:srgbClr val="B7A9F0"/>
                </a:solidFill>
                <a:latin typeface="JetBrains Mono" pitchFamily="34" charset="0"/>
                <a:ea typeface="JetBrains Mono" pitchFamily="34" charset="-122"/>
                <a:cs typeface="JetBrains Mono" pitchFamily="34" charset="-120"/>
              </a:rPr>
              <a:t>return</a:t>
            </a:r>
            <a:r>
              <a:rPr lang="en-US" sz="1200" dirty="0">
                <a:solidFill>
                  <a:srgbClr val="E8E4D8"/>
                </a:solidFill>
                <a:latin typeface="JetBrains Mono" pitchFamily="34" charset="0"/>
                <a:ea typeface="JetBrains Mono" pitchFamily="34" charset="-122"/>
                <a:cs typeface="JetBrains Mono" pitchFamily="34" charset="-120"/>
              </a:rPr>
              <a:t> self.net(x)</a:t>
            </a:r>
            <a:endParaRPr lang="en-US" sz="1200" dirty="0"/>
          </a:p>
        </p:txBody>
      </p:sp>
      <p:sp>
        <p:nvSpPr>
          <p:cNvPr id="6" name="Text 4"/>
          <p:cNvSpPr/>
          <p:nvPr/>
        </p:nvSpPr>
        <p:spPr>
          <a:xfrm>
            <a:off x="6934200" y="1854150"/>
            <a:ext cx="4578350" cy="4013250"/>
          </a:xfrm>
          <a:prstGeom prst="rect">
            <a:avLst/>
          </a:prstGeom>
          <a:noFill/>
          <a:ln/>
        </p:spPr>
        <p:txBody>
          <a:bodyPr wrap="square" lIns="0" tIns="0" rIns="0" bIns="0" rtlCol="0" anchor="t">
            <a:normAutofit/>
          </a:bodyPr>
          <a:lstStyle/>
          <a:p>
            <a:pPr algn="l" marL="213360"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nn.Linear(2, 3) holds a 3×2 weight matrix and 3 biases: the same numbers as wIH and bH.</a:t>
            </a:r>
            <a:endParaRPr lang="en-US" sz="1400" dirty="0"/>
          </a:p>
          <a:p>
            <a:pPr algn="l" marL="213360"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Genome for hidden = 3: (2×3 + 3) + (3×1 + 1) = </a:t>
            </a:r>
            <a:r>
              <a:rPr lang="en-US" sz="1400" b="1" dirty="0">
                <a:solidFill>
                  <a:srgbClr val="3E4A5C"/>
                </a:solidFill>
                <a:latin typeface="IBM Plex Sans" pitchFamily="34" charset="0"/>
                <a:ea typeface="IBM Plex Sans" pitchFamily="34" charset="-122"/>
                <a:cs typeface="IBM Plex Sans" pitchFamily="34" charset="-120"/>
              </a:rPr>
              <a:t>13 numbers</a:t>
            </a:r>
            <a:r>
              <a:rPr lang="en-US" sz="1400" dirty="0">
                <a:solidFill>
                  <a:srgbClr val="3E4A5C"/>
                </a:solidFill>
                <a:latin typeface="IBM Plex Sans" pitchFamily="34" charset="0"/>
                <a:ea typeface="IBM Plex Sans" pitchFamily="34" charset="-122"/>
                <a:cs typeface="IBM Plex Sans" pitchFamily="34" charset="-120"/>
              </a:rPr>
              <a:t>. No activation genes.</a:t>
            </a:r>
            <a:endParaRPr lang="en-US" sz="1400" dirty="0"/>
          </a:p>
          <a:p>
            <a:pPr algn="l" marL="213360"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The output isn't squashed. Its </a:t>
            </a:r>
            <a:r>
              <a:rPr lang="en-US" sz="1400" b="1" dirty="0">
                <a:solidFill>
                  <a:srgbClr val="3E4A5C"/>
                </a:solidFill>
                <a:latin typeface="IBM Plex Sans" pitchFamily="34" charset="0"/>
                <a:ea typeface="IBM Plex Sans" pitchFamily="34" charset="-122"/>
                <a:cs typeface="IBM Plex Sans" pitchFamily="34" charset="-120"/>
              </a:rPr>
              <a:t>sign</a:t>
            </a:r>
            <a:r>
              <a:rPr lang="en-US" sz="1400" dirty="0">
                <a:solidFill>
                  <a:srgbClr val="3E4A5C"/>
                </a:solidFill>
                <a:latin typeface="IBM Plex Sans" pitchFamily="34" charset="0"/>
                <a:ea typeface="IBM Plex Sans" pitchFamily="34" charset="-122"/>
                <a:cs typeface="IBM Plex Sans" pitchFamily="34" charset="-120"/>
              </a:rPr>
              <a:t> is the answer: positive means class 1.</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4B9A"/>
                </a:solidFill>
                <a:latin typeface="IBM Plex Sans" pitchFamily="34" charset="0"/>
                <a:ea typeface="IBM Plex Sans" pitchFamily="34" charset="-122"/>
                <a:cs typeface="IBM Plex Sans" pitchFamily="34" charset="-120"/>
              </a:rPr>
              <a:t>PART 3 · STEP 2</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13A"/>
                </a:solidFill>
                <a:latin typeface="IBM Plex Sans" pitchFamily="34" charset="0"/>
                <a:ea typeface="IBM Plex Sans" pitchFamily="34" charset="-122"/>
                <a:cs typeface="IBM Plex Sans" pitchFamily="34" charset="-120"/>
              </a:rPr>
              <a:t>A Problem, then an algorithm</a:t>
            </a:r>
            <a:endParaRPr lang="en-US" sz="3200" dirty="0"/>
          </a:p>
        </p:txBody>
      </p:sp>
      <p:sp>
        <p:nvSpPr>
          <p:cNvPr id="4" name="Shape 2"/>
          <p:cNvSpPr/>
          <p:nvPr/>
        </p:nvSpPr>
        <p:spPr>
          <a:xfrm>
            <a:off x="812800" y="1854150"/>
            <a:ext cx="5715000" cy="3578473"/>
          </a:xfrm>
          <a:prstGeom prst="roundRect">
            <a:avLst>
              <a:gd name="adj" fmla="val 2839"/>
            </a:avLst>
          </a:prstGeom>
          <a:solidFill>
            <a:srgbClr val="16213A"/>
          </a:solidFill>
          <a:ln/>
        </p:spPr>
      </p:sp>
      <p:sp>
        <p:nvSpPr>
          <p:cNvPr id="5" name="Text 3"/>
          <p:cNvSpPr/>
          <p:nvPr/>
        </p:nvSpPr>
        <p:spPr>
          <a:xfrm>
            <a:off x="1066800" y="2108150"/>
            <a:ext cx="5363210" cy="3095873"/>
          </a:xfrm>
          <a:prstGeom prst="rect">
            <a:avLst/>
          </a:prstGeom>
          <a:noFill/>
          <a:ln/>
        </p:spPr>
        <p:txBody>
          <a:bodyPr wrap="square" lIns="0" tIns="0" rIns="0" bIns="0" rtlCol="0" anchor="t">
            <a:normAutofit/>
          </a:bodyPr>
          <a:lstStyle/>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problem = Problem(</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    objective_sense="max", objective_func=fitness_fn,</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    solution_length=n_genes, initial_bounds=(-1, 1),</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    vectorized=True)</a:t>
            </a:r>
            <a:endParaRPr lang="en-US" sz="1200" dirty="0"/>
          </a:p>
          <a:p>
            <a:pPr algn="l" indent="0" marL="0">
              <a:lnSpc>
                <a:spcPts val="1860"/>
              </a:lnSpc>
              <a:buNone/>
            </a:pP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algorithm = GeneticAlgorithm(</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    problem, popsize=100, elitist=True,</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    operators=[</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        SimulatedBinaryCrossOver(problem, eta=20),</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        GaussianMutation(problem, stdev=0.5)])</a:t>
            </a:r>
            <a:endParaRPr lang="en-US" sz="1200" dirty="0"/>
          </a:p>
          <a:p>
            <a:pPr algn="l" indent="0" marL="0">
              <a:lnSpc>
                <a:spcPts val="1860"/>
              </a:lnSpc>
              <a:buNone/>
            </a:pPr>
            <a:endParaRPr lang="en-US" sz="1200" dirty="0"/>
          </a:p>
          <a:p>
            <a:pPr algn="l" indent="0" marL="0">
              <a:lnSpc>
                <a:spcPts val="1860"/>
              </a:lnSpc>
              <a:buNone/>
            </a:pPr>
            <a:r>
              <a:rPr lang="en-US" sz="1200" dirty="0">
                <a:solidFill>
                  <a:srgbClr val="B7A9F0"/>
                </a:solidFill>
                <a:latin typeface="JetBrains Mono" pitchFamily="34" charset="0"/>
                <a:ea typeface="JetBrains Mono" pitchFamily="34" charset="-122"/>
                <a:cs typeface="JetBrains Mono" pitchFamily="34" charset="-120"/>
              </a:rPr>
              <a:t>for</a:t>
            </a:r>
            <a:r>
              <a:rPr lang="en-US" sz="1200" dirty="0">
                <a:solidFill>
                  <a:srgbClr val="E8E4D8"/>
                </a:solidFill>
                <a:latin typeface="JetBrains Mono" pitchFamily="34" charset="0"/>
                <a:ea typeface="JetBrains Mono" pitchFamily="34" charset="-122"/>
                <a:cs typeface="JetBrains Mono" pitchFamily="34" charset="-120"/>
              </a:rPr>
              <a:t> gen </a:t>
            </a:r>
            <a:r>
              <a:rPr lang="en-US" sz="1200" dirty="0">
                <a:solidFill>
                  <a:srgbClr val="B7A9F0"/>
                </a:solidFill>
                <a:latin typeface="JetBrains Mono" pitchFamily="34" charset="0"/>
                <a:ea typeface="JetBrains Mono" pitchFamily="34" charset="-122"/>
                <a:cs typeface="JetBrains Mono" pitchFamily="34" charset="-120"/>
              </a:rPr>
              <a:t>in</a:t>
            </a:r>
            <a:r>
              <a:rPr lang="en-US" sz="1200" dirty="0">
                <a:solidFill>
                  <a:srgbClr val="E8E4D8"/>
                </a:solidFill>
                <a:latin typeface="JetBrains Mono" pitchFamily="34" charset="0"/>
                <a:ea typeface="JetBrains Mono" pitchFamily="34" charset="-122"/>
                <a:cs typeface="JetBrains Mono" pitchFamily="34" charset="-120"/>
              </a:rPr>
              <a:t> range(gens):</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    algorithm.step()</a:t>
            </a:r>
            <a:endParaRPr lang="en-US" sz="1200" dirty="0"/>
          </a:p>
        </p:txBody>
      </p:sp>
      <p:sp>
        <p:nvSpPr>
          <p:cNvPr id="6" name="Text 4"/>
          <p:cNvSpPr/>
          <p:nvPr/>
        </p:nvSpPr>
        <p:spPr>
          <a:xfrm>
            <a:off x="6934200" y="1854150"/>
            <a:ext cx="457835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5B4B9A"/>
                </a:solidFill>
                <a:latin typeface="IBM Plex Sans" pitchFamily="34" charset="0"/>
                <a:ea typeface="IBM Plex Sans" pitchFamily="34" charset="-122"/>
                <a:cs typeface="IBM Plex Sans" pitchFamily="34" charset="-120"/>
              </a:rPr>
              <a:t>Problem</a:t>
            </a:r>
            <a:endParaRPr lang="en-US" sz="1600" dirty="0"/>
          </a:p>
        </p:txBody>
      </p:sp>
      <p:sp>
        <p:nvSpPr>
          <p:cNvPr id="7" name="Text 5"/>
          <p:cNvSpPr/>
          <p:nvPr/>
        </p:nvSpPr>
        <p:spPr>
          <a:xfrm>
            <a:off x="6934200" y="2148780"/>
            <a:ext cx="457835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What to optimize: genome length, starting range, and the fitness function to maximize.</a:t>
            </a:r>
            <a:endParaRPr lang="en-US" sz="1400" dirty="0"/>
          </a:p>
        </p:txBody>
      </p:sp>
      <p:sp>
        <p:nvSpPr>
          <p:cNvPr id="8" name="Text 6"/>
          <p:cNvSpPr/>
          <p:nvPr/>
        </p:nvSpPr>
        <p:spPr>
          <a:xfrm>
            <a:off x="6934200" y="2824361"/>
            <a:ext cx="457835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5B4B9A"/>
                </a:solidFill>
                <a:latin typeface="IBM Plex Sans" pitchFamily="34" charset="0"/>
                <a:ea typeface="IBM Plex Sans" pitchFamily="34" charset="-122"/>
                <a:cs typeface="IBM Plex Sans" pitchFamily="34" charset="-120"/>
              </a:rPr>
              <a:t>vectorized=True</a:t>
            </a:r>
            <a:endParaRPr lang="en-US" sz="1600" dirty="0"/>
          </a:p>
        </p:txBody>
      </p:sp>
      <p:sp>
        <p:nvSpPr>
          <p:cNvPr id="9" name="Text 7"/>
          <p:cNvSpPr/>
          <p:nvPr/>
        </p:nvSpPr>
        <p:spPr>
          <a:xfrm>
            <a:off x="6934200" y="3118991"/>
            <a:ext cx="457835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The fitness function gets all 100 genomes as one tensor and scores them in one shot, so it can run on a GPU.</a:t>
            </a:r>
            <a:endParaRPr lang="en-US" sz="1400" dirty="0"/>
          </a:p>
        </p:txBody>
      </p:sp>
      <p:sp>
        <p:nvSpPr>
          <p:cNvPr id="10" name="Text 8"/>
          <p:cNvSpPr/>
          <p:nvPr/>
        </p:nvSpPr>
        <p:spPr>
          <a:xfrm>
            <a:off x="6934200" y="3794571"/>
            <a:ext cx="457835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5B4B9A"/>
                </a:solidFill>
                <a:latin typeface="IBM Plex Sans" pitchFamily="34" charset="0"/>
                <a:ea typeface="IBM Plex Sans" pitchFamily="34" charset="-122"/>
                <a:cs typeface="IBM Plex Sans" pitchFamily="34" charset="-120"/>
              </a:rPr>
              <a:t>step()</a:t>
            </a:r>
            <a:endParaRPr lang="en-US" sz="1600" dirty="0"/>
          </a:p>
        </p:txBody>
      </p:sp>
      <p:sp>
        <p:nvSpPr>
          <p:cNvPr id="11" name="Text 9"/>
          <p:cNvSpPr/>
          <p:nvPr/>
        </p:nvSpPr>
        <p:spPr>
          <a:xfrm>
            <a:off x="6934200" y="4089202"/>
            <a:ext cx="4578350"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E4A5C"/>
                </a:solidFill>
                <a:latin typeface="IBM Plex Sans" pitchFamily="34" charset="0"/>
                <a:ea typeface="IBM Plex Sans" pitchFamily="34" charset="-122"/>
                <a:cs typeface="IBM Plex Sans" pitchFamily="34" charset="-120"/>
              </a:rPr>
              <a:t>One generation. You own the loop, so you can log, plot or stop early.</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4B9A"/>
                </a:solidFill>
                <a:latin typeface="IBM Plex Sans" pitchFamily="34" charset="0"/>
                <a:ea typeface="IBM Plex Sans" pitchFamily="34" charset="-122"/>
                <a:cs typeface="IBM Plex Sans" pitchFamily="34" charset="-120"/>
              </a:rPr>
              <a:t>PART 3 · DEMO</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13A"/>
                </a:solidFill>
                <a:latin typeface="IBM Plex Sans" pitchFamily="34" charset="0"/>
                <a:ea typeface="IBM Plex Sans" pitchFamily="34" charset="-122"/>
                <a:cs typeface="IBM Plex Sans" pitchFamily="34" charset="-120"/>
              </a:rPr>
              <a:t>Run it: experiments are flags</a:t>
            </a:r>
            <a:endParaRPr lang="en-US" sz="3200" dirty="0"/>
          </a:p>
        </p:txBody>
      </p:sp>
      <p:sp>
        <p:nvSpPr>
          <p:cNvPr id="4" name="Shape 2"/>
          <p:cNvSpPr/>
          <p:nvPr/>
        </p:nvSpPr>
        <p:spPr>
          <a:xfrm>
            <a:off x="812800" y="1854150"/>
            <a:ext cx="6223000" cy="3106093"/>
          </a:xfrm>
          <a:prstGeom prst="roundRect">
            <a:avLst>
              <a:gd name="adj" fmla="val 3271"/>
            </a:avLst>
          </a:prstGeom>
          <a:solidFill>
            <a:srgbClr val="16213A"/>
          </a:solidFill>
          <a:ln/>
        </p:spPr>
      </p:sp>
      <p:sp>
        <p:nvSpPr>
          <p:cNvPr id="5" name="Text 3"/>
          <p:cNvSpPr/>
          <p:nvPr/>
        </p:nvSpPr>
        <p:spPr>
          <a:xfrm>
            <a:off x="1066800" y="2108150"/>
            <a:ext cx="5886450" cy="2623493"/>
          </a:xfrm>
          <a:prstGeom prst="rect">
            <a:avLst/>
          </a:prstGeom>
          <a:noFill/>
          <a:ln/>
        </p:spPr>
        <p:txBody>
          <a:bodyPr wrap="square" lIns="0" tIns="0" rIns="0" bIns="0" rtlCol="0" anchor="t">
            <a:normAutofit/>
          </a:bodyPr>
          <a:lstStyle/>
          <a:p>
            <a:pPr algn="l" indent="0" marL="0">
              <a:lnSpc>
                <a:spcPts val="1860"/>
              </a:lnSpc>
              <a:buNone/>
            </a:pPr>
            <a:r>
              <a:rPr lang="en-US" sz="1200" dirty="0">
                <a:solidFill>
                  <a:srgbClr val="8FA0B8"/>
                </a:solidFill>
                <a:latin typeface="JetBrains Mono" pitchFamily="34" charset="0"/>
                <a:ea typeface="JetBrains Mono" pitchFamily="34" charset="-122"/>
                <a:cs typeface="JetBrains Mono" pitchFamily="34" charset="-120"/>
              </a:rPr>
              <a:t># XOR, with fitness plot and decision boundary</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python evolve.py --vizperf --vizbound</a:t>
            </a:r>
            <a:endParaRPr lang="en-US" sz="1200" dirty="0"/>
          </a:p>
          <a:p>
            <a:pPr algn="l" indent="0" marL="0">
              <a:lnSpc>
                <a:spcPts val="1860"/>
              </a:lnSpc>
              <a:buNone/>
            </a:pPr>
            <a:endParaRPr lang="en-US" sz="1200" dirty="0"/>
          </a:p>
          <a:p>
            <a:pPr algn="l" indent="0" marL="0">
              <a:lnSpc>
                <a:spcPts val="1860"/>
              </a:lnSpc>
              <a:buNone/>
            </a:pPr>
            <a:r>
              <a:rPr lang="en-US" sz="1200" dirty="0">
                <a:solidFill>
                  <a:srgbClr val="8FA0B8"/>
                </a:solidFill>
                <a:latin typeface="JetBrains Mono" pitchFamily="34" charset="0"/>
                <a:ea typeface="JetBrains Mono" pitchFamily="34" charset="-122"/>
                <a:cs typeface="JetBrains Mono" pitchFamily="34" charset="-120"/>
              </a:rPr>
              <a:t># Can one hidden unit solve XOR?</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python evolve.py --hidden 1 --vizbound</a:t>
            </a:r>
            <a:endParaRPr lang="en-US" sz="1200" dirty="0"/>
          </a:p>
          <a:p>
            <a:pPr algn="l" indent="0" marL="0">
              <a:lnSpc>
                <a:spcPts val="1860"/>
              </a:lnSpc>
              <a:buNone/>
            </a:pPr>
            <a:endParaRPr lang="en-US" sz="1200" dirty="0"/>
          </a:p>
          <a:p>
            <a:pPr algn="l" indent="0" marL="0">
              <a:lnSpc>
                <a:spcPts val="1860"/>
              </a:lnSpc>
              <a:buNone/>
            </a:pPr>
            <a:r>
              <a:rPr lang="en-US" sz="1200" dirty="0">
                <a:solidFill>
                  <a:srgbClr val="8FA0B8"/>
                </a:solidFill>
                <a:latin typeface="JetBrains Mono" pitchFamily="34" charset="0"/>
                <a:ea typeface="JetBrains Mono" pitchFamily="34" charset="-122"/>
                <a:cs typeface="JetBrains Mono" pitchFamily="34" charset="-120"/>
              </a:rPr>
              <a:t># Two hidden layers, 8 points on a circle</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python evolve.py --hidden_sizes 4 4 --convex 8 --vizbound</a:t>
            </a:r>
            <a:endParaRPr lang="en-US" sz="1200" dirty="0"/>
          </a:p>
          <a:p>
            <a:pPr algn="l" indent="0" marL="0">
              <a:lnSpc>
                <a:spcPts val="1860"/>
              </a:lnSpc>
              <a:buNone/>
            </a:pPr>
            <a:endParaRPr lang="en-US" sz="1200" dirty="0"/>
          </a:p>
          <a:p>
            <a:pPr algn="l" indent="0" marL="0">
              <a:lnSpc>
                <a:spcPts val="1860"/>
              </a:lnSpc>
              <a:buNone/>
            </a:pPr>
            <a:r>
              <a:rPr lang="en-US" sz="1200" dirty="0">
                <a:solidFill>
                  <a:srgbClr val="8FA0B8"/>
                </a:solidFill>
                <a:latin typeface="JetBrains Mono" pitchFamily="34" charset="0"/>
                <a:ea typeface="JetBrains Mono" pitchFamily="34" charset="-122"/>
                <a:cs typeface="JetBrains Mono" pitchFamily="34" charset="-120"/>
              </a:rPr>
              <a:t># Mutation only: does crossover help?</a:t>
            </a:r>
            <a:endParaRPr lang="en-US" sz="1200" dirty="0"/>
          </a:p>
          <a:p>
            <a:pPr algn="l" indent="0" marL="0">
              <a:lnSpc>
                <a:spcPts val="1860"/>
              </a:lnSpc>
              <a:buNone/>
            </a:pPr>
            <a:r>
              <a:rPr lang="en-US" sz="1200" dirty="0">
                <a:solidFill>
                  <a:srgbClr val="E8E4D8"/>
                </a:solidFill>
                <a:latin typeface="JetBrains Mono" pitchFamily="34" charset="0"/>
                <a:ea typeface="JetBrains Mono" pitchFamily="34" charset="-122"/>
                <a:cs typeface="JetBrains Mono" pitchFamily="34" charset="-120"/>
              </a:rPr>
              <a:t>python evolve.py --no-crossover --verbose</a:t>
            </a:r>
            <a:endParaRPr lang="en-US" sz="1200" dirty="0"/>
          </a:p>
        </p:txBody>
      </p:sp>
      <p:sp>
        <p:nvSpPr>
          <p:cNvPr id="6" name="Text 4"/>
          <p:cNvSpPr/>
          <p:nvPr/>
        </p:nvSpPr>
        <p:spPr>
          <a:xfrm>
            <a:off x="7442200" y="1854150"/>
            <a:ext cx="4055110" cy="26923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6213A"/>
                </a:solidFill>
                <a:latin typeface="IBM Plex Sans" pitchFamily="34" charset="0"/>
                <a:ea typeface="IBM Plex Sans" pitchFamily="34" charset="-122"/>
                <a:cs typeface="IBM Plex Sans" pitchFamily="34" charset="-120"/>
              </a:rPr>
              <a:t>Also try</a:t>
            </a:r>
            <a:endParaRPr lang="en-US" sz="1600" dirty="0"/>
          </a:p>
        </p:txBody>
      </p:sp>
      <p:sp>
        <p:nvSpPr>
          <p:cNvPr id="7" name="Text 5"/>
          <p:cNvSpPr/>
          <p:nvPr/>
        </p:nvSpPr>
        <p:spPr>
          <a:xfrm>
            <a:off x="7442200" y="2224980"/>
            <a:ext cx="4055110" cy="1314252"/>
          </a:xfrm>
          <a:prstGeom prst="rect">
            <a:avLst/>
          </a:prstGeom>
          <a:noFill/>
          <a:ln/>
        </p:spPr>
        <p:txBody>
          <a:bodyPr wrap="square" lIns="0" tIns="0" rIns="0" bIns="0" rtlCol="0" anchor="t">
            <a:normAutofit/>
          </a:bodyPr>
          <a:lstStyle/>
          <a:p>
            <a:pPr algn="l" marL="213360"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--task and, or, xnor</a:t>
            </a:r>
            <a:endParaRPr lang="en-US" sz="1400" dirty="0"/>
          </a:p>
          <a:p>
            <a:pPr algn="l" marL="213360"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--activation relu</a:t>
            </a:r>
            <a:endParaRPr lang="en-US" sz="1400" dirty="0"/>
          </a:p>
          <a:p>
            <a:pPr algn="l" marL="213360"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--random 10</a:t>
            </a:r>
            <a:endParaRPr lang="en-US" sz="1400" dirty="0"/>
          </a:p>
          <a:p>
            <a:pPr algn="l" marL="213360"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--seed 1 for repeatable runs</a:t>
            </a:r>
            <a:endParaRPr lang="en-US" sz="1400" dirty="0"/>
          </a:p>
          <a:p>
            <a:pPr algn="l" marL="213360" indent="-175768">
              <a:lnSpc>
                <a:spcPts val="2030"/>
              </a:lnSpc>
              <a:buSzPct val="100000"/>
              <a:buChar char="•"/>
            </a:pPr>
            <a:r>
              <a:rPr lang="en-US" sz="1400" dirty="0">
                <a:solidFill>
                  <a:srgbClr val="3E4A5C"/>
                </a:solidFill>
                <a:latin typeface="IBM Plex Sans" pitchFamily="34" charset="0"/>
                <a:ea typeface="IBM Plex Sans" pitchFamily="34" charset="-122"/>
                <a:cs typeface="IBM Plex Sans" pitchFamily="34" charset="-120"/>
              </a:rPr>
              <a:t>--device cuda or mps</a:t>
            </a:r>
            <a:endParaRPr lang="en-US" sz="1400" dirty="0"/>
          </a:p>
        </p:txBody>
      </p:sp>
      <p:sp>
        <p:nvSpPr>
          <p:cNvPr id="8" name="Text 6"/>
          <p:cNvSpPr/>
          <p:nvPr/>
        </p:nvSpPr>
        <p:spPr>
          <a:xfrm>
            <a:off x="7442200" y="5628680"/>
            <a:ext cx="405511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878"/>
                </a:solidFill>
                <a:latin typeface="JetBrains Mono" pitchFamily="34" charset="0"/>
                <a:ea typeface="JetBrains Mono" pitchFamily="34" charset="-122"/>
                <a:cs typeface="JetBrains Mono" pitchFamily="34" charset="-120"/>
              </a:rPr>
              <a:t>python evolve.py --help</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878"/>
                </a:solidFill>
                <a:latin typeface="IBM Plex Sans" pitchFamily="34" charset="0"/>
                <a:ea typeface="IBM Plex Sans" pitchFamily="34" charset="-122"/>
                <a:cs typeface="IBM Plex Sans" pitchFamily="34" charset="-120"/>
              </a:rPr>
              <a:t>WRAP-UP</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13A"/>
                </a:solidFill>
                <a:latin typeface="IBM Plex Sans" pitchFamily="34" charset="0"/>
                <a:ea typeface="IBM Plex Sans" pitchFamily="34" charset="-122"/>
                <a:cs typeface="IBM Plex Sans" pitchFamily="34" charset="-120"/>
              </a:rPr>
              <a:t>Backprop vs. evolution</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66850"/>
          <a:ext cx="10553700" cy="2387054"/>
        </p:xfrm>
        <a:graphic>
          <a:graphicData uri="http://schemas.openxmlformats.org/drawingml/2006/table">
            <a:tbl>
              <a:tblPr/>
              <a:tblGrid>
                <a:gridCol w="2321814"/>
                <a:gridCol w="4115943"/>
                <a:gridCol w="4115943"/>
              </a:tblGrid>
              <a:tr h="359321">
                <a:tc>
                  <a:txBody>
                    <a:bodyPr/>
                    <a:lstStyle/>
                    <a:p>
                      <a:pPr indent="0" marL="0">
                        <a:lnSpc>
                          <a:spcPts val="1820"/>
                        </a:lnSpc>
                        <a:buNone/>
                      </a:pP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tc>
                  <a:txBody>
                    <a:bodyPr/>
                    <a:lstStyle/>
                    <a:p>
                      <a:pPr indent="0" marL="0">
                        <a:lnSpc>
                          <a:spcPts val="1820"/>
                        </a:lnSpc>
                        <a:buNone/>
                      </a:pPr>
                      <a:r>
                        <a:rPr lang="en-US" sz="1300" b="1" dirty="0">
                          <a:solidFill>
                            <a:srgbClr val="F2A65A"/>
                          </a:solidFill>
                          <a:latin typeface="IBM Plex Sans" pitchFamily="34" charset="0"/>
                          <a:ea typeface="IBM Plex Sans" pitchFamily="34" charset="-122"/>
                          <a:cs typeface="IBM Plex Sans" pitchFamily="34" charset="-120"/>
                        </a:rPr>
                        <a:t>Backprop (Part 1)</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61E31"/>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tc>
                  <a:txBody>
                    <a:bodyPr/>
                    <a:lstStyle/>
                    <a:p>
                      <a:pPr indent="0" marL="0">
                        <a:lnSpc>
                          <a:spcPts val="1820"/>
                        </a:lnSpc>
                        <a:buNone/>
                      </a:pPr>
                      <a:r>
                        <a:rPr lang="en-US" sz="1300" b="1" dirty="0">
                          <a:solidFill>
                            <a:srgbClr val="7FD1C4"/>
                          </a:solidFill>
                          <a:latin typeface="IBM Plex Sans" pitchFamily="34" charset="0"/>
                          <a:ea typeface="IBM Plex Sans" pitchFamily="34" charset="-122"/>
                          <a:cs typeface="IBM Plex Sans" pitchFamily="34" charset="-120"/>
                        </a:rPr>
                        <a:t>Evolution (Part 2)</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161E31"/>
                      </a:solidFill>
                      <a:prstDash val="solid"/>
                      <a:round/>
                      <a:headEnd type="none" w="med" len="med"/>
                      <a:tailEnd type="none" w="med" len="med"/>
                    </a:lnL>
                    <a:lnR w="12700" cap="flat" cmpd="sng" algn="ctr">
                      <a:solidFill>
                        <a:srgbClr val="161E3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61E31"/>
                      </a:solidFill>
                      <a:prstDash val="solid"/>
                      <a:round/>
                      <a:headEnd type="none" w="med" len="med"/>
                      <a:tailEnd type="none" w="med" len="med"/>
                    </a:lnB>
                    <a:solidFill>
                      <a:srgbClr val="16213A"/>
                    </a:solidFill>
                  </a:tcPr>
                </a:tc>
              </a:tr>
              <a:tr h="359321">
                <a:tc>
                  <a:txBody>
                    <a:bodyPr/>
                    <a:lstStyle/>
                    <a:p>
                      <a:pPr indent="0" marL="0">
                        <a:lnSpc>
                          <a:spcPts val="1820"/>
                        </a:lnSpc>
                        <a:buNone/>
                      </a:pPr>
                      <a:r>
                        <a:rPr lang="en-US" sz="1300" dirty="0">
                          <a:solidFill>
                            <a:srgbClr val="16213A"/>
                          </a:solidFill>
                          <a:latin typeface="IBM Plex Sans" pitchFamily="34" charset="0"/>
                          <a:ea typeface="IBM Plex Sans" pitchFamily="34" charset="-122"/>
                          <a:cs typeface="IBM Plex Sans" pitchFamily="34" charset="-120"/>
                        </a:rPr>
                        <a:t>Needs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6213A"/>
                          </a:solidFill>
                          <a:latin typeface="IBM Plex Sans" pitchFamily="34" charset="0"/>
                          <a:ea typeface="IBM Plex Sans" pitchFamily="34" charset="-122"/>
                          <a:cs typeface="IBM Plex Sans" pitchFamily="34" charset="-120"/>
                        </a:rPr>
                        <a:t>A differentiable network and error</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6213A"/>
                          </a:solidFill>
                          <a:latin typeface="IBM Plex Sans" pitchFamily="34" charset="0"/>
                          <a:ea typeface="IBM Plex Sans" pitchFamily="34" charset="-122"/>
                          <a:cs typeface="IBM Plex Sans" pitchFamily="34" charset="-120"/>
                        </a:rPr>
                        <a:t>Only a fitness score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161E3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59321">
                <a:tc>
                  <a:txBody>
                    <a:bodyPr/>
                    <a:lstStyle/>
                    <a:p>
                      <a:pPr indent="0" marL="0">
                        <a:lnSpc>
                          <a:spcPts val="1820"/>
                        </a:lnSpc>
                        <a:buNone/>
                      </a:pPr>
                      <a:r>
                        <a:rPr lang="en-US" sz="1300" dirty="0">
                          <a:solidFill>
                            <a:srgbClr val="16213A"/>
                          </a:solidFill>
                          <a:latin typeface="IBM Plex Sans" pitchFamily="34" charset="0"/>
                          <a:ea typeface="IBM Plex Sans" pitchFamily="34" charset="-122"/>
                          <a:cs typeface="IBM Plex Sans" pitchFamily="34" charset="-120"/>
                        </a:rPr>
                        <a:t>Tunes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indent="0" marL="0">
                        <a:lnSpc>
                          <a:spcPts val="1820"/>
                        </a:lnSpc>
                        <a:buNone/>
                      </a:pPr>
                      <a:r>
                        <a:rPr lang="en-US" sz="1300" dirty="0">
                          <a:solidFill>
                            <a:srgbClr val="16213A"/>
                          </a:solidFill>
                          <a:latin typeface="IBM Plex Sans" pitchFamily="34" charset="0"/>
                          <a:ea typeface="IBM Plex Sans" pitchFamily="34" charset="-122"/>
                          <a:cs typeface="IBM Plex Sans" pitchFamily="34" charset="-120"/>
                        </a:rPr>
                        <a:t>Weights and biases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indent="0" marL="0">
                        <a:lnSpc>
                          <a:spcPts val="1820"/>
                        </a:lnSpc>
                        <a:buNone/>
                      </a:pPr>
                      <a:r>
                        <a:rPr lang="en-US" sz="1300" dirty="0">
                          <a:solidFill>
                            <a:srgbClr val="16213A"/>
                          </a:solidFill>
                          <a:latin typeface="IBM Plex Sans" pitchFamily="34" charset="0"/>
                          <a:ea typeface="IBM Plex Sans" pitchFamily="34" charset="-122"/>
                          <a:cs typeface="IBM Plex Sans" pitchFamily="34" charset="-120"/>
                        </a:rPr>
                        <a:t>Weights, biases and activation functions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r>
              <a:tr h="359321">
                <a:tc>
                  <a:txBody>
                    <a:bodyPr/>
                    <a:lstStyle/>
                    <a:p>
                      <a:pPr indent="0" marL="0">
                        <a:lnSpc>
                          <a:spcPts val="1820"/>
                        </a:lnSpc>
                        <a:buNone/>
                      </a:pPr>
                      <a:r>
                        <a:rPr lang="en-US" sz="1300" dirty="0">
                          <a:solidFill>
                            <a:srgbClr val="16213A"/>
                          </a:solidFill>
                          <a:latin typeface="IBM Plex Sans" pitchFamily="34" charset="0"/>
                          <a:ea typeface="IBM Plex Sans" pitchFamily="34" charset="-122"/>
                          <a:cs typeface="IBM Plex Sans" pitchFamily="34" charset="-120"/>
                        </a:rPr>
                        <a:t>Moves by</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6213A"/>
                          </a:solidFill>
                          <a:latin typeface="IBM Plex Sans" pitchFamily="34" charset="0"/>
                          <a:ea typeface="IBM Plex Sans" pitchFamily="34" charset="-122"/>
                          <a:cs typeface="IBM Plex Sans" pitchFamily="34" charset="-120"/>
                        </a:rPr>
                        <a:t>Following the gradient, one example at a time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6213A"/>
                          </a:solidFill>
                          <a:latin typeface="IBM Plex Sans" pitchFamily="34" charset="0"/>
                          <a:ea typeface="IBM Plex Sans" pitchFamily="34" charset="-122"/>
                          <a:cs typeface="IBM Plex Sans" pitchFamily="34" charset="-120"/>
                        </a:rPr>
                        <a:t>Variation and selection across a population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r h="359321">
                <a:tc>
                  <a:txBody>
                    <a:bodyPr/>
                    <a:lstStyle/>
                    <a:p>
                      <a:pPr indent="0" marL="0">
                        <a:lnSpc>
                          <a:spcPts val="1820"/>
                        </a:lnSpc>
                        <a:buNone/>
                      </a:pPr>
                      <a:r>
                        <a:rPr lang="en-US" sz="1300" dirty="0">
                          <a:solidFill>
                            <a:srgbClr val="16213A"/>
                          </a:solidFill>
                          <a:latin typeface="IBM Plex Sans" pitchFamily="34" charset="0"/>
                          <a:ea typeface="IBM Plex Sans" pitchFamily="34" charset="-122"/>
                          <a:cs typeface="IBM Plex Sans" pitchFamily="34" charset="-120"/>
                        </a:rPr>
                        <a:t>Cost per step</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indent="0" marL="0">
                        <a:lnSpc>
                          <a:spcPts val="1820"/>
                        </a:lnSpc>
                        <a:buNone/>
                      </a:pPr>
                      <a:r>
                        <a:rPr lang="en-US" sz="1300" dirty="0">
                          <a:solidFill>
                            <a:srgbClr val="16213A"/>
                          </a:solidFill>
                          <a:latin typeface="IBM Plex Sans" pitchFamily="34" charset="0"/>
                          <a:ea typeface="IBM Plex Sans" pitchFamily="34" charset="-122"/>
                          <a:cs typeface="IBM Plex Sans" pitchFamily="34" charset="-120"/>
                        </a:rPr>
                        <a:t>One forward and one backward pass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c>
                  <a:txBody>
                    <a:bodyPr/>
                    <a:lstStyle/>
                    <a:p>
                      <a:pPr indent="0" marL="0">
                        <a:lnSpc>
                          <a:spcPts val="1820"/>
                        </a:lnSpc>
                        <a:buNone/>
                      </a:pPr>
                      <a:r>
                        <a:rPr lang="en-US" sz="1300" dirty="0">
                          <a:solidFill>
                            <a:srgbClr val="16213A"/>
                          </a:solidFill>
                          <a:latin typeface="IBM Plex Sans" pitchFamily="34" charset="0"/>
                          <a:ea typeface="IBM Plex Sans" pitchFamily="34" charset="-122"/>
                          <a:cs typeface="IBM Plex Sans" pitchFamily="34" charset="-120"/>
                        </a:rPr>
                        <a:t>popsize fitness evaluations per generation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BCB9B1"/>
                      </a:solidFill>
                      <a:prstDash val="solid"/>
                      <a:round/>
                      <a:headEnd type="none" w="med" len="med"/>
                      <a:tailEnd type="none" w="med" len="med"/>
                    </a:lnL>
                    <a:lnR w="12700" cap="flat" cmpd="sng" algn="ctr">
                      <a:solidFill>
                        <a:srgbClr val="BCB9B1"/>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BCB9B1"/>
                      </a:solidFill>
                      <a:prstDash val="solid"/>
                      <a:round/>
                      <a:headEnd type="none" w="med" len="med"/>
                      <a:tailEnd type="none" w="med" len="med"/>
                    </a:lnB>
                    <a:solidFill>
                      <a:srgbClr val="ECE8DE"/>
                    </a:solidFill>
                  </a:tcPr>
                </a:tc>
              </a:tr>
              <a:tr h="590451">
                <a:tc>
                  <a:txBody>
                    <a:bodyPr/>
                    <a:lstStyle/>
                    <a:p>
                      <a:pPr indent="0" marL="0">
                        <a:lnSpc>
                          <a:spcPts val="1820"/>
                        </a:lnSpc>
                        <a:buNone/>
                      </a:pPr>
                      <a:r>
                        <a:rPr lang="en-US" sz="1300" dirty="0">
                          <a:solidFill>
                            <a:srgbClr val="16213A"/>
                          </a:solidFill>
                          <a:latin typeface="IBM Plex Sans" pitchFamily="34" charset="0"/>
                          <a:ea typeface="IBM Plex Sans" pitchFamily="34" charset="-122"/>
                          <a:cs typeface="IBM Plex Sans" pitchFamily="34" charset="-120"/>
                        </a:rPr>
                        <a:t>Gets stuck when</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6213A"/>
                          </a:solidFill>
                          <a:latin typeface="IBM Plex Sans" pitchFamily="34" charset="0"/>
                          <a:ea typeface="IBM Plex Sans" pitchFamily="34" charset="-122"/>
                          <a:cs typeface="IBM Plex Sans" pitchFamily="34" charset="-120"/>
                        </a:rPr>
                        <a:t>Plateaus, flat sigmoids, unlucky starting weights</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c>
                  <a:txBody>
                    <a:bodyPr/>
                    <a:lstStyle/>
                    <a:p>
                      <a:pPr indent="0" marL="0">
                        <a:lnSpc>
                          <a:spcPts val="1820"/>
                        </a:lnSpc>
                        <a:buNone/>
                      </a:pPr>
                      <a:r>
                        <a:rPr lang="en-US" sz="1300" dirty="0">
                          <a:solidFill>
                            <a:srgbClr val="16213A"/>
                          </a:solidFill>
                          <a:latin typeface="IBM Plex Sans" pitchFamily="34" charset="0"/>
                          <a:ea typeface="IBM Plex Sans" pitchFamily="34" charset="-122"/>
                          <a:cs typeface="IBM Plex Sans" pitchFamily="34" charset="-120"/>
                        </a:rPr>
                        <a:t>Diversity runs out, or mutation is too small or too large</a:t>
                      </a:r>
                      <a:endParaRPr lang="en-US" sz="1300" dirty="0">
                        <a:latin typeface="IBM Plex Sans" charset="0"/>
                        <a:ea typeface="IBM Plex Sans" charset="0"/>
                        <a:cs typeface="IBM Plex Sans" charset="0"/>
                      </a:endParaRPr>
                    </a:p>
                  </a:txBody>
                  <a:tcPr marL="57785" marR="57785" marT="57785" marB="57785" anchor="t">
                    <a:lnL w="12700" cap="flat" cmpd="sng" algn="ctr">
                      <a:solidFill>
                        <a:srgbClr val="C4C3BE"/>
                      </a:solidFill>
                      <a:prstDash val="solid"/>
                      <a:round/>
                      <a:headEnd type="none" w="med" len="med"/>
                      <a:tailEnd type="none" w="med" len="med"/>
                    </a:lnL>
                    <a:lnR w="12700" cap="flat" cmpd="sng" algn="ctr">
                      <a:solidFill>
                        <a:srgbClr val="C4C3BE"/>
                      </a:solidFill>
                      <a:prstDash val="solid"/>
                      <a:round/>
                      <a:headEnd type="none" w="med" len="med"/>
                      <a:tailEnd type="none" w="med" len="med"/>
                    </a:lnR>
                    <a:lnT w="12700" cap="flat" cmpd="sng" algn="ctr">
                      <a:solidFill>
                        <a:srgbClr val="BCB9B1"/>
                      </a:solidFill>
                      <a:prstDash val="solid"/>
                      <a:round/>
                      <a:headEnd type="none" w="med" len="med"/>
                      <a:tailEnd type="none" w="med" len="med"/>
                    </a:lnT>
                    <a:lnB w="12700" cap="flat" cmpd="sng" algn="ctr">
                      <a:solidFill>
                        <a:srgbClr val="C4C3BE"/>
                      </a:solidFill>
                      <a:prstDash val="solid"/>
                      <a:round/>
                      <a:headEnd type="none" w="med" len="med"/>
                      <a:tailEnd type="none" w="med" len="med"/>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4EE"/>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E6878"/>
                </a:solidFill>
                <a:latin typeface="IBM Plex Sans" pitchFamily="34" charset="0"/>
                <a:ea typeface="IBM Plex Sans" pitchFamily="34" charset="-122"/>
                <a:cs typeface="IBM Plex Sans" pitchFamily="34" charset="-120"/>
              </a:rPr>
              <a:t>YOUR TURN</a:t>
            </a:r>
            <a:endParaRPr lang="en-US" sz="1200" dirty="0"/>
          </a:p>
        </p:txBody>
      </p:sp>
      <p:sp>
        <p:nvSpPr>
          <p:cNvPr id="3" name="Text 1"/>
          <p:cNvSpPr/>
          <p:nvPr/>
        </p:nvSpPr>
        <p:spPr>
          <a:xfrm>
            <a:off x="812800" y="1102320"/>
            <a:ext cx="10883392" cy="472430"/>
          </a:xfrm>
          <a:prstGeom prst="rect">
            <a:avLst/>
          </a:prstGeom>
          <a:noFill/>
          <a:ln/>
        </p:spPr>
        <p:txBody>
          <a:bodyPr wrap="square" lIns="0" tIns="0" rIns="0" bIns="0" rtlCol="0" anchor="t">
            <a:normAutofit/>
          </a:bodyPr>
          <a:lstStyle/>
          <a:p>
            <a:pPr algn="l" indent="0" marL="0">
              <a:lnSpc>
                <a:spcPts val="3520"/>
              </a:lnSpc>
              <a:buNone/>
            </a:pPr>
            <a:r>
              <a:rPr lang="en-US" sz="3200" b="1" dirty="0">
                <a:solidFill>
                  <a:srgbClr val="16213A"/>
                </a:solidFill>
                <a:latin typeface="IBM Plex Sans" pitchFamily="34" charset="0"/>
                <a:ea typeface="IBM Plex Sans" pitchFamily="34" charset="-122"/>
                <a:cs typeface="IBM Plex Sans" pitchFamily="34" charset="-120"/>
              </a:rPr>
              <a:t>Try it yourself</a:t>
            </a:r>
            <a:endParaRPr lang="en-US" sz="3200" dirty="0"/>
          </a:p>
        </p:txBody>
      </p:sp>
      <p:sp>
        <p:nvSpPr>
          <p:cNvPr id="4" name="Shape 2"/>
          <p:cNvSpPr/>
          <p:nvPr/>
        </p:nvSpPr>
        <p:spPr>
          <a:xfrm>
            <a:off x="812800" y="1854150"/>
            <a:ext cx="5181600" cy="3987850"/>
          </a:xfrm>
          <a:prstGeom prst="roundRect">
            <a:avLst>
              <a:gd name="adj" fmla="val 2548"/>
            </a:avLst>
          </a:prstGeom>
          <a:solidFill>
            <a:srgbClr val="FFFDF8"/>
          </a:solidFill>
          <a:ln/>
        </p:spPr>
      </p:sp>
      <p:sp>
        <p:nvSpPr>
          <p:cNvPr id="5" name="Shape 3"/>
          <p:cNvSpPr/>
          <p:nvPr/>
        </p:nvSpPr>
        <p:spPr>
          <a:xfrm>
            <a:off x="812800" y="1854150"/>
            <a:ext cx="5181600" cy="3987850"/>
          </a:xfrm>
          <a:custGeom>
            <a:avLst/>
            <a:gdLst/>
            <a:ahLst/>
            <a:cxnLst/>
            <a:rect l="l" t="t" r="r" b="b"/>
            <a:pathLst>
              <a:path w="5181600" h="3987850">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B4521C"/>
          </a:solidFill>
          <a:ln/>
        </p:spPr>
      </p:sp>
      <p:sp>
        <p:nvSpPr>
          <p:cNvPr id="6" name="Text 4"/>
          <p:cNvSpPr/>
          <p:nvPr/>
        </p:nvSpPr>
        <p:spPr>
          <a:xfrm>
            <a:off x="1117600" y="2209750"/>
            <a:ext cx="47091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21C"/>
                </a:solidFill>
                <a:latin typeface="IBM Plex Sans" pitchFamily="34" charset="0"/>
                <a:ea typeface="IBM Plex Sans" pitchFamily="34" charset="-122"/>
                <a:cs typeface="IBM Plex Sans" pitchFamily="34" charset="-120"/>
              </a:rPr>
              <a:t>PART 1 · BACKPROP</a:t>
            </a:r>
            <a:endParaRPr lang="en-US" sz="1200" dirty="0"/>
          </a:p>
        </p:txBody>
      </p:sp>
      <p:sp>
        <p:nvSpPr>
          <p:cNvPr id="7" name="Text 5"/>
          <p:cNvSpPr/>
          <p:nvPr/>
        </p:nvSpPr>
        <p:spPr>
          <a:xfrm>
            <a:off x="1117600" y="2575471"/>
            <a:ext cx="4709160" cy="1572022"/>
          </a:xfrm>
          <a:prstGeom prst="rect">
            <a:avLst/>
          </a:prstGeom>
          <a:noFill/>
          <a:ln/>
        </p:spPr>
        <p:txBody>
          <a:bodyPr wrap="square" lIns="0" tIns="0" rIns="0" bIns="0" rtlCol="0" anchor="t">
            <a:normAutofit/>
          </a:bodyPr>
          <a:lstStyle/>
          <a:p>
            <a:pPr algn="l" marL="213360" indent="-213360">
              <a:lnSpc>
                <a:spcPts val="2030"/>
              </a:lnSpc>
              <a:buSzPct val="100000"/>
              <a:buFontTx/>
              <a:buAutoNum type="arabicPeriod" startAt="1"/>
            </a:pPr>
            <a:r>
              <a:rPr lang="en-US" sz="1400" dirty="0">
                <a:solidFill>
                  <a:srgbClr val="3E4A5C"/>
                </a:solidFill>
                <a:latin typeface="IBM Plex Sans" pitchFamily="34" charset="0"/>
                <a:ea typeface="IBM Plex Sans" pitchFamily="34" charset="-122"/>
                <a:cs typeface="IBM Plex Sans" pitchFamily="34" charset="-120"/>
              </a:rPr>
              <a:t>Use 2 hidden units (train.py:11). How many of the 20 networks still solve XOR?</a:t>
            </a:r>
            <a:endParaRPr lang="en-US" sz="1400" dirty="0"/>
          </a:p>
          <a:p>
            <a:pPr algn="l" marL="213360" indent="-213360">
              <a:lnSpc>
                <a:spcPts val="2030"/>
              </a:lnSpc>
              <a:buSzPct val="100000"/>
              <a:buFontTx/>
              <a:buAutoNum type="arabicPeriod" startAt="1"/>
            </a:pPr>
            <a:r>
              <a:rPr lang="en-US" sz="1400" dirty="0">
                <a:solidFill>
                  <a:srgbClr val="3E4A5C"/>
                </a:solidFill>
                <a:latin typeface="IBM Plex Sans" pitchFamily="34" charset="0"/>
                <a:ea typeface="IBM Plex Sans" pitchFamily="34" charset="-122"/>
                <a:cs typeface="IBM Plex Sans" pitchFamily="34" charset="-120"/>
              </a:rPr>
              <a:t>Set self.lc to 0.01, then 1.0 (perceptron.py:34). What happens to the error curves?</a:t>
            </a:r>
            <a:endParaRPr lang="en-US" sz="1400" dirty="0"/>
          </a:p>
          <a:p>
            <a:pPr algn="l" marL="213360" indent="-213360">
              <a:lnSpc>
                <a:spcPts val="2030"/>
              </a:lnSpc>
              <a:buSzPct val="100000"/>
              <a:buFontTx/>
              <a:buAutoNum type="arabicPeriod" startAt="1"/>
            </a:pPr>
            <a:r>
              <a:rPr lang="en-US" sz="1400" dirty="0">
                <a:solidFill>
                  <a:srgbClr val="3E4A5C"/>
                </a:solidFill>
                <a:latin typeface="IBM Plex Sans" pitchFamily="34" charset="0"/>
                <a:ea typeface="IBM Plex Sans" pitchFamily="34" charset="-122"/>
                <a:cs typeface="IBM Plex Sans" pitchFamily="34" charset="-120"/>
              </a:rPr>
              <a:t>Train on AND: target = [0, 0, 0, 1]. Is a hidden layer still needed?</a:t>
            </a:r>
            <a:endParaRPr lang="en-US" sz="1400" dirty="0"/>
          </a:p>
        </p:txBody>
      </p:sp>
      <p:sp>
        <p:nvSpPr>
          <p:cNvPr id="8" name="Shape 6"/>
          <p:cNvSpPr/>
          <p:nvPr/>
        </p:nvSpPr>
        <p:spPr>
          <a:xfrm>
            <a:off x="6197600" y="1854150"/>
            <a:ext cx="5181600" cy="3987850"/>
          </a:xfrm>
          <a:prstGeom prst="roundRect">
            <a:avLst>
              <a:gd name="adj" fmla="val 2548"/>
            </a:avLst>
          </a:prstGeom>
          <a:solidFill>
            <a:srgbClr val="FFFDF8"/>
          </a:solidFill>
          <a:ln/>
        </p:spPr>
      </p:sp>
      <p:sp>
        <p:nvSpPr>
          <p:cNvPr id="9" name="Shape 7"/>
          <p:cNvSpPr/>
          <p:nvPr/>
        </p:nvSpPr>
        <p:spPr>
          <a:xfrm>
            <a:off x="6197600" y="1854150"/>
            <a:ext cx="5181600" cy="3987850"/>
          </a:xfrm>
          <a:custGeom>
            <a:avLst/>
            <a:gdLst/>
            <a:ahLst/>
            <a:cxnLst/>
            <a:rect l="l" t="t" r="r" b="b"/>
            <a:pathLst>
              <a:path w="5181600" h="3987850">
                <a:moveTo>
                  <a:pt x="0" y="101600"/>
                </a:moveTo>
                <a:lnTo>
                  <a:pt x="0" y="101600"/>
                </a:lnTo>
                <a:arcTo hR="101600" wR="101600" stAng="10800000" swAng="5400000"/>
                <a:lnTo>
                  <a:pt x="5080000" y="0"/>
                </a:lnTo>
                <a:arcTo hR="101600" wR="101600" stAng="16200000" swAng="5400000"/>
                <a:lnTo>
                  <a:pt x="5181600" y="101600"/>
                </a:lnTo>
                <a:arcTo hR="50800" wR="101600" stAng="0" swAng="-5400000"/>
                <a:lnTo>
                  <a:pt x="101600" y="50800"/>
                </a:lnTo>
                <a:arcTo hR="50800" wR="101600" stAng="16200000" swAng="-5400000"/>
                <a:close/>
              </a:path>
            </a:pathLst>
          </a:custGeom>
          <a:solidFill>
            <a:srgbClr val="1D6F66"/>
          </a:solidFill>
          <a:ln/>
        </p:spPr>
      </p:sp>
      <p:sp>
        <p:nvSpPr>
          <p:cNvPr id="10" name="Text 8"/>
          <p:cNvSpPr/>
          <p:nvPr/>
        </p:nvSpPr>
        <p:spPr>
          <a:xfrm>
            <a:off x="6502400" y="2209750"/>
            <a:ext cx="470916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D6F66"/>
                </a:solidFill>
                <a:latin typeface="IBM Plex Sans" pitchFamily="34" charset="0"/>
                <a:ea typeface="IBM Plex Sans" pitchFamily="34" charset="-122"/>
                <a:cs typeface="IBM Plex Sans" pitchFamily="34" charset="-120"/>
              </a:rPr>
              <a:t>PART 2 · EVOLUTION</a:t>
            </a:r>
            <a:endParaRPr lang="en-US" sz="1200" dirty="0"/>
          </a:p>
        </p:txBody>
      </p:sp>
      <p:sp>
        <p:nvSpPr>
          <p:cNvPr id="11" name="Text 9"/>
          <p:cNvSpPr/>
          <p:nvPr/>
        </p:nvSpPr>
        <p:spPr>
          <a:xfrm>
            <a:off x="6502400" y="2575471"/>
            <a:ext cx="4709160" cy="1572022"/>
          </a:xfrm>
          <a:prstGeom prst="rect">
            <a:avLst/>
          </a:prstGeom>
          <a:noFill/>
          <a:ln/>
        </p:spPr>
        <p:txBody>
          <a:bodyPr wrap="square" lIns="0" tIns="0" rIns="0" bIns="0" rtlCol="0" anchor="t">
            <a:normAutofit/>
          </a:bodyPr>
          <a:lstStyle/>
          <a:p>
            <a:pPr algn="l" marL="213360" indent="-213360">
              <a:lnSpc>
                <a:spcPts val="2030"/>
              </a:lnSpc>
              <a:buSzPct val="100000"/>
              <a:buFontTx/>
              <a:buAutoNum type="arabicPeriod" startAt="1"/>
            </a:pPr>
            <a:r>
              <a:rPr lang="en-US" sz="1400" dirty="0">
                <a:solidFill>
                  <a:srgbClr val="3E4A5C"/>
                </a:solidFill>
                <a:latin typeface="IBM Plex Sans" pitchFamily="34" charset="0"/>
                <a:ea typeface="IBM Plex Sans" pitchFamily="34" charset="-122"/>
                <a:cs typeface="IBM Plex Sans" pitchFamily="34" charset="-120"/>
              </a:rPr>
              <a:t>Swap ea.Generational for ea.Microbial or ea.HillClimber (evolve.py:52).</a:t>
            </a:r>
            <a:endParaRPr lang="en-US" sz="1400" dirty="0"/>
          </a:p>
          <a:p>
            <a:pPr algn="l" marL="213360" indent="-213360">
              <a:lnSpc>
                <a:spcPts val="2030"/>
              </a:lnSpc>
              <a:buSzPct val="100000"/>
              <a:buFontTx/>
              <a:buAutoNum type="arabicPeriod" startAt="1"/>
            </a:pPr>
            <a:r>
              <a:rPr lang="en-US" sz="1400" dirty="0">
                <a:solidFill>
                  <a:srgbClr val="3E4A5C"/>
                </a:solidFill>
                <a:latin typeface="IBM Plex Sans" pitchFamily="34" charset="0"/>
                <a:ea typeface="IBM Plex Sans" pitchFamily="34" charset="-122"/>
                <a:cs typeface="IBM Plex Sans" pitchFamily="34" charset="-120"/>
              </a:rPr>
              <a:t>Raise mutatStd from 0.01 to 0.1. Faster progress, or just noise?</a:t>
            </a:r>
            <a:endParaRPr lang="en-US" sz="1400" dirty="0"/>
          </a:p>
          <a:p>
            <a:pPr algn="l" marL="213360" indent="-213360">
              <a:lnSpc>
                <a:spcPts val="2030"/>
              </a:lnSpc>
              <a:buSzPct val="100000"/>
              <a:buFontTx/>
              <a:buAutoNum type="arabicPeriod" startAt="1"/>
            </a:pPr>
            <a:r>
              <a:rPr lang="en-US" sz="1400" dirty="0">
                <a:solidFill>
                  <a:srgbClr val="3E4A5C"/>
                </a:solidFill>
                <a:latin typeface="IBM Plex Sans" pitchFamily="34" charset="0"/>
                <a:ea typeface="IBM Plex Sans" pitchFamily="34" charset="-122"/>
                <a:cs typeface="IBM Plex Sans" pitchFamily="34" charset="-120"/>
              </a:rPr>
              <a:t>Comment out evolve.py:15–16 to go back to XOR. How quickly is it solved?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Backprop and Evolved Networks</dc:title>
  <dc:subject>PptxGenJS Presentation</dc:subject>
  <dc:creator>PptxGenJS</dc:creator>
  <cp:lastModifiedBy>PptxGenJS</cp:lastModifiedBy>
  <cp:revision>1</cp:revision>
  <dcterms:created xsi:type="dcterms:W3CDTF">2026-09-25T14:36:05Z</dcterms:created>
  <dcterms:modified xsi:type="dcterms:W3CDTF">2026-09-25T14:36:05Z</dcterms:modified>
</cp:coreProperties>
</file>