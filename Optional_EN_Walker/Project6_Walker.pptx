
<file path=[Content_Types].xml><?xml version="1.0" encoding="utf-8"?>
<Types xmlns="http://schemas.openxmlformats.org/package/2006/content-types">
  <Default Extension="emf" ContentType="image/x-emf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2" r:id="rId3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5C45253-E652-5DD3-9C35-3F74868610BA}">
          <p14:sldIdLst>
            <p14:sldId id="256"/>
            <p14:sldId id="257"/>
            <p14:sldId id="258"/>
            <p14:sldId id="259"/>
          </p14:sldIdLst>
        </p14:section>
        <p14:section name="The platform" id="{40E458AD-E55E-13E7-2004-FE584B55A0D2}">
          <p14:sldIdLst>
            <p14:sldId id="260"/>
            <p14:sldId id="261"/>
            <p14:sldId id="262"/>
            <p14:sldId id="263"/>
          </p14:sldIdLst>
        </p14:section>
        <p14:section name="Bodies" id="{781925C4-79D4-31B6-1FD4-C1BF5F7ABA0B}">
          <p14:sldIdLst>
            <p14:sldId id="264"/>
            <p14:sldId id="265"/>
            <p14:sldId id="266"/>
          </p14:sldIdLst>
        </p14:section>
        <p14:section name="Brains" id="{09E89045-85BE-56E8-99ED-501002F61205}">
          <p14:sldIdLst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Evolving it" id="{1624D182-1DEB-6F4C-218A-FA2D5648897A}">
          <p14:sldIdLst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The assignment" id="{3AE52B72-D70D-4573-B355-B6CF76006673}">
          <p14:sldIdLst>
            <p14:sldId id="281"/>
            <p14:sldId id="282"/>
            <p14:sldId id="283"/>
            <p14:sldId id="284"/>
          </p14:sldIdLst>
        </p14:section>
        <p14:section name="Wrap-up" id="{C94B9084-1CDF-D4B3-6371-F33A22DE4C36}">
          <p14:sldIdLst>
            <p14:sldId id="285"/>
            <p14:sldId id="286"/>
            <p14:sldId id="287"/>
            <p14:sldId id="288"/>
            <p14:sldId id="289"/>
            <p14:sldId id="290"/>
            <p14:sldId id="29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703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192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zquierdo Torres, Eduardo" userId="0098cf92-29d8-4f0d-8799-86659fcc7421" providerId="ADAL" clId="{9A1E2DCC-AC6A-5999-82F6-B3128486FD35}"/>
    <pc:docChg chg="modSld">
      <pc:chgData name="Izquierdo Torres, Eduardo" userId="0098cf92-29d8-4f0d-8799-86659fcc7421" providerId="ADAL" clId="{9A1E2DCC-AC6A-5999-82F6-B3128486FD35}" dt="2026-10-12T17:08:00.109" v="121" actId="20577"/>
      <pc:docMkLst>
        <pc:docMk/>
      </pc:docMkLst>
      <pc:sldChg chg="modSp mod">
        <pc:chgData name="Izquierdo Torres, Eduardo" userId="0098cf92-29d8-4f0d-8799-86659fcc7421" providerId="ADAL" clId="{9A1E2DCC-AC6A-5999-82F6-B3128486FD35}" dt="2026-10-11T12:29:39.186" v="87" actId="20577"/>
        <pc:sldMkLst>
          <pc:docMk/>
          <pc:sldMk cId="0" sldId="256"/>
        </pc:sldMkLst>
        <pc:spChg chg="mod">
          <ac:chgData name="Izquierdo Torres, Eduardo" userId="0098cf92-29d8-4f0d-8799-86659fcc7421" providerId="ADAL" clId="{9A1E2DCC-AC6A-5999-82F6-B3128486FD35}" dt="2026-10-11T12:29:39.186" v="87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Izquierdo Torres, Eduardo" userId="0098cf92-29d8-4f0d-8799-86659fcc7421" providerId="ADAL" clId="{9A1E2DCC-AC6A-5999-82F6-B3128486FD35}" dt="2026-10-12T17:05:25.204" v="120" actId="20577"/>
        <pc:sldMkLst>
          <pc:docMk/>
          <pc:sldMk cId="0" sldId="257"/>
        </pc:sldMkLst>
        <pc:spChg chg="mod">
          <ac:chgData name="Izquierdo Torres, Eduardo" userId="0098cf92-29d8-4f0d-8799-86659fcc7421" providerId="ADAL" clId="{9A1E2DCC-AC6A-5999-82F6-B3128486FD35}" dt="2026-10-12T17:05:25.204" v="120" actId="20577"/>
          <ac:spMkLst>
            <pc:docMk/>
            <pc:sldMk cId="0" sldId="257"/>
            <ac:spMk id="2" creationId="{00000000-0000-0000-0000-000000000000}"/>
          </ac:spMkLst>
        </pc:spChg>
      </pc:sldChg>
      <pc:sldChg chg="modSp mod">
        <pc:chgData name="Izquierdo Torres, Eduardo" userId="0098cf92-29d8-4f0d-8799-86659fcc7421" providerId="ADAL" clId="{9A1E2DCC-AC6A-5999-82F6-B3128486FD35}" dt="2026-10-11T12:31:05.369" v="92" actId="207"/>
        <pc:sldMkLst>
          <pc:docMk/>
          <pc:sldMk cId="0" sldId="258"/>
        </pc:sldMkLst>
        <pc:spChg chg="mod">
          <ac:chgData name="Izquierdo Torres, Eduardo" userId="0098cf92-29d8-4f0d-8799-86659fcc7421" providerId="ADAL" clId="{9A1E2DCC-AC6A-5999-82F6-B3128486FD35}" dt="2026-10-11T12:31:05.369" v="92" actId="207"/>
          <ac:spMkLst>
            <pc:docMk/>
            <pc:sldMk cId="0" sldId="258"/>
            <ac:spMk id="7" creationId="{00000000-0000-0000-0000-000000000000}"/>
          </ac:spMkLst>
        </pc:spChg>
      </pc:sldChg>
      <pc:sldChg chg="modSp mod">
        <pc:chgData name="Izquierdo Torres, Eduardo" userId="0098cf92-29d8-4f0d-8799-86659fcc7421" providerId="ADAL" clId="{9A1E2DCC-AC6A-5999-82F6-B3128486FD35}" dt="2026-10-12T17:08:00.109" v="121" actId="20577"/>
        <pc:sldMkLst>
          <pc:docMk/>
          <pc:sldMk cId="0" sldId="259"/>
        </pc:sldMkLst>
        <pc:spChg chg="mod">
          <ac:chgData name="Izquierdo Torres, Eduardo" userId="0098cf92-29d8-4f0d-8799-86659fcc7421" providerId="ADAL" clId="{9A1E2DCC-AC6A-5999-82F6-B3128486FD35}" dt="2026-10-12T17:08:00.109" v="121" actId="20577"/>
          <ac:spMkLst>
            <pc:docMk/>
            <pc:sldMk cId="0" sldId="259"/>
            <ac:spMk id="5" creationId="{00000000-0000-0000-0000-000000000000}"/>
          </ac:spMkLst>
        </pc:spChg>
      </pc:sldChg>
      <pc:sldChg chg="modSp mod">
        <pc:chgData name="Izquierdo Torres, Eduardo" userId="0098cf92-29d8-4f0d-8799-86659fcc7421" providerId="ADAL" clId="{9A1E2DCC-AC6A-5999-82F6-B3128486FD35}" dt="2026-10-11T12:34:13.247" v="94" actId="20577"/>
        <pc:sldMkLst>
          <pc:docMk/>
          <pc:sldMk cId="0" sldId="263"/>
        </pc:sldMkLst>
        <pc:spChg chg="mod">
          <ac:chgData name="Izquierdo Torres, Eduardo" userId="0098cf92-29d8-4f0d-8799-86659fcc7421" providerId="ADAL" clId="{9A1E2DCC-AC6A-5999-82F6-B3128486FD35}" dt="2026-10-11T12:34:13.247" v="94" actId="20577"/>
          <ac:spMkLst>
            <pc:docMk/>
            <pc:sldMk cId="0" sldId="263"/>
            <ac:spMk id="1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8546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554480"/>
            <a:ext cx="60350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749040"/>
            <a:ext cx="60350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377440"/>
            <a:ext cx="67665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611880"/>
            <a:ext cx="67665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ECE497 · Project 6: Six-Legged Walker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Six-Legged Walker: Brains with Their Own Rhythm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rPr dirty="0"/>
              <a:t>ECE497 Evolutionary Robotics · </a:t>
            </a:r>
            <a:endParaRPr lang="en-US" dirty="0"/>
          </a:p>
          <a:p>
            <a:r>
              <a:rPr lang="en-US" dirty="0"/>
              <a:t>(Optional idea for a </a:t>
            </a:r>
            <a:r>
              <a:rPr dirty="0"/>
              <a:t>Project</a:t>
            </a:r>
            <a:r>
              <a:rPr lang="en-US" dirty="0"/>
              <a:t>)</a:t>
            </a:r>
            <a:endParaRPr dirty="0"/>
          </a:p>
          <a:p>
            <a:endParaRPr dirty="0"/>
          </a:p>
        </p:txBody>
      </p:sp>
      <p:sp>
        <p:nvSpPr>
          <p:cNvPr id="4" name="card"/>
          <p:cNvSpPr/>
          <p:nvPr/>
        </p:nvSpPr>
        <p:spPr>
          <a:xfrm>
            <a:off x="6630670" y="4480560"/>
            <a:ext cx="5029200" cy="219456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best_animatio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4644854"/>
            <a:ext cx="4754880" cy="19019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33EE8DF-7236-370C-AC76-DB5DF9151D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148495" y="55867"/>
            <a:ext cx="5714387" cy="560265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Every brain so far has been a function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sp>
        <p:nvSpPr>
          <p:cNvPr id="26" name="card"/>
          <p:cNvSpPr/>
          <p:nvPr/>
        </p:nvSpPr>
        <p:spPr>
          <a:xfrm>
            <a:off x="548640" y="1371600"/>
            <a:ext cx="3246120" cy="265176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"/>
          <p:cNvSpPr txBox="1"/>
          <p:nvPr/>
        </p:nvSpPr>
        <p:spPr>
          <a:xfrm>
            <a:off x="822960" y="1600200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chemeClr val="accent6"/>
                </a:solidFill>
              </a:rPr>
              <a:t>Projects 3–4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822960" y="1920240"/>
            <a:ext cx="2697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chemeClr val="tx1"/>
                </a:solidFill>
              </a:rPr>
              <a:t>Feedforward network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22960" y="2468880"/>
            <a:ext cx="26974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01168" algn="l">
              <a:spcAft>
                <a:spcPts val="600"/>
              </a:spcAft>
              <a:buChar char="•"/>
            </a:pPr>
            <a:r>
              <a:rPr sz="1600" b="0" i="0">
                <a:solidFill>
                  <a:schemeClr val="tx1"/>
                </a:solidFill>
              </a:rPr>
              <a:t>Output depends only on the current input</a:t>
            </a:r>
          </a:p>
          <a:p>
            <a:pPr marL="228600" indent="-201168" algn="l">
              <a:spcAft>
                <a:spcPts val="600"/>
              </a:spcAft>
              <a:buChar char="•"/>
            </a:pPr>
            <a:r>
              <a:rPr sz="1600" b="0" i="0">
                <a:solidFill>
                  <a:schemeClr val="tx1"/>
                </a:solidFill>
              </a:rPr>
              <a:t>No memory: same input, same output</a:t>
            </a:r>
          </a:p>
        </p:txBody>
      </p:sp>
      <p:cxnSp>
        <p:nvCxnSpPr>
          <p:cNvPr id="30" name="line"/>
          <p:cNvCxnSpPr/>
          <p:nvPr/>
        </p:nvCxnSpPr>
        <p:spPr>
          <a:xfrm>
            <a:off x="3867912" y="2697480"/>
            <a:ext cx="283464" cy="0"/>
          </a:xfrm>
          <a:prstGeom prst="line">
            <a:avLst/>
          </a:prstGeom>
          <a:ln w="25400">
            <a:solidFill>
              <a:schemeClr val="tx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ard"/>
          <p:cNvSpPr/>
          <p:nvPr/>
        </p:nvSpPr>
        <p:spPr>
          <a:xfrm>
            <a:off x="4224528" y="1371600"/>
            <a:ext cx="3246120" cy="265176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"/>
          <p:cNvSpPr txBox="1"/>
          <p:nvPr/>
        </p:nvSpPr>
        <p:spPr>
          <a:xfrm>
            <a:off x="4498848" y="1600200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chemeClr val="accent6"/>
                </a:solidFill>
              </a:rPr>
              <a:t>Project 5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4498848" y="1920240"/>
            <a:ext cx="2697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chemeClr val="tx1"/>
                </a:solidFill>
              </a:rPr>
              <a:t>Feedforward + a clock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4498848" y="2468880"/>
            <a:ext cx="26974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01168" algn="l">
              <a:spcAft>
                <a:spcPts val="600"/>
              </a:spcAft>
              <a:buChar char="•"/>
            </a:pPr>
            <a:r>
              <a:rPr sz="1600" b="0" i="0">
                <a:solidFill>
                  <a:schemeClr val="tx1"/>
                </a:solidFill>
              </a:rPr>
              <a:t>Rhythm handed in from outside, as sin and cos inputs</a:t>
            </a:r>
          </a:p>
          <a:p>
            <a:pPr marL="228600" indent="-201168" algn="l">
              <a:spcAft>
                <a:spcPts val="600"/>
              </a:spcAft>
              <a:buChar char="•"/>
            </a:pPr>
            <a:r>
              <a:rPr sz="1600" b="0" i="0">
                <a:solidFill>
                  <a:schemeClr val="tx1"/>
                </a:solidFill>
              </a:rPr>
              <a:t>The brain only shapes it</a:t>
            </a:r>
          </a:p>
        </p:txBody>
      </p:sp>
      <p:cxnSp>
        <p:nvCxnSpPr>
          <p:cNvPr id="35" name="line"/>
          <p:cNvCxnSpPr/>
          <p:nvPr/>
        </p:nvCxnSpPr>
        <p:spPr>
          <a:xfrm>
            <a:off x="7543800" y="2697480"/>
            <a:ext cx="283464" cy="0"/>
          </a:xfrm>
          <a:prstGeom prst="line">
            <a:avLst/>
          </a:prstGeom>
          <a:ln w="25400">
            <a:solidFill>
              <a:schemeClr val="tx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ard"/>
          <p:cNvSpPr/>
          <p:nvPr/>
        </p:nvSpPr>
        <p:spPr>
          <a:xfrm>
            <a:off x="7900416" y="1371600"/>
            <a:ext cx="3246120" cy="2651760"/>
          </a:xfrm>
          <a:prstGeom prst="roundRect">
            <a:avLst>
              <a:gd name="adj" fmla="val 3000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"/>
          <p:cNvSpPr txBox="1"/>
          <p:nvPr/>
        </p:nvSpPr>
        <p:spPr>
          <a:xfrm>
            <a:off x="8174736" y="1600200"/>
            <a:ext cx="26974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b="1" i="0" dirty="0">
                <a:solidFill>
                  <a:schemeClr val="accent1"/>
                </a:solidFill>
              </a:rPr>
              <a:t>Optional Project</a:t>
            </a:r>
            <a:endParaRPr sz="1300" b="1" i="0" dirty="0">
              <a:solidFill>
                <a:schemeClr val="accent1"/>
              </a:solidFill>
            </a:endParaRPr>
          </a:p>
        </p:txBody>
      </p:sp>
      <p:sp>
        <p:nvSpPr>
          <p:cNvPr id="38" name="text"/>
          <p:cNvSpPr txBox="1"/>
          <p:nvPr/>
        </p:nvSpPr>
        <p:spPr>
          <a:xfrm>
            <a:off x="8174736" y="1920240"/>
            <a:ext cx="2697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chemeClr val="bg1"/>
                </a:solidFill>
              </a:rPr>
              <a:t>CTRNN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8174736" y="2468880"/>
            <a:ext cx="26974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01168" algn="l">
              <a:spcAft>
                <a:spcPts val="600"/>
              </a:spcAft>
              <a:buChar char="•"/>
            </a:pPr>
            <a:r>
              <a:rPr sz="1600" b="0" i="0">
                <a:solidFill>
                  <a:schemeClr val="bg1"/>
                </a:solidFill>
              </a:rPr>
              <a:t>Internal state that changes in time</a:t>
            </a:r>
          </a:p>
          <a:p>
            <a:pPr marL="228600" indent="-201168" algn="l">
              <a:spcAft>
                <a:spcPts val="600"/>
              </a:spcAft>
              <a:buChar char="•"/>
            </a:pPr>
            <a:r>
              <a:rPr sz="1600" b="0" i="0">
                <a:solidFill>
                  <a:schemeClr val="bg1"/>
                </a:solidFill>
              </a:rPr>
              <a:t>Makes its own rhythm, even with no input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548640" y="4434840"/>
            <a:ext cx="1109441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chemeClr val="tx1"/>
                </a:solidFill>
              </a:rPr>
              <a:t>Walking is rhythmic. </a:t>
            </a:r>
            <a:r>
              <a:rPr sz="2000" b="0" i="0" dirty="0">
                <a:solidFill>
                  <a:schemeClr val="tx1"/>
                </a:solidFill>
              </a:rPr>
              <a:t>Insects walk using </a:t>
            </a:r>
            <a:r>
              <a:rPr sz="2000" b="1" i="0" dirty="0">
                <a:solidFill>
                  <a:schemeClr val="accent6"/>
                </a:solidFill>
              </a:rPr>
              <a:t>central pattern generators</a:t>
            </a:r>
            <a:r>
              <a:rPr sz="2000" b="0" i="0" dirty="0">
                <a:solidFill>
                  <a:schemeClr val="tx1"/>
                </a:solidFill>
              </a:rPr>
              <a:t>: circuits of neurons that produce a rhythm on their own. Can evolution build one?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The task: make six legs walk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26" name="card"/>
          <p:cNvSpPr/>
          <p:nvPr/>
        </p:nvSpPr>
        <p:spPr>
          <a:xfrm>
            <a:off x="548640" y="1828800"/>
            <a:ext cx="5669280" cy="242316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best_animatio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40"/>
            <a:ext cx="5486400" cy="2194560"/>
          </a:xfrm>
          <a:prstGeom prst="rect">
            <a:avLst/>
          </a:prstGeom>
        </p:spPr>
      </p:pic>
      <p:sp>
        <p:nvSpPr>
          <p:cNvPr id="28" name="text"/>
          <p:cNvSpPr txBox="1"/>
          <p:nvPr/>
        </p:nvSpPr>
        <p:spPr>
          <a:xfrm>
            <a:off x="548640" y="4389120"/>
            <a:ext cx="5669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chemeClr val="tx2"/>
                </a:solidFill>
              </a:rPr>
              <a:t>An evolved CTRNN walking, seen from above, head to the right. Red dots: feet down.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6583680" y="1463040"/>
            <a:ext cx="502920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01168" algn="l">
              <a:spcAft>
                <a:spcPts val="1200"/>
              </a:spcAft>
              <a:buChar char="•"/>
            </a:pPr>
            <a:r>
              <a:rPr sz="1800" b="0" i="0">
                <a:solidFill>
                  <a:schemeClr val="tx1"/>
                </a:solidFill>
              </a:rPr>
              <a:t>Six legs; each one swings forward and back, and puts its foot down or lifts it</a:t>
            </a:r>
          </a:p>
          <a:p>
            <a:pPr marL="228600" indent="-201168" algn="l">
              <a:spcAft>
                <a:spcPts val="1200"/>
              </a:spcAft>
              <a:buChar char="•"/>
            </a:pPr>
            <a:r>
              <a:rPr sz="1800" b="0" i="0">
                <a:solidFill>
                  <a:schemeClr val="tx1"/>
                </a:solidFill>
              </a:rPr>
              <a:t>A planted foot pushes the body; a lifted one swings back into place</a:t>
            </a:r>
          </a:p>
          <a:p>
            <a:pPr marL="228600" indent="-201168" algn="l">
              <a:spcAft>
                <a:spcPts val="1200"/>
              </a:spcAft>
              <a:buChar char="•"/>
            </a:pPr>
            <a:r>
              <a:rPr sz="1800" b="0" i="0">
                <a:solidFill>
                  <a:schemeClr val="tx1"/>
                </a:solidFill>
              </a:rPr>
              <a:t>The body only moves while the planted feet </a:t>
            </a:r>
            <a:r>
              <a:rPr sz="1800" b="1" i="0">
                <a:solidFill>
                  <a:schemeClr val="tx1"/>
                </a:solidFill>
              </a:rPr>
              <a:t>hold it up</a:t>
            </a:r>
            <a:r>
              <a:rPr sz="1800" b="0" i="0">
                <a:solidFill>
                  <a:schemeClr val="tx1"/>
                </a:solidFill>
              </a:rPr>
              <a:t>: a stable tripod</a:t>
            </a:r>
          </a:p>
          <a:p>
            <a:pPr marL="228600" indent="-201168" algn="l">
              <a:spcAft>
                <a:spcPts val="1200"/>
              </a:spcAft>
              <a:buChar char="•"/>
            </a:pPr>
            <a:r>
              <a:rPr sz="1800" b="0" i="0">
                <a:solidFill>
                  <a:schemeClr val="tx1"/>
                </a:solidFill>
              </a:rPr>
              <a:t>Fitness: average forward speed</a:t>
            </a:r>
          </a:p>
          <a:p>
            <a:pPr marL="228600" indent="-201168" algn="l">
              <a:spcAft>
                <a:spcPts val="1200"/>
              </a:spcAft>
              <a:buChar char="•"/>
            </a:pPr>
            <a:r>
              <a:rPr sz="1800" b="1" i="0">
                <a:solidFill>
                  <a:schemeClr val="tx1"/>
                </a:solidFill>
              </a:rPr>
              <a:t>Nobody tells it how to walk. </a:t>
            </a:r>
            <a:r>
              <a:rPr sz="1800" b="0" i="0">
                <a:solidFill>
                  <a:schemeClr val="tx1"/>
                </a:solidFill>
              </a:rPr>
              <a:t>Evolution has to find a leg-timing pattern, and a brain that produces 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4BD240C-7D49-D950-5543-59EE3759D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7259333" y="-1612881"/>
            <a:ext cx="5714387" cy="56026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The CTRNN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A neural network that is a dynamical system</a:t>
            </a:r>
          </a:p>
        </p:txBody>
      </p:sp>
      <p:cxnSp>
        <p:nvCxnSpPr>
          <p:cNvPr id="4" name="line"/>
          <p:cNvCxnSpPr/>
          <p:nvPr/>
        </p:nvCxnSpPr>
        <p:spPr>
          <a:xfrm>
            <a:off x="9452041" y="4227939"/>
            <a:ext cx="666720" cy="1154793"/>
          </a:xfrm>
          <a:prstGeom prst="line">
            <a:avLst/>
          </a:prstGeom>
          <a:ln w="28575">
            <a:solidFill>
              <a:schemeClr val="accent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line"/>
          <p:cNvCxnSpPr/>
          <p:nvPr/>
        </p:nvCxnSpPr>
        <p:spPr>
          <a:xfrm flipH="1">
            <a:off x="8401273" y="4163931"/>
            <a:ext cx="666720" cy="1154793"/>
          </a:xfrm>
          <a:prstGeom prst="line">
            <a:avLst/>
          </a:prstGeom>
          <a:ln w="28575">
            <a:solidFill>
              <a:schemeClr val="accent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ine"/>
          <p:cNvCxnSpPr/>
          <p:nvPr/>
        </p:nvCxnSpPr>
        <p:spPr>
          <a:xfrm flipH="1" flipV="1">
            <a:off x="9581194" y="4195607"/>
            <a:ext cx="666720" cy="1154793"/>
          </a:xfrm>
          <a:prstGeom prst="line">
            <a:avLst/>
          </a:prstGeom>
          <a:ln w="28575">
            <a:solidFill>
              <a:schemeClr val="accent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ine"/>
          <p:cNvCxnSpPr/>
          <p:nvPr/>
        </p:nvCxnSpPr>
        <p:spPr>
          <a:xfrm flipH="1">
            <a:off x="8667017" y="5650992"/>
            <a:ext cx="1333441" cy="0"/>
          </a:xfrm>
          <a:prstGeom prst="line">
            <a:avLst/>
          </a:prstGeom>
          <a:ln w="28575">
            <a:solidFill>
              <a:schemeClr val="accent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ine"/>
          <p:cNvCxnSpPr/>
          <p:nvPr/>
        </p:nvCxnSpPr>
        <p:spPr>
          <a:xfrm flipV="1">
            <a:off x="8493850" y="4259615"/>
            <a:ext cx="666720" cy="1154793"/>
          </a:xfrm>
          <a:prstGeom prst="line">
            <a:avLst/>
          </a:prstGeom>
          <a:ln w="28575">
            <a:solidFill>
              <a:schemeClr val="accent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ine"/>
          <p:cNvCxnSpPr/>
          <p:nvPr/>
        </p:nvCxnSpPr>
        <p:spPr>
          <a:xfrm>
            <a:off x="8630441" y="5779008"/>
            <a:ext cx="1333441" cy="0"/>
          </a:xfrm>
          <a:prstGeom prst="line">
            <a:avLst/>
          </a:prstGeom>
          <a:ln w="28575">
            <a:solidFill>
              <a:schemeClr val="accent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elfloop"/>
          <p:cNvSpPr/>
          <p:nvPr/>
        </p:nvSpPr>
        <p:spPr>
          <a:xfrm>
            <a:off x="9123426" y="3220059"/>
            <a:ext cx="384048" cy="384048"/>
          </a:xfrm>
          <a:prstGeom prst="ellipse">
            <a:avLst/>
          </a:prstGeom>
          <a:noFill/>
          <a:ln w="28575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selfloop"/>
          <p:cNvSpPr/>
          <p:nvPr/>
        </p:nvSpPr>
        <p:spPr>
          <a:xfrm>
            <a:off x="10583281" y="5748604"/>
            <a:ext cx="384048" cy="384048"/>
          </a:xfrm>
          <a:prstGeom prst="ellipse">
            <a:avLst/>
          </a:prstGeom>
          <a:noFill/>
          <a:ln w="28575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elfloop"/>
          <p:cNvSpPr/>
          <p:nvPr/>
        </p:nvSpPr>
        <p:spPr>
          <a:xfrm>
            <a:off x="7663570" y="5748604"/>
            <a:ext cx="384048" cy="384048"/>
          </a:xfrm>
          <a:prstGeom prst="ellipse">
            <a:avLst/>
          </a:prstGeom>
          <a:noFill/>
          <a:ln w="28575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neuron"/>
          <p:cNvSpPr/>
          <p:nvPr/>
        </p:nvSpPr>
        <p:spPr>
          <a:xfrm>
            <a:off x="8931402" y="3479292"/>
            <a:ext cx="768096" cy="76809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"/>
          <p:cNvSpPr txBox="1"/>
          <p:nvPr/>
        </p:nvSpPr>
        <p:spPr>
          <a:xfrm>
            <a:off x="8931402" y="3479292"/>
            <a:ext cx="768096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5" name="neuron"/>
          <p:cNvSpPr/>
          <p:nvPr/>
        </p:nvSpPr>
        <p:spPr>
          <a:xfrm>
            <a:off x="10000458" y="5330952"/>
            <a:ext cx="768096" cy="768096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"/>
          <p:cNvSpPr txBox="1"/>
          <p:nvPr/>
        </p:nvSpPr>
        <p:spPr>
          <a:xfrm>
            <a:off x="10000458" y="5330952"/>
            <a:ext cx="768096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7" name="neuron"/>
          <p:cNvSpPr/>
          <p:nvPr/>
        </p:nvSpPr>
        <p:spPr>
          <a:xfrm>
            <a:off x="7862345" y="5330952"/>
            <a:ext cx="768096" cy="768096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"/>
          <p:cNvSpPr txBox="1"/>
          <p:nvPr/>
        </p:nvSpPr>
        <p:spPr>
          <a:xfrm>
            <a:off x="7862345" y="5330952"/>
            <a:ext cx="768096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chemeClr val="bg1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One neuron, one equation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26" name="card"/>
          <p:cNvSpPr/>
          <p:nvPr/>
        </p:nvSpPr>
        <p:spPr>
          <a:xfrm>
            <a:off x="548640" y="1280160"/>
            <a:ext cx="11094415" cy="150876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"/>
          <p:cNvSpPr txBox="1"/>
          <p:nvPr/>
        </p:nvSpPr>
        <p:spPr>
          <a:xfrm>
            <a:off x="548640" y="1481328"/>
            <a:ext cx="11094415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 b="0" i="0">
                <a:solidFill>
                  <a:schemeClr val="accent2"/>
                </a:solidFill>
              </a:rPr>
              <a:t>τ</a:t>
            </a:r>
            <a:r>
              <a:rPr sz="3600" b="0" i="0" baseline="-25000">
                <a:solidFill>
                  <a:schemeClr val="accent2"/>
                </a:solidFill>
              </a:rPr>
              <a:t>i</a:t>
            </a:r>
            <a:r>
              <a:rPr sz="3600" b="0" i="0">
                <a:solidFill>
                  <a:schemeClr val="tx1"/>
                </a:solidFill>
              </a:rPr>
              <a:t> dy</a:t>
            </a:r>
            <a:r>
              <a:rPr sz="3600" b="0" i="0" baseline="-25000">
                <a:solidFill>
                  <a:schemeClr val="tx1"/>
                </a:solidFill>
              </a:rPr>
              <a:t>i</a:t>
            </a:r>
            <a:r>
              <a:rPr sz="3600" b="0" i="0">
                <a:solidFill>
                  <a:schemeClr val="tx1"/>
                </a:solidFill>
              </a:rPr>
              <a:t>/dt  =  </a:t>
            </a:r>
            <a:r>
              <a:rPr sz="3600" b="0" i="0">
                <a:solidFill>
                  <a:schemeClr val="accent5"/>
                </a:solidFill>
              </a:rPr>
              <a:t>−y</a:t>
            </a:r>
            <a:r>
              <a:rPr sz="3600" b="0" i="0" baseline="-25000">
                <a:solidFill>
                  <a:schemeClr val="accent5"/>
                </a:solidFill>
              </a:rPr>
              <a:t>i</a:t>
            </a:r>
            <a:r>
              <a:rPr sz="3600" b="0" i="0">
                <a:solidFill>
                  <a:schemeClr val="tx1"/>
                </a:solidFill>
              </a:rPr>
              <a:t>  +  </a:t>
            </a:r>
            <a:r>
              <a:rPr sz="3600" b="0" i="0">
                <a:solidFill>
                  <a:schemeClr val="accent1"/>
                </a:solidFill>
              </a:rPr>
              <a:t>Σ</a:t>
            </a:r>
            <a:r>
              <a:rPr sz="3600" b="0" i="0" baseline="-25000">
                <a:solidFill>
                  <a:schemeClr val="accent1"/>
                </a:solidFill>
              </a:rPr>
              <a:t>j</a:t>
            </a:r>
            <a:r>
              <a:rPr sz="3600" b="0" i="0">
                <a:solidFill>
                  <a:schemeClr val="accent1"/>
                </a:solidFill>
              </a:rPr>
              <a:t> w</a:t>
            </a:r>
            <a:r>
              <a:rPr sz="3600" b="0" i="0" baseline="-25000">
                <a:solidFill>
                  <a:schemeClr val="accent1"/>
                </a:solidFill>
              </a:rPr>
              <a:t>ji</a:t>
            </a:r>
            <a:r>
              <a:rPr sz="3600" b="0" i="0">
                <a:solidFill>
                  <a:schemeClr val="accent1"/>
                </a:solidFill>
              </a:rPr>
              <a:t> o</a:t>
            </a:r>
            <a:r>
              <a:rPr sz="3600" b="0" i="0" baseline="-25000">
                <a:solidFill>
                  <a:schemeClr val="accent1"/>
                </a:solidFill>
              </a:rPr>
              <a:t>j</a:t>
            </a:r>
            <a:r>
              <a:rPr sz="3600" b="0" i="0">
                <a:solidFill>
                  <a:schemeClr val="tx1"/>
                </a:solidFill>
              </a:rPr>
              <a:t>  +  </a:t>
            </a:r>
            <a:r>
              <a:rPr sz="3600" b="0" i="0">
                <a:solidFill>
                  <a:schemeClr val="tx2"/>
                </a:solidFill>
              </a:rPr>
              <a:t>I</a:t>
            </a:r>
            <a:r>
              <a:rPr sz="3600" b="0" i="0" baseline="-25000">
                <a:solidFill>
                  <a:schemeClr val="tx2"/>
                </a:solidFill>
              </a:rPr>
              <a:t>i</a:t>
            </a:r>
            <a:r>
              <a:rPr sz="3600" b="0" i="0">
                <a:solidFill>
                  <a:schemeClr val="tx1"/>
                </a:solidFill>
              </a:rPr>
              <a:t>            o</a:t>
            </a:r>
            <a:r>
              <a:rPr sz="3600" b="0" i="0" baseline="-25000">
                <a:solidFill>
                  <a:schemeClr val="tx1"/>
                </a:solidFill>
              </a:rPr>
              <a:t>i</a:t>
            </a:r>
            <a:r>
              <a:rPr sz="3600" b="0" i="0">
                <a:solidFill>
                  <a:schemeClr val="tx1"/>
                </a:solidFill>
              </a:rPr>
              <a:t>  =  σ(y</a:t>
            </a:r>
            <a:r>
              <a:rPr sz="3600" b="0" i="0" baseline="-25000">
                <a:solidFill>
                  <a:schemeClr val="tx1"/>
                </a:solidFill>
              </a:rPr>
              <a:t>i</a:t>
            </a:r>
            <a:r>
              <a:rPr sz="3600" b="0" i="0">
                <a:solidFill>
                  <a:schemeClr val="tx1"/>
                </a:solidFill>
              </a:rPr>
              <a:t>  +  </a:t>
            </a:r>
            <a:r>
              <a:rPr sz="3600" b="0" i="0">
                <a:solidFill>
                  <a:schemeClr val="accent6"/>
                </a:solidFill>
              </a:rPr>
              <a:t>θ</a:t>
            </a:r>
            <a:r>
              <a:rPr sz="3600" b="0" i="0" baseline="-25000">
                <a:solidFill>
                  <a:schemeClr val="accent6"/>
                </a:solidFill>
              </a:rPr>
              <a:t>i</a:t>
            </a:r>
            <a:r>
              <a:rPr sz="3600" b="0" i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8" name="card"/>
          <p:cNvSpPr/>
          <p:nvPr/>
        </p:nvSpPr>
        <p:spPr>
          <a:xfrm>
            <a:off x="548640" y="3017520"/>
            <a:ext cx="3246120" cy="128016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"/>
          <p:cNvSpPr txBox="1"/>
          <p:nvPr/>
        </p:nvSpPr>
        <p:spPr>
          <a:xfrm>
            <a:off x="731520" y="3154680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chemeClr val="tx1"/>
                </a:solidFill>
              </a:rPr>
              <a:t>y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1874520" y="3218688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chemeClr val="tx1"/>
                </a:solidFill>
              </a:rPr>
              <a:t>state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731520" y="3611880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chemeClr val="tx2"/>
                </a:solidFill>
              </a:rPr>
              <a:t>The neuron's internal activity. This is what carries over from one moment to the next.</a:t>
            </a:r>
          </a:p>
        </p:txBody>
      </p:sp>
      <p:sp>
        <p:nvSpPr>
          <p:cNvPr id="32" name="card"/>
          <p:cNvSpPr/>
          <p:nvPr/>
        </p:nvSpPr>
        <p:spPr>
          <a:xfrm>
            <a:off x="3995928" y="3017520"/>
            <a:ext cx="3246120" cy="128016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"/>
          <p:cNvSpPr txBox="1"/>
          <p:nvPr/>
        </p:nvSpPr>
        <p:spPr>
          <a:xfrm>
            <a:off x="4178808" y="3154680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chemeClr val="accent2"/>
                </a:solidFill>
              </a:rPr>
              <a:t>τ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5321808" y="3218688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chemeClr val="tx1"/>
                </a:solidFill>
              </a:rPr>
              <a:t>time constant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4178808" y="3611880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chemeClr val="tx2"/>
                </a:solidFill>
              </a:rPr>
              <a:t>How fast the state responds. Bigger τ, slower neuron.</a:t>
            </a:r>
          </a:p>
        </p:txBody>
      </p:sp>
      <p:sp>
        <p:nvSpPr>
          <p:cNvPr id="36" name="card"/>
          <p:cNvSpPr/>
          <p:nvPr/>
        </p:nvSpPr>
        <p:spPr>
          <a:xfrm>
            <a:off x="7443216" y="3017520"/>
            <a:ext cx="3246120" cy="128016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"/>
          <p:cNvSpPr txBox="1"/>
          <p:nvPr/>
        </p:nvSpPr>
        <p:spPr>
          <a:xfrm>
            <a:off x="7626096" y="3154680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chemeClr val="accent5"/>
                </a:solidFill>
              </a:rPr>
              <a:t>−y</a:t>
            </a:r>
          </a:p>
        </p:txBody>
      </p:sp>
      <p:sp>
        <p:nvSpPr>
          <p:cNvPr id="38" name="text"/>
          <p:cNvSpPr txBox="1"/>
          <p:nvPr/>
        </p:nvSpPr>
        <p:spPr>
          <a:xfrm>
            <a:off x="8769096" y="3218688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chemeClr val="tx1"/>
                </a:solidFill>
              </a:rPr>
              <a:t>leak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7626096" y="3611880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chemeClr val="tx2"/>
                </a:solidFill>
              </a:rPr>
              <a:t>With no input, the state decays back toward 0.</a:t>
            </a:r>
          </a:p>
        </p:txBody>
      </p:sp>
      <p:sp>
        <p:nvSpPr>
          <p:cNvPr id="40" name="card"/>
          <p:cNvSpPr/>
          <p:nvPr/>
        </p:nvSpPr>
        <p:spPr>
          <a:xfrm>
            <a:off x="548640" y="4480560"/>
            <a:ext cx="3246120" cy="128016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"/>
          <p:cNvSpPr txBox="1"/>
          <p:nvPr/>
        </p:nvSpPr>
        <p:spPr>
          <a:xfrm>
            <a:off x="731520" y="4617720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chemeClr val="accent1"/>
                </a:solidFill>
              </a:rPr>
              <a:t>Σ w o</a:t>
            </a:r>
          </a:p>
        </p:txBody>
      </p:sp>
      <p:sp>
        <p:nvSpPr>
          <p:cNvPr id="42" name="text"/>
          <p:cNvSpPr txBox="1"/>
          <p:nvPr/>
        </p:nvSpPr>
        <p:spPr>
          <a:xfrm>
            <a:off x="1874520" y="4681728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chemeClr val="tx1"/>
                </a:solidFill>
              </a:rPr>
              <a:t>recurrent input</a:t>
            </a:r>
          </a:p>
        </p:txBody>
      </p:sp>
      <p:sp>
        <p:nvSpPr>
          <p:cNvPr id="43" name="text"/>
          <p:cNvSpPr txBox="1"/>
          <p:nvPr/>
        </p:nvSpPr>
        <p:spPr>
          <a:xfrm>
            <a:off x="731520" y="5074920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chemeClr val="tx2"/>
                </a:solidFill>
              </a:rPr>
              <a:t>Weighted outputs of every neuron, including itself. w can be + or −.</a:t>
            </a:r>
          </a:p>
        </p:txBody>
      </p:sp>
      <p:sp>
        <p:nvSpPr>
          <p:cNvPr id="44" name="card"/>
          <p:cNvSpPr/>
          <p:nvPr/>
        </p:nvSpPr>
        <p:spPr>
          <a:xfrm>
            <a:off x="3995928" y="4480560"/>
            <a:ext cx="3246120" cy="128016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"/>
          <p:cNvSpPr txBox="1"/>
          <p:nvPr/>
        </p:nvSpPr>
        <p:spPr>
          <a:xfrm>
            <a:off x="4178808" y="4617720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chemeClr val="accent6"/>
                </a:solidFill>
              </a:rPr>
              <a:t>θ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5321808" y="4681728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chemeClr val="tx1"/>
                </a:solidFill>
              </a:rPr>
              <a:t>bias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4178808" y="5074920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chemeClr val="tx2"/>
                </a:solidFill>
              </a:rPr>
              <a:t>Shifts where the neuron turns on.</a:t>
            </a:r>
          </a:p>
        </p:txBody>
      </p:sp>
      <p:sp>
        <p:nvSpPr>
          <p:cNvPr id="48" name="card"/>
          <p:cNvSpPr/>
          <p:nvPr/>
        </p:nvSpPr>
        <p:spPr>
          <a:xfrm>
            <a:off x="7443216" y="4480560"/>
            <a:ext cx="3246120" cy="128016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"/>
          <p:cNvSpPr txBox="1"/>
          <p:nvPr/>
        </p:nvSpPr>
        <p:spPr>
          <a:xfrm>
            <a:off x="7626096" y="4617720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chemeClr val="tx1"/>
                </a:solidFill>
              </a:rPr>
              <a:t>o = σ(·)</a:t>
            </a:r>
          </a:p>
        </p:txBody>
      </p:sp>
      <p:sp>
        <p:nvSpPr>
          <p:cNvPr id="50" name="text"/>
          <p:cNvSpPr txBox="1"/>
          <p:nvPr/>
        </p:nvSpPr>
        <p:spPr>
          <a:xfrm>
            <a:off x="8769096" y="4681728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chemeClr val="tx1"/>
                </a:solidFill>
              </a:rPr>
              <a:t>output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7626096" y="5074920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chemeClr val="tx2"/>
                </a:solidFill>
              </a:rPr>
              <a:t>Sigmoid of state + bias: always between 0 and 1. I is an external input, e.g. a sensor.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What the bias and the time constant do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26" name="Picture 25" descr="b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4754880" cy="3619844"/>
          </a:xfrm>
          <a:prstGeom prst="rect">
            <a:avLst/>
          </a:prstGeom>
        </p:spPr>
      </p:pic>
      <p:pic>
        <p:nvPicPr>
          <p:cNvPr id="27" name="Picture 26" descr="ta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280160"/>
            <a:ext cx="4754880" cy="3619844"/>
          </a:xfrm>
          <a:prstGeom prst="rect">
            <a:avLst/>
          </a:prstGeom>
        </p:spPr>
      </p:pic>
      <p:sp>
        <p:nvSpPr>
          <p:cNvPr id="28" name="text"/>
          <p:cNvSpPr txBox="1"/>
          <p:nvPr/>
        </p:nvSpPr>
        <p:spPr>
          <a:xfrm>
            <a:off x="548640" y="5257800"/>
            <a:ext cx="52120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chemeClr val="accent6"/>
                </a:solidFill>
              </a:rPr>
              <a:t>θ</a:t>
            </a:r>
            <a:r>
              <a:rPr sz="1500" b="0" i="0">
                <a:solidFill>
                  <a:schemeClr val="tx1"/>
                </a:solidFill>
              </a:rPr>
              <a:t> moves the sigmoid left or right: a neuron with a large bias is on almost no matter what, a very negative one is off.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6263640" y="5257800"/>
            <a:ext cx="5120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chemeClr val="accent2"/>
                </a:solidFill>
              </a:rPr>
              <a:t>τ</a:t>
            </a:r>
            <a:r>
              <a:rPr sz="1500" b="0" i="0">
                <a:solidFill>
                  <a:schemeClr val="tx1"/>
                </a:solidFill>
              </a:rPr>
              <a:t> sets the speed: the same input, switched on at t = 0, reaches the same value, sooner or later.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Neurons talk to each other, in loops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sp>
        <p:nvSpPr>
          <p:cNvPr id="26" name="card"/>
          <p:cNvSpPr/>
          <p:nvPr/>
        </p:nvSpPr>
        <p:spPr>
          <a:xfrm>
            <a:off x="548640" y="1325880"/>
            <a:ext cx="4572000" cy="43434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7" name="line"/>
          <p:cNvCxnSpPr/>
          <p:nvPr/>
        </p:nvCxnSpPr>
        <p:spPr>
          <a:xfrm>
            <a:off x="2952943" y="2801803"/>
            <a:ext cx="624107" cy="1080985"/>
          </a:xfrm>
          <a:prstGeom prst="line">
            <a:avLst/>
          </a:prstGeom>
          <a:ln w="25400">
            <a:solidFill>
              <a:schemeClr val="tx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line"/>
          <p:cNvCxnSpPr/>
          <p:nvPr/>
        </p:nvCxnSpPr>
        <p:spPr>
          <a:xfrm flipH="1">
            <a:off x="1981364" y="2737795"/>
            <a:ext cx="624107" cy="1080985"/>
          </a:xfrm>
          <a:prstGeom prst="line">
            <a:avLst/>
          </a:prstGeom>
          <a:ln w="25400">
            <a:solidFill>
              <a:schemeClr val="tx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line"/>
          <p:cNvCxnSpPr/>
          <p:nvPr/>
        </p:nvCxnSpPr>
        <p:spPr>
          <a:xfrm flipH="1" flipV="1">
            <a:off x="3082096" y="2769471"/>
            <a:ext cx="624107" cy="1080985"/>
          </a:xfrm>
          <a:prstGeom prst="line">
            <a:avLst/>
          </a:prstGeom>
          <a:ln w="25400">
            <a:solidFill>
              <a:schemeClr val="tx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line"/>
          <p:cNvCxnSpPr/>
          <p:nvPr/>
        </p:nvCxnSpPr>
        <p:spPr>
          <a:xfrm flipH="1">
            <a:off x="2228820" y="4119372"/>
            <a:ext cx="1248215" cy="0"/>
          </a:xfrm>
          <a:prstGeom prst="line">
            <a:avLst/>
          </a:prstGeom>
          <a:ln w="25400">
            <a:solidFill>
              <a:schemeClr val="tx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line"/>
          <p:cNvCxnSpPr/>
          <p:nvPr/>
        </p:nvCxnSpPr>
        <p:spPr>
          <a:xfrm flipV="1">
            <a:off x="2073941" y="2833479"/>
            <a:ext cx="624107" cy="1080985"/>
          </a:xfrm>
          <a:prstGeom prst="line">
            <a:avLst/>
          </a:prstGeom>
          <a:ln w="25400">
            <a:solidFill>
              <a:schemeClr val="tx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line"/>
          <p:cNvCxnSpPr/>
          <p:nvPr/>
        </p:nvCxnSpPr>
        <p:spPr>
          <a:xfrm>
            <a:off x="2192244" y="4247388"/>
            <a:ext cx="1248215" cy="0"/>
          </a:xfrm>
          <a:prstGeom prst="line">
            <a:avLst/>
          </a:prstGeom>
          <a:ln w="25400">
            <a:solidFill>
              <a:schemeClr val="tx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selfloop"/>
          <p:cNvSpPr/>
          <p:nvPr/>
        </p:nvSpPr>
        <p:spPr>
          <a:xfrm>
            <a:off x="2660904" y="1886864"/>
            <a:ext cx="347472" cy="347472"/>
          </a:xfrm>
          <a:prstGeom prst="ellipse">
            <a:avLst/>
          </a:prstGeom>
          <a:noFill/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selfloop"/>
          <p:cNvSpPr/>
          <p:nvPr/>
        </p:nvSpPr>
        <p:spPr>
          <a:xfrm>
            <a:off x="4004351" y="4213783"/>
            <a:ext cx="347472" cy="347472"/>
          </a:xfrm>
          <a:prstGeom prst="ellipse">
            <a:avLst/>
          </a:prstGeom>
          <a:noFill/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selfloop"/>
          <p:cNvSpPr/>
          <p:nvPr/>
        </p:nvSpPr>
        <p:spPr>
          <a:xfrm>
            <a:off x="1317456" y="4213783"/>
            <a:ext cx="347472" cy="347472"/>
          </a:xfrm>
          <a:prstGeom prst="ellipse">
            <a:avLst/>
          </a:prstGeom>
          <a:noFill/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neuron"/>
          <p:cNvSpPr/>
          <p:nvPr/>
        </p:nvSpPr>
        <p:spPr>
          <a:xfrm>
            <a:off x="2487168" y="2121408"/>
            <a:ext cx="694944" cy="694944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"/>
          <p:cNvSpPr txBox="1"/>
          <p:nvPr/>
        </p:nvSpPr>
        <p:spPr>
          <a:xfrm>
            <a:off x="2487168" y="2121408"/>
            <a:ext cx="694944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8" name="neuron"/>
          <p:cNvSpPr/>
          <p:nvPr/>
        </p:nvSpPr>
        <p:spPr>
          <a:xfrm>
            <a:off x="3477035" y="3835908"/>
            <a:ext cx="694944" cy="694944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"/>
          <p:cNvSpPr txBox="1"/>
          <p:nvPr/>
        </p:nvSpPr>
        <p:spPr>
          <a:xfrm>
            <a:off x="3477035" y="3835908"/>
            <a:ext cx="694944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40" name="neuron"/>
          <p:cNvSpPr/>
          <p:nvPr/>
        </p:nvSpPr>
        <p:spPr>
          <a:xfrm>
            <a:off x="1497300" y="3835908"/>
            <a:ext cx="694944" cy="694944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"/>
          <p:cNvSpPr txBox="1"/>
          <p:nvPr/>
        </p:nvSpPr>
        <p:spPr>
          <a:xfrm>
            <a:off x="1497300" y="3835908"/>
            <a:ext cx="694944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42" name="text"/>
          <p:cNvSpPr txBox="1"/>
          <p:nvPr/>
        </p:nvSpPr>
        <p:spPr>
          <a:xfrm>
            <a:off x="822960" y="146304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chemeClr val="tx2"/>
                </a:solidFill>
              </a:rPr>
              <a:t>Any neuron can connect to any other, and to itself</a:t>
            </a:r>
          </a:p>
        </p:txBody>
      </p:sp>
      <p:sp>
        <p:nvSpPr>
          <p:cNvPr id="43" name="text"/>
          <p:cNvSpPr txBox="1"/>
          <p:nvPr/>
        </p:nvSpPr>
        <p:spPr>
          <a:xfrm>
            <a:off x="5486400" y="1371600"/>
            <a:ext cx="612648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01168" algn="l">
              <a:spcAft>
                <a:spcPts val="1000"/>
              </a:spcAft>
              <a:buChar char="•"/>
            </a:pPr>
            <a:r>
              <a:rPr sz="1700" b="1" i="0">
                <a:solidFill>
                  <a:schemeClr val="tx1"/>
                </a:solidFill>
              </a:rPr>
              <a:t>Feedforward: </a:t>
            </a:r>
            <a:r>
              <a:rPr sz="1700" b="0" i="0">
                <a:solidFill>
                  <a:schemeClr val="tx1"/>
                </a:solidFill>
              </a:rPr>
              <a:t>activity flows one way, through each layer once. Same input, same output.</a:t>
            </a:r>
          </a:p>
          <a:p>
            <a:pPr marL="228600" indent="-201168" algn="l">
              <a:spcAft>
                <a:spcPts val="1000"/>
              </a:spcAft>
              <a:buChar char="•"/>
            </a:pPr>
            <a:r>
              <a:rPr sz="1700" b="1" i="0">
                <a:solidFill>
                  <a:schemeClr val="accent6"/>
                </a:solidFill>
              </a:rPr>
              <a:t>Recurrent: </a:t>
            </a:r>
            <a:r>
              <a:rPr sz="1700" b="0" i="0">
                <a:solidFill>
                  <a:schemeClr val="tx1"/>
                </a:solidFill>
              </a:rPr>
              <a:t>activity keeps circulating. What the network does now depends on what it was doing a moment ago.</a:t>
            </a:r>
          </a:p>
          <a:p>
            <a:pPr marL="228600" indent="-201168" algn="l">
              <a:spcAft>
                <a:spcPts val="1000"/>
              </a:spcAft>
              <a:buChar char="•"/>
            </a:pPr>
            <a:r>
              <a:rPr sz="1700" b="0" i="0">
                <a:solidFill>
                  <a:schemeClr val="tx1"/>
                </a:solidFill>
              </a:rPr>
              <a:t>That's what lets it </a:t>
            </a:r>
            <a:r>
              <a:rPr sz="1700" b="1" i="0">
                <a:solidFill>
                  <a:schemeClr val="tx1"/>
                </a:solidFill>
              </a:rPr>
              <a:t>remember</a:t>
            </a:r>
            <a:r>
              <a:rPr sz="1700" b="0" i="0">
                <a:solidFill>
                  <a:schemeClr val="tx1"/>
                </a:solidFill>
              </a:rPr>
              <a:t>, and </a:t>
            </a:r>
            <a:r>
              <a:rPr sz="1700" b="1" i="0">
                <a:solidFill>
                  <a:schemeClr val="tx1"/>
                </a:solidFill>
              </a:rPr>
              <a:t>make its own rhythm</a:t>
            </a:r>
            <a:r>
              <a:rPr sz="1700" b="0" i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4" name="card"/>
          <p:cNvSpPr/>
          <p:nvPr/>
        </p:nvSpPr>
        <p:spPr>
          <a:xfrm>
            <a:off x="5486400" y="3794760"/>
            <a:ext cx="6126480" cy="1874519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"/>
          <p:cNvSpPr txBox="1"/>
          <p:nvPr/>
        </p:nvSpPr>
        <p:spPr>
          <a:xfrm>
            <a:off x="5715000" y="3931920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chemeClr val="accent6"/>
                </a:solidFill>
              </a:rPr>
              <a:t>In the code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5715000" y="4297680"/>
            <a:ext cx="57607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chemeClr val="tx1"/>
                </a:solidFill>
                <a:latin typeface="Courier New"/>
              </a:rPr>
              <a:t>Weights[j][i]</a:t>
            </a:r>
            <a:r>
              <a:rPr sz="1500" b="0" i="0">
                <a:solidFill>
                  <a:schemeClr val="tx1"/>
                </a:solidFill>
              </a:rPr>
              <a:t> = connection from neuron j to neuron i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chemeClr val="tx1"/>
                </a:solidFill>
              </a:rPr>
              <a:t>Input to every neuron at once: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chemeClr val="tx1"/>
                </a:solidFill>
                <a:latin typeface="Courier New"/>
              </a:rPr>
              <a:t>Weights.T @ Outputs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Simulating it: tiny steps forward in time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sp>
        <p:nvSpPr>
          <p:cNvPr id="26" name="card"/>
          <p:cNvSpPr/>
          <p:nvPr/>
        </p:nvSpPr>
        <p:spPr>
          <a:xfrm>
            <a:off x="548640" y="1325880"/>
            <a:ext cx="5760720" cy="16002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code"/>
          <p:cNvSpPr txBox="1"/>
          <p:nvPr/>
        </p:nvSpPr>
        <p:spPr>
          <a:xfrm>
            <a:off x="777240" y="1508760"/>
            <a:ext cx="530352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chemeClr val="tx1"/>
                </a:solidFill>
                <a:latin typeface="Courier New"/>
              </a:rPr>
              <a:t>def step(self, dt):</a:t>
            </a:r>
          </a:p>
          <a:p>
            <a:pPr algn="l"/>
            <a:r>
              <a:rPr sz="1000" b="0" i="0">
                <a:solidFill>
                  <a:schemeClr val="tx1"/>
                </a:solidFill>
                <a:latin typeface="Courier New"/>
              </a:rPr>
              <a:t>    netinput = self.Inputs + np.dot(self.Weights.T, self.Outputs)</a:t>
            </a:r>
          </a:p>
          <a:p>
            <a:pPr algn="l"/>
            <a:r>
              <a:rPr sz="1000" b="0" i="0">
                <a:solidFill>
                  <a:schemeClr val="tx1"/>
                </a:solidFill>
                <a:latin typeface="Courier New"/>
              </a:rPr>
              <a:t>    self.States += dt * (self.invTimeConstants</a:t>
            </a:r>
          </a:p>
          <a:p>
            <a:pPr algn="l"/>
            <a:r>
              <a:rPr sz="1000" b="0" i="0">
                <a:solidFill>
                  <a:schemeClr val="tx1"/>
                </a:solidFill>
                <a:latin typeface="Courier New"/>
              </a:rPr>
              <a:t>                         * (-self.States + netinput))</a:t>
            </a:r>
          </a:p>
          <a:p>
            <a:pPr algn="l"/>
            <a:r>
              <a:rPr sz="1000" b="0" i="0">
                <a:solidFill>
                  <a:schemeClr val="tx1"/>
                </a:solidFill>
                <a:latin typeface="Courier New"/>
              </a:rPr>
              <a:t>    self.Outputs = sigmoid(self.States + self.Biases)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548640" y="3154680"/>
            <a:ext cx="5760720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01168" algn="l">
              <a:spcAft>
                <a:spcPts val="800"/>
              </a:spcAft>
              <a:buChar char="•"/>
            </a:pPr>
            <a:r>
              <a:rPr sz="1600" b="1" i="0">
                <a:solidFill>
                  <a:schemeClr val="tx1"/>
                </a:solidFill>
              </a:rPr>
              <a:t>Euler integration: </a:t>
            </a:r>
            <a:r>
              <a:rPr sz="1600" b="0" i="0">
                <a:solidFill>
                  <a:schemeClr val="tx1"/>
                </a:solidFill>
                <a:latin typeface="Courier New"/>
              </a:rPr>
              <a:t>y ← y + dt · dy/dt</a:t>
            </a:r>
          </a:p>
          <a:p>
            <a:pPr marL="228600" indent="-201168" algn="l">
              <a:spcAft>
                <a:spcPts val="800"/>
              </a:spcAft>
              <a:buChar char="•"/>
            </a:pPr>
            <a:r>
              <a:rPr sz="1600" b="0" i="0">
                <a:solidFill>
                  <a:schemeClr val="tx1"/>
                </a:solidFill>
              </a:rPr>
              <a:t>Compute how fast every state is changing right now, take a small step in that direction, repeat</a:t>
            </a:r>
          </a:p>
          <a:p>
            <a:pPr marL="228600" indent="-201168" algn="l">
              <a:spcAft>
                <a:spcPts val="800"/>
              </a:spcAft>
              <a:buChar char="•"/>
            </a:pPr>
            <a:r>
              <a:rPr sz="1600" b="1" i="0">
                <a:solidFill>
                  <a:schemeClr val="accent6"/>
                </a:solidFill>
              </a:rPr>
              <a:t>dt must be small compared to the smallest τ</a:t>
            </a:r>
            <a:r>
              <a:rPr sz="1600" b="0" i="0">
                <a:solidFill>
                  <a:schemeClr val="tx1"/>
                </a:solidFill>
              </a:rPr>
              <a:t>. Too big, and the simulation is wrong; bigger still (dt &gt; 2τ) and it blows up</a:t>
            </a:r>
          </a:p>
          <a:p>
            <a:pPr marL="228600" indent="-201168" algn="l">
              <a:spcAft>
                <a:spcPts val="800"/>
              </a:spcAft>
              <a:buChar char="•"/>
            </a:pPr>
            <a:r>
              <a:rPr sz="1600" b="0" i="0">
                <a:solidFill>
                  <a:schemeClr val="tx1"/>
                </a:solidFill>
              </a:rPr>
              <a:t>Unit 6: τ ≥ 0.1, dt = 0.01.  Project 6: τ ≥ 1, dt = 0.1</a:t>
            </a:r>
          </a:p>
        </p:txBody>
      </p:sp>
      <p:pic>
        <p:nvPicPr>
          <p:cNvPr id="29" name="Picture 28" descr="d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325880"/>
            <a:ext cx="5074920" cy="3091253"/>
          </a:xfrm>
          <a:prstGeom prst="rect">
            <a:avLst/>
          </a:prstGeom>
        </p:spPr>
      </p:pic>
      <p:sp>
        <p:nvSpPr>
          <p:cNvPr id="30" name="text"/>
          <p:cNvSpPr txBox="1"/>
          <p:nvPr/>
        </p:nvSpPr>
        <p:spPr>
          <a:xfrm>
            <a:off x="6537960" y="4434840"/>
            <a:ext cx="5074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chemeClr val="tx2"/>
                </a:solidFill>
              </a:rPr>
              <a:t>The exact answer rises smoothly to 1. With bigger steps it overshoots; at dt = 2.2 it diverges.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Unit 6: a CTRNN in 60 lines of NumPy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sp>
        <p:nvSpPr>
          <p:cNvPr id="26" name="card"/>
          <p:cNvSpPr/>
          <p:nvPr/>
        </p:nvSpPr>
        <p:spPr>
          <a:xfrm>
            <a:off x="548640" y="1325880"/>
            <a:ext cx="5852160" cy="315468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code"/>
          <p:cNvSpPr txBox="1"/>
          <p:nvPr/>
        </p:nvSpPr>
        <p:spPr>
          <a:xfrm>
            <a:off x="777240" y="1508760"/>
            <a:ext cx="5394960" cy="2880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chemeClr val="tx1"/>
                </a:solidFill>
                <a:latin typeface="Courier New"/>
              </a:rPr>
              <a:t>import ctrnn</a:t>
            </a:r>
          </a:p>
          <a:p>
            <a:pPr algn="l"/>
            <a:endParaRPr sz="1300" b="0" i="0">
              <a:solidFill>
                <a:schemeClr val="tx1"/>
              </a:solidFill>
              <a:latin typeface="Courier New"/>
            </a:endParaRPr>
          </a:p>
          <a:p>
            <a:pPr algn="l"/>
            <a:r>
              <a:rPr sz="1300" b="0" i="0">
                <a:solidFill>
                  <a:schemeClr val="tx1"/>
                </a:solidFill>
                <a:latin typeface="Courier New"/>
              </a:rPr>
              <a:t>nn = ctrnn.CTRNN(3)        # 3 neurons</a:t>
            </a:r>
          </a:p>
          <a:p>
            <a:pPr algn="l"/>
            <a:r>
              <a:rPr sz="1300" b="0" i="0">
                <a:solidFill>
                  <a:schemeClr val="tx1"/>
                </a:solidFill>
                <a:latin typeface="Courier New"/>
              </a:rPr>
              <a:t>nn.randomizeParameters()   # random w, θ, τ</a:t>
            </a:r>
          </a:p>
          <a:p>
            <a:pPr algn="l"/>
            <a:r>
              <a:rPr sz="1300" b="0" i="0">
                <a:solidFill>
                  <a:schemeClr val="tx1"/>
                </a:solidFill>
                <a:latin typeface="Courier New"/>
              </a:rPr>
              <a:t>nn.setCenterCrossing()     # optional (later)</a:t>
            </a:r>
          </a:p>
          <a:p>
            <a:pPr algn="l"/>
            <a:r>
              <a:rPr sz="1300" b="0" i="0">
                <a:solidFill>
                  <a:schemeClr val="tx1"/>
                </a:solidFill>
                <a:latin typeface="Courier New"/>
              </a:rPr>
              <a:t>nn.initializeState(np.random.uniform(-1, 1, 3))</a:t>
            </a:r>
          </a:p>
          <a:p>
            <a:pPr algn="l"/>
            <a:endParaRPr sz="1300" b="0" i="0">
              <a:solidFill>
                <a:schemeClr val="tx1"/>
              </a:solidFill>
              <a:latin typeface="Courier New"/>
            </a:endParaRPr>
          </a:p>
          <a:p>
            <a:pPr algn="l"/>
            <a:r>
              <a:rPr sz="1300" b="0" i="0">
                <a:solidFill>
                  <a:schemeClr val="tx1"/>
                </a:solidFill>
                <a:latin typeface="Courier New"/>
              </a:rPr>
              <a:t>for t in range(steps):</a:t>
            </a:r>
          </a:p>
          <a:p>
            <a:pPr algn="l"/>
            <a:r>
              <a:rPr sz="1300" b="0" i="0">
                <a:solidFill>
                  <a:schemeClr val="tx1"/>
                </a:solidFill>
                <a:latin typeface="Courier New"/>
              </a:rPr>
              <a:t>    nn.step(dt)</a:t>
            </a:r>
          </a:p>
          <a:p>
            <a:pPr algn="l"/>
            <a:r>
              <a:rPr sz="1300" b="0" i="0">
                <a:solidFill>
                  <a:schemeClr val="tx1"/>
                </a:solidFill>
                <a:latin typeface="Courier New"/>
              </a:rPr>
              <a:t>    outputs[t] = nn.Outputs</a:t>
            </a:r>
          </a:p>
        </p:txBody>
      </p:sp>
      <p:sp>
        <p:nvSpPr>
          <p:cNvPr id="28" name="card"/>
          <p:cNvSpPr/>
          <p:nvPr/>
        </p:nvSpPr>
        <p:spPr>
          <a:xfrm>
            <a:off x="6675120" y="1325880"/>
            <a:ext cx="4937760" cy="9144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"/>
          <p:cNvSpPr txBox="1"/>
          <p:nvPr/>
        </p:nvSpPr>
        <p:spPr>
          <a:xfrm>
            <a:off x="6903720" y="1463040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chemeClr val="accent6"/>
                </a:solidFill>
                <a:latin typeface="Courier New"/>
              </a:rPr>
              <a:t>ctrnn.py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6903720" y="1783080"/>
            <a:ext cx="4526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chemeClr val="tx2"/>
                </a:solidFill>
              </a:rPr>
              <a:t>The network: states, weights, biases, time constants, step(dt)</a:t>
            </a:r>
          </a:p>
        </p:txBody>
      </p:sp>
      <p:sp>
        <p:nvSpPr>
          <p:cNvPr id="31" name="card"/>
          <p:cNvSpPr/>
          <p:nvPr/>
        </p:nvSpPr>
        <p:spPr>
          <a:xfrm>
            <a:off x="6675120" y="2404872"/>
            <a:ext cx="4937760" cy="9144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"/>
          <p:cNvSpPr txBox="1"/>
          <p:nvPr/>
        </p:nvSpPr>
        <p:spPr>
          <a:xfrm>
            <a:off x="6903720" y="2542032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chemeClr val="accent6"/>
                </a:solidFill>
                <a:latin typeface="Courier New"/>
              </a:rPr>
              <a:t>sim.py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6903720" y="2862072"/>
            <a:ext cx="4526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chemeClr val="tx2"/>
                </a:solidFill>
              </a:rPr>
              <a:t>Simulate one circuit; plot each neuron over time, and neuron 1 vs. neuron 2</a:t>
            </a:r>
          </a:p>
        </p:txBody>
      </p:sp>
      <p:sp>
        <p:nvSpPr>
          <p:cNvPr id="34" name="card"/>
          <p:cNvSpPr/>
          <p:nvPr/>
        </p:nvSpPr>
        <p:spPr>
          <a:xfrm>
            <a:off x="6675120" y="3483864"/>
            <a:ext cx="4937760" cy="9144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"/>
          <p:cNvSpPr txBox="1"/>
          <p:nvPr/>
        </p:nvSpPr>
        <p:spPr>
          <a:xfrm>
            <a:off x="6903720" y="3621024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chemeClr val="accent6"/>
                </a:solidFill>
                <a:latin typeface="Courier New"/>
              </a:rPr>
              <a:t>exp.py</a:t>
            </a:r>
          </a:p>
        </p:txBody>
      </p:sp>
      <p:sp>
        <p:nvSpPr>
          <p:cNvPr id="36" name="text"/>
          <p:cNvSpPr txBox="1"/>
          <p:nvPr/>
        </p:nvSpPr>
        <p:spPr>
          <a:xfrm>
            <a:off x="6903720" y="3941064"/>
            <a:ext cx="4526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chemeClr val="tx2"/>
                </a:solidFill>
              </a:rPr>
              <a:t>Simulate hundreds of circuits; count how many oscillate</a:t>
            </a:r>
          </a:p>
        </p:txBody>
      </p:sp>
      <p:sp>
        <p:nvSpPr>
          <p:cNvPr id="37" name="text"/>
          <p:cNvSpPr txBox="1"/>
          <p:nvPr/>
        </p:nvSpPr>
        <p:spPr>
          <a:xfrm>
            <a:off x="548640" y="475488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chemeClr val="tx1"/>
                </a:solidFill>
                <a:latin typeface="Courier New"/>
              </a:rPr>
              <a:t>PythonBasics/Unit6</a:t>
            </a:r>
            <a:r>
              <a:rPr sz="1600" b="0" i="0">
                <a:solidFill>
                  <a:schemeClr val="tx1"/>
                </a:solidFill>
              </a:rPr>
              <a:t>: the same pieces as Project 6's controller, with nothing else attached. No body, no inputs: just the dynamics.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With no inputs at all, a CTRNN can...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  <p:sp>
        <p:nvSpPr>
          <p:cNvPr id="26" name="card"/>
          <p:cNvSpPr/>
          <p:nvPr/>
        </p:nvSpPr>
        <p:spPr>
          <a:xfrm>
            <a:off x="548640" y="1325880"/>
            <a:ext cx="5394960" cy="443484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"/>
          <p:cNvSpPr txBox="1"/>
          <p:nvPr/>
        </p:nvSpPr>
        <p:spPr>
          <a:xfrm>
            <a:off x="822960" y="14630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chemeClr val="tx1"/>
                </a:solidFill>
              </a:rPr>
              <a:t>Settle down</a:t>
            </a:r>
          </a:p>
        </p:txBody>
      </p:sp>
      <p:pic>
        <p:nvPicPr>
          <p:cNvPr id="28" name="Picture 27" descr="seed3_rand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874519"/>
            <a:ext cx="4572000" cy="2981940"/>
          </a:xfrm>
          <a:prstGeom prst="rect">
            <a:avLst/>
          </a:prstGeom>
        </p:spPr>
      </p:pic>
      <p:sp>
        <p:nvSpPr>
          <p:cNvPr id="29" name="text"/>
          <p:cNvSpPr txBox="1"/>
          <p:nvPr/>
        </p:nvSpPr>
        <p:spPr>
          <a:xfrm>
            <a:off x="822960" y="5029200"/>
            <a:ext cx="4846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chemeClr val="tx2"/>
                </a:solidFill>
              </a:rPr>
              <a:t>All activity dies into a fixed point and stays there. The most common outcome for a random circuit.</a:t>
            </a:r>
          </a:p>
        </p:txBody>
      </p:sp>
      <p:sp>
        <p:nvSpPr>
          <p:cNvPr id="30" name="card"/>
          <p:cNvSpPr/>
          <p:nvPr/>
        </p:nvSpPr>
        <p:spPr>
          <a:xfrm>
            <a:off x="6172200" y="1325880"/>
            <a:ext cx="5394960" cy="443484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"/>
          <p:cNvSpPr txBox="1"/>
          <p:nvPr/>
        </p:nvSpPr>
        <p:spPr>
          <a:xfrm>
            <a:off x="6446520" y="14630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chemeClr val="accent6"/>
                </a:solidFill>
              </a:rPr>
              <a:t>Oscillate</a:t>
            </a:r>
          </a:p>
        </p:txBody>
      </p:sp>
      <p:pic>
        <p:nvPicPr>
          <p:cNvPr id="32" name="Picture 31" descr="seed3_centercross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874519"/>
            <a:ext cx="4572000" cy="2986548"/>
          </a:xfrm>
          <a:prstGeom prst="rect">
            <a:avLst/>
          </a:prstGeom>
        </p:spPr>
      </p:pic>
      <p:sp>
        <p:nvSpPr>
          <p:cNvPr id="33" name="text"/>
          <p:cNvSpPr txBox="1"/>
          <p:nvPr/>
        </p:nvSpPr>
        <p:spPr>
          <a:xfrm>
            <a:off x="6446520" y="5029200"/>
            <a:ext cx="4846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chemeClr val="tx2"/>
                </a:solidFill>
              </a:rPr>
              <a:t>Activity repeats forever, with its own period: a rhythm nobody put in from outside.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chemeClr val="tx2"/>
                </a:solidFill>
              </a:rPr>
              <a:t>They can also switch between several resting states, or behave chaotically. Which you get depends on the parameters, and sometimes on where you start.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A two-neuron oscillator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  <p:pic>
        <p:nvPicPr>
          <p:cNvPr id="26" name="Picture 25" descr="osc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035040" cy="3423101"/>
          </a:xfrm>
          <a:prstGeom prst="rect">
            <a:avLst/>
          </a:prstGeom>
        </p:spPr>
      </p:pic>
      <p:pic>
        <p:nvPicPr>
          <p:cNvPr id="27" name="Picture 26" descr="osc_ph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280160"/>
            <a:ext cx="3175603" cy="3291840"/>
          </a:xfrm>
          <a:prstGeom prst="rect">
            <a:avLst/>
          </a:prstGeom>
        </p:spPr>
      </p:pic>
      <p:sp>
        <p:nvSpPr>
          <p:cNvPr id="28" name="selfloop"/>
          <p:cNvSpPr/>
          <p:nvPr/>
        </p:nvSpPr>
        <p:spPr>
          <a:xfrm>
            <a:off x="957605" y="5198364"/>
            <a:ext cx="301752" cy="301752"/>
          </a:xfrm>
          <a:prstGeom prst="ellipse">
            <a:avLst/>
          </a:prstGeom>
          <a:noFill/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selfloop"/>
          <p:cNvSpPr/>
          <p:nvPr/>
        </p:nvSpPr>
        <p:spPr>
          <a:xfrm>
            <a:off x="3861282" y="5198364"/>
            <a:ext cx="301752" cy="301752"/>
          </a:xfrm>
          <a:prstGeom prst="ellipse">
            <a:avLst/>
          </a:prstGeom>
          <a:noFill/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neuron"/>
          <p:cNvSpPr/>
          <p:nvPr/>
        </p:nvSpPr>
        <p:spPr>
          <a:xfrm>
            <a:off x="1161288" y="5047488"/>
            <a:ext cx="603504" cy="603504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"/>
          <p:cNvSpPr txBox="1"/>
          <p:nvPr/>
        </p:nvSpPr>
        <p:spPr>
          <a:xfrm>
            <a:off x="1161288" y="5047488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2" name="neuron"/>
          <p:cNvSpPr/>
          <p:nvPr/>
        </p:nvSpPr>
        <p:spPr>
          <a:xfrm>
            <a:off x="3355848" y="5047488"/>
            <a:ext cx="603504" cy="603504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"/>
          <p:cNvSpPr txBox="1"/>
          <p:nvPr/>
        </p:nvSpPr>
        <p:spPr>
          <a:xfrm>
            <a:off x="3355848" y="5047488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chemeClr val="bg1"/>
                </a:solidFill>
              </a:rPr>
              <a:t>2</a:t>
            </a:r>
          </a:p>
        </p:txBody>
      </p:sp>
      <p:cxnSp>
        <p:nvCxnSpPr>
          <p:cNvPr id="34" name="line"/>
          <p:cNvCxnSpPr/>
          <p:nvPr/>
        </p:nvCxnSpPr>
        <p:spPr>
          <a:xfrm>
            <a:off x="1792224" y="5239512"/>
            <a:ext cx="1517904" cy="0"/>
          </a:xfrm>
          <a:prstGeom prst="line">
            <a:avLst/>
          </a:prstGeom>
          <a:ln w="25400">
            <a:solidFill>
              <a:schemeClr val="accent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line"/>
          <p:cNvCxnSpPr/>
          <p:nvPr/>
        </p:nvCxnSpPr>
        <p:spPr>
          <a:xfrm flipH="1">
            <a:off x="1810512" y="5458968"/>
            <a:ext cx="1517904" cy="0"/>
          </a:xfrm>
          <a:prstGeom prst="line">
            <a:avLst/>
          </a:prstGeom>
          <a:ln w="25400">
            <a:solidFill>
              <a:schemeClr val="accent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"/>
          <p:cNvSpPr txBox="1"/>
          <p:nvPr/>
        </p:nvSpPr>
        <p:spPr>
          <a:xfrm>
            <a:off x="2057400" y="489204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chemeClr val="accent6"/>
                </a:solidFill>
              </a:rPr>
              <a:t>−1</a:t>
            </a:r>
          </a:p>
        </p:txBody>
      </p:sp>
      <p:sp>
        <p:nvSpPr>
          <p:cNvPr id="37" name="text"/>
          <p:cNvSpPr txBox="1"/>
          <p:nvPr/>
        </p:nvSpPr>
        <p:spPr>
          <a:xfrm>
            <a:off x="2057400" y="55321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chemeClr val="accent5"/>
                </a:solidFill>
              </a:rPr>
              <a:t>+1</a:t>
            </a:r>
          </a:p>
        </p:txBody>
      </p:sp>
      <p:sp>
        <p:nvSpPr>
          <p:cNvPr id="38" name="text"/>
          <p:cNvSpPr txBox="1"/>
          <p:nvPr/>
        </p:nvSpPr>
        <p:spPr>
          <a:xfrm>
            <a:off x="4846320" y="4572000"/>
            <a:ext cx="67665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chemeClr val="tx1"/>
                </a:solidFill>
              </a:rPr>
              <a:t>2 turns 1 on; 1 turns 2 off; 2 off lets 1 fall; 1 off lets 2 rise... </a:t>
            </a:r>
            <a:r>
              <a:rPr sz="1500" b="0" i="0">
                <a:solidFill>
                  <a:schemeClr val="tx1"/>
                </a:solidFill>
              </a:rPr>
              <a:t>Each neuron excites itself (+4.5), so it tends to stay on or off; the cross connections keep pushing them over the edge. In output space the trajectory ends in a loop: a </a:t>
            </a:r>
            <a:r>
              <a:rPr sz="1500" b="1" i="0">
                <a:solidFill>
                  <a:schemeClr val="accent6"/>
                </a:solidFill>
              </a:rPr>
              <a:t>limit cycle</a:t>
            </a:r>
            <a:r>
              <a:rPr sz="1500" b="0" i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4846320" y="5760720"/>
            <a:ext cx="6766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chemeClr val="tx2"/>
                </a:solidFill>
                <a:latin typeface="Courier New"/>
              </a:rPr>
              <a:t>sim.py</a:t>
            </a:r>
            <a:r>
              <a:rPr sz="1200" b="0" i="0">
                <a:solidFill>
                  <a:schemeClr val="tx2"/>
                </a:solidFill>
              </a:rPr>
              <a:t> with circuit = "oscillator"   (θ = −2.75, −1.75;  τ = 1)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Center-crossing: put every neuron where it's sensitive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  <p:pic>
        <p:nvPicPr>
          <p:cNvPr id="26" name="Picture 25" descr="cc_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5760720" cy="3847056"/>
          </a:xfrm>
          <a:prstGeom prst="rect">
            <a:avLst/>
          </a:prstGeom>
        </p:spPr>
      </p:pic>
      <p:sp>
        <p:nvSpPr>
          <p:cNvPr id="27" name="text"/>
          <p:cNvSpPr txBox="1"/>
          <p:nvPr/>
        </p:nvSpPr>
        <p:spPr>
          <a:xfrm>
            <a:off x="6583680" y="1371600"/>
            <a:ext cx="50292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01168" algn="l">
              <a:spcAft>
                <a:spcPts val="800"/>
              </a:spcAft>
              <a:buChar char="•"/>
            </a:pPr>
            <a:r>
              <a:rPr sz="1500" b="0" i="0">
                <a:solidFill>
                  <a:schemeClr val="tx1"/>
                </a:solidFill>
              </a:rPr>
              <a:t>Random weights and biases push most neurons fully on or fully off. A saturated neuron ignores its inputs, so activity freezes</a:t>
            </a:r>
          </a:p>
          <a:p>
            <a:pPr marL="228600" indent="-201168" algn="l">
              <a:spcAft>
                <a:spcPts val="800"/>
              </a:spcAft>
              <a:buChar char="•"/>
            </a:pPr>
            <a:r>
              <a:rPr sz="1500" b="0" i="0">
                <a:solidFill>
                  <a:schemeClr val="tx1"/>
                </a:solidFill>
              </a:rPr>
              <a:t>A neuron's input from the others always lies between the sum of its negative weights and the sum of its positive ones</a:t>
            </a:r>
          </a:p>
          <a:p>
            <a:pPr marL="228600" indent="-201168" algn="l">
              <a:spcAft>
                <a:spcPts val="800"/>
              </a:spcAft>
              <a:buChar char="•"/>
            </a:pPr>
            <a:r>
              <a:rPr sz="1500" b="1" i="0">
                <a:solidFill>
                  <a:schemeClr val="accent6"/>
                </a:solidFill>
              </a:rPr>
              <a:t>Center-crossing: </a:t>
            </a:r>
            <a:r>
              <a:rPr sz="1500" b="0" i="0">
                <a:solidFill>
                  <a:schemeClr val="tx1"/>
                </a:solidFill>
              </a:rPr>
              <a:t>set each bias so the middle of that range lands on the steepest part of the sigmoid</a:t>
            </a:r>
          </a:p>
        </p:txBody>
      </p:sp>
      <p:sp>
        <p:nvSpPr>
          <p:cNvPr id="28" name="card"/>
          <p:cNvSpPr/>
          <p:nvPr/>
        </p:nvSpPr>
        <p:spPr>
          <a:xfrm>
            <a:off x="6583680" y="4069080"/>
            <a:ext cx="5029200" cy="1600200"/>
          </a:xfrm>
          <a:prstGeom prst="roundRect">
            <a:avLst>
              <a:gd name="adj" fmla="val 3000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"/>
          <p:cNvSpPr txBox="1"/>
          <p:nvPr/>
        </p:nvSpPr>
        <p:spPr>
          <a:xfrm>
            <a:off x="6766560" y="4251960"/>
            <a:ext cx="4663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>
                <a:solidFill>
                  <a:schemeClr val="accent1"/>
                </a:solidFill>
              </a:rPr>
              <a:t>θ</a:t>
            </a:r>
            <a:r>
              <a:rPr sz="2800" b="1" i="0" baseline="-25000">
                <a:solidFill>
                  <a:schemeClr val="accent1"/>
                </a:solidFill>
              </a:rPr>
              <a:t>i</a:t>
            </a:r>
            <a:r>
              <a:rPr sz="2800" b="1" i="0">
                <a:solidFill>
                  <a:schemeClr val="bg1"/>
                </a:solidFill>
              </a:rPr>
              <a:t>  =  −Σ</a:t>
            </a:r>
            <a:r>
              <a:rPr sz="2800" b="1" i="0" baseline="-25000">
                <a:solidFill>
                  <a:schemeClr val="bg1"/>
                </a:solidFill>
              </a:rPr>
              <a:t>j</a:t>
            </a:r>
            <a:r>
              <a:rPr sz="2800" b="1" i="0">
                <a:solidFill>
                  <a:schemeClr val="bg1"/>
                </a:solidFill>
              </a:rPr>
              <a:t> w</a:t>
            </a:r>
            <a:r>
              <a:rPr sz="2800" b="1" i="0" baseline="-25000">
                <a:solidFill>
                  <a:schemeClr val="bg1"/>
                </a:solidFill>
              </a:rPr>
              <a:t>ji</a:t>
            </a:r>
            <a:r>
              <a:rPr sz="2800" b="1" i="0">
                <a:solidFill>
                  <a:schemeClr val="bg1"/>
                </a:solidFill>
              </a:rPr>
              <a:t> / 2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6766560" y="4983480"/>
            <a:ext cx="4663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chemeClr val="accent1"/>
                </a:solidFill>
                <a:latin typeface="Courier New"/>
              </a:rPr>
              <a:t>nn.setCenterCrossing()</a:t>
            </a:r>
            <a:r>
              <a:rPr sz="1400" b="0" i="0">
                <a:solidFill>
                  <a:schemeClr val="accent4"/>
                </a:solidFill>
              </a:rPr>
              <a:t>    Mathayomchan &amp; Beer (2002)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Same weights and time constants, different biases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  <p:pic>
        <p:nvPicPr>
          <p:cNvPr id="26" name="Picture 25" descr="seed3_rand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3294667" cy="2148840"/>
          </a:xfrm>
          <a:prstGeom prst="rect">
            <a:avLst/>
          </a:prstGeom>
        </p:spPr>
      </p:pic>
      <p:pic>
        <p:nvPicPr>
          <p:cNvPr id="27" name="Picture 26" descr="seed3_random_ph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280160"/>
            <a:ext cx="2227369" cy="2148840"/>
          </a:xfrm>
          <a:prstGeom prst="rect">
            <a:avLst/>
          </a:prstGeom>
        </p:spPr>
      </p:pic>
      <p:pic>
        <p:nvPicPr>
          <p:cNvPr id="28" name="Picture 27" descr="seed3_centercross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566160"/>
            <a:ext cx="3289582" cy="2148840"/>
          </a:xfrm>
          <a:prstGeom prst="rect">
            <a:avLst/>
          </a:prstGeom>
        </p:spPr>
      </p:pic>
      <p:pic>
        <p:nvPicPr>
          <p:cNvPr id="29" name="Picture 28" descr="seed3_centercrossing_ph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3566160"/>
            <a:ext cx="2227369" cy="2148840"/>
          </a:xfrm>
          <a:prstGeom prst="rect">
            <a:avLst/>
          </a:prstGeom>
        </p:spPr>
      </p:pic>
      <p:sp>
        <p:nvSpPr>
          <p:cNvPr id="30" name="card"/>
          <p:cNvSpPr/>
          <p:nvPr/>
        </p:nvSpPr>
        <p:spPr>
          <a:xfrm>
            <a:off x="7498079" y="1371600"/>
            <a:ext cx="4114800" cy="146304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code"/>
          <p:cNvSpPr txBox="1"/>
          <p:nvPr/>
        </p:nvSpPr>
        <p:spPr>
          <a:xfrm>
            <a:off x="7726679" y="1554480"/>
            <a:ext cx="36576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chemeClr val="tx2"/>
                </a:solidFill>
                <a:latin typeface="Courier New"/>
              </a:rPr>
              <a:t># sim.py</a:t>
            </a:r>
          </a:p>
          <a:p>
            <a:pPr algn="l"/>
            <a:r>
              <a:rPr sz="1300" b="0" i="0">
                <a:solidFill>
                  <a:schemeClr val="tx1"/>
                </a:solidFill>
                <a:latin typeface="Courier New"/>
              </a:rPr>
              <a:t>size = 3</a:t>
            </a:r>
          </a:p>
          <a:p>
            <a:pPr algn="l"/>
            <a:r>
              <a:rPr sz="1300" b="0" i="0">
                <a:solidFill>
                  <a:schemeClr val="tx1"/>
                </a:solidFill>
                <a:latin typeface="Courier New"/>
              </a:rPr>
              <a:t>seed = 3</a:t>
            </a:r>
          </a:p>
          <a:p>
            <a:pPr algn="l"/>
            <a:r>
              <a:rPr sz="1300" b="0" i="0">
                <a:solidFill>
                  <a:schemeClr val="tx1"/>
                </a:solidFill>
                <a:latin typeface="Courier New"/>
              </a:rPr>
              <a:t>circuit = "random"</a:t>
            </a:r>
          </a:p>
          <a:p>
            <a:pPr algn="l"/>
            <a:r>
              <a:rPr sz="1300" b="0" i="0">
                <a:solidFill>
                  <a:schemeClr val="tx2"/>
                </a:solidFill>
                <a:latin typeface="Courier New"/>
              </a:rPr>
              <a:t># or "centercrossing"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7498079" y="3108960"/>
            <a:ext cx="4114800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01168" algn="l">
              <a:spcAft>
                <a:spcPts val="800"/>
              </a:spcAft>
              <a:buChar char="•"/>
            </a:pPr>
            <a:r>
              <a:rPr sz="1500" b="0" i="0">
                <a:solidFill>
                  <a:schemeClr val="tx1"/>
                </a:solidFill>
              </a:rPr>
              <a:t>Same seed: same weights and time constants, only the biases change</a:t>
            </a:r>
          </a:p>
          <a:p>
            <a:pPr marL="228600" indent="-201168" algn="l">
              <a:spcAft>
                <a:spcPts val="800"/>
              </a:spcAft>
              <a:buChar char="•"/>
            </a:pPr>
            <a:r>
              <a:rPr sz="1500" b="0" i="0">
                <a:solidFill>
                  <a:schemeClr val="tx1"/>
                </a:solidFill>
              </a:rPr>
              <a:t>Random: neuron 2 is pinned at 0, the others freeze within a few time units</a:t>
            </a:r>
          </a:p>
          <a:p>
            <a:pPr marL="228600" indent="-201168" algn="l">
              <a:spcAft>
                <a:spcPts val="800"/>
              </a:spcAft>
              <a:buChar char="•"/>
            </a:pPr>
            <a:r>
              <a:rPr sz="1500" b="1" i="0">
                <a:solidFill>
                  <a:schemeClr val="tx1"/>
                </a:solidFill>
              </a:rPr>
              <a:t>Center-crossing: all three neurons cycle, forever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How common is rhythm?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  <p:pic>
        <p:nvPicPr>
          <p:cNvPr id="26" name="Picture 25" descr="exp_fr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6035040" cy="4110502"/>
          </a:xfrm>
          <a:prstGeom prst="rect">
            <a:avLst/>
          </a:prstGeom>
        </p:spPr>
      </p:pic>
      <p:sp>
        <p:nvSpPr>
          <p:cNvPr id="27" name="card"/>
          <p:cNvSpPr/>
          <p:nvPr/>
        </p:nvSpPr>
        <p:spPr>
          <a:xfrm>
            <a:off x="7315200" y="1325880"/>
            <a:ext cx="4297680" cy="443484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"/>
          <p:cNvSpPr txBox="1"/>
          <p:nvPr/>
        </p:nvSpPr>
        <p:spPr>
          <a:xfrm>
            <a:off x="7543800" y="1463040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chemeClr val="accent6"/>
                </a:solidFill>
                <a:latin typeface="Courier New"/>
              </a:rPr>
              <a:t>exp.py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7543800" y="1920240"/>
            <a:ext cx="388620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01168" algn="l">
              <a:spcAft>
                <a:spcPts val="800"/>
              </a:spcAft>
              <a:buChar char="•"/>
            </a:pPr>
            <a:r>
              <a:rPr sz="1500" b="0" i="0">
                <a:solidFill>
                  <a:schemeClr val="tx1"/>
                </a:solidFill>
              </a:rPr>
              <a:t>100 random circuits per size, each with random and with center-crossing biases</a:t>
            </a:r>
          </a:p>
          <a:p>
            <a:pPr marL="228600" indent="-201168" algn="l">
              <a:spcAft>
                <a:spcPts val="800"/>
              </a:spcAft>
              <a:buChar char="•"/>
            </a:pPr>
            <a:r>
              <a:rPr sz="1500" b="0" i="0">
                <a:solidFill>
                  <a:schemeClr val="tx1"/>
                </a:solidFill>
              </a:rPr>
              <a:t>Throw away the first 100 time units; count it as rhythmic if a neuron keeps swinging (2+ full cycles)</a:t>
            </a:r>
          </a:p>
          <a:p>
            <a:pPr marL="228600" indent="-201168" algn="l">
              <a:spcAft>
                <a:spcPts val="800"/>
              </a:spcAft>
              <a:buChar char="•"/>
            </a:pPr>
            <a:r>
              <a:rPr sz="1500" b="1" i="0">
                <a:solidFill>
                  <a:schemeClr val="tx1"/>
                </a:solidFill>
              </a:rPr>
              <a:t>Random: 0–4%.  Center-crossing: up to 37%, </a:t>
            </a:r>
            <a:r>
              <a:rPr sz="1500" b="0" i="0">
                <a:solidFill>
                  <a:schemeClr val="tx1"/>
                </a:solidFill>
              </a:rPr>
              <a:t>and more with more neurons</a:t>
            </a:r>
          </a:p>
          <a:p>
            <a:pPr marL="228600" indent="-201168" algn="l">
              <a:spcAft>
                <a:spcPts val="800"/>
              </a:spcAft>
              <a:buChar char="•"/>
            </a:pPr>
            <a:r>
              <a:rPr sz="1500" b="0" i="0">
                <a:solidFill>
                  <a:schemeClr val="tx1"/>
                </a:solidFill>
              </a:rPr>
              <a:t>Why does one neuron never oscillate?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548640" y="553212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chemeClr val="tx2"/>
                </a:solidFill>
              </a:rPr>
              <a:t>About 1 minute. Change sizes, samples, or the parameter ranges, and run it again.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Try it: Unit 6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  <p:sp>
        <p:nvSpPr>
          <p:cNvPr id="26" name="card"/>
          <p:cNvSpPr/>
          <p:nvPr/>
        </p:nvSpPr>
        <p:spPr>
          <a:xfrm>
            <a:off x="548640" y="1325880"/>
            <a:ext cx="5120640" cy="237744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code"/>
          <p:cNvSpPr txBox="1"/>
          <p:nvPr/>
        </p:nvSpPr>
        <p:spPr>
          <a:xfrm>
            <a:off x="777240" y="1508760"/>
            <a:ext cx="466344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chemeClr val="tx2"/>
                </a:solidFill>
                <a:latin typeface="Courier New"/>
              </a:rPr>
              <a:t># sim.py: change these, run it again</a:t>
            </a:r>
          </a:p>
          <a:p>
            <a:pPr algn="l"/>
            <a:r>
              <a:rPr sz="1400" b="0" i="0">
                <a:solidFill>
                  <a:schemeClr val="tx1"/>
                </a:solidFill>
                <a:latin typeface="Courier New"/>
              </a:rPr>
              <a:t>size = 3</a:t>
            </a:r>
          </a:p>
          <a:p>
            <a:pPr algn="l"/>
            <a:r>
              <a:rPr sz="1400" b="0" i="0">
                <a:solidFill>
                  <a:schemeClr val="tx1"/>
                </a:solidFill>
                <a:latin typeface="Courier New"/>
              </a:rPr>
              <a:t>duration = 100.0</a:t>
            </a:r>
          </a:p>
          <a:p>
            <a:pPr algn="l"/>
            <a:r>
              <a:rPr sz="1400" b="0" i="0">
                <a:solidFill>
                  <a:schemeClr val="tx1"/>
                </a:solidFill>
                <a:latin typeface="Courier New"/>
              </a:rPr>
              <a:t>dt = 0.01</a:t>
            </a:r>
          </a:p>
          <a:p>
            <a:pPr algn="l"/>
            <a:r>
              <a:rPr sz="1400" b="0" i="0">
                <a:solidFill>
                  <a:schemeClr val="tx1"/>
                </a:solidFill>
                <a:latin typeface="Courier New"/>
              </a:rPr>
              <a:t>circuit = "random"</a:t>
            </a:r>
          </a:p>
          <a:p>
            <a:pPr algn="l"/>
            <a:r>
              <a:rPr sz="1400" b="0" i="0">
                <a:solidFill>
                  <a:schemeClr val="tx1"/>
                </a:solidFill>
                <a:latin typeface="Courier New"/>
              </a:rPr>
              <a:t>seed = None</a:t>
            </a:r>
          </a:p>
        </p:txBody>
      </p:sp>
      <p:sp>
        <p:nvSpPr>
          <p:cNvPr id="28" name="card"/>
          <p:cNvSpPr/>
          <p:nvPr/>
        </p:nvSpPr>
        <p:spPr>
          <a:xfrm>
            <a:off x="548640" y="3931920"/>
            <a:ext cx="5120640" cy="105156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code"/>
          <p:cNvSpPr txBox="1"/>
          <p:nvPr/>
        </p:nvSpPr>
        <p:spPr>
          <a:xfrm>
            <a:off x="777240" y="4114800"/>
            <a:ext cx="46634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chemeClr val="tx1"/>
                </a:solidFill>
                <a:latin typeface="Courier New"/>
              </a:rPr>
              <a:t>python3 sim.py</a:t>
            </a:r>
          </a:p>
          <a:p>
            <a:pPr algn="l"/>
            <a:r>
              <a:rPr sz="1400" b="0" i="0">
                <a:solidFill>
                  <a:schemeClr val="tx1"/>
                </a:solidFill>
                <a:latin typeface="Courier New"/>
              </a:rPr>
              <a:t>python3 exp.py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6035040" y="1371600"/>
            <a:ext cx="557784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01168" algn="l">
              <a:spcAft>
                <a:spcPts val="1000"/>
              </a:spcAft>
              <a:buChar char="•"/>
            </a:pPr>
            <a:r>
              <a:rPr sz="1700" b="1" i="0">
                <a:solidFill>
                  <a:schemeClr val="tx1"/>
                </a:solidFill>
              </a:rPr>
              <a:t>Seed 3</a:t>
            </a:r>
            <a:r>
              <a:rPr sz="1700" b="0" i="0">
                <a:solidFill>
                  <a:schemeClr val="tx1"/>
                </a:solidFill>
              </a:rPr>
              <a:t>: random vs. center-crossing, same weights</a:t>
            </a:r>
          </a:p>
          <a:p>
            <a:pPr marL="228600" indent="-201168" algn="l">
              <a:spcAft>
                <a:spcPts val="1000"/>
              </a:spcAft>
              <a:buChar char="•"/>
            </a:pPr>
            <a:r>
              <a:rPr sz="1700" b="1" i="0">
                <a:solidFill>
                  <a:schemeClr val="tx1"/>
                </a:solidFill>
              </a:rPr>
              <a:t>Oscillator</a:t>
            </a:r>
            <a:r>
              <a:rPr sz="1700" b="0" i="0">
                <a:solidFill>
                  <a:schemeClr val="tx1"/>
                </a:solidFill>
              </a:rPr>
              <a:t>: what changes if you flip the sign of one cross connection?</a:t>
            </a:r>
          </a:p>
          <a:p>
            <a:pPr marL="228600" indent="-201168" algn="l">
              <a:spcAft>
                <a:spcPts val="1000"/>
              </a:spcAft>
              <a:buChar char="•"/>
            </a:pPr>
            <a:r>
              <a:rPr sz="1700" b="1" i="0">
                <a:solidFill>
                  <a:schemeClr val="tx1"/>
                </a:solidFill>
              </a:rPr>
              <a:t>dt</a:t>
            </a:r>
            <a:r>
              <a:rPr sz="1700" b="0" i="0">
                <a:solidFill>
                  <a:schemeClr val="tx1"/>
                </a:solidFill>
              </a:rPr>
              <a:t>: make it bigger until the plots change. When, and why?</a:t>
            </a:r>
          </a:p>
          <a:p>
            <a:pPr marL="228600" indent="-201168" algn="l">
              <a:spcAft>
                <a:spcPts val="1000"/>
              </a:spcAft>
              <a:buChar char="•"/>
            </a:pPr>
            <a:r>
              <a:rPr sz="1700" b="1" i="0">
                <a:solidFill>
                  <a:schemeClr val="tx1"/>
                </a:solidFill>
              </a:rPr>
              <a:t>Size</a:t>
            </a:r>
            <a:r>
              <a:rPr sz="1700" b="0" i="0">
                <a:solidFill>
                  <a:schemeClr val="tx1"/>
                </a:solidFill>
              </a:rPr>
              <a:t>: what do 10 center-crossing neurons do?</a:t>
            </a:r>
          </a:p>
          <a:p>
            <a:pPr marL="228600" indent="-201168" algn="l">
              <a:spcAft>
                <a:spcPts val="1000"/>
              </a:spcAft>
              <a:buChar char="•"/>
            </a:pPr>
            <a:r>
              <a:rPr sz="1700" b="1" i="0">
                <a:solidFill>
                  <a:schemeClr val="tx1"/>
                </a:solidFill>
              </a:rPr>
              <a:t>Duration</a:t>
            </a:r>
            <a:r>
              <a:rPr sz="1700" b="0" i="0">
                <a:solidFill>
                  <a:schemeClr val="tx1"/>
                </a:solidFill>
              </a:rPr>
              <a:t>: some circuits take a long time to settle. How long is long enough?</a:t>
            </a:r>
          </a:p>
          <a:p>
            <a:pPr marL="228600" indent="-201168" algn="l">
              <a:spcAft>
                <a:spcPts val="1000"/>
              </a:spcAft>
              <a:buChar char="•"/>
            </a:pPr>
            <a:r>
              <a:rPr sz="1700" b="1" i="0">
                <a:solidFill>
                  <a:schemeClr val="tx1"/>
                </a:solidFill>
              </a:rPr>
              <a:t>Output space</a:t>
            </a:r>
            <a:r>
              <a:rPr sz="1700" b="0" i="0">
                <a:solidFill>
                  <a:schemeClr val="tx1"/>
                </a:solidFill>
              </a:rPr>
              <a:t>: a point, a loop, or a tangle?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From Unit 6 to the walker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Same equations, now wired to a body</a:t>
            </a:r>
          </a:p>
        </p:txBody>
      </p:sp>
      <p:cxnSp>
        <p:nvCxnSpPr>
          <p:cNvPr id="4" name="line"/>
          <p:cNvCxnSpPr/>
          <p:nvPr/>
        </p:nvCxnSpPr>
        <p:spPr>
          <a:xfrm flipV="1">
            <a:off x="9944100" y="2191722"/>
            <a:ext cx="283734" cy="917238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"/>
          <p:cNvSpPr/>
          <p:nvPr/>
        </p:nvSpPr>
        <p:spPr>
          <a:xfrm>
            <a:off x="10087017" y="2050905"/>
            <a:ext cx="281634" cy="281634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"/>
          <p:cNvSpPr txBox="1"/>
          <p:nvPr/>
        </p:nvSpPr>
        <p:spPr>
          <a:xfrm>
            <a:off x="9862074" y="1712577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chemeClr val="accent4"/>
                </a:solidFill>
              </a:rPr>
              <a:t>L1</a:t>
            </a:r>
          </a:p>
        </p:txBody>
      </p:sp>
      <p:cxnSp>
        <p:nvCxnSpPr>
          <p:cNvPr id="7" name="line"/>
          <p:cNvCxnSpPr/>
          <p:nvPr/>
        </p:nvCxnSpPr>
        <p:spPr>
          <a:xfrm flipV="1">
            <a:off x="9144000" y="2148840"/>
            <a:ext cx="0" cy="96012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"/>
          <p:cNvSpPr/>
          <p:nvPr/>
        </p:nvSpPr>
        <p:spPr>
          <a:xfrm>
            <a:off x="9003183" y="2008023"/>
            <a:ext cx="281634" cy="281634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"/>
          <p:cNvSpPr txBox="1"/>
          <p:nvPr/>
        </p:nvSpPr>
        <p:spPr>
          <a:xfrm>
            <a:off x="8778240" y="1669695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chemeClr val="accent4"/>
                </a:solidFill>
              </a:rPr>
              <a:t>L2</a:t>
            </a:r>
          </a:p>
        </p:txBody>
      </p:sp>
      <p:cxnSp>
        <p:nvCxnSpPr>
          <p:cNvPr id="10" name="line"/>
          <p:cNvCxnSpPr/>
          <p:nvPr/>
        </p:nvCxnSpPr>
        <p:spPr>
          <a:xfrm flipH="1" flipV="1">
            <a:off x="8060165" y="2191722"/>
            <a:ext cx="283735" cy="917238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foot"/>
          <p:cNvSpPr/>
          <p:nvPr/>
        </p:nvSpPr>
        <p:spPr>
          <a:xfrm>
            <a:off x="7919348" y="2050905"/>
            <a:ext cx="281634" cy="281634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"/>
          <p:cNvSpPr txBox="1"/>
          <p:nvPr/>
        </p:nvSpPr>
        <p:spPr>
          <a:xfrm>
            <a:off x="7694405" y="1712577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chemeClr val="accent4"/>
                </a:solidFill>
              </a:rPr>
              <a:t>L3</a:t>
            </a:r>
          </a:p>
        </p:txBody>
      </p:sp>
      <p:cxnSp>
        <p:nvCxnSpPr>
          <p:cNvPr id="13" name="line"/>
          <p:cNvCxnSpPr/>
          <p:nvPr/>
        </p:nvCxnSpPr>
        <p:spPr>
          <a:xfrm flipH="1">
            <a:off x="8060165" y="3749040"/>
            <a:ext cx="283735" cy="917237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foot"/>
          <p:cNvSpPr/>
          <p:nvPr/>
        </p:nvSpPr>
        <p:spPr>
          <a:xfrm>
            <a:off x="7919348" y="4525460"/>
            <a:ext cx="281634" cy="281634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"/>
          <p:cNvSpPr txBox="1"/>
          <p:nvPr/>
        </p:nvSpPr>
        <p:spPr>
          <a:xfrm>
            <a:off x="7694405" y="4852814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chemeClr val="accent4"/>
                </a:solidFill>
              </a:rPr>
              <a:t>R3</a:t>
            </a:r>
          </a:p>
        </p:txBody>
      </p:sp>
      <p:cxnSp>
        <p:nvCxnSpPr>
          <p:cNvPr id="16" name="line"/>
          <p:cNvCxnSpPr/>
          <p:nvPr/>
        </p:nvCxnSpPr>
        <p:spPr>
          <a:xfrm>
            <a:off x="9144000" y="3749040"/>
            <a:ext cx="0" cy="96012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foot"/>
          <p:cNvSpPr/>
          <p:nvPr/>
        </p:nvSpPr>
        <p:spPr>
          <a:xfrm>
            <a:off x="9003183" y="4568343"/>
            <a:ext cx="281634" cy="281634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"/>
          <p:cNvSpPr txBox="1"/>
          <p:nvPr/>
        </p:nvSpPr>
        <p:spPr>
          <a:xfrm>
            <a:off x="8778240" y="4895697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chemeClr val="accent4"/>
                </a:solidFill>
              </a:rPr>
              <a:t>R2</a:t>
            </a:r>
          </a:p>
        </p:txBody>
      </p:sp>
      <p:cxnSp>
        <p:nvCxnSpPr>
          <p:cNvPr id="19" name="line"/>
          <p:cNvCxnSpPr/>
          <p:nvPr/>
        </p:nvCxnSpPr>
        <p:spPr>
          <a:xfrm>
            <a:off x="9944100" y="3749040"/>
            <a:ext cx="283734" cy="917237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oot"/>
          <p:cNvSpPr/>
          <p:nvPr/>
        </p:nvSpPr>
        <p:spPr>
          <a:xfrm>
            <a:off x="10087017" y="4525460"/>
            <a:ext cx="281634" cy="281634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"/>
          <p:cNvSpPr txBox="1"/>
          <p:nvPr/>
        </p:nvSpPr>
        <p:spPr>
          <a:xfrm>
            <a:off x="9862074" y="4852814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chemeClr val="accent4"/>
                </a:solidFill>
              </a:rPr>
              <a:t>R1</a:t>
            </a:r>
          </a:p>
        </p:txBody>
      </p:sp>
      <p:sp>
        <p:nvSpPr>
          <p:cNvPr id="22" name="body"/>
          <p:cNvSpPr/>
          <p:nvPr/>
        </p:nvSpPr>
        <p:spPr>
          <a:xfrm>
            <a:off x="8055864" y="3012948"/>
            <a:ext cx="2176272" cy="83210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head"/>
          <p:cNvSpPr/>
          <p:nvPr/>
        </p:nvSpPr>
        <p:spPr>
          <a:xfrm>
            <a:off x="10059314" y="3140964"/>
            <a:ext cx="576072" cy="576072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0538224-F53F-9FB6-0E31-65FD1FEBD9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196445" y="4136377"/>
            <a:ext cx="5714387" cy="560265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The walker body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  <p:sp>
        <p:nvSpPr>
          <p:cNvPr id="26" name="card"/>
          <p:cNvSpPr/>
          <p:nvPr/>
        </p:nvSpPr>
        <p:spPr>
          <a:xfrm>
            <a:off x="548640" y="1325880"/>
            <a:ext cx="5486400" cy="443484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7" name="line"/>
          <p:cNvCxnSpPr/>
          <p:nvPr/>
        </p:nvCxnSpPr>
        <p:spPr>
          <a:xfrm flipV="1">
            <a:off x="3931917" y="2318516"/>
            <a:ext cx="275627" cy="89102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foot"/>
          <p:cNvSpPr/>
          <p:nvPr/>
        </p:nvSpPr>
        <p:spPr>
          <a:xfrm>
            <a:off x="4070751" y="2181723"/>
            <a:ext cx="273586" cy="27358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"/>
          <p:cNvSpPr txBox="1"/>
          <p:nvPr/>
        </p:nvSpPr>
        <p:spPr>
          <a:xfrm>
            <a:off x="3841784" y="1843395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chemeClr val="tx2"/>
                </a:solidFill>
              </a:rPr>
              <a:t>L1</a:t>
            </a:r>
          </a:p>
        </p:txBody>
      </p:sp>
      <p:cxnSp>
        <p:nvCxnSpPr>
          <p:cNvPr id="30" name="line"/>
          <p:cNvCxnSpPr/>
          <p:nvPr/>
        </p:nvCxnSpPr>
        <p:spPr>
          <a:xfrm flipV="1">
            <a:off x="3154680" y="2276860"/>
            <a:ext cx="0" cy="93268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foot"/>
          <p:cNvSpPr/>
          <p:nvPr/>
        </p:nvSpPr>
        <p:spPr>
          <a:xfrm>
            <a:off x="3017887" y="2140067"/>
            <a:ext cx="273586" cy="27358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"/>
          <p:cNvSpPr txBox="1"/>
          <p:nvPr/>
        </p:nvSpPr>
        <p:spPr>
          <a:xfrm>
            <a:off x="2788920" y="1801739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chemeClr val="tx2"/>
                </a:solidFill>
              </a:rPr>
              <a:t>L2</a:t>
            </a:r>
          </a:p>
        </p:txBody>
      </p:sp>
      <p:cxnSp>
        <p:nvCxnSpPr>
          <p:cNvPr id="33" name="line"/>
          <p:cNvCxnSpPr/>
          <p:nvPr/>
        </p:nvCxnSpPr>
        <p:spPr>
          <a:xfrm flipH="1" flipV="1">
            <a:off x="2101815" y="2318516"/>
            <a:ext cx="275627" cy="89102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foot"/>
          <p:cNvSpPr/>
          <p:nvPr/>
        </p:nvSpPr>
        <p:spPr>
          <a:xfrm>
            <a:off x="1965022" y="2181723"/>
            <a:ext cx="273586" cy="27358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"/>
          <p:cNvSpPr txBox="1"/>
          <p:nvPr/>
        </p:nvSpPr>
        <p:spPr>
          <a:xfrm>
            <a:off x="1736055" y="1843395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chemeClr val="tx2"/>
                </a:solidFill>
              </a:rPr>
              <a:t>L3</a:t>
            </a:r>
          </a:p>
        </p:txBody>
      </p:sp>
      <p:cxnSp>
        <p:nvCxnSpPr>
          <p:cNvPr id="36" name="line"/>
          <p:cNvCxnSpPr/>
          <p:nvPr/>
        </p:nvCxnSpPr>
        <p:spPr>
          <a:xfrm flipH="1">
            <a:off x="2101815" y="3831335"/>
            <a:ext cx="275627" cy="89102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foot"/>
          <p:cNvSpPr/>
          <p:nvPr/>
        </p:nvSpPr>
        <p:spPr>
          <a:xfrm>
            <a:off x="1965022" y="4585570"/>
            <a:ext cx="273586" cy="27358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"/>
          <p:cNvSpPr txBox="1"/>
          <p:nvPr/>
        </p:nvSpPr>
        <p:spPr>
          <a:xfrm>
            <a:off x="1736055" y="490487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chemeClr val="tx2"/>
                </a:solidFill>
              </a:rPr>
              <a:t>R3</a:t>
            </a:r>
          </a:p>
        </p:txBody>
      </p:sp>
      <p:cxnSp>
        <p:nvCxnSpPr>
          <p:cNvPr id="39" name="line"/>
          <p:cNvCxnSpPr/>
          <p:nvPr/>
        </p:nvCxnSpPr>
        <p:spPr>
          <a:xfrm>
            <a:off x="3154680" y="3831335"/>
            <a:ext cx="0" cy="93268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foot"/>
          <p:cNvSpPr/>
          <p:nvPr/>
        </p:nvSpPr>
        <p:spPr>
          <a:xfrm>
            <a:off x="3017887" y="4627227"/>
            <a:ext cx="273586" cy="27358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"/>
          <p:cNvSpPr txBox="1"/>
          <p:nvPr/>
        </p:nvSpPr>
        <p:spPr>
          <a:xfrm>
            <a:off x="2788920" y="4946533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chemeClr val="tx2"/>
                </a:solidFill>
              </a:rPr>
              <a:t>R2</a:t>
            </a:r>
          </a:p>
        </p:txBody>
      </p:sp>
      <p:cxnSp>
        <p:nvCxnSpPr>
          <p:cNvPr id="42" name="line"/>
          <p:cNvCxnSpPr/>
          <p:nvPr/>
        </p:nvCxnSpPr>
        <p:spPr>
          <a:xfrm>
            <a:off x="3931917" y="3831335"/>
            <a:ext cx="275627" cy="89102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foot"/>
          <p:cNvSpPr/>
          <p:nvPr/>
        </p:nvSpPr>
        <p:spPr>
          <a:xfrm>
            <a:off x="4070751" y="4585570"/>
            <a:ext cx="273586" cy="27358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"/>
          <p:cNvSpPr txBox="1"/>
          <p:nvPr/>
        </p:nvSpPr>
        <p:spPr>
          <a:xfrm>
            <a:off x="3841784" y="490487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chemeClr val="tx2"/>
                </a:solidFill>
              </a:rPr>
              <a:t>R1</a:t>
            </a:r>
          </a:p>
        </p:txBody>
      </p:sp>
      <p:sp>
        <p:nvSpPr>
          <p:cNvPr id="45" name="body"/>
          <p:cNvSpPr/>
          <p:nvPr/>
        </p:nvSpPr>
        <p:spPr>
          <a:xfrm>
            <a:off x="2097637" y="3116276"/>
            <a:ext cx="2114086" cy="80832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head"/>
          <p:cNvSpPr/>
          <p:nvPr/>
        </p:nvSpPr>
        <p:spPr>
          <a:xfrm>
            <a:off x="4043839" y="3240634"/>
            <a:ext cx="559611" cy="55961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"/>
          <p:cNvSpPr txBox="1"/>
          <p:nvPr/>
        </p:nvSpPr>
        <p:spPr>
          <a:xfrm>
            <a:off x="822960" y="146304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chemeClr val="tx2"/>
                </a:solidFill>
              </a:rPr>
              <a:t>Top-down; head to the right. Orange: foot down (L1, R2, L3: a tripod)</a:t>
            </a:r>
          </a:p>
        </p:txBody>
      </p:sp>
      <p:sp>
        <p:nvSpPr>
          <p:cNvPr id="48" name="text"/>
          <p:cNvSpPr txBox="1"/>
          <p:nvPr/>
        </p:nvSpPr>
        <p:spPr>
          <a:xfrm>
            <a:off x="6492240" y="1371600"/>
            <a:ext cx="512064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01168" algn="l">
              <a:spcAft>
                <a:spcPts val="1000"/>
              </a:spcAft>
              <a:buChar char="•"/>
            </a:pPr>
            <a:r>
              <a:rPr sz="1700" b="1" i="0">
                <a:solidFill>
                  <a:schemeClr val="tx1"/>
                </a:solidFill>
              </a:rPr>
              <a:t>Senses</a:t>
            </a:r>
            <a:r>
              <a:rPr sz="1700" b="0" i="0">
                <a:solidFill>
                  <a:schemeClr val="tx1"/>
                </a:solidFill>
              </a:rPr>
              <a:t>: each leg's angle (6 numbers)</a:t>
            </a:r>
          </a:p>
          <a:p>
            <a:pPr marL="228600" indent="-201168" algn="l">
              <a:spcAft>
                <a:spcPts val="1000"/>
              </a:spcAft>
              <a:buChar char="•"/>
            </a:pPr>
            <a:r>
              <a:rPr sz="1700" b="1" i="0">
                <a:solidFill>
                  <a:schemeClr val="tx1"/>
                </a:solidFill>
              </a:rPr>
              <a:t>Acts</a:t>
            </a:r>
            <a:r>
              <a:rPr sz="1700" b="0" i="0">
                <a:solidFill>
                  <a:schemeClr val="tx1"/>
                </a:solidFill>
              </a:rPr>
              <a:t>: forward, backward, and foot for each leg (18 numbers in [0, 1])</a:t>
            </a:r>
          </a:p>
          <a:p>
            <a:pPr marL="228600" indent="-201168" algn="l">
              <a:spcAft>
                <a:spcPts val="1000"/>
              </a:spcAft>
              <a:buChar char="•"/>
            </a:pPr>
            <a:r>
              <a:rPr sz="1700" b="0" i="0">
                <a:solidFill>
                  <a:schemeClr val="tx1"/>
                </a:solidFill>
                <a:latin typeface="Courier New"/>
              </a:rPr>
              <a:t>foot &gt; 0.5</a:t>
            </a:r>
            <a:r>
              <a:rPr sz="1700" b="0" i="0">
                <a:solidFill>
                  <a:schemeClr val="tx1"/>
                </a:solidFill>
              </a:rPr>
              <a:t>: planted. A planted leg pushes the body; a lifted leg swings</a:t>
            </a:r>
          </a:p>
          <a:p>
            <a:pPr marL="228600" indent="-201168" algn="l">
              <a:spcAft>
                <a:spcPts val="1000"/>
              </a:spcAft>
              <a:buChar char="•"/>
            </a:pPr>
            <a:r>
              <a:rPr sz="1700" b="1" i="0">
                <a:solidFill>
                  <a:schemeClr val="tx1"/>
                </a:solidFill>
              </a:rPr>
              <a:t>Balance</a:t>
            </a:r>
            <a:r>
              <a:rPr sz="1700" b="0" i="0">
                <a:solidFill>
                  <a:schemeClr val="tx1"/>
                </a:solidFill>
              </a:rPr>
              <a:t>: the body moves only while the planted feet hold it up: 3 or more, on both sides, around its center</a:t>
            </a:r>
          </a:p>
          <a:p>
            <a:pPr marL="228600" indent="-201168" algn="l">
              <a:spcAft>
                <a:spcPts val="1000"/>
              </a:spcAft>
              <a:buChar char="•"/>
            </a:pPr>
            <a:r>
              <a:rPr sz="1700" b="1" i="0">
                <a:solidFill>
                  <a:schemeClr val="accent6"/>
                </a:solidFill>
              </a:rPr>
              <a:t>Fitness</a:t>
            </a:r>
            <a:r>
              <a:rPr sz="1700" b="0" i="0">
                <a:solidFill>
                  <a:schemeClr val="tx1"/>
                </a:solidFill>
              </a:rPr>
              <a:t>: average forward speed, at most 1.0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Things to know about the simulator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  <p:sp>
        <p:nvSpPr>
          <p:cNvPr id="26" name="card"/>
          <p:cNvSpPr/>
          <p:nvPr/>
        </p:nvSpPr>
        <p:spPr>
          <a:xfrm>
            <a:off x="548640" y="1325880"/>
            <a:ext cx="2606040" cy="219456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"/>
          <p:cNvSpPr txBox="1"/>
          <p:nvPr/>
        </p:nvSpPr>
        <p:spPr>
          <a:xfrm>
            <a:off x="822960" y="1463040"/>
            <a:ext cx="2057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chemeClr val="accent6"/>
                </a:solidFill>
              </a:rPr>
              <a:t>0.1 s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822960" y="2286000"/>
            <a:ext cx="2057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chemeClr val="tx2"/>
                </a:solidFill>
              </a:rPr>
              <a:t>per tick. One CTRNN step per tick of the body (dt = 0.1)</a:t>
            </a:r>
          </a:p>
        </p:txBody>
      </p:sp>
      <p:sp>
        <p:nvSpPr>
          <p:cNvPr id="29" name="card"/>
          <p:cNvSpPr/>
          <p:nvPr/>
        </p:nvSpPr>
        <p:spPr>
          <a:xfrm>
            <a:off x="3364992" y="1325880"/>
            <a:ext cx="2606040" cy="219456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"/>
          <p:cNvSpPr txBox="1"/>
          <p:nvPr/>
        </p:nvSpPr>
        <p:spPr>
          <a:xfrm>
            <a:off x="3639312" y="1463040"/>
            <a:ext cx="2057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chemeClr val="accent6"/>
                </a:solidFill>
              </a:rPr>
              <a:t>220 s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3639312" y="2286000"/>
            <a:ext cx="2057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chemeClr val="tx2"/>
                </a:solidFill>
              </a:rPr>
              <a:t>per episode: 2,200 ticks, each from random starting leg angles</a:t>
            </a:r>
          </a:p>
        </p:txBody>
      </p:sp>
      <p:sp>
        <p:nvSpPr>
          <p:cNvPr id="32" name="card"/>
          <p:cNvSpPr/>
          <p:nvPr/>
        </p:nvSpPr>
        <p:spPr>
          <a:xfrm>
            <a:off x="6181344" y="1325880"/>
            <a:ext cx="2606040" cy="219456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"/>
          <p:cNvSpPr txBox="1"/>
          <p:nvPr/>
        </p:nvSpPr>
        <p:spPr>
          <a:xfrm>
            <a:off x="6455664" y="1463040"/>
            <a:ext cx="2057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chemeClr val="accent6"/>
                </a:solidFill>
              </a:rPr>
              <a:t>3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455664" y="2286000"/>
            <a:ext cx="2057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chemeClr val="tx2"/>
                </a:solidFill>
              </a:rPr>
              <a:t>episodes averaged for every fitness evaluation</a:t>
            </a:r>
          </a:p>
        </p:txBody>
      </p:sp>
      <p:sp>
        <p:nvSpPr>
          <p:cNvPr id="35" name="card"/>
          <p:cNvSpPr/>
          <p:nvPr/>
        </p:nvSpPr>
        <p:spPr>
          <a:xfrm>
            <a:off x="8997696" y="1325880"/>
            <a:ext cx="2606040" cy="219456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"/>
          <p:cNvSpPr txBox="1"/>
          <p:nvPr/>
        </p:nvSpPr>
        <p:spPr>
          <a:xfrm>
            <a:off x="9272016" y="1463040"/>
            <a:ext cx="2057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chemeClr val="accent6"/>
                </a:solidFill>
              </a:rPr>
              <a:t>1.0</a:t>
            </a:r>
          </a:p>
        </p:txBody>
      </p:sp>
      <p:sp>
        <p:nvSpPr>
          <p:cNvPr id="37" name="text"/>
          <p:cNvSpPr txBox="1"/>
          <p:nvPr/>
        </p:nvSpPr>
        <p:spPr>
          <a:xfrm>
            <a:off x="9272016" y="2286000"/>
            <a:ext cx="2057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chemeClr val="tx2"/>
                </a:solidFill>
              </a:rPr>
              <a:t>maximum speed. Fitness near 0: the body never got off the ground</a:t>
            </a:r>
          </a:p>
        </p:txBody>
      </p:sp>
      <p:sp>
        <p:nvSpPr>
          <p:cNvPr id="38" name="card"/>
          <p:cNvSpPr/>
          <p:nvPr/>
        </p:nvSpPr>
        <p:spPr>
          <a:xfrm>
            <a:off x="548640" y="3794760"/>
            <a:ext cx="11094415" cy="178308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"/>
          <p:cNvSpPr txBox="1"/>
          <p:nvPr/>
        </p:nvSpPr>
        <p:spPr>
          <a:xfrm>
            <a:off x="822960" y="3977639"/>
            <a:ext cx="10545775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chemeClr val="accent6"/>
                </a:solidFill>
              </a:rPr>
              <a:t>Setup: </a:t>
            </a:r>
            <a:r>
              <a:rPr sz="1500" b="0" i="0">
                <a:solidFill>
                  <a:schemeClr val="tx1"/>
                </a:solidFill>
              </a:rPr>
              <a:t>a fresh virtual environment, then  </a:t>
            </a:r>
            <a:r>
              <a:rPr sz="1500" b="0" i="0">
                <a:solidFill>
                  <a:schemeClr val="tx1"/>
                </a:solidFill>
                <a:latin typeface="Courier New"/>
              </a:rPr>
              <a:t>pip install -r requirements.txt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chemeClr val="tx1"/>
                </a:solidFill>
              </a:rPr>
              <a:t>NumPy, Matplotlib, PyTorch, EvoTorch; plus Gymnasium and MuJoCo for the optional part. No special Python version this time.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chemeClr val="tx1"/>
                </a:solidFill>
              </a:rPr>
              <a:t>The physics is idealized: no mass, friction or contact forces. That's what makes it fast, and what the optional MuJoCo part is about.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Same CTRNN, wired to a body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  <p:sp>
        <p:nvSpPr>
          <p:cNvPr id="26" name="card"/>
          <p:cNvSpPr/>
          <p:nvPr/>
        </p:nvSpPr>
        <p:spPr>
          <a:xfrm>
            <a:off x="548640" y="1325880"/>
            <a:ext cx="4023360" cy="210312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"/>
          <p:cNvSpPr txBox="1"/>
          <p:nvPr/>
        </p:nvSpPr>
        <p:spPr>
          <a:xfrm>
            <a:off x="822960" y="155448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chemeClr val="accent6"/>
                </a:solidFill>
              </a:rPr>
              <a:t>Unit 6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822960" y="1874520"/>
            <a:ext cx="34747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chemeClr val="tx1"/>
                </a:solidFill>
              </a:rPr>
              <a:t>CTRNN.step(dt)</a:t>
            </a:r>
          </a:p>
        </p:txBody>
      </p:sp>
      <p:sp>
        <p:nvSpPr>
          <p:cNvPr id="29" name="code"/>
          <p:cNvSpPr txBox="1"/>
          <p:nvPr/>
        </p:nvSpPr>
        <p:spPr>
          <a:xfrm>
            <a:off x="777240" y="2377440"/>
            <a:ext cx="35661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chemeClr val="tx1"/>
                </a:solidFill>
                <a:latin typeface="Courier New"/>
              </a:rPr>
              <a:t>netinput = Inputs + W.T @ Outputs</a:t>
            </a:r>
          </a:p>
          <a:p>
            <a:pPr algn="l"/>
            <a:r>
              <a:rPr sz="1100" b="0" i="0">
                <a:solidFill>
                  <a:schemeClr val="tx1"/>
                </a:solidFill>
                <a:latin typeface="Courier New"/>
              </a:rPr>
              <a:t>States += dt/τ * (-States + netinput)</a:t>
            </a:r>
          </a:p>
          <a:p>
            <a:pPr algn="l"/>
            <a:r>
              <a:rPr sz="1100" b="0" i="0">
                <a:solidFill>
                  <a:schemeClr val="tx1"/>
                </a:solidFill>
                <a:latin typeface="Courier New"/>
              </a:rPr>
              <a:t>Outputs = sigmoid(States + Biases)</a:t>
            </a:r>
          </a:p>
        </p:txBody>
      </p:sp>
      <p:sp>
        <p:nvSpPr>
          <p:cNvPr id="30" name="card"/>
          <p:cNvSpPr/>
          <p:nvPr/>
        </p:nvSpPr>
        <p:spPr>
          <a:xfrm>
            <a:off x="4846320" y="1325880"/>
            <a:ext cx="6766560" cy="2103120"/>
          </a:xfrm>
          <a:prstGeom prst="roundRect">
            <a:avLst>
              <a:gd name="adj" fmla="val 3000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"/>
          <p:cNvSpPr txBox="1"/>
          <p:nvPr/>
        </p:nvSpPr>
        <p:spPr>
          <a:xfrm>
            <a:off x="5120640" y="1554480"/>
            <a:ext cx="6217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chemeClr val="accent1"/>
                </a:solidFill>
              </a:rPr>
              <a:t>Project 6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5120640" y="1874519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chemeClr val="bg1"/>
                </a:solidFill>
                <a:latin typeface="Courier New"/>
              </a:rPr>
              <a:t>WalkerCTRNNController.act(observation)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5120640" y="2377440"/>
            <a:ext cx="630936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chemeClr val="accent1"/>
                </a:solidFill>
                <a:latin typeface="Courier New"/>
              </a:rPr>
              <a:t>inputs = WS * angle[leg]          </a:t>
            </a:r>
            <a:r>
              <a:rPr sz="1100" b="0" i="0">
                <a:solidFill>
                  <a:schemeClr val="accent4"/>
                </a:solidFill>
                <a:latin typeface="Courier New"/>
              </a:rPr>
              <a:t># sensors in</a:t>
            </a:r>
          </a:p>
          <a:p>
            <a:pPr algn="l"/>
            <a:r>
              <a:rPr sz="1100" b="0" i="0">
                <a:solidFill>
                  <a:schemeClr val="bg1"/>
                </a:solidFill>
                <a:latin typeface="Courier New"/>
              </a:rPr>
              <a:t>netinput = inputs + W.T @ Outputs</a:t>
            </a:r>
          </a:p>
          <a:p>
            <a:pPr algn="l"/>
            <a:r>
              <a:rPr sz="1100" b="0" i="0">
                <a:solidFill>
                  <a:schemeClr val="bg1"/>
                </a:solidFill>
                <a:latin typeface="Courier New"/>
              </a:rPr>
              <a:t>States += dt/τ * (-States + netinput)</a:t>
            </a:r>
          </a:p>
          <a:p>
            <a:pPr algn="l"/>
            <a:r>
              <a:rPr sz="1100" b="0" i="0">
                <a:solidFill>
                  <a:schemeClr val="bg1"/>
                </a:solidFill>
                <a:latin typeface="Courier New"/>
              </a:rPr>
              <a:t>Outputs = sigmoid(States + Biases)</a:t>
            </a:r>
          </a:p>
          <a:p>
            <a:pPr algn="l"/>
            <a:r>
              <a:rPr sz="1100" b="0" i="0">
                <a:solidFill>
                  <a:schemeClr val="accent1"/>
                </a:solidFill>
                <a:latin typeface="Courier New"/>
              </a:rPr>
              <a:t>return Outputs[command_idx]       </a:t>
            </a:r>
            <a:r>
              <a:rPr sz="1100" b="0" i="0">
                <a:solidFill>
                  <a:schemeClr val="accent4"/>
                </a:solidFill>
                <a:latin typeface="Courier New"/>
              </a:rPr>
              <a:t># 18 actions out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548640" y="3749039"/>
            <a:ext cx="11094415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01168" algn="l">
              <a:spcAft>
                <a:spcPts val="800"/>
              </a:spcAft>
              <a:buChar char="•"/>
            </a:pPr>
            <a:r>
              <a:rPr sz="1600" b="1" i="0">
                <a:solidFill>
                  <a:schemeClr val="tx1"/>
                </a:solidFill>
              </a:rPr>
              <a:t>18 command neurons</a:t>
            </a:r>
            <a:r>
              <a:rPr sz="1600" b="0" i="0">
                <a:solidFill>
                  <a:schemeClr val="tx1"/>
                </a:solidFill>
              </a:rPr>
              <a:t>: forward, backward, and foot for each leg. Their outputs are the actions</a:t>
            </a:r>
          </a:p>
          <a:p>
            <a:pPr marL="228600" indent="-201168" algn="l">
              <a:spcAft>
                <a:spcPts val="800"/>
              </a:spcAft>
              <a:buChar char="•"/>
            </a:pPr>
            <a:r>
              <a:rPr sz="1600" b="1" i="0">
                <a:solidFill>
                  <a:schemeClr val="tx1"/>
                </a:solidFill>
              </a:rPr>
              <a:t>Sensors</a:t>
            </a:r>
            <a:r>
              <a:rPr sz="1600" b="0" i="0">
                <a:solidFill>
                  <a:schemeClr val="tx1"/>
                </a:solidFill>
              </a:rPr>
              <a:t>: each command neuron hears its own leg's angle, through an evolved weight WS</a:t>
            </a:r>
          </a:p>
          <a:p>
            <a:pPr marL="228600" indent="-201168" algn="l">
              <a:spcAft>
                <a:spcPts val="800"/>
              </a:spcAft>
              <a:buChar char="•"/>
            </a:pPr>
            <a:r>
              <a:rPr sz="1600" b="1" i="0">
                <a:solidFill>
                  <a:schemeClr val="tx1"/>
                </a:solidFill>
              </a:rPr>
              <a:t>The genome</a:t>
            </a:r>
            <a:r>
              <a:rPr sz="1600" b="0" i="0">
                <a:solidFill>
                  <a:schemeClr val="tx1"/>
                </a:solidFill>
              </a:rPr>
              <a:t>: numbers in [0, 1], decoded to weights and biases in [−16, 16] and time constants in [1, 20]</a:t>
            </a:r>
          </a:p>
          <a:p>
            <a:pPr marL="228600" indent="-201168" algn="l">
              <a:spcAft>
                <a:spcPts val="800"/>
              </a:spcAft>
              <a:buChar char="•"/>
            </a:pPr>
            <a:r>
              <a:rPr sz="1600" b="0" i="0">
                <a:solidFill>
                  <a:schemeClr val="tx1"/>
                </a:solidFill>
                <a:latin typeface="Courier New"/>
              </a:rPr>
              <a:t>reset_state()</a:t>
            </a:r>
            <a:r>
              <a:rPr sz="1600" b="0" i="0">
                <a:solidFill>
                  <a:schemeClr val="tx1"/>
                </a:solidFill>
              </a:rPr>
              <a:t> randomizes the states at the start of every episode; </a:t>
            </a:r>
            <a:r>
              <a:rPr sz="1600" b="0" i="0">
                <a:solidFill>
                  <a:schemeClr val="tx1"/>
                </a:solidFill>
                <a:latin typeface="Courier New"/>
              </a:rPr>
              <a:t>act()</a:t>
            </a:r>
            <a:r>
              <a:rPr sz="1600" b="0" i="0">
                <a:solidFill>
                  <a:schemeClr val="tx1"/>
                </a:solidFill>
              </a:rPr>
              <a:t> is one Euler step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One leg circuit, copied six times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  <p:sp>
        <p:nvSpPr>
          <p:cNvPr id="26" name="card"/>
          <p:cNvSpPr/>
          <p:nvPr/>
        </p:nvSpPr>
        <p:spPr>
          <a:xfrm>
            <a:off x="548640" y="1325880"/>
            <a:ext cx="6035040" cy="443484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7" name="line"/>
          <p:cNvCxnSpPr/>
          <p:nvPr/>
        </p:nvCxnSpPr>
        <p:spPr>
          <a:xfrm flipV="1">
            <a:off x="4617720" y="1752900"/>
            <a:ext cx="405335" cy="131034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foot"/>
          <p:cNvSpPr/>
          <p:nvPr/>
        </p:nvSpPr>
        <p:spPr>
          <a:xfrm>
            <a:off x="5023054" y="1752899"/>
            <a:ext cx="2" cy="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9" name="line"/>
          <p:cNvCxnSpPr/>
          <p:nvPr/>
        </p:nvCxnSpPr>
        <p:spPr>
          <a:xfrm flipV="1">
            <a:off x="3474720" y="1691640"/>
            <a:ext cx="0" cy="137160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foot"/>
          <p:cNvSpPr/>
          <p:nvPr/>
        </p:nvSpPr>
        <p:spPr>
          <a:xfrm>
            <a:off x="3474719" y="1691639"/>
            <a:ext cx="2" cy="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1" name="line"/>
          <p:cNvCxnSpPr/>
          <p:nvPr/>
        </p:nvCxnSpPr>
        <p:spPr>
          <a:xfrm flipH="1" flipV="1">
            <a:off x="1926384" y="1752900"/>
            <a:ext cx="405336" cy="131034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foot"/>
          <p:cNvSpPr/>
          <p:nvPr/>
        </p:nvSpPr>
        <p:spPr>
          <a:xfrm>
            <a:off x="1926383" y="1752899"/>
            <a:ext cx="2" cy="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3" name="line"/>
          <p:cNvCxnSpPr/>
          <p:nvPr/>
        </p:nvCxnSpPr>
        <p:spPr>
          <a:xfrm flipH="1">
            <a:off x="1926384" y="3977640"/>
            <a:ext cx="405336" cy="131033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foot"/>
          <p:cNvSpPr/>
          <p:nvPr/>
        </p:nvSpPr>
        <p:spPr>
          <a:xfrm>
            <a:off x="1926383" y="5287978"/>
            <a:ext cx="2" cy="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5" name="line"/>
          <p:cNvCxnSpPr/>
          <p:nvPr/>
        </p:nvCxnSpPr>
        <p:spPr>
          <a:xfrm>
            <a:off x="3474720" y="3977640"/>
            <a:ext cx="0" cy="137160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oot"/>
          <p:cNvSpPr/>
          <p:nvPr/>
        </p:nvSpPr>
        <p:spPr>
          <a:xfrm>
            <a:off x="3474719" y="5349239"/>
            <a:ext cx="2" cy="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7" name="line"/>
          <p:cNvCxnSpPr/>
          <p:nvPr/>
        </p:nvCxnSpPr>
        <p:spPr>
          <a:xfrm>
            <a:off x="4617720" y="3977640"/>
            <a:ext cx="405335" cy="131033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foot"/>
          <p:cNvSpPr/>
          <p:nvPr/>
        </p:nvSpPr>
        <p:spPr>
          <a:xfrm>
            <a:off x="5023054" y="5287978"/>
            <a:ext cx="2" cy="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body"/>
          <p:cNvSpPr/>
          <p:nvPr/>
        </p:nvSpPr>
        <p:spPr>
          <a:xfrm>
            <a:off x="1920240" y="2926080"/>
            <a:ext cx="3108960" cy="11887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head"/>
          <p:cNvSpPr/>
          <p:nvPr/>
        </p:nvSpPr>
        <p:spPr>
          <a:xfrm>
            <a:off x="4782312" y="3108960"/>
            <a:ext cx="822960" cy="82296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1" name="line"/>
          <p:cNvCxnSpPr/>
          <p:nvPr/>
        </p:nvCxnSpPr>
        <p:spPr>
          <a:xfrm>
            <a:off x="4617720" y="2624328"/>
            <a:ext cx="0" cy="1792224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line"/>
          <p:cNvCxnSpPr/>
          <p:nvPr/>
        </p:nvCxnSpPr>
        <p:spPr>
          <a:xfrm>
            <a:off x="3474720" y="2624328"/>
            <a:ext cx="0" cy="1792224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line"/>
          <p:cNvCxnSpPr/>
          <p:nvPr/>
        </p:nvCxnSpPr>
        <p:spPr>
          <a:xfrm>
            <a:off x="2331720" y="2624328"/>
            <a:ext cx="0" cy="1792224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line"/>
          <p:cNvCxnSpPr/>
          <p:nvPr/>
        </p:nvCxnSpPr>
        <p:spPr>
          <a:xfrm flipH="1">
            <a:off x="3474720" y="2331720"/>
            <a:ext cx="1143000" cy="0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line"/>
          <p:cNvCxnSpPr/>
          <p:nvPr/>
        </p:nvCxnSpPr>
        <p:spPr>
          <a:xfrm flipH="1">
            <a:off x="2331720" y="2331720"/>
            <a:ext cx="1143000" cy="0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line"/>
          <p:cNvCxnSpPr/>
          <p:nvPr/>
        </p:nvCxnSpPr>
        <p:spPr>
          <a:xfrm>
            <a:off x="2331720" y="4709160"/>
            <a:ext cx="1143000" cy="0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line"/>
          <p:cNvCxnSpPr/>
          <p:nvPr/>
        </p:nvCxnSpPr>
        <p:spPr>
          <a:xfrm>
            <a:off x="3474720" y="4709160"/>
            <a:ext cx="1143000" cy="0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rd"/>
          <p:cNvSpPr/>
          <p:nvPr/>
        </p:nvSpPr>
        <p:spPr>
          <a:xfrm>
            <a:off x="4133088" y="2103120"/>
            <a:ext cx="969264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neuron"/>
          <p:cNvSpPr/>
          <p:nvPr/>
        </p:nvSpPr>
        <p:spPr>
          <a:xfrm>
            <a:off x="4224528" y="2221992"/>
            <a:ext cx="219456" cy="21945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neuron"/>
          <p:cNvSpPr/>
          <p:nvPr/>
        </p:nvSpPr>
        <p:spPr>
          <a:xfrm>
            <a:off x="4507992" y="2221992"/>
            <a:ext cx="219456" cy="21945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neuron"/>
          <p:cNvSpPr/>
          <p:nvPr/>
        </p:nvSpPr>
        <p:spPr>
          <a:xfrm>
            <a:off x="4791456" y="2221992"/>
            <a:ext cx="219456" cy="219456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"/>
          <p:cNvSpPr txBox="1"/>
          <p:nvPr/>
        </p:nvSpPr>
        <p:spPr>
          <a:xfrm>
            <a:off x="4160520" y="1783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chemeClr val="tx2"/>
                </a:solidFill>
              </a:rPr>
              <a:t>L1</a:t>
            </a:r>
          </a:p>
        </p:txBody>
      </p:sp>
      <p:sp>
        <p:nvSpPr>
          <p:cNvPr id="53" name="card"/>
          <p:cNvSpPr/>
          <p:nvPr/>
        </p:nvSpPr>
        <p:spPr>
          <a:xfrm>
            <a:off x="2990088" y="2103120"/>
            <a:ext cx="969264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neuron"/>
          <p:cNvSpPr/>
          <p:nvPr/>
        </p:nvSpPr>
        <p:spPr>
          <a:xfrm>
            <a:off x="3081528" y="2221992"/>
            <a:ext cx="219456" cy="21945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neuron"/>
          <p:cNvSpPr/>
          <p:nvPr/>
        </p:nvSpPr>
        <p:spPr>
          <a:xfrm>
            <a:off x="3364992" y="2221992"/>
            <a:ext cx="219456" cy="21945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neuron"/>
          <p:cNvSpPr/>
          <p:nvPr/>
        </p:nvSpPr>
        <p:spPr>
          <a:xfrm>
            <a:off x="3648456" y="2221992"/>
            <a:ext cx="219456" cy="219456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"/>
          <p:cNvSpPr txBox="1"/>
          <p:nvPr/>
        </p:nvSpPr>
        <p:spPr>
          <a:xfrm>
            <a:off x="3017520" y="1783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chemeClr val="tx2"/>
                </a:solidFill>
              </a:rPr>
              <a:t>L2</a:t>
            </a:r>
          </a:p>
        </p:txBody>
      </p:sp>
      <p:sp>
        <p:nvSpPr>
          <p:cNvPr id="58" name="card"/>
          <p:cNvSpPr/>
          <p:nvPr/>
        </p:nvSpPr>
        <p:spPr>
          <a:xfrm>
            <a:off x="1847088" y="2103120"/>
            <a:ext cx="969264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neuron"/>
          <p:cNvSpPr/>
          <p:nvPr/>
        </p:nvSpPr>
        <p:spPr>
          <a:xfrm>
            <a:off x="1938528" y="2221992"/>
            <a:ext cx="219456" cy="21945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neuron"/>
          <p:cNvSpPr/>
          <p:nvPr/>
        </p:nvSpPr>
        <p:spPr>
          <a:xfrm>
            <a:off x="2221992" y="2221992"/>
            <a:ext cx="219456" cy="21945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neuron"/>
          <p:cNvSpPr/>
          <p:nvPr/>
        </p:nvSpPr>
        <p:spPr>
          <a:xfrm>
            <a:off x="2505456" y="2221992"/>
            <a:ext cx="219456" cy="219456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"/>
          <p:cNvSpPr txBox="1"/>
          <p:nvPr/>
        </p:nvSpPr>
        <p:spPr>
          <a:xfrm>
            <a:off x="1874520" y="1783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chemeClr val="tx2"/>
                </a:solidFill>
              </a:rPr>
              <a:t>L3</a:t>
            </a:r>
          </a:p>
        </p:txBody>
      </p:sp>
      <p:sp>
        <p:nvSpPr>
          <p:cNvPr id="63" name="card"/>
          <p:cNvSpPr/>
          <p:nvPr/>
        </p:nvSpPr>
        <p:spPr>
          <a:xfrm>
            <a:off x="1847088" y="4480560"/>
            <a:ext cx="969264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neuron"/>
          <p:cNvSpPr/>
          <p:nvPr/>
        </p:nvSpPr>
        <p:spPr>
          <a:xfrm>
            <a:off x="1938528" y="4599432"/>
            <a:ext cx="219456" cy="21945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neuron"/>
          <p:cNvSpPr/>
          <p:nvPr/>
        </p:nvSpPr>
        <p:spPr>
          <a:xfrm>
            <a:off x="2221992" y="4599432"/>
            <a:ext cx="219456" cy="21945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neuron"/>
          <p:cNvSpPr/>
          <p:nvPr/>
        </p:nvSpPr>
        <p:spPr>
          <a:xfrm>
            <a:off x="2505456" y="4599432"/>
            <a:ext cx="219456" cy="219456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"/>
          <p:cNvSpPr txBox="1"/>
          <p:nvPr/>
        </p:nvSpPr>
        <p:spPr>
          <a:xfrm>
            <a:off x="1874520" y="49834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chemeClr val="tx2"/>
                </a:solidFill>
              </a:rPr>
              <a:t>R3</a:t>
            </a:r>
          </a:p>
        </p:txBody>
      </p:sp>
      <p:sp>
        <p:nvSpPr>
          <p:cNvPr id="68" name="card"/>
          <p:cNvSpPr/>
          <p:nvPr/>
        </p:nvSpPr>
        <p:spPr>
          <a:xfrm>
            <a:off x="2990088" y="4480560"/>
            <a:ext cx="969264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neuron"/>
          <p:cNvSpPr/>
          <p:nvPr/>
        </p:nvSpPr>
        <p:spPr>
          <a:xfrm>
            <a:off x="3081528" y="4599432"/>
            <a:ext cx="219456" cy="21945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neuron"/>
          <p:cNvSpPr/>
          <p:nvPr/>
        </p:nvSpPr>
        <p:spPr>
          <a:xfrm>
            <a:off x="3364992" y="4599432"/>
            <a:ext cx="219456" cy="21945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neuron"/>
          <p:cNvSpPr/>
          <p:nvPr/>
        </p:nvSpPr>
        <p:spPr>
          <a:xfrm>
            <a:off x="3648456" y="4599432"/>
            <a:ext cx="219456" cy="219456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"/>
          <p:cNvSpPr txBox="1"/>
          <p:nvPr/>
        </p:nvSpPr>
        <p:spPr>
          <a:xfrm>
            <a:off x="3017520" y="49834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chemeClr val="tx2"/>
                </a:solidFill>
              </a:rPr>
              <a:t>R2</a:t>
            </a:r>
          </a:p>
        </p:txBody>
      </p:sp>
      <p:sp>
        <p:nvSpPr>
          <p:cNvPr id="73" name="card"/>
          <p:cNvSpPr/>
          <p:nvPr/>
        </p:nvSpPr>
        <p:spPr>
          <a:xfrm>
            <a:off x="4133088" y="4480560"/>
            <a:ext cx="969264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neuron"/>
          <p:cNvSpPr/>
          <p:nvPr/>
        </p:nvSpPr>
        <p:spPr>
          <a:xfrm>
            <a:off x="4224528" y="4599432"/>
            <a:ext cx="219456" cy="21945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neuron"/>
          <p:cNvSpPr/>
          <p:nvPr/>
        </p:nvSpPr>
        <p:spPr>
          <a:xfrm>
            <a:off x="4507992" y="4599432"/>
            <a:ext cx="219456" cy="21945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neuron"/>
          <p:cNvSpPr/>
          <p:nvPr/>
        </p:nvSpPr>
        <p:spPr>
          <a:xfrm>
            <a:off x="4791456" y="4599432"/>
            <a:ext cx="219456" cy="219456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"/>
          <p:cNvSpPr txBox="1"/>
          <p:nvPr/>
        </p:nvSpPr>
        <p:spPr>
          <a:xfrm>
            <a:off x="4160520" y="49834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chemeClr val="tx2"/>
                </a:solidFill>
              </a:rPr>
              <a:t>R1</a:t>
            </a:r>
          </a:p>
        </p:txBody>
      </p:sp>
      <p:sp>
        <p:nvSpPr>
          <p:cNvPr id="78" name="text"/>
          <p:cNvSpPr txBox="1"/>
          <p:nvPr/>
        </p:nvSpPr>
        <p:spPr>
          <a:xfrm>
            <a:off x="777240" y="5440680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chemeClr val="accent2"/>
                </a:solidFill>
              </a:rPr>
              <a:t>■ </a:t>
            </a:r>
            <a:r>
              <a:rPr sz="1200" b="0" i="0">
                <a:solidFill>
                  <a:schemeClr val="tx2"/>
                </a:solidFill>
              </a:rPr>
              <a:t>across the body (CBW)    </a:t>
            </a:r>
            <a:r>
              <a:rPr sz="1200" b="0" i="0">
                <a:solidFill>
                  <a:schemeClr val="accent5"/>
                </a:solidFill>
              </a:rPr>
              <a:t>■ </a:t>
            </a:r>
            <a:r>
              <a:rPr sz="1200" b="0" i="0">
                <a:solidFill>
                  <a:schemeClr val="tx2"/>
                </a:solidFill>
              </a:rPr>
              <a:t>along each side (ISW)    </a:t>
            </a:r>
            <a:r>
              <a:rPr sz="1200" b="0" i="0">
                <a:solidFill>
                  <a:schemeClr val="accent1"/>
                </a:solidFill>
              </a:rPr>
              <a:t>● </a:t>
            </a:r>
            <a:r>
              <a:rPr sz="1200" b="0" i="0">
                <a:solidFill>
                  <a:schemeClr val="tx2"/>
                </a:solidFill>
              </a:rPr>
              <a:t>fwd, bwd  </a:t>
            </a:r>
            <a:r>
              <a:rPr sz="1200" b="0" i="0">
                <a:solidFill>
                  <a:schemeClr val="accent6"/>
                </a:solidFill>
              </a:rPr>
              <a:t>● </a:t>
            </a:r>
            <a:r>
              <a:rPr sz="1200" b="0" i="0">
                <a:solidFill>
                  <a:schemeClr val="tx2"/>
                </a:solidFill>
              </a:rPr>
              <a:t>foot</a:t>
            </a:r>
          </a:p>
        </p:txBody>
      </p:sp>
      <p:sp>
        <p:nvSpPr>
          <p:cNvPr id="79" name="text"/>
          <p:cNvSpPr txBox="1"/>
          <p:nvPr/>
        </p:nvSpPr>
        <p:spPr>
          <a:xfrm>
            <a:off x="6858000" y="1371600"/>
            <a:ext cx="475488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01168" algn="l">
              <a:spcAft>
                <a:spcPts val="800"/>
              </a:spcAft>
              <a:buChar char="•"/>
            </a:pPr>
            <a:r>
              <a:rPr sz="1600" b="0" i="0">
                <a:solidFill>
                  <a:schemeClr val="tx1"/>
                </a:solidFill>
              </a:rPr>
              <a:t>Every leg runs the same 3-neuron circuit (same weights): like an insect's segmental ganglia</a:t>
            </a:r>
          </a:p>
          <a:p>
            <a:pPr marL="228600" indent="-201168" algn="l">
              <a:spcAft>
                <a:spcPts val="800"/>
              </a:spcAft>
              <a:buChar char="•"/>
            </a:pPr>
            <a:r>
              <a:rPr sz="1600" b="0" i="0">
                <a:solidFill>
                  <a:schemeClr val="tx1"/>
                </a:solidFill>
              </a:rPr>
              <a:t>A few connections between neighboring legs, also shared</a:t>
            </a:r>
          </a:p>
          <a:p>
            <a:pPr marL="228600" indent="-201168" algn="l">
              <a:spcAft>
                <a:spcPts val="800"/>
              </a:spcAft>
              <a:buChar char="•"/>
            </a:pPr>
            <a:r>
              <a:rPr sz="1600" b="1" i="0">
                <a:solidFill>
                  <a:schemeClr val="accent6"/>
                </a:solidFill>
              </a:rPr>
              <a:t>24 genes</a:t>
            </a:r>
            <a:r>
              <a:rPr sz="1600" b="0" i="0">
                <a:solidFill>
                  <a:schemeClr val="tx1"/>
                </a:solidFill>
              </a:rPr>
              <a:t> build an 18-neuron network</a:t>
            </a:r>
          </a:p>
        </p:txBody>
      </p:sp>
      <p:sp>
        <p:nvSpPr>
          <p:cNvPr id="80" name="text"/>
          <p:cNvSpPr txBox="1"/>
          <p:nvPr/>
        </p:nvSpPr>
        <p:spPr>
          <a:xfrm>
            <a:off x="6858000" y="3977639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chemeClr val="tx2"/>
                </a:solidFill>
              </a:rPr>
              <a:t>Genome (module size 3)</a:t>
            </a:r>
          </a:p>
        </p:txBody>
      </p:sp>
      <p:sp>
        <p:nvSpPr>
          <p:cNvPr id="81" name="card"/>
          <p:cNvSpPr/>
          <p:nvPr/>
        </p:nvSpPr>
        <p:spPr>
          <a:xfrm>
            <a:off x="6858000" y="4297680"/>
            <a:ext cx="1746504" cy="4572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"/>
          <p:cNvSpPr txBox="1"/>
          <p:nvPr/>
        </p:nvSpPr>
        <p:spPr>
          <a:xfrm>
            <a:off x="6858000" y="4297680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chemeClr val="bg1"/>
                </a:solidFill>
              </a:rPr>
              <a:t>W</a:t>
            </a:r>
          </a:p>
        </p:txBody>
      </p:sp>
      <p:sp>
        <p:nvSpPr>
          <p:cNvPr id="83" name="card"/>
          <p:cNvSpPr/>
          <p:nvPr/>
        </p:nvSpPr>
        <p:spPr>
          <a:xfrm>
            <a:off x="8641080" y="4297680"/>
            <a:ext cx="557784" cy="45720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"/>
          <p:cNvSpPr txBox="1"/>
          <p:nvPr/>
        </p:nvSpPr>
        <p:spPr>
          <a:xfrm>
            <a:off x="8641080" y="4297680"/>
            <a:ext cx="594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chemeClr val="bg1"/>
                </a:solidFill>
              </a:rPr>
              <a:t>WS</a:t>
            </a:r>
          </a:p>
        </p:txBody>
      </p:sp>
      <p:sp>
        <p:nvSpPr>
          <p:cNvPr id="85" name="card"/>
          <p:cNvSpPr/>
          <p:nvPr/>
        </p:nvSpPr>
        <p:spPr>
          <a:xfrm>
            <a:off x="9235440" y="4297680"/>
            <a:ext cx="557784" cy="45720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"/>
          <p:cNvSpPr txBox="1"/>
          <p:nvPr/>
        </p:nvSpPr>
        <p:spPr>
          <a:xfrm>
            <a:off x="9235440" y="4297680"/>
            <a:ext cx="594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chemeClr val="bg1"/>
                </a:solidFill>
              </a:rPr>
              <a:t>CBW</a:t>
            </a:r>
          </a:p>
        </p:txBody>
      </p:sp>
      <p:sp>
        <p:nvSpPr>
          <p:cNvPr id="87" name="card"/>
          <p:cNvSpPr/>
          <p:nvPr/>
        </p:nvSpPr>
        <p:spPr>
          <a:xfrm>
            <a:off x="9829800" y="4297680"/>
            <a:ext cx="557784" cy="45720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"/>
          <p:cNvSpPr txBox="1"/>
          <p:nvPr/>
        </p:nvSpPr>
        <p:spPr>
          <a:xfrm>
            <a:off x="9829800" y="4297680"/>
            <a:ext cx="594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chemeClr val="bg1"/>
                </a:solidFill>
              </a:rPr>
              <a:t>ISW</a:t>
            </a:r>
          </a:p>
        </p:txBody>
      </p:sp>
      <p:sp>
        <p:nvSpPr>
          <p:cNvPr id="89" name="card"/>
          <p:cNvSpPr/>
          <p:nvPr/>
        </p:nvSpPr>
        <p:spPr>
          <a:xfrm>
            <a:off x="10424160" y="4297680"/>
            <a:ext cx="557784" cy="4572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"/>
          <p:cNvSpPr txBox="1"/>
          <p:nvPr/>
        </p:nvSpPr>
        <p:spPr>
          <a:xfrm>
            <a:off x="10424160" y="4297680"/>
            <a:ext cx="594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chemeClr val="bg1"/>
                </a:solidFill>
              </a:rPr>
              <a:t>τ</a:t>
            </a:r>
          </a:p>
        </p:txBody>
      </p:sp>
      <p:sp>
        <p:nvSpPr>
          <p:cNvPr id="91" name="card"/>
          <p:cNvSpPr/>
          <p:nvPr/>
        </p:nvSpPr>
        <p:spPr>
          <a:xfrm>
            <a:off x="11018520" y="4297680"/>
            <a:ext cx="557784" cy="45720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"/>
          <p:cNvSpPr txBox="1"/>
          <p:nvPr/>
        </p:nvSpPr>
        <p:spPr>
          <a:xfrm>
            <a:off x="11018520" y="4297680"/>
            <a:ext cx="594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chemeClr val="bg1"/>
                </a:solidFill>
              </a:rPr>
              <a:t>θ</a:t>
            </a:r>
          </a:p>
        </p:txBody>
      </p:sp>
      <p:sp>
        <p:nvSpPr>
          <p:cNvPr id="93" name="text"/>
          <p:cNvSpPr txBox="1"/>
          <p:nvPr/>
        </p:nvSpPr>
        <p:spPr>
          <a:xfrm>
            <a:off x="6858000" y="4892040"/>
            <a:ext cx="4754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chemeClr val="tx2"/>
                </a:solidFill>
                <a:latin typeface="Courier New"/>
              </a:rPr>
              <a:t>--module_size</a:t>
            </a:r>
            <a:r>
              <a:rPr sz="1400" b="0" i="0">
                <a:solidFill>
                  <a:schemeClr val="tx2"/>
                </a:solidFill>
              </a:rPr>
              <a:t> adds free interneurons to every leg's circuit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Or one big network: choosing a topology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371600"/>
          <a:ext cx="1109167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791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chemeClr val="bg1"/>
                          </a:solidFill>
                        </a:rPr>
                        <a:t>--topology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chemeClr val="bg1"/>
                          </a:solidFill>
                        </a:rPr>
                        <a:t>Settings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chemeClr val="bg1"/>
                          </a:solidFill>
                        </a:rPr>
                        <a:t>Neurons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chemeClr val="bg1"/>
                          </a:solidFill>
                        </a:rPr>
                        <a:t>Genome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chemeClr val="bg1"/>
                          </a:solidFill>
                        </a:rPr>
                        <a:t>Weight sharing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tx1"/>
                          </a:solidFill>
                          <a:latin typeface="Courier New"/>
                        </a:rPr>
                        <a:t>modular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tx1"/>
                          </a:solidFill>
                          <a:latin typeface="Courier New"/>
                        </a:rPr>
                        <a:t>--module_size 3 (default)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tx1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tx1"/>
                          </a:solidFill>
                          <a:latin typeface="Courier New"/>
                        </a:rPr>
                        <a:t>modular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tx1"/>
                          </a:solidFill>
                          <a:latin typeface="Courier New"/>
                        </a:rPr>
                        <a:t>--module_size 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tx1"/>
                          </a:solidFill>
                          <a:latin typeface="Courier New"/>
                        </a:rPr>
                        <a:t>modular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tx1"/>
                          </a:solidFill>
                          <a:latin typeface="Courier New"/>
                        </a:rPr>
                        <a:t>--module_size 8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tx1"/>
                          </a:solidFill>
                        </a:rPr>
                        <a:t>48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tx1"/>
                          </a:solidFill>
                        </a:rPr>
                        <a:t>104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tx1"/>
                          </a:solidFill>
                          <a:latin typeface="Courier New"/>
                        </a:rPr>
                        <a:t>fully_connected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tx1"/>
                          </a:solidFill>
                          <a:latin typeface="Courier New"/>
                        </a:rPr>
                        <a:t>--interneurons 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tx1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tx1"/>
                          </a:solidFill>
                        </a:rPr>
                        <a:t>378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tx1"/>
                          </a:solidFill>
                          <a:latin typeface="Courier New"/>
                        </a:rPr>
                        <a:t>fully_connected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tx1"/>
                          </a:solidFill>
                          <a:latin typeface="Courier New"/>
                        </a:rPr>
                        <a:t>--interneurons 6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tx1"/>
                          </a:solidFill>
                        </a:rPr>
                        <a:t>642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7" name="text"/>
          <p:cNvSpPr txBox="1"/>
          <p:nvPr/>
        </p:nvSpPr>
        <p:spPr>
          <a:xfrm>
            <a:off x="548640" y="4434840"/>
            <a:ext cx="1109441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01168" algn="l">
              <a:spcAft>
                <a:spcPts val="800"/>
              </a:spcAft>
              <a:buChar char="•"/>
            </a:pPr>
            <a:r>
              <a:rPr sz="1600" b="0" i="0">
                <a:solidFill>
                  <a:schemeClr val="tx1"/>
                </a:solidFill>
              </a:rPr>
              <a:t>Fully connected: every connection is its own gene. Nothing is assumed about legs or symmetry, and the genome is 16× bigger</a:t>
            </a:r>
          </a:p>
          <a:p>
            <a:pPr marL="228600" indent="-201168" algn="l">
              <a:spcAft>
                <a:spcPts val="800"/>
              </a:spcAft>
              <a:buChar char="•"/>
            </a:pPr>
            <a:r>
              <a:rPr sz="1600" b="0" i="0">
                <a:solidFill>
                  <a:schemeClr val="tx1"/>
                </a:solidFill>
              </a:rPr>
              <a:t>Bigger isn't free: more genes, same budget of evaluations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Where does the rhythm come from?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  <p:sp>
        <p:nvSpPr>
          <p:cNvPr id="26" name="card"/>
          <p:cNvSpPr/>
          <p:nvPr/>
        </p:nvSpPr>
        <p:spPr>
          <a:xfrm>
            <a:off x="548640" y="1325880"/>
            <a:ext cx="3200400" cy="4023360"/>
          </a:xfrm>
          <a:prstGeom prst="roundRect">
            <a:avLst>
              <a:gd name="adj" fmla="val 3000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"/>
          <p:cNvSpPr txBox="1"/>
          <p:nvPr/>
        </p:nvSpPr>
        <p:spPr>
          <a:xfrm>
            <a:off x="822960" y="150876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chemeClr val="accent1"/>
                </a:solidFill>
                <a:latin typeface="Courier New"/>
              </a:rPr>
              <a:t>--mode cpg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822960" y="1874519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chemeClr val="bg1"/>
                </a:solidFill>
              </a:rPr>
              <a:t>Central pattern generator</a:t>
            </a:r>
          </a:p>
        </p:txBody>
      </p:sp>
      <p:sp>
        <p:nvSpPr>
          <p:cNvPr id="29" name="card"/>
          <p:cNvSpPr/>
          <p:nvPr/>
        </p:nvSpPr>
        <p:spPr>
          <a:xfrm>
            <a:off x="960120" y="2743200"/>
            <a:ext cx="960120" cy="54864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"/>
          <p:cNvSpPr txBox="1"/>
          <p:nvPr/>
        </p:nvSpPr>
        <p:spPr>
          <a:xfrm>
            <a:off x="960120" y="2743200"/>
            <a:ext cx="9601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chemeClr val="bg1"/>
                </a:solidFill>
              </a:rPr>
              <a:t>brain</a:t>
            </a:r>
          </a:p>
        </p:txBody>
      </p:sp>
      <p:sp>
        <p:nvSpPr>
          <p:cNvPr id="31" name="card"/>
          <p:cNvSpPr/>
          <p:nvPr/>
        </p:nvSpPr>
        <p:spPr>
          <a:xfrm>
            <a:off x="2377440" y="2743200"/>
            <a:ext cx="960120" cy="54864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"/>
          <p:cNvSpPr txBox="1"/>
          <p:nvPr/>
        </p:nvSpPr>
        <p:spPr>
          <a:xfrm>
            <a:off x="2377440" y="2743200"/>
            <a:ext cx="9601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chemeClr val="bg1"/>
                </a:solidFill>
              </a:rPr>
              <a:t>body</a:t>
            </a:r>
          </a:p>
        </p:txBody>
      </p:sp>
      <p:cxnSp>
        <p:nvCxnSpPr>
          <p:cNvPr id="33" name="line"/>
          <p:cNvCxnSpPr/>
          <p:nvPr/>
        </p:nvCxnSpPr>
        <p:spPr>
          <a:xfrm>
            <a:off x="1947672" y="2907792"/>
            <a:ext cx="384048" cy="0"/>
          </a:xfrm>
          <a:prstGeom prst="line">
            <a:avLst/>
          </a:prstGeom>
          <a:ln w="25400">
            <a:solidFill>
              <a:schemeClr val="accent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"/>
          <p:cNvSpPr txBox="1"/>
          <p:nvPr/>
        </p:nvSpPr>
        <p:spPr>
          <a:xfrm>
            <a:off x="822960" y="3566160"/>
            <a:ext cx="269748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chemeClr val="bg1"/>
                </a:solidFill>
              </a:rPr>
              <a:t>Sensors off. The rhythm has to come from the circuit alone.</a:t>
            </a:r>
          </a:p>
        </p:txBody>
      </p:sp>
      <p:sp>
        <p:nvSpPr>
          <p:cNvPr id="35" name="card"/>
          <p:cNvSpPr/>
          <p:nvPr/>
        </p:nvSpPr>
        <p:spPr>
          <a:xfrm>
            <a:off x="3977640" y="1325880"/>
            <a:ext cx="3200400" cy="402336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"/>
          <p:cNvSpPr txBox="1"/>
          <p:nvPr/>
        </p:nvSpPr>
        <p:spPr>
          <a:xfrm>
            <a:off x="4251960" y="150876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chemeClr val="accent6"/>
                </a:solidFill>
                <a:latin typeface="Courier New"/>
              </a:rPr>
              <a:t>--mode rpg</a:t>
            </a:r>
          </a:p>
        </p:txBody>
      </p:sp>
      <p:sp>
        <p:nvSpPr>
          <p:cNvPr id="37" name="text"/>
          <p:cNvSpPr txBox="1"/>
          <p:nvPr/>
        </p:nvSpPr>
        <p:spPr>
          <a:xfrm>
            <a:off x="4251960" y="1874519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chemeClr val="tx1"/>
                </a:solidFill>
              </a:rPr>
              <a:t>Reflexive pattern generator</a:t>
            </a:r>
          </a:p>
        </p:txBody>
      </p:sp>
      <p:sp>
        <p:nvSpPr>
          <p:cNvPr id="38" name="card"/>
          <p:cNvSpPr/>
          <p:nvPr/>
        </p:nvSpPr>
        <p:spPr>
          <a:xfrm>
            <a:off x="4389120" y="2743200"/>
            <a:ext cx="960120" cy="54864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"/>
          <p:cNvSpPr txBox="1"/>
          <p:nvPr/>
        </p:nvSpPr>
        <p:spPr>
          <a:xfrm>
            <a:off x="4389120" y="2743200"/>
            <a:ext cx="9601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chemeClr val="bg1"/>
                </a:solidFill>
              </a:rPr>
              <a:t>brain</a:t>
            </a:r>
          </a:p>
        </p:txBody>
      </p:sp>
      <p:sp>
        <p:nvSpPr>
          <p:cNvPr id="40" name="card"/>
          <p:cNvSpPr/>
          <p:nvPr/>
        </p:nvSpPr>
        <p:spPr>
          <a:xfrm>
            <a:off x="5806440" y="2743200"/>
            <a:ext cx="960120" cy="54864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"/>
          <p:cNvSpPr txBox="1"/>
          <p:nvPr/>
        </p:nvSpPr>
        <p:spPr>
          <a:xfrm>
            <a:off x="5806440" y="2743200"/>
            <a:ext cx="9601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chemeClr val="bg1"/>
                </a:solidFill>
              </a:rPr>
              <a:t>body</a:t>
            </a:r>
          </a:p>
        </p:txBody>
      </p:sp>
      <p:cxnSp>
        <p:nvCxnSpPr>
          <p:cNvPr id="42" name="line"/>
          <p:cNvCxnSpPr/>
          <p:nvPr/>
        </p:nvCxnSpPr>
        <p:spPr>
          <a:xfrm>
            <a:off x="5376672" y="2907792"/>
            <a:ext cx="384048" cy="0"/>
          </a:xfrm>
          <a:prstGeom prst="line">
            <a:avLst/>
          </a:prstGeom>
          <a:ln w="25400">
            <a:solidFill>
              <a:schemeClr val="tx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line"/>
          <p:cNvCxnSpPr/>
          <p:nvPr/>
        </p:nvCxnSpPr>
        <p:spPr>
          <a:xfrm flipH="1">
            <a:off x="5394960" y="3145536"/>
            <a:ext cx="384048" cy="0"/>
          </a:xfrm>
          <a:prstGeom prst="line">
            <a:avLst/>
          </a:prstGeom>
          <a:ln w="25400">
            <a:solidFill>
              <a:schemeClr val="tx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"/>
          <p:cNvSpPr txBox="1"/>
          <p:nvPr/>
        </p:nvSpPr>
        <p:spPr>
          <a:xfrm>
            <a:off x="4251960" y="3566160"/>
            <a:ext cx="269748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chemeClr val="tx1"/>
                </a:solidFill>
              </a:rPr>
              <a:t>Sensors on (default). The rhythm can come from the circuit, the body, or both.</a:t>
            </a:r>
          </a:p>
        </p:txBody>
      </p:sp>
      <p:sp>
        <p:nvSpPr>
          <p:cNvPr id="45" name="card"/>
          <p:cNvSpPr/>
          <p:nvPr/>
        </p:nvSpPr>
        <p:spPr>
          <a:xfrm>
            <a:off x="7406640" y="1325880"/>
            <a:ext cx="3200400" cy="402336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"/>
          <p:cNvSpPr txBox="1"/>
          <p:nvPr/>
        </p:nvSpPr>
        <p:spPr>
          <a:xfrm>
            <a:off x="7680960" y="150876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chemeClr val="accent6"/>
                </a:solidFill>
                <a:latin typeface="Courier New"/>
              </a:rPr>
              <a:t>--mode mpg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7680960" y="1874519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chemeClr val="tx1"/>
                </a:solidFill>
              </a:rPr>
              <a:t>Mixed</a:t>
            </a:r>
          </a:p>
        </p:txBody>
      </p:sp>
      <p:sp>
        <p:nvSpPr>
          <p:cNvPr id="48" name="card"/>
          <p:cNvSpPr/>
          <p:nvPr/>
        </p:nvSpPr>
        <p:spPr>
          <a:xfrm>
            <a:off x="7818120" y="2743200"/>
            <a:ext cx="960120" cy="54864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"/>
          <p:cNvSpPr txBox="1"/>
          <p:nvPr/>
        </p:nvSpPr>
        <p:spPr>
          <a:xfrm>
            <a:off x="7818120" y="2743200"/>
            <a:ext cx="9601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chemeClr val="bg1"/>
                </a:solidFill>
              </a:rPr>
              <a:t>brain</a:t>
            </a:r>
          </a:p>
        </p:txBody>
      </p:sp>
      <p:sp>
        <p:nvSpPr>
          <p:cNvPr id="50" name="card"/>
          <p:cNvSpPr/>
          <p:nvPr/>
        </p:nvSpPr>
        <p:spPr>
          <a:xfrm>
            <a:off x="9235440" y="2743200"/>
            <a:ext cx="960120" cy="54864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"/>
          <p:cNvSpPr txBox="1"/>
          <p:nvPr/>
        </p:nvSpPr>
        <p:spPr>
          <a:xfrm>
            <a:off x="9235440" y="2743200"/>
            <a:ext cx="9601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chemeClr val="bg1"/>
                </a:solidFill>
              </a:rPr>
              <a:t>body</a:t>
            </a:r>
          </a:p>
        </p:txBody>
      </p:sp>
      <p:cxnSp>
        <p:nvCxnSpPr>
          <p:cNvPr id="52" name="line"/>
          <p:cNvCxnSpPr/>
          <p:nvPr/>
        </p:nvCxnSpPr>
        <p:spPr>
          <a:xfrm>
            <a:off x="8805672" y="2907792"/>
            <a:ext cx="384048" cy="0"/>
          </a:xfrm>
          <a:prstGeom prst="line">
            <a:avLst/>
          </a:prstGeom>
          <a:ln w="25400">
            <a:solidFill>
              <a:schemeClr val="tx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line"/>
          <p:cNvCxnSpPr/>
          <p:nvPr/>
        </p:nvCxnSpPr>
        <p:spPr>
          <a:xfrm flipH="1">
            <a:off x="8823960" y="3145536"/>
            <a:ext cx="384048" cy="0"/>
          </a:xfrm>
          <a:prstGeom prst="line">
            <a:avLst/>
          </a:prstGeom>
          <a:ln w="25400">
            <a:solidFill>
              <a:schemeClr val="tx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"/>
          <p:cNvSpPr txBox="1"/>
          <p:nvPr/>
        </p:nvSpPr>
        <p:spPr>
          <a:xfrm>
            <a:off x="7680960" y="3566160"/>
            <a:ext cx="269748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chemeClr val="tx1"/>
                </a:solidFill>
              </a:rPr>
              <a:t>Episodes alternate between sensors off and on. Fitness is the average: it has to walk either way.</a:t>
            </a:r>
          </a:p>
        </p:txBody>
      </p:sp>
      <p:sp>
        <p:nvSpPr>
          <p:cNvPr id="55" name="text"/>
          <p:cNvSpPr txBox="1"/>
          <p:nvPr/>
        </p:nvSpPr>
        <p:spPr>
          <a:xfrm>
            <a:off x="548640" y="553212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chemeClr val="tx1"/>
                </a:solidFill>
              </a:rPr>
              <a:t>Beer &amp; Gallagher (1992). </a:t>
            </a:r>
            <a:r>
              <a:rPr sz="1500" b="0" i="0">
                <a:solidFill>
                  <a:schemeClr val="tx1"/>
                </a:solidFill>
              </a:rPr>
              <a:t>Try a walker in the mode it </a:t>
            </a:r>
            <a:r>
              <a:rPr sz="1500" b="0" i="1">
                <a:solidFill>
                  <a:schemeClr val="tx1"/>
                </a:solidFill>
              </a:rPr>
              <a:t>wasn't</a:t>
            </a:r>
            <a:r>
              <a:rPr sz="1500" b="0" i="0">
                <a:solidFill>
                  <a:schemeClr val="tx1"/>
                </a:solidFill>
              </a:rPr>
              <a:t> evolved in:  </a:t>
            </a:r>
            <a:r>
              <a:rPr sz="1500" b="0" i="0">
                <a:solidFill>
                  <a:schemeClr val="tx1"/>
                </a:solidFill>
                <a:latin typeface="Courier New"/>
              </a:rPr>
              <a:t>sim.py --mode cpg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Center-crossing, in the walker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  <p:pic>
        <p:nvPicPr>
          <p:cNvPr id="26" name="Picture 25" descr="walker_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6400800" cy="3068023"/>
          </a:xfrm>
          <a:prstGeom prst="rect">
            <a:avLst/>
          </a:prstGeom>
        </p:spPr>
      </p:pic>
      <p:sp>
        <p:nvSpPr>
          <p:cNvPr id="27" name="text"/>
          <p:cNvSpPr txBox="1"/>
          <p:nvPr/>
        </p:nvSpPr>
        <p:spPr>
          <a:xfrm>
            <a:off x="7132320" y="1371600"/>
            <a:ext cx="448056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01168" algn="l">
              <a:spcAft>
                <a:spcPts val="1000"/>
              </a:spcAft>
              <a:buChar char="•"/>
            </a:pPr>
            <a:r>
              <a:rPr sz="1600" b="1" i="0">
                <a:solidFill>
                  <a:schemeClr val="tx1"/>
                </a:solidFill>
                <a:latin typeface="Courier New"/>
              </a:rPr>
              <a:t>--center_crossing</a:t>
            </a:r>
            <a:r>
              <a:rPr sz="1600" b="0" i="0">
                <a:solidFill>
                  <a:schemeClr val="tx1"/>
                </a:solidFill>
              </a:rPr>
              <a:t> seeds the first generation with center-crossing biases (including the sensory and inter-leg weights)</a:t>
            </a:r>
          </a:p>
          <a:p>
            <a:pPr marL="228600" indent="-201168" algn="l">
              <a:spcAft>
                <a:spcPts val="1000"/>
              </a:spcAft>
              <a:buChar char="•"/>
            </a:pPr>
            <a:r>
              <a:rPr sz="1600" b="0" i="0">
                <a:solidFill>
                  <a:schemeClr val="tx1"/>
                </a:solidFill>
              </a:rPr>
              <a:t>Only the starting population: evolution can move the biases anywhere afterward</a:t>
            </a:r>
          </a:p>
          <a:p>
            <a:pPr marL="228600" indent="-201168" algn="l">
              <a:spcAft>
                <a:spcPts val="1000"/>
              </a:spcAft>
              <a:buChar char="•"/>
            </a:pPr>
            <a:r>
              <a:rPr sz="1600" b="1" i="0">
                <a:solidFill>
                  <a:schemeClr val="accent6"/>
                </a:solidFill>
              </a:rPr>
              <a:t>Center-crossing walked in 3 of 3 runs. </a:t>
            </a:r>
            <a:r>
              <a:rPr sz="1600" b="0" i="0">
                <a:solidFill>
                  <a:schemeClr val="tx1"/>
                </a:solidFill>
              </a:rPr>
              <a:t>Random biases got stuck skating in 2 of 3</a:t>
            </a:r>
          </a:p>
          <a:p>
            <a:pPr marL="228600" indent="-201168" algn="l">
              <a:spcAft>
                <a:spcPts val="1000"/>
              </a:spcAft>
              <a:buChar char="•"/>
            </a:pPr>
            <a:r>
              <a:rPr sz="1600" b="0" i="0">
                <a:solidFill>
                  <a:schemeClr val="tx1"/>
                </a:solidFill>
              </a:rPr>
              <a:t>But the fastest walker of all (0.92) came from random biases</a:t>
            </a:r>
          </a:p>
          <a:p>
            <a:pPr marL="228600" indent="-201168" algn="l">
              <a:spcAft>
                <a:spcPts val="1000"/>
              </a:spcAft>
              <a:buChar char="•"/>
            </a:pPr>
            <a:r>
              <a:rPr sz="1600" b="1" i="0">
                <a:solidFill>
                  <a:schemeClr val="tx1"/>
                </a:solidFill>
              </a:rPr>
              <a:t>Three runs is an anecdote, not an answer. </a:t>
            </a:r>
            <a:r>
              <a:rPr sz="1600" b="0" i="0">
                <a:solidFill>
                  <a:schemeClr val="tx1"/>
                </a:solidFill>
              </a:rPr>
              <a:t>How would you find out?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Evolving 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Running, watching, and reading what evolution built</a:t>
            </a:r>
          </a:p>
        </p:txBody>
      </p:sp>
      <p:sp>
        <p:nvSpPr>
          <p:cNvPr id="4" name="Freeform 3"/>
          <p:cNvSpPr/>
          <p:nvPr/>
        </p:nvSpPr>
        <p:spPr>
          <a:xfrm>
            <a:off x="7406640" y="1601149"/>
            <a:ext cx="3657600" cy="382149"/>
          </a:xfrm>
          <a:custGeom>
            <a:avLst/>
            <a:gdLst/>
            <a:ahLst/>
            <a:cxnLst/>
            <a:rect l="l" t="t" r="r" b="b"/>
            <a:pathLst>
              <a:path w="3657600" h="382149">
                <a:moveTo>
                  <a:pt x="0" y="191075"/>
                </a:moveTo>
                <a:lnTo>
                  <a:pt x="30480" y="107038"/>
                </a:lnTo>
                <a:lnTo>
                  <a:pt x="60960" y="51048"/>
                </a:lnTo>
                <a:lnTo>
                  <a:pt x="91440" y="22698"/>
                </a:lnTo>
                <a:lnTo>
                  <a:pt x="121920" y="10020"/>
                </a:lnTo>
                <a:lnTo>
                  <a:pt x="152400" y="4491"/>
                </a:lnTo>
                <a:lnTo>
                  <a:pt x="182880" y="2022"/>
                </a:lnTo>
                <a:lnTo>
                  <a:pt x="213360" y="873"/>
                </a:lnTo>
                <a:lnTo>
                  <a:pt x="243840" y="323"/>
                </a:lnTo>
                <a:lnTo>
                  <a:pt x="274320" y="73"/>
                </a:lnTo>
                <a:lnTo>
                  <a:pt x="304800" y="0"/>
                </a:lnTo>
                <a:lnTo>
                  <a:pt x="335280" y="73"/>
                </a:lnTo>
                <a:lnTo>
                  <a:pt x="365760" y="323"/>
                </a:lnTo>
                <a:lnTo>
                  <a:pt x="396240" y="873"/>
                </a:lnTo>
                <a:lnTo>
                  <a:pt x="426720" y="2022"/>
                </a:lnTo>
                <a:lnTo>
                  <a:pt x="457200" y="4491"/>
                </a:lnTo>
                <a:lnTo>
                  <a:pt x="487680" y="10020"/>
                </a:lnTo>
                <a:lnTo>
                  <a:pt x="518160" y="22698"/>
                </a:lnTo>
                <a:lnTo>
                  <a:pt x="548640" y="51048"/>
                </a:lnTo>
                <a:lnTo>
                  <a:pt x="579120" y="107038"/>
                </a:lnTo>
                <a:lnTo>
                  <a:pt x="609600" y="191075"/>
                </a:lnTo>
                <a:lnTo>
                  <a:pt x="640080" y="275111"/>
                </a:lnTo>
                <a:lnTo>
                  <a:pt x="670560" y="331101"/>
                </a:lnTo>
                <a:lnTo>
                  <a:pt x="701040" y="359451"/>
                </a:lnTo>
                <a:lnTo>
                  <a:pt x="731520" y="372129"/>
                </a:lnTo>
                <a:lnTo>
                  <a:pt x="762000" y="377658"/>
                </a:lnTo>
                <a:lnTo>
                  <a:pt x="792480" y="380127"/>
                </a:lnTo>
                <a:lnTo>
                  <a:pt x="822960" y="381276"/>
                </a:lnTo>
                <a:lnTo>
                  <a:pt x="853440" y="381826"/>
                </a:lnTo>
                <a:lnTo>
                  <a:pt x="883920" y="382076"/>
                </a:lnTo>
                <a:lnTo>
                  <a:pt x="914400" y="382149"/>
                </a:lnTo>
                <a:lnTo>
                  <a:pt x="944880" y="382076"/>
                </a:lnTo>
                <a:lnTo>
                  <a:pt x="975360" y="381826"/>
                </a:lnTo>
                <a:lnTo>
                  <a:pt x="1005840" y="381276"/>
                </a:lnTo>
                <a:lnTo>
                  <a:pt x="1036320" y="380127"/>
                </a:lnTo>
                <a:lnTo>
                  <a:pt x="1066800" y="377658"/>
                </a:lnTo>
                <a:lnTo>
                  <a:pt x="1097280" y="372129"/>
                </a:lnTo>
                <a:lnTo>
                  <a:pt x="1127760" y="359451"/>
                </a:lnTo>
                <a:lnTo>
                  <a:pt x="1158240" y="331101"/>
                </a:lnTo>
                <a:lnTo>
                  <a:pt x="1188720" y="275111"/>
                </a:lnTo>
                <a:lnTo>
                  <a:pt x="1219200" y="191075"/>
                </a:lnTo>
                <a:lnTo>
                  <a:pt x="1249680" y="107038"/>
                </a:lnTo>
                <a:lnTo>
                  <a:pt x="1280160" y="51048"/>
                </a:lnTo>
                <a:lnTo>
                  <a:pt x="1310640" y="22698"/>
                </a:lnTo>
                <a:lnTo>
                  <a:pt x="1341120" y="10020"/>
                </a:lnTo>
                <a:lnTo>
                  <a:pt x="1371600" y="4491"/>
                </a:lnTo>
                <a:lnTo>
                  <a:pt x="1402080" y="2022"/>
                </a:lnTo>
                <a:lnTo>
                  <a:pt x="1432560" y="873"/>
                </a:lnTo>
                <a:lnTo>
                  <a:pt x="1463040" y="323"/>
                </a:lnTo>
                <a:lnTo>
                  <a:pt x="1493520" y="73"/>
                </a:lnTo>
                <a:lnTo>
                  <a:pt x="1524000" y="0"/>
                </a:lnTo>
                <a:lnTo>
                  <a:pt x="1554480" y="73"/>
                </a:lnTo>
                <a:lnTo>
                  <a:pt x="1584960" y="323"/>
                </a:lnTo>
                <a:lnTo>
                  <a:pt x="1615440" y="873"/>
                </a:lnTo>
                <a:lnTo>
                  <a:pt x="1645920" y="2022"/>
                </a:lnTo>
                <a:lnTo>
                  <a:pt x="1676400" y="4491"/>
                </a:lnTo>
                <a:lnTo>
                  <a:pt x="1706880" y="10020"/>
                </a:lnTo>
                <a:lnTo>
                  <a:pt x="1737360" y="22698"/>
                </a:lnTo>
                <a:lnTo>
                  <a:pt x="1767840" y="51048"/>
                </a:lnTo>
                <a:lnTo>
                  <a:pt x="1798320" y="107038"/>
                </a:lnTo>
                <a:lnTo>
                  <a:pt x="1828800" y="191074"/>
                </a:lnTo>
                <a:lnTo>
                  <a:pt x="1859280" y="275111"/>
                </a:lnTo>
                <a:lnTo>
                  <a:pt x="1889760" y="331101"/>
                </a:lnTo>
                <a:lnTo>
                  <a:pt x="1920240" y="359451"/>
                </a:lnTo>
                <a:lnTo>
                  <a:pt x="1950720" y="372129"/>
                </a:lnTo>
                <a:lnTo>
                  <a:pt x="1981200" y="377658"/>
                </a:lnTo>
                <a:lnTo>
                  <a:pt x="2011680" y="380127"/>
                </a:lnTo>
                <a:lnTo>
                  <a:pt x="2042160" y="381276"/>
                </a:lnTo>
                <a:lnTo>
                  <a:pt x="2072640" y="381826"/>
                </a:lnTo>
                <a:lnTo>
                  <a:pt x="2103120" y="382076"/>
                </a:lnTo>
                <a:lnTo>
                  <a:pt x="2133600" y="382149"/>
                </a:lnTo>
                <a:lnTo>
                  <a:pt x="2164080" y="382076"/>
                </a:lnTo>
                <a:lnTo>
                  <a:pt x="2194560" y="381826"/>
                </a:lnTo>
                <a:lnTo>
                  <a:pt x="2225040" y="381276"/>
                </a:lnTo>
                <a:lnTo>
                  <a:pt x="2255520" y="380127"/>
                </a:lnTo>
                <a:lnTo>
                  <a:pt x="2286000" y="377658"/>
                </a:lnTo>
                <a:lnTo>
                  <a:pt x="2316480" y="372129"/>
                </a:lnTo>
                <a:lnTo>
                  <a:pt x="2346960" y="359451"/>
                </a:lnTo>
                <a:lnTo>
                  <a:pt x="2377440" y="331101"/>
                </a:lnTo>
                <a:lnTo>
                  <a:pt x="2407920" y="275111"/>
                </a:lnTo>
                <a:lnTo>
                  <a:pt x="2438400" y="191075"/>
                </a:lnTo>
                <a:lnTo>
                  <a:pt x="2468880" y="107038"/>
                </a:lnTo>
                <a:lnTo>
                  <a:pt x="2499360" y="51048"/>
                </a:lnTo>
                <a:lnTo>
                  <a:pt x="2529840" y="22698"/>
                </a:lnTo>
                <a:lnTo>
                  <a:pt x="2560320" y="10020"/>
                </a:lnTo>
                <a:lnTo>
                  <a:pt x="2590800" y="4491"/>
                </a:lnTo>
                <a:lnTo>
                  <a:pt x="2621280" y="2022"/>
                </a:lnTo>
                <a:lnTo>
                  <a:pt x="2651760" y="873"/>
                </a:lnTo>
                <a:lnTo>
                  <a:pt x="2682240" y="323"/>
                </a:lnTo>
                <a:lnTo>
                  <a:pt x="2712720" y="73"/>
                </a:lnTo>
                <a:lnTo>
                  <a:pt x="2743200" y="0"/>
                </a:lnTo>
                <a:lnTo>
                  <a:pt x="2773680" y="73"/>
                </a:lnTo>
                <a:lnTo>
                  <a:pt x="2804160" y="323"/>
                </a:lnTo>
                <a:lnTo>
                  <a:pt x="2834640" y="873"/>
                </a:lnTo>
                <a:lnTo>
                  <a:pt x="2865120" y="2022"/>
                </a:lnTo>
                <a:lnTo>
                  <a:pt x="2895600" y="4491"/>
                </a:lnTo>
                <a:lnTo>
                  <a:pt x="2926080" y="10020"/>
                </a:lnTo>
                <a:lnTo>
                  <a:pt x="2956560" y="22698"/>
                </a:lnTo>
                <a:lnTo>
                  <a:pt x="2987040" y="51048"/>
                </a:lnTo>
                <a:lnTo>
                  <a:pt x="3017520" y="107038"/>
                </a:lnTo>
                <a:lnTo>
                  <a:pt x="3048000" y="191074"/>
                </a:lnTo>
                <a:lnTo>
                  <a:pt x="3078480" y="275111"/>
                </a:lnTo>
                <a:lnTo>
                  <a:pt x="3108960" y="331101"/>
                </a:lnTo>
                <a:lnTo>
                  <a:pt x="3139440" y="359451"/>
                </a:lnTo>
                <a:lnTo>
                  <a:pt x="3169920" y="372129"/>
                </a:lnTo>
                <a:lnTo>
                  <a:pt x="3200400" y="377658"/>
                </a:lnTo>
                <a:lnTo>
                  <a:pt x="3230880" y="380127"/>
                </a:lnTo>
                <a:lnTo>
                  <a:pt x="3261360" y="381276"/>
                </a:lnTo>
                <a:lnTo>
                  <a:pt x="3291840" y="381826"/>
                </a:lnTo>
                <a:lnTo>
                  <a:pt x="3322320" y="382076"/>
                </a:lnTo>
                <a:lnTo>
                  <a:pt x="3352800" y="382149"/>
                </a:lnTo>
                <a:lnTo>
                  <a:pt x="3383280" y="382076"/>
                </a:lnTo>
                <a:lnTo>
                  <a:pt x="3413760" y="381826"/>
                </a:lnTo>
                <a:lnTo>
                  <a:pt x="3444240" y="381276"/>
                </a:lnTo>
                <a:lnTo>
                  <a:pt x="3474720" y="380127"/>
                </a:lnTo>
                <a:lnTo>
                  <a:pt x="3505200" y="377658"/>
                </a:lnTo>
                <a:lnTo>
                  <a:pt x="3535680" y="372129"/>
                </a:lnTo>
                <a:lnTo>
                  <a:pt x="3566160" y="359451"/>
                </a:lnTo>
                <a:lnTo>
                  <a:pt x="3596640" y="331101"/>
                </a:lnTo>
                <a:lnTo>
                  <a:pt x="3627120" y="275111"/>
                </a:lnTo>
                <a:lnTo>
                  <a:pt x="3657600" y="191075"/>
                </a:lnTo>
              </a:path>
            </a:pathLst>
          </a:custGeom>
          <a:noFill/>
          <a:ln w="444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4"/>
          <p:cNvSpPr/>
          <p:nvPr/>
        </p:nvSpPr>
        <p:spPr>
          <a:xfrm>
            <a:off x="7406640" y="2168077"/>
            <a:ext cx="3657600" cy="382149"/>
          </a:xfrm>
          <a:custGeom>
            <a:avLst/>
            <a:gdLst/>
            <a:ahLst/>
            <a:cxnLst/>
            <a:rect l="l" t="t" r="r" b="b"/>
            <a:pathLst>
              <a:path w="3657600" h="382149">
                <a:moveTo>
                  <a:pt x="0" y="191075"/>
                </a:moveTo>
                <a:lnTo>
                  <a:pt x="30480" y="275111"/>
                </a:lnTo>
                <a:lnTo>
                  <a:pt x="60960" y="331101"/>
                </a:lnTo>
                <a:lnTo>
                  <a:pt x="91440" y="359451"/>
                </a:lnTo>
                <a:lnTo>
                  <a:pt x="121920" y="372129"/>
                </a:lnTo>
                <a:lnTo>
                  <a:pt x="152400" y="377658"/>
                </a:lnTo>
                <a:lnTo>
                  <a:pt x="182880" y="380127"/>
                </a:lnTo>
                <a:lnTo>
                  <a:pt x="213360" y="381276"/>
                </a:lnTo>
                <a:lnTo>
                  <a:pt x="243840" y="381826"/>
                </a:lnTo>
                <a:lnTo>
                  <a:pt x="274320" y="382076"/>
                </a:lnTo>
                <a:lnTo>
                  <a:pt x="304800" y="382149"/>
                </a:lnTo>
                <a:lnTo>
                  <a:pt x="335280" y="382076"/>
                </a:lnTo>
                <a:lnTo>
                  <a:pt x="365760" y="381826"/>
                </a:lnTo>
                <a:lnTo>
                  <a:pt x="396240" y="381276"/>
                </a:lnTo>
                <a:lnTo>
                  <a:pt x="426720" y="380127"/>
                </a:lnTo>
                <a:lnTo>
                  <a:pt x="457200" y="377658"/>
                </a:lnTo>
                <a:lnTo>
                  <a:pt x="487680" y="372129"/>
                </a:lnTo>
                <a:lnTo>
                  <a:pt x="518160" y="359451"/>
                </a:lnTo>
                <a:lnTo>
                  <a:pt x="548640" y="331101"/>
                </a:lnTo>
                <a:lnTo>
                  <a:pt x="579120" y="275111"/>
                </a:lnTo>
                <a:lnTo>
                  <a:pt x="609600" y="191075"/>
                </a:lnTo>
                <a:lnTo>
                  <a:pt x="640080" y="107038"/>
                </a:lnTo>
                <a:lnTo>
                  <a:pt x="670560" y="51048"/>
                </a:lnTo>
                <a:lnTo>
                  <a:pt x="701040" y="22698"/>
                </a:lnTo>
                <a:lnTo>
                  <a:pt x="731520" y="10020"/>
                </a:lnTo>
                <a:lnTo>
                  <a:pt x="762000" y="4491"/>
                </a:lnTo>
                <a:lnTo>
                  <a:pt x="792480" y="2022"/>
                </a:lnTo>
                <a:lnTo>
                  <a:pt x="822960" y="873"/>
                </a:lnTo>
                <a:lnTo>
                  <a:pt x="853440" y="323"/>
                </a:lnTo>
                <a:lnTo>
                  <a:pt x="883920" y="73"/>
                </a:lnTo>
                <a:lnTo>
                  <a:pt x="914400" y="0"/>
                </a:lnTo>
                <a:lnTo>
                  <a:pt x="944880" y="73"/>
                </a:lnTo>
                <a:lnTo>
                  <a:pt x="975360" y="323"/>
                </a:lnTo>
                <a:lnTo>
                  <a:pt x="1005840" y="873"/>
                </a:lnTo>
                <a:lnTo>
                  <a:pt x="1036320" y="2022"/>
                </a:lnTo>
                <a:lnTo>
                  <a:pt x="1066800" y="4491"/>
                </a:lnTo>
                <a:lnTo>
                  <a:pt x="1097280" y="10020"/>
                </a:lnTo>
                <a:lnTo>
                  <a:pt x="1127760" y="22698"/>
                </a:lnTo>
                <a:lnTo>
                  <a:pt x="1158240" y="51048"/>
                </a:lnTo>
                <a:lnTo>
                  <a:pt x="1188720" y="107038"/>
                </a:lnTo>
                <a:lnTo>
                  <a:pt x="1219200" y="191075"/>
                </a:lnTo>
                <a:lnTo>
                  <a:pt x="1249680" y="275111"/>
                </a:lnTo>
                <a:lnTo>
                  <a:pt x="1280160" y="331101"/>
                </a:lnTo>
                <a:lnTo>
                  <a:pt x="1310640" y="359451"/>
                </a:lnTo>
                <a:lnTo>
                  <a:pt x="1341120" y="372129"/>
                </a:lnTo>
                <a:lnTo>
                  <a:pt x="1371600" y="377658"/>
                </a:lnTo>
                <a:lnTo>
                  <a:pt x="1402080" y="380127"/>
                </a:lnTo>
                <a:lnTo>
                  <a:pt x="1432560" y="381276"/>
                </a:lnTo>
                <a:lnTo>
                  <a:pt x="1463040" y="381826"/>
                </a:lnTo>
                <a:lnTo>
                  <a:pt x="1493520" y="382076"/>
                </a:lnTo>
                <a:lnTo>
                  <a:pt x="1524000" y="382149"/>
                </a:lnTo>
                <a:lnTo>
                  <a:pt x="1554480" y="382076"/>
                </a:lnTo>
                <a:lnTo>
                  <a:pt x="1584960" y="381826"/>
                </a:lnTo>
                <a:lnTo>
                  <a:pt x="1615440" y="381276"/>
                </a:lnTo>
                <a:lnTo>
                  <a:pt x="1645920" y="380127"/>
                </a:lnTo>
                <a:lnTo>
                  <a:pt x="1676400" y="377658"/>
                </a:lnTo>
                <a:lnTo>
                  <a:pt x="1706880" y="372129"/>
                </a:lnTo>
                <a:lnTo>
                  <a:pt x="1737360" y="359451"/>
                </a:lnTo>
                <a:lnTo>
                  <a:pt x="1767840" y="331101"/>
                </a:lnTo>
                <a:lnTo>
                  <a:pt x="1798320" y="275111"/>
                </a:lnTo>
                <a:lnTo>
                  <a:pt x="1828800" y="191075"/>
                </a:lnTo>
                <a:lnTo>
                  <a:pt x="1859280" y="107038"/>
                </a:lnTo>
                <a:lnTo>
                  <a:pt x="1889760" y="51048"/>
                </a:lnTo>
                <a:lnTo>
                  <a:pt x="1920240" y="22698"/>
                </a:lnTo>
                <a:lnTo>
                  <a:pt x="1950720" y="10020"/>
                </a:lnTo>
                <a:lnTo>
                  <a:pt x="1981200" y="4491"/>
                </a:lnTo>
                <a:lnTo>
                  <a:pt x="2011680" y="2022"/>
                </a:lnTo>
                <a:lnTo>
                  <a:pt x="2042160" y="873"/>
                </a:lnTo>
                <a:lnTo>
                  <a:pt x="2072640" y="323"/>
                </a:lnTo>
                <a:lnTo>
                  <a:pt x="2103120" y="73"/>
                </a:lnTo>
                <a:lnTo>
                  <a:pt x="2133600" y="0"/>
                </a:lnTo>
                <a:lnTo>
                  <a:pt x="2164080" y="73"/>
                </a:lnTo>
                <a:lnTo>
                  <a:pt x="2194560" y="323"/>
                </a:lnTo>
                <a:lnTo>
                  <a:pt x="2225040" y="873"/>
                </a:lnTo>
                <a:lnTo>
                  <a:pt x="2255520" y="2022"/>
                </a:lnTo>
                <a:lnTo>
                  <a:pt x="2286000" y="4491"/>
                </a:lnTo>
                <a:lnTo>
                  <a:pt x="2316480" y="10020"/>
                </a:lnTo>
                <a:lnTo>
                  <a:pt x="2346960" y="22698"/>
                </a:lnTo>
                <a:lnTo>
                  <a:pt x="2377440" y="51048"/>
                </a:lnTo>
                <a:lnTo>
                  <a:pt x="2407920" y="107038"/>
                </a:lnTo>
                <a:lnTo>
                  <a:pt x="2438400" y="191074"/>
                </a:lnTo>
                <a:lnTo>
                  <a:pt x="2468880" y="275111"/>
                </a:lnTo>
                <a:lnTo>
                  <a:pt x="2499360" y="331101"/>
                </a:lnTo>
                <a:lnTo>
                  <a:pt x="2529840" y="359451"/>
                </a:lnTo>
                <a:lnTo>
                  <a:pt x="2560320" y="372129"/>
                </a:lnTo>
                <a:lnTo>
                  <a:pt x="2590800" y="377658"/>
                </a:lnTo>
                <a:lnTo>
                  <a:pt x="2621280" y="380127"/>
                </a:lnTo>
                <a:lnTo>
                  <a:pt x="2651760" y="381276"/>
                </a:lnTo>
                <a:lnTo>
                  <a:pt x="2682240" y="381826"/>
                </a:lnTo>
                <a:lnTo>
                  <a:pt x="2712720" y="382076"/>
                </a:lnTo>
                <a:lnTo>
                  <a:pt x="2743200" y="382149"/>
                </a:lnTo>
                <a:lnTo>
                  <a:pt x="2773680" y="382076"/>
                </a:lnTo>
                <a:lnTo>
                  <a:pt x="2804160" y="381826"/>
                </a:lnTo>
                <a:lnTo>
                  <a:pt x="2834640" y="381276"/>
                </a:lnTo>
                <a:lnTo>
                  <a:pt x="2865120" y="380127"/>
                </a:lnTo>
                <a:lnTo>
                  <a:pt x="2895600" y="377658"/>
                </a:lnTo>
                <a:lnTo>
                  <a:pt x="2926080" y="372129"/>
                </a:lnTo>
                <a:lnTo>
                  <a:pt x="2956560" y="359451"/>
                </a:lnTo>
                <a:lnTo>
                  <a:pt x="2987040" y="331101"/>
                </a:lnTo>
                <a:lnTo>
                  <a:pt x="3017520" y="275111"/>
                </a:lnTo>
                <a:lnTo>
                  <a:pt x="3048000" y="191075"/>
                </a:lnTo>
                <a:lnTo>
                  <a:pt x="3078480" y="107038"/>
                </a:lnTo>
                <a:lnTo>
                  <a:pt x="3108960" y="51048"/>
                </a:lnTo>
                <a:lnTo>
                  <a:pt x="3139440" y="22698"/>
                </a:lnTo>
                <a:lnTo>
                  <a:pt x="3169920" y="10020"/>
                </a:lnTo>
                <a:lnTo>
                  <a:pt x="3200400" y="4491"/>
                </a:lnTo>
                <a:lnTo>
                  <a:pt x="3230880" y="2022"/>
                </a:lnTo>
                <a:lnTo>
                  <a:pt x="3261360" y="873"/>
                </a:lnTo>
                <a:lnTo>
                  <a:pt x="3291840" y="323"/>
                </a:lnTo>
                <a:lnTo>
                  <a:pt x="3322320" y="73"/>
                </a:lnTo>
                <a:lnTo>
                  <a:pt x="3352800" y="0"/>
                </a:lnTo>
                <a:lnTo>
                  <a:pt x="3383280" y="73"/>
                </a:lnTo>
                <a:lnTo>
                  <a:pt x="3413760" y="323"/>
                </a:lnTo>
                <a:lnTo>
                  <a:pt x="3444240" y="873"/>
                </a:lnTo>
                <a:lnTo>
                  <a:pt x="3474720" y="2022"/>
                </a:lnTo>
                <a:lnTo>
                  <a:pt x="3505200" y="4491"/>
                </a:lnTo>
                <a:lnTo>
                  <a:pt x="3535680" y="10020"/>
                </a:lnTo>
                <a:lnTo>
                  <a:pt x="3566160" y="22698"/>
                </a:lnTo>
                <a:lnTo>
                  <a:pt x="3596640" y="51048"/>
                </a:lnTo>
                <a:lnTo>
                  <a:pt x="3627120" y="107038"/>
                </a:lnTo>
                <a:lnTo>
                  <a:pt x="3657600" y="191074"/>
                </a:lnTo>
              </a:path>
            </a:pathLst>
          </a:custGeom>
          <a:noFill/>
          <a:ln w="4445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5"/>
          <p:cNvSpPr/>
          <p:nvPr/>
        </p:nvSpPr>
        <p:spPr>
          <a:xfrm>
            <a:off x="7406640" y="2735015"/>
            <a:ext cx="3657600" cy="382129"/>
          </a:xfrm>
          <a:custGeom>
            <a:avLst/>
            <a:gdLst/>
            <a:ahLst/>
            <a:cxnLst/>
            <a:rect l="l" t="t" r="r" b="b"/>
            <a:pathLst>
              <a:path w="3657600" h="382129">
                <a:moveTo>
                  <a:pt x="0" y="1191"/>
                </a:moveTo>
                <a:lnTo>
                  <a:pt x="30480" y="2708"/>
                </a:lnTo>
                <a:lnTo>
                  <a:pt x="60960" y="6018"/>
                </a:lnTo>
                <a:lnTo>
                  <a:pt x="91440" y="13520"/>
                </a:lnTo>
                <a:lnTo>
                  <a:pt x="121920" y="30701"/>
                </a:lnTo>
                <a:lnTo>
                  <a:pt x="152400" y="67939"/>
                </a:lnTo>
                <a:lnTo>
                  <a:pt x="182880" y="135678"/>
                </a:lnTo>
                <a:lnTo>
                  <a:pt x="213360" y="224106"/>
                </a:lnTo>
                <a:lnTo>
                  <a:pt x="243840" y="299561"/>
                </a:lnTo>
                <a:lnTo>
                  <a:pt x="274320" y="344139"/>
                </a:lnTo>
                <a:lnTo>
                  <a:pt x="304800" y="365373"/>
                </a:lnTo>
                <a:lnTo>
                  <a:pt x="335280" y="374701"/>
                </a:lnTo>
                <a:lnTo>
                  <a:pt x="365760" y="378790"/>
                </a:lnTo>
                <a:lnTo>
                  <a:pt x="396240" y="380643"/>
                </a:lnTo>
                <a:lnTo>
                  <a:pt x="426720" y="381517"/>
                </a:lnTo>
                <a:lnTo>
                  <a:pt x="457200" y="381934"/>
                </a:lnTo>
                <a:lnTo>
                  <a:pt x="487680" y="382111"/>
                </a:lnTo>
                <a:lnTo>
                  <a:pt x="518160" y="382129"/>
                </a:lnTo>
                <a:lnTo>
                  <a:pt x="548640" y="381999"/>
                </a:lnTo>
                <a:lnTo>
                  <a:pt x="579120" y="381658"/>
                </a:lnTo>
                <a:lnTo>
                  <a:pt x="609600" y="380938"/>
                </a:lnTo>
                <a:lnTo>
                  <a:pt x="640080" y="379421"/>
                </a:lnTo>
                <a:lnTo>
                  <a:pt x="670560" y="376111"/>
                </a:lnTo>
                <a:lnTo>
                  <a:pt x="701040" y="368609"/>
                </a:lnTo>
                <a:lnTo>
                  <a:pt x="731520" y="351428"/>
                </a:lnTo>
                <a:lnTo>
                  <a:pt x="762000" y="314190"/>
                </a:lnTo>
                <a:lnTo>
                  <a:pt x="792480" y="246451"/>
                </a:lnTo>
                <a:lnTo>
                  <a:pt x="822960" y="158023"/>
                </a:lnTo>
                <a:lnTo>
                  <a:pt x="853440" y="82568"/>
                </a:lnTo>
                <a:lnTo>
                  <a:pt x="883920" y="37990"/>
                </a:lnTo>
                <a:lnTo>
                  <a:pt x="914400" y="16756"/>
                </a:lnTo>
                <a:lnTo>
                  <a:pt x="944880" y="7428"/>
                </a:lnTo>
                <a:lnTo>
                  <a:pt x="975360" y="3339"/>
                </a:lnTo>
                <a:lnTo>
                  <a:pt x="1005840" y="1486"/>
                </a:lnTo>
                <a:lnTo>
                  <a:pt x="1036320" y="612"/>
                </a:lnTo>
                <a:lnTo>
                  <a:pt x="1066800" y="195"/>
                </a:lnTo>
                <a:lnTo>
                  <a:pt x="1097280" y="18"/>
                </a:lnTo>
                <a:lnTo>
                  <a:pt x="1127760" y="0"/>
                </a:lnTo>
                <a:lnTo>
                  <a:pt x="1158240" y="130"/>
                </a:lnTo>
                <a:lnTo>
                  <a:pt x="1188720" y="471"/>
                </a:lnTo>
                <a:lnTo>
                  <a:pt x="1219200" y="1191"/>
                </a:lnTo>
                <a:lnTo>
                  <a:pt x="1249680" y="2708"/>
                </a:lnTo>
                <a:lnTo>
                  <a:pt x="1280160" y="6018"/>
                </a:lnTo>
                <a:lnTo>
                  <a:pt x="1310640" y="13520"/>
                </a:lnTo>
                <a:lnTo>
                  <a:pt x="1341120" y="30701"/>
                </a:lnTo>
                <a:lnTo>
                  <a:pt x="1371600" y="67939"/>
                </a:lnTo>
                <a:lnTo>
                  <a:pt x="1402080" y="135678"/>
                </a:lnTo>
                <a:lnTo>
                  <a:pt x="1432560" y="224106"/>
                </a:lnTo>
                <a:lnTo>
                  <a:pt x="1463040" y="299561"/>
                </a:lnTo>
                <a:lnTo>
                  <a:pt x="1493520" y="344139"/>
                </a:lnTo>
                <a:lnTo>
                  <a:pt x="1524000" y="365373"/>
                </a:lnTo>
                <a:lnTo>
                  <a:pt x="1554480" y="374701"/>
                </a:lnTo>
                <a:lnTo>
                  <a:pt x="1584960" y="378790"/>
                </a:lnTo>
                <a:lnTo>
                  <a:pt x="1615440" y="380643"/>
                </a:lnTo>
                <a:lnTo>
                  <a:pt x="1645920" y="381517"/>
                </a:lnTo>
                <a:lnTo>
                  <a:pt x="1676400" y="381934"/>
                </a:lnTo>
                <a:lnTo>
                  <a:pt x="1706880" y="382111"/>
                </a:lnTo>
                <a:lnTo>
                  <a:pt x="1737360" y="382129"/>
                </a:lnTo>
                <a:lnTo>
                  <a:pt x="1767840" y="381999"/>
                </a:lnTo>
                <a:lnTo>
                  <a:pt x="1798320" y="381658"/>
                </a:lnTo>
                <a:lnTo>
                  <a:pt x="1828800" y="380938"/>
                </a:lnTo>
                <a:lnTo>
                  <a:pt x="1859280" y="379421"/>
                </a:lnTo>
                <a:lnTo>
                  <a:pt x="1889760" y="376111"/>
                </a:lnTo>
                <a:lnTo>
                  <a:pt x="1920240" y="368609"/>
                </a:lnTo>
                <a:lnTo>
                  <a:pt x="1950720" y="351428"/>
                </a:lnTo>
                <a:lnTo>
                  <a:pt x="1981200" y="314190"/>
                </a:lnTo>
                <a:lnTo>
                  <a:pt x="2011680" y="246451"/>
                </a:lnTo>
                <a:lnTo>
                  <a:pt x="2042160" y="158023"/>
                </a:lnTo>
                <a:lnTo>
                  <a:pt x="2072640" y="82568"/>
                </a:lnTo>
                <a:lnTo>
                  <a:pt x="2103120" y="37990"/>
                </a:lnTo>
                <a:lnTo>
                  <a:pt x="2133600" y="16756"/>
                </a:lnTo>
                <a:lnTo>
                  <a:pt x="2164080" y="7428"/>
                </a:lnTo>
                <a:lnTo>
                  <a:pt x="2194560" y="3339"/>
                </a:lnTo>
                <a:lnTo>
                  <a:pt x="2225040" y="1486"/>
                </a:lnTo>
                <a:lnTo>
                  <a:pt x="2255520" y="612"/>
                </a:lnTo>
                <a:lnTo>
                  <a:pt x="2286000" y="195"/>
                </a:lnTo>
                <a:lnTo>
                  <a:pt x="2316480" y="18"/>
                </a:lnTo>
                <a:lnTo>
                  <a:pt x="2346960" y="0"/>
                </a:lnTo>
                <a:lnTo>
                  <a:pt x="2377440" y="130"/>
                </a:lnTo>
                <a:lnTo>
                  <a:pt x="2407920" y="471"/>
                </a:lnTo>
                <a:lnTo>
                  <a:pt x="2438400" y="1191"/>
                </a:lnTo>
                <a:lnTo>
                  <a:pt x="2468880" y="2708"/>
                </a:lnTo>
                <a:lnTo>
                  <a:pt x="2499360" y="6018"/>
                </a:lnTo>
                <a:lnTo>
                  <a:pt x="2529840" y="13520"/>
                </a:lnTo>
                <a:lnTo>
                  <a:pt x="2560320" y="30701"/>
                </a:lnTo>
                <a:lnTo>
                  <a:pt x="2590800" y="67939"/>
                </a:lnTo>
                <a:lnTo>
                  <a:pt x="2621280" y="135678"/>
                </a:lnTo>
                <a:lnTo>
                  <a:pt x="2651760" y="224106"/>
                </a:lnTo>
                <a:lnTo>
                  <a:pt x="2682240" y="299561"/>
                </a:lnTo>
                <a:lnTo>
                  <a:pt x="2712720" y="344139"/>
                </a:lnTo>
                <a:lnTo>
                  <a:pt x="2743200" y="365373"/>
                </a:lnTo>
                <a:lnTo>
                  <a:pt x="2773680" y="374701"/>
                </a:lnTo>
                <a:lnTo>
                  <a:pt x="2804160" y="378790"/>
                </a:lnTo>
                <a:lnTo>
                  <a:pt x="2834640" y="380643"/>
                </a:lnTo>
                <a:lnTo>
                  <a:pt x="2865120" y="381517"/>
                </a:lnTo>
                <a:lnTo>
                  <a:pt x="2895600" y="381934"/>
                </a:lnTo>
                <a:lnTo>
                  <a:pt x="2926080" y="382111"/>
                </a:lnTo>
                <a:lnTo>
                  <a:pt x="2956560" y="382129"/>
                </a:lnTo>
                <a:lnTo>
                  <a:pt x="2987040" y="381999"/>
                </a:lnTo>
                <a:lnTo>
                  <a:pt x="3017520" y="381658"/>
                </a:lnTo>
                <a:lnTo>
                  <a:pt x="3048000" y="380938"/>
                </a:lnTo>
                <a:lnTo>
                  <a:pt x="3078480" y="379421"/>
                </a:lnTo>
                <a:lnTo>
                  <a:pt x="3108960" y="376111"/>
                </a:lnTo>
                <a:lnTo>
                  <a:pt x="3139440" y="368609"/>
                </a:lnTo>
                <a:lnTo>
                  <a:pt x="3169920" y="351428"/>
                </a:lnTo>
                <a:lnTo>
                  <a:pt x="3200400" y="314190"/>
                </a:lnTo>
                <a:lnTo>
                  <a:pt x="3230880" y="246451"/>
                </a:lnTo>
                <a:lnTo>
                  <a:pt x="3261360" y="158023"/>
                </a:lnTo>
                <a:lnTo>
                  <a:pt x="3291840" y="82568"/>
                </a:lnTo>
                <a:lnTo>
                  <a:pt x="3322320" y="37990"/>
                </a:lnTo>
                <a:lnTo>
                  <a:pt x="3352800" y="16756"/>
                </a:lnTo>
                <a:lnTo>
                  <a:pt x="3383280" y="7428"/>
                </a:lnTo>
                <a:lnTo>
                  <a:pt x="3413760" y="3339"/>
                </a:lnTo>
                <a:lnTo>
                  <a:pt x="3444240" y="1486"/>
                </a:lnTo>
                <a:lnTo>
                  <a:pt x="3474720" y="612"/>
                </a:lnTo>
                <a:lnTo>
                  <a:pt x="3505200" y="195"/>
                </a:lnTo>
                <a:lnTo>
                  <a:pt x="3535680" y="18"/>
                </a:lnTo>
                <a:lnTo>
                  <a:pt x="3566160" y="0"/>
                </a:lnTo>
                <a:lnTo>
                  <a:pt x="3596640" y="130"/>
                </a:lnTo>
                <a:lnTo>
                  <a:pt x="3627120" y="471"/>
                </a:lnTo>
                <a:lnTo>
                  <a:pt x="3657600" y="1191"/>
                </a:lnTo>
              </a:path>
            </a:pathLst>
          </a:custGeom>
          <a:noFill/>
          <a:ln w="444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reeform 6"/>
          <p:cNvSpPr/>
          <p:nvPr/>
        </p:nvSpPr>
        <p:spPr>
          <a:xfrm>
            <a:off x="7406640" y="3301943"/>
            <a:ext cx="3657600" cy="382129"/>
          </a:xfrm>
          <a:custGeom>
            <a:avLst/>
            <a:gdLst/>
            <a:ahLst/>
            <a:cxnLst/>
            <a:rect l="l" t="t" r="r" b="b"/>
            <a:pathLst>
              <a:path w="3657600" h="382129">
                <a:moveTo>
                  <a:pt x="0" y="380938"/>
                </a:moveTo>
                <a:lnTo>
                  <a:pt x="30480" y="379421"/>
                </a:lnTo>
                <a:lnTo>
                  <a:pt x="60960" y="376111"/>
                </a:lnTo>
                <a:lnTo>
                  <a:pt x="91440" y="368609"/>
                </a:lnTo>
                <a:lnTo>
                  <a:pt x="121920" y="351428"/>
                </a:lnTo>
                <a:lnTo>
                  <a:pt x="152400" y="314190"/>
                </a:lnTo>
                <a:lnTo>
                  <a:pt x="182880" y="246451"/>
                </a:lnTo>
                <a:lnTo>
                  <a:pt x="213360" y="158023"/>
                </a:lnTo>
                <a:lnTo>
                  <a:pt x="243840" y="82568"/>
                </a:lnTo>
                <a:lnTo>
                  <a:pt x="274320" y="37990"/>
                </a:lnTo>
                <a:lnTo>
                  <a:pt x="304800" y="16756"/>
                </a:lnTo>
                <a:lnTo>
                  <a:pt x="335280" y="7428"/>
                </a:lnTo>
                <a:lnTo>
                  <a:pt x="365760" y="3339"/>
                </a:lnTo>
                <a:lnTo>
                  <a:pt x="396240" y="1486"/>
                </a:lnTo>
                <a:lnTo>
                  <a:pt x="426720" y="612"/>
                </a:lnTo>
                <a:lnTo>
                  <a:pt x="457200" y="195"/>
                </a:lnTo>
                <a:lnTo>
                  <a:pt x="487680" y="18"/>
                </a:lnTo>
                <a:lnTo>
                  <a:pt x="518160" y="0"/>
                </a:lnTo>
                <a:lnTo>
                  <a:pt x="548640" y="130"/>
                </a:lnTo>
                <a:lnTo>
                  <a:pt x="579120" y="471"/>
                </a:lnTo>
                <a:lnTo>
                  <a:pt x="609600" y="1191"/>
                </a:lnTo>
                <a:lnTo>
                  <a:pt x="640080" y="2708"/>
                </a:lnTo>
                <a:lnTo>
                  <a:pt x="670560" y="6018"/>
                </a:lnTo>
                <a:lnTo>
                  <a:pt x="701040" y="13520"/>
                </a:lnTo>
                <a:lnTo>
                  <a:pt x="731520" y="30701"/>
                </a:lnTo>
                <a:lnTo>
                  <a:pt x="762000" y="67939"/>
                </a:lnTo>
                <a:lnTo>
                  <a:pt x="792480" y="135678"/>
                </a:lnTo>
                <a:lnTo>
                  <a:pt x="822960" y="224106"/>
                </a:lnTo>
                <a:lnTo>
                  <a:pt x="853440" y="299561"/>
                </a:lnTo>
                <a:lnTo>
                  <a:pt x="883920" y="344139"/>
                </a:lnTo>
                <a:lnTo>
                  <a:pt x="914400" y="365373"/>
                </a:lnTo>
                <a:lnTo>
                  <a:pt x="944880" y="374701"/>
                </a:lnTo>
                <a:lnTo>
                  <a:pt x="975360" y="378790"/>
                </a:lnTo>
                <a:lnTo>
                  <a:pt x="1005840" y="380643"/>
                </a:lnTo>
                <a:lnTo>
                  <a:pt x="1036320" y="381517"/>
                </a:lnTo>
                <a:lnTo>
                  <a:pt x="1066800" y="381934"/>
                </a:lnTo>
                <a:lnTo>
                  <a:pt x="1097280" y="382111"/>
                </a:lnTo>
                <a:lnTo>
                  <a:pt x="1127760" y="382129"/>
                </a:lnTo>
                <a:lnTo>
                  <a:pt x="1158240" y="381999"/>
                </a:lnTo>
                <a:lnTo>
                  <a:pt x="1188720" y="381658"/>
                </a:lnTo>
                <a:lnTo>
                  <a:pt x="1219200" y="380938"/>
                </a:lnTo>
                <a:lnTo>
                  <a:pt x="1249680" y="379421"/>
                </a:lnTo>
                <a:lnTo>
                  <a:pt x="1280160" y="376111"/>
                </a:lnTo>
                <a:lnTo>
                  <a:pt x="1310640" y="368609"/>
                </a:lnTo>
                <a:lnTo>
                  <a:pt x="1341120" y="351428"/>
                </a:lnTo>
                <a:lnTo>
                  <a:pt x="1371600" y="314190"/>
                </a:lnTo>
                <a:lnTo>
                  <a:pt x="1402080" y="246451"/>
                </a:lnTo>
                <a:lnTo>
                  <a:pt x="1432560" y="158023"/>
                </a:lnTo>
                <a:lnTo>
                  <a:pt x="1463040" y="82568"/>
                </a:lnTo>
                <a:lnTo>
                  <a:pt x="1493520" y="37990"/>
                </a:lnTo>
                <a:lnTo>
                  <a:pt x="1524000" y="16756"/>
                </a:lnTo>
                <a:lnTo>
                  <a:pt x="1554480" y="7428"/>
                </a:lnTo>
                <a:lnTo>
                  <a:pt x="1584960" y="3339"/>
                </a:lnTo>
                <a:lnTo>
                  <a:pt x="1615440" y="1486"/>
                </a:lnTo>
                <a:lnTo>
                  <a:pt x="1645920" y="612"/>
                </a:lnTo>
                <a:lnTo>
                  <a:pt x="1676400" y="195"/>
                </a:lnTo>
                <a:lnTo>
                  <a:pt x="1706880" y="18"/>
                </a:lnTo>
                <a:lnTo>
                  <a:pt x="1737360" y="0"/>
                </a:lnTo>
                <a:lnTo>
                  <a:pt x="1767840" y="130"/>
                </a:lnTo>
                <a:lnTo>
                  <a:pt x="1798320" y="471"/>
                </a:lnTo>
                <a:lnTo>
                  <a:pt x="1828800" y="1191"/>
                </a:lnTo>
                <a:lnTo>
                  <a:pt x="1859280" y="2708"/>
                </a:lnTo>
                <a:lnTo>
                  <a:pt x="1889760" y="6018"/>
                </a:lnTo>
                <a:lnTo>
                  <a:pt x="1920240" y="13520"/>
                </a:lnTo>
                <a:lnTo>
                  <a:pt x="1950720" y="30701"/>
                </a:lnTo>
                <a:lnTo>
                  <a:pt x="1981200" y="67939"/>
                </a:lnTo>
                <a:lnTo>
                  <a:pt x="2011680" y="135678"/>
                </a:lnTo>
                <a:lnTo>
                  <a:pt x="2042160" y="224106"/>
                </a:lnTo>
                <a:lnTo>
                  <a:pt x="2072640" y="299561"/>
                </a:lnTo>
                <a:lnTo>
                  <a:pt x="2103120" y="344139"/>
                </a:lnTo>
                <a:lnTo>
                  <a:pt x="2133600" y="365373"/>
                </a:lnTo>
                <a:lnTo>
                  <a:pt x="2164080" y="374701"/>
                </a:lnTo>
                <a:lnTo>
                  <a:pt x="2194560" y="378790"/>
                </a:lnTo>
                <a:lnTo>
                  <a:pt x="2225040" y="380643"/>
                </a:lnTo>
                <a:lnTo>
                  <a:pt x="2255520" y="381517"/>
                </a:lnTo>
                <a:lnTo>
                  <a:pt x="2286000" y="381934"/>
                </a:lnTo>
                <a:lnTo>
                  <a:pt x="2316480" y="382111"/>
                </a:lnTo>
                <a:lnTo>
                  <a:pt x="2346960" y="382129"/>
                </a:lnTo>
                <a:lnTo>
                  <a:pt x="2377440" y="381999"/>
                </a:lnTo>
                <a:lnTo>
                  <a:pt x="2407920" y="381658"/>
                </a:lnTo>
                <a:lnTo>
                  <a:pt x="2438400" y="380938"/>
                </a:lnTo>
                <a:lnTo>
                  <a:pt x="2468880" y="379421"/>
                </a:lnTo>
                <a:lnTo>
                  <a:pt x="2499360" y="376111"/>
                </a:lnTo>
                <a:lnTo>
                  <a:pt x="2529840" y="368609"/>
                </a:lnTo>
                <a:lnTo>
                  <a:pt x="2560320" y="351428"/>
                </a:lnTo>
                <a:lnTo>
                  <a:pt x="2590800" y="314190"/>
                </a:lnTo>
                <a:lnTo>
                  <a:pt x="2621280" y="246451"/>
                </a:lnTo>
                <a:lnTo>
                  <a:pt x="2651760" y="158023"/>
                </a:lnTo>
                <a:lnTo>
                  <a:pt x="2682240" y="82568"/>
                </a:lnTo>
                <a:lnTo>
                  <a:pt x="2712720" y="37990"/>
                </a:lnTo>
                <a:lnTo>
                  <a:pt x="2743200" y="16756"/>
                </a:lnTo>
                <a:lnTo>
                  <a:pt x="2773680" y="7428"/>
                </a:lnTo>
                <a:lnTo>
                  <a:pt x="2804160" y="3339"/>
                </a:lnTo>
                <a:lnTo>
                  <a:pt x="2834640" y="1486"/>
                </a:lnTo>
                <a:lnTo>
                  <a:pt x="2865120" y="612"/>
                </a:lnTo>
                <a:lnTo>
                  <a:pt x="2895600" y="195"/>
                </a:lnTo>
                <a:lnTo>
                  <a:pt x="2926080" y="18"/>
                </a:lnTo>
                <a:lnTo>
                  <a:pt x="2956560" y="0"/>
                </a:lnTo>
                <a:lnTo>
                  <a:pt x="2987040" y="130"/>
                </a:lnTo>
                <a:lnTo>
                  <a:pt x="3017520" y="471"/>
                </a:lnTo>
                <a:lnTo>
                  <a:pt x="3048000" y="1191"/>
                </a:lnTo>
                <a:lnTo>
                  <a:pt x="3078480" y="2708"/>
                </a:lnTo>
                <a:lnTo>
                  <a:pt x="3108960" y="6018"/>
                </a:lnTo>
                <a:lnTo>
                  <a:pt x="3139440" y="13520"/>
                </a:lnTo>
                <a:lnTo>
                  <a:pt x="3169920" y="30701"/>
                </a:lnTo>
                <a:lnTo>
                  <a:pt x="3200400" y="67939"/>
                </a:lnTo>
                <a:lnTo>
                  <a:pt x="3230880" y="135678"/>
                </a:lnTo>
                <a:lnTo>
                  <a:pt x="3261360" y="224106"/>
                </a:lnTo>
                <a:lnTo>
                  <a:pt x="3291840" y="299561"/>
                </a:lnTo>
                <a:lnTo>
                  <a:pt x="3322320" y="344139"/>
                </a:lnTo>
                <a:lnTo>
                  <a:pt x="3352800" y="365373"/>
                </a:lnTo>
                <a:lnTo>
                  <a:pt x="3383280" y="374701"/>
                </a:lnTo>
                <a:lnTo>
                  <a:pt x="3413760" y="378790"/>
                </a:lnTo>
                <a:lnTo>
                  <a:pt x="3444240" y="380643"/>
                </a:lnTo>
                <a:lnTo>
                  <a:pt x="3474720" y="381517"/>
                </a:lnTo>
                <a:lnTo>
                  <a:pt x="3505200" y="381934"/>
                </a:lnTo>
                <a:lnTo>
                  <a:pt x="3535680" y="382111"/>
                </a:lnTo>
                <a:lnTo>
                  <a:pt x="3566160" y="382129"/>
                </a:lnTo>
                <a:lnTo>
                  <a:pt x="3596640" y="381999"/>
                </a:lnTo>
                <a:lnTo>
                  <a:pt x="3627120" y="381658"/>
                </a:lnTo>
                <a:lnTo>
                  <a:pt x="3657600" y="380938"/>
                </a:lnTo>
              </a:path>
            </a:pathLst>
          </a:custGeom>
          <a:noFill/>
          <a:ln w="4445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Freeform 7"/>
          <p:cNvSpPr/>
          <p:nvPr/>
        </p:nvSpPr>
        <p:spPr>
          <a:xfrm>
            <a:off x="7406640" y="3868866"/>
            <a:ext cx="3657600" cy="382139"/>
          </a:xfrm>
          <a:custGeom>
            <a:avLst/>
            <a:gdLst/>
            <a:ahLst/>
            <a:cxnLst/>
            <a:rect l="l" t="t" r="r" b="b"/>
            <a:pathLst>
              <a:path w="3657600" h="382139">
                <a:moveTo>
                  <a:pt x="0" y="381047"/>
                </a:moveTo>
                <a:lnTo>
                  <a:pt x="30480" y="381714"/>
                </a:lnTo>
                <a:lnTo>
                  <a:pt x="60960" y="382026"/>
                </a:lnTo>
                <a:lnTo>
                  <a:pt x="91440" y="382139"/>
                </a:lnTo>
                <a:lnTo>
                  <a:pt x="121920" y="382105"/>
                </a:lnTo>
                <a:lnTo>
                  <a:pt x="152400" y="381908"/>
                </a:lnTo>
                <a:lnTo>
                  <a:pt x="182880" y="381456"/>
                </a:lnTo>
                <a:lnTo>
                  <a:pt x="213360" y="380511"/>
                </a:lnTo>
                <a:lnTo>
                  <a:pt x="243840" y="378498"/>
                </a:lnTo>
                <a:lnTo>
                  <a:pt x="274320" y="374037"/>
                </a:lnTo>
                <a:lnTo>
                  <a:pt x="304800" y="363839"/>
                </a:lnTo>
                <a:lnTo>
                  <a:pt x="335280" y="340718"/>
                </a:lnTo>
                <a:lnTo>
                  <a:pt x="365760" y="292933"/>
                </a:lnTo>
                <a:lnTo>
                  <a:pt x="396240" y="214649"/>
                </a:lnTo>
                <a:lnTo>
                  <a:pt x="426720" y="126987"/>
                </a:lnTo>
                <a:lnTo>
                  <a:pt x="457200" y="62610"/>
                </a:lnTo>
                <a:lnTo>
                  <a:pt x="487680" y="28133"/>
                </a:lnTo>
                <a:lnTo>
                  <a:pt x="518160" y="12393"/>
                </a:lnTo>
                <a:lnTo>
                  <a:pt x="548640" y="5529"/>
                </a:lnTo>
                <a:lnTo>
                  <a:pt x="579120" y="2490"/>
                </a:lnTo>
                <a:lnTo>
                  <a:pt x="609600" y="1092"/>
                </a:lnTo>
                <a:lnTo>
                  <a:pt x="640080" y="425"/>
                </a:lnTo>
                <a:lnTo>
                  <a:pt x="670560" y="113"/>
                </a:lnTo>
                <a:lnTo>
                  <a:pt x="701040" y="0"/>
                </a:lnTo>
                <a:lnTo>
                  <a:pt x="731520" y="34"/>
                </a:lnTo>
                <a:lnTo>
                  <a:pt x="762000" y="231"/>
                </a:lnTo>
                <a:lnTo>
                  <a:pt x="792480" y="683"/>
                </a:lnTo>
                <a:lnTo>
                  <a:pt x="822960" y="1628"/>
                </a:lnTo>
                <a:lnTo>
                  <a:pt x="853440" y="3641"/>
                </a:lnTo>
                <a:lnTo>
                  <a:pt x="883920" y="8102"/>
                </a:lnTo>
                <a:lnTo>
                  <a:pt x="914400" y="18300"/>
                </a:lnTo>
                <a:lnTo>
                  <a:pt x="944880" y="41421"/>
                </a:lnTo>
                <a:lnTo>
                  <a:pt x="975360" y="89206"/>
                </a:lnTo>
                <a:lnTo>
                  <a:pt x="1005840" y="167490"/>
                </a:lnTo>
                <a:lnTo>
                  <a:pt x="1036320" y="255152"/>
                </a:lnTo>
                <a:lnTo>
                  <a:pt x="1066800" y="319529"/>
                </a:lnTo>
                <a:lnTo>
                  <a:pt x="1097280" y="354006"/>
                </a:lnTo>
                <a:lnTo>
                  <a:pt x="1127760" y="369746"/>
                </a:lnTo>
                <a:lnTo>
                  <a:pt x="1158240" y="376610"/>
                </a:lnTo>
                <a:lnTo>
                  <a:pt x="1188720" y="379649"/>
                </a:lnTo>
                <a:lnTo>
                  <a:pt x="1219200" y="381047"/>
                </a:lnTo>
                <a:lnTo>
                  <a:pt x="1249680" y="381714"/>
                </a:lnTo>
                <a:lnTo>
                  <a:pt x="1280160" y="382026"/>
                </a:lnTo>
                <a:lnTo>
                  <a:pt x="1310640" y="382139"/>
                </a:lnTo>
                <a:lnTo>
                  <a:pt x="1341120" y="382105"/>
                </a:lnTo>
                <a:lnTo>
                  <a:pt x="1371600" y="381908"/>
                </a:lnTo>
                <a:lnTo>
                  <a:pt x="1402080" y="381456"/>
                </a:lnTo>
                <a:lnTo>
                  <a:pt x="1432560" y="380511"/>
                </a:lnTo>
                <a:lnTo>
                  <a:pt x="1463040" y="378498"/>
                </a:lnTo>
                <a:lnTo>
                  <a:pt x="1493520" y="374037"/>
                </a:lnTo>
                <a:lnTo>
                  <a:pt x="1524000" y="363839"/>
                </a:lnTo>
                <a:lnTo>
                  <a:pt x="1554480" y="340718"/>
                </a:lnTo>
                <a:lnTo>
                  <a:pt x="1584960" y="292933"/>
                </a:lnTo>
                <a:lnTo>
                  <a:pt x="1615440" y="214649"/>
                </a:lnTo>
                <a:lnTo>
                  <a:pt x="1645920" y="126987"/>
                </a:lnTo>
                <a:lnTo>
                  <a:pt x="1676400" y="62610"/>
                </a:lnTo>
                <a:lnTo>
                  <a:pt x="1706880" y="28133"/>
                </a:lnTo>
                <a:lnTo>
                  <a:pt x="1737360" y="12393"/>
                </a:lnTo>
                <a:lnTo>
                  <a:pt x="1767840" y="5529"/>
                </a:lnTo>
                <a:lnTo>
                  <a:pt x="1798320" y="2490"/>
                </a:lnTo>
                <a:lnTo>
                  <a:pt x="1828800" y="1092"/>
                </a:lnTo>
                <a:lnTo>
                  <a:pt x="1859280" y="425"/>
                </a:lnTo>
                <a:lnTo>
                  <a:pt x="1889760" y="113"/>
                </a:lnTo>
                <a:lnTo>
                  <a:pt x="1920240" y="0"/>
                </a:lnTo>
                <a:lnTo>
                  <a:pt x="1950720" y="34"/>
                </a:lnTo>
                <a:lnTo>
                  <a:pt x="1981200" y="231"/>
                </a:lnTo>
                <a:lnTo>
                  <a:pt x="2011680" y="683"/>
                </a:lnTo>
                <a:lnTo>
                  <a:pt x="2042160" y="1628"/>
                </a:lnTo>
                <a:lnTo>
                  <a:pt x="2072640" y="3641"/>
                </a:lnTo>
                <a:lnTo>
                  <a:pt x="2103120" y="8102"/>
                </a:lnTo>
                <a:lnTo>
                  <a:pt x="2133600" y="18300"/>
                </a:lnTo>
                <a:lnTo>
                  <a:pt x="2164080" y="41421"/>
                </a:lnTo>
                <a:lnTo>
                  <a:pt x="2194560" y="89206"/>
                </a:lnTo>
                <a:lnTo>
                  <a:pt x="2225040" y="167490"/>
                </a:lnTo>
                <a:lnTo>
                  <a:pt x="2255520" y="255152"/>
                </a:lnTo>
                <a:lnTo>
                  <a:pt x="2286000" y="319529"/>
                </a:lnTo>
                <a:lnTo>
                  <a:pt x="2316480" y="354006"/>
                </a:lnTo>
                <a:lnTo>
                  <a:pt x="2346960" y="369746"/>
                </a:lnTo>
                <a:lnTo>
                  <a:pt x="2377440" y="376610"/>
                </a:lnTo>
                <a:lnTo>
                  <a:pt x="2407920" y="379649"/>
                </a:lnTo>
                <a:lnTo>
                  <a:pt x="2438400" y="381047"/>
                </a:lnTo>
                <a:lnTo>
                  <a:pt x="2468880" y="381714"/>
                </a:lnTo>
                <a:lnTo>
                  <a:pt x="2499360" y="382026"/>
                </a:lnTo>
                <a:lnTo>
                  <a:pt x="2529840" y="382139"/>
                </a:lnTo>
                <a:lnTo>
                  <a:pt x="2560320" y="382105"/>
                </a:lnTo>
                <a:lnTo>
                  <a:pt x="2590800" y="381908"/>
                </a:lnTo>
                <a:lnTo>
                  <a:pt x="2621280" y="381456"/>
                </a:lnTo>
                <a:lnTo>
                  <a:pt x="2651760" y="380511"/>
                </a:lnTo>
                <a:lnTo>
                  <a:pt x="2682240" y="378498"/>
                </a:lnTo>
                <a:lnTo>
                  <a:pt x="2712720" y="374037"/>
                </a:lnTo>
                <a:lnTo>
                  <a:pt x="2743200" y="363839"/>
                </a:lnTo>
                <a:lnTo>
                  <a:pt x="2773680" y="340718"/>
                </a:lnTo>
                <a:lnTo>
                  <a:pt x="2804160" y="292933"/>
                </a:lnTo>
                <a:lnTo>
                  <a:pt x="2834640" y="214649"/>
                </a:lnTo>
                <a:lnTo>
                  <a:pt x="2865120" y="126987"/>
                </a:lnTo>
                <a:lnTo>
                  <a:pt x="2895600" y="62610"/>
                </a:lnTo>
                <a:lnTo>
                  <a:pt x="2926080" y="28133"/>
                </a:lnTo>
                <a:lnTo>
                  <a:pt x="2956560" y="12393"/>
                </a:lnTo>
                <a:lnTo>
                  <a:pt x="2987040" y="5529"/>
                </a:lnTo>
                <a:lnTo>
                  <a:pt x="3017520" y="2490"/>
                </a:lnTo>
                <a:lnTo>
                  <a:pt x="3048000" y="1092"/>
                </a:lnTo>
                <a:lnTo>
                  <a:pt x="3078480" y="425"/>
                </a:lnTo>
                <a:lnTo>
                  <a:pt x="3108960" y="113"/>
                </a:lnTo>
                <a:lnTo>
                  <a:pt x="3139440" y="0"/>
                </a:lnTo>
                <a:lnTo>
                  <a:pt x="3169920" y="34"/>
                </a:lnTo>
                <a:lnTo>
                  <a:pt x="3200400" y="231"/>
                </a:lnTo>
                <a:lnTo>
                  <a:pt x="3230880" y="683"/>
                </a:lnTo>
                <a:lnTo>
                  <a:pt x="3261360" y="1628"/>
                </a:lnTo>
                <a:lnTo>
                  <a:pt x="3291840" y="3641"/>
                </a:lnTo>
                <a:lnTo>
                  <a:pt x="3322320" y="8102"/>
                </a:lnTo>
                <a:lnTo>
                  <a:pt x="3352800" y="18300"/>
                </a:lnTo>
                <a:lnTo>
                  <a:pt x="3383280" y="41421"/>
                </a:lnTo>
                <a:lnTo>
                  <a:pt x="3413760" y="89206"/>
                </a:lnTo>
                <a:lnTo>
                  <a:pt x="3444240" y="167490"/>
                </a:lnTo>
                <a:lnTo>
                  <a:pt x="3474720" y="255152"/>
                </a:lnTo>
                <a:lnTo>
                  <a:pt x="3505200" y="319529"/>
                </a:lnTo>
                <a:lnTo>
                  <a:pt x="3535680" y="354006"/>
                </a:lnTo>
                <a:lnTo>
                  <a:pt x="3566160" y="369746"/>
                </a:lnTo>
                <a:lnTo>
                  <a:pt x="3596640" y="376610"/>
                </a:lnTo>
                <a:lnTo>
                  <a:pt x="3627120" y="379649"/>
                </a:lnTo>
                <a:lnTo>
                  <a:pt x="3657600" y="381047"/>
                </a:lnTo>
              </a:path>
            </a:pathLst>
          </a:custGeom>
          <a:noFill/>
          <a:ln w="444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Freeform 8"/>
          <p:cNvSpPr/>
          <p:nvPr/>
        </p:nvSpPr>
        <p:spPr>
          <a:xfrm>
            <a:off x="7406640" y="4435794"/>
            <a:ext cx="3657600" cy="382139"/>
          </a:xfrm>
          <a:custGeom>
            <a:avLst/>
            <a:gdLst/>
            <a:ahLst/>
            <a:cxnLst/>
            <a:rect l="l" t="t" r="r" b="b"/>
            <a:pathLst>
              <a:path w="3657600" h="382139">
                <a:moveTo>
                  <a:pt x="0" y="1092"/>
                </a:moveTo>
                <a:lnTo>
                  <a:pt x="30480" y="425"/>
                </a:lnTo>
                <a:lnTo>
                  <a:pt x="60960" y="113"/>
                </a:lnTo>
                <a:lnTo>
                  <a:pt x="91440" y="0"/>
                </a:lnTo>
                <a:lnTo>
                  <a:pt x="121920" y="34"/>
                </a:lnTo>
                <a:lnTo>
                  <a:pt x="152400" y="231"/>
                </a:lnTo>
                <a:lnTo>
                  <a:pt x="182880" y="683"/>
                </a:lnTo>
                <a:lnTo>
                  <a:pt x="213360" y="1628"/>
                </a:lnTo>
                <a:lnTo>
                  <a:pt x="243840" y="3641"/>
                </a:lnTo>
                <a:lnTo>
                  <a:pt x="274320" y="8102"/>
                </a:lnTo>
                <a:lnTo>
                  <a:pt x="304800" y="18300"/>
                </a:lnTo>
                <a:lnTo>
                  <a:pt x="335280" y="41421"/>
                </a:lnTo>
                <a:lnTo>
                  <a:pt x="365760" y="89206"/>
                </a:lnTo>
                <a:lnTo>
                  <a:pt x="396240" y="167490"/>
                </a:lnTo>
                <a:lnTo>
                  <a:pt x="426720" y="255152"/>
                </a:lnTo>
                <a:lnTo>
                  <a:pt x="457200" y="319529"/>
                </a:lnTo>
                <a:lnTo>
                  <a:pt x="487680" y="354006"/>
                </a:lnTo>
                <a:lnTo>
                  <a:pt x="518160" y="369746"/>
                </a:lnTo>
                <a:lnTo>
                  <a:pt x="548640" y="376610"/>
                </a:lnTo>
                <a:lnTo>
                  <a:pt x="579120" y="379649"/>
                </a:lnTo>
                <a:lnTo>
                  <a:pt x="609600" y="381047"/>
                </a:lnTo>
                <a:lnTo>
                  <a:pt x="640080" y="381714"/>
                </a:lnTo>
                <a:lnTo>
                  <a:pt x="670560" y="382026"/>
                </a:lnTo>
                <a:lnTo>
                  <a:pt x="701040" y="382139"/>
                </a:lnTo>
                <a:lnTo>
                  <a:pt x="731520" y="382105"/>
                </a:lnTo>
                <a:lnTo>
                  <a:pt x="762000" y="381908"/>
                </a:lnTo>
                <a:lnTo>
                  <a:pt x="792480" y="381456"/>
                </a:lnTo>
                <a:lnTo>
                  <a:pt x="822960" y="380511"/>
                </a:lnTo>
                <a:lnTo>
                  <a:pt x="853440" y="378498"/>
                </a:lnTo>
                <a:lnTo>
                  <a:pt x="883920" y="374037"/>
                </a:lnTo>
                <a:lnTo>
                  <a:pt x="914400" y="363839"/>
                </a:lnTo>
                <a:lnTo>
                  <a:pt x="944880" y="340718"/>
                </a:lnTo>
                <a:lnTo>
                  <a:pt x="975360" y="292933"/>
                </a:lnTo>
                <a:lnTo>
                  <a:pt x="1005840" y="214649"/>
                </a:lnTo>
                <a:lnTo>
                  <a:pt x="1036320" y="126987"/>
                </a:lnTo>
                <a:lnTo>
                  <a:pt x="1066800" y="62610"/>
                </a:lnTo>
                <a:lnTo>
                  <a:pt x="1097280" y="28133"/>
                </a:lnTo>
                <a:lnTo>
                  <a:pt x="1127760" y="12393"/>
                </a:lnTo>
                <a:lnTo>
                  <a:pt x="1158240" y="5529"/>
                </a:lnTo>
                <a:lnTo>
                  <a:pt x="1188720" y="2490"/>
                </a:lnTo>
                <a:lnTo>
                  <a:pt x="1219200" y="1092"/>
                </a:lnTo>
                <a:lnTo>
                  <a:pt x="1249680" y="425"/>
                </a:lnTo>
                <a:lnTo>
                  <a:pt x="1280160" y="113"/>
                </a:lnTo>
                <a:lnTo>
                  <a:pt x="1310640" y="0"/>
                </a:lnTo>
                <a:lnTo>
                  <a:pt x="1341120" y="34"/>
                </a:lnTo>
                <a:lnTo>
                  <a:pt x="1371600" y="231"/>
                </a:lnTo>
                <a:lnTo>
                  <a:pt x="1402080" y="683"/>
                </a:lnTo>
                <a:lnTo>
                  <a:pt x="1432560" y="1628"/>
                </a:lnTo>
                <a:lnTo>
                  <a:pt x="1463040" y="3641"/>
                </a:lnTo>
                <a:lnTo>
                  <a:pt x="1493520" y="8102"/>
                </a:lnTo>
                <a:lnTo>
                  <a:pt x="1524000" y="18300"/>
                </a:lnTo>
                <a:lnTo>
                  <a:pt x="1554480" y="41421"/>
                </a:lnTo>
                <a:lnTo>
                  <a:pt x="1584960" y="89206"/>
                </a:lnTo>
                <a:lnTo>
                  <a:pt x="1615440" y="167490"/>
                </a:lnTo>
                <a:lnTo>
                  <a:pt x="1645920" y="255152"/>
                </a:lnTo>
                <a:lnTo>
                  <a:pt x="1676400" y="319529"/>
                </a:lnTo>
                <a:lnTo>
                  <a:pt x="1706880" y="354006"/>
                </a:lnTo>
                <a:lnTo>
                  <a:pt x="1737360" y="369746"/>
                </a:lnTo>
                <a:lnTo>
                  <a:pt x="1767840" y="376610"/>
                </a:lnTo>
                <a:lnTo>
                  <a:pt x="1798320" y="379649"/>
                </a:lnTo>
                <a:lnTo>
                  <a:pt x="1828800" y="381047"/>
                </a:lnTo>
                <a:lnTo>
                  <a:pt x="1859280" y="381714"/>
                </a:lnTo>
                <a:lnTo>
                  <a:pt x="1889760" y="382026"/>
                </a:lnTo>
                <a:lnTo>
                  <a:pt x="1920240" y="382139"/>
                </a:lnTo>
                <a:lnTo>
                  <a:pt x="1950720" y="382105"/>
                </a:lnTo>
                <a:lnTo>
                  <a:pt x="1981200" y="381908"/>
                </a:lnTo>
                <a:lnTo>
                  <a:pt x="2011680" y="381456"/>
                </a:lnTo>
                <a:lnTo>
                  <a:pt x="2042160" y="380511"/>
                </a:lnTo>
                <a:lnTo>
                  <a:pt x="2072640" y="378498"/>
                </a:lnTo>
                <a:lnTo>
                  <a:pt x="2103120" y="374037"/>
                </a:lnTo>
                <a:lnTo>
                  <a:pt x="2133600" y="363839"/>
                </a:lnTo>
                <a:lnTo>
                  <a:pt x="2164080" y="340718"/>
                </a:lnTo>
                <a:lnTo>
                  <a:pt x="2194560" y="292933"/>
                </a:lnTo>
                <a:lnTo>
                  <a:pt x="2225040" y="214649"/>
                </a:lnTo>
                <a:lnTo>
                  <a:pt x="2255520" y="126987"/>
                </a:lnTo>
                <a:lnTo>
                  <a:pt x="2286000" y="62610"/>
                </a:lnTo>
                <a:lnTo>
                  <a:pt x="2316480" y="28133"/>
                </a:lnTo>
                <a:lnTo>
                  <a:pt x="2346960" y="12393"/>
                </a:lnTo>
                <a:lnTo>
                  <a:pt x="2377440" y="5529"/>
                </a:lnTo>
                <a:lnTo>
                  <a:pt x="2407920" y="2490"/>
                </a:lnTo>
                <a:lnTo>
                  <a:pt x="2438400" y="1092"/>
                </a:lnTo>
                <a:lnTo>
                  <a:pt x="2468880" y="425"/>
                </a:lnTo>
                <a:lnTo>
                  <a:pt x="2499360" y="113"/>
                </a:lnTo>
                <a:lnTo>
                  <a:pt x="2529840" y="0"/>
                </a:lnTo>
                <a:lnTo>
                  <a:pt x="2560320" y="34"/>
                </a:lnTo>
                <a:lnTo>
                  <a:pt x="2590800" y="231"/>
                </a:lnTo>
                <a:lnTo>
                  <a:pt x="2621280" y="683"/>
                </a:lnTo>
                <a:lnTo>
                  <a:pt x="2651760" y="1628"/>
                </a:lnTo>
                <a:lnTo>
                  <a:pt x="2682240" y="3641"/>
                </a:lnTo>
                <a:lnTo>
                  <a:pt x="2712720" y="8102"/>
                </a:lnTo>
                <a:lnTo>
                  <a:pt x="2743200" y="18300"/>
                </a:lnTo>
                <a:lnTo>
                  <a:pt x="2773680" y="41421"/>
                </a:lnTo>
                <a:lnTo>
                  <a:pt x="2804160" y="89206"/>
                </a:lnTo>
                <a:lnTo>
                  <a:pt x="2834640" y="167490"/>
                </a:lnTo>
                <a:lnTo>
                  <a:pt x="2865120" y="255152"/>
                </a:lnTo>
                <a:lnTo>
                  <a:pt x="2895600" y="319529"/>
                </a:lnTo>
                <a:lnTo>
                  <a:pt x="2926080" y="354006"/>
                </a:lnTo>
                <a:lnTo>
                  <a:pt x="2956560" y="369746"/>
                </a:lnTo>
                <a:lnTo>
                  <a:pt x="2987040" y="376610"/>
                </a:lnTo>
                <a:lnTo>
                  <a:pt x="3017520" y="379649"/>
                </a:lnTo>
                <a:lnTo>
                  <a:pt x="3048000" y="381047"/>
                </a:lnTo>
                <a:lnTo>
                  <a:pt x="3078480" y="381714"/>
                </a:lnTo>
                <a:lnTo>
                  <a:pt x="3108960" y="382026"/>
                </a:lnTo>
                <a:lnTo>
                  <a:pt x="3139440" y="382139"/>
                </a:lnTo>
                <a:lnTo>
                  <a:pt x="3169920" y="382105"/>
                </a:lnTo>
                <a:lnTo>
                  <a:pt x="3200400" y="381908"/>
                </a:lnTo>
                <a:lnTo>
                  <a:pt x="3230880" y="381456"/>
                </a:lnTo>
                <a:lnTo>
                  <a:pt x="3261360" y="380511"/>
                </a:lnTo>
                <a:lnTo>
                  <a:pt x="3291840" y="378498"/>
                </a:lnTo>
                <a:lnTo>
                  <a:pt x="3322320" y="374037"/>
                </a:lnTo>
                <a:lnTo>
                  <a:pt x="3352800" y="363839"/>
                </a:lnTo>
                <a:lnTo>
                  <a:pt x="3383280" y="340718"/>
                </a:lnTo>
                <a:lnTo>
                  <a:pt x="3413760" y="292933"/>
                </a:lnTo>
                <a:lnTo>
                  <a:pt x="3444240" y="214649"/>
                </a:lnTo>
                <a:lnTo>
                  <a:pt x="3474720" y="126987"/>
                </a:lnTo>
                <a:lnTo>
                  <a:pt x="3505200" y="62610"/>
                </a:lnTo>
                <a:lnTo>
                  <a:pt x="3535680" y="28133"/>
                </a:lnTo>
                <a:lnTo>
                  <a:pt x="3566160" y="12393"/>
                </a:lnTo>
                <a:lnTo>
                  <a:pt x="3596640" y="5529"/>
                </a:lnTo>
                <a:lnTo>
                  <a:pt x="3627120" y="2490"/>
                </a:lnTo>
                <a:lnTo>
                  <a:pt x="3657600" y="1092"/>
                </a:lnTo>
              </a:path>
            </a:pathLst>
          </a:custGeom>
          <a:noFill/>
          <a:ln w="4445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AFA4A7F-5880-C21A-9E14-FDF05E28E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071893" y="4306872"/>
            <a:ext cx="5714387" cy="560265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Running it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  <p:sp>
        <p:nvSpPr>
          <p:cNvPr id="26" name="card"/>
          <p:cNvSpPr/>
          <p:nvPr/>
        </p:nvSpPr>
        <p:spPr>
          <a:xfrm>
            <a:off x="548640" y="1325880"/>
            <a:ext cx="11094415" cy="352044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code"/>
          <p:cNvSpPr txBox="1"/>
          <p:nvPr/>
        </p:nvSpPr>
        <p:spPr>
          <a:xfrm>
            <a:off x="777240" y="1508760"/>
            <a:ext cx="10637215" cy="3246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chemeClr val="tx2"/>
                </a:solidFill>
                <a:latin typeface="Courier New"/>
              </a:rPr>
              <a:t># evolve a CTRNN (about 3 minutes on a 16-core laptop)</a:t>
            </a:r>
          </a:p>
          <a:p>
            <a:pPr algn="l"/>
            <a:r>
              <a:rPr sz="1400" b="0" i="0">
                <a:solidFill>
                  <a:schemeClr val="tx1"/>
                </a:solidFill>
                <a:latin typeface="Courier New"/>
              </a:rPr>
              <a:t>python evolve.py --controller ctrnn --center_crossing --seed 1 --verbose --vizperf \</a:t>
            </a:r>
          </a:p>
          <a:p>
            <a:pPr algn="l"/>
            <a:r>
              <a:rPr sz="1400" b="0" i="0">
                <a:solidFill>
                  <a:schemeClr val="tx1"/>
                </a:solidFill>
                <a:latin typeface="Courier New"/>
              </a:rPr>
              <a:t>    --output walker.npy --fitness_output walker_fit.npz</a:t>
            </a:r>
          </a:p>
          <a:p>
            <a:pPr algn="l"/>
            <a:endParaRPr sz="1400" b="0" i="0">
              <a:solidFill>
                <a:schemeClr val="tx1"/>
              </a:solidFill>
              <a:latin typeface="Courier New"/>
            </a:endParaRPr>
          </a:p>
          <a:p>
            <a:pPr algn="l"/>
            <a:r>
              <a:rPr sz="1400" b="0" i="0">
                <a:solidFill>
                  <a:schemeClr val="tx2"/>
                </a:solidFill>
                <a:latin typeface="Courier New"/>
              </a:rPr>
              <a:t># score it; then again with its sensors cut</a:t>
            </a:r>
          </a:p>
          <a:p>
            <a:pPr algn="l"/>
            <a:r>
              <a:rPr sz="1400" b="0" i="0">
                <a:solidFill>
                  <a:schemeClr val="tx1"/>
                </a:solidFill>
                <a:latin typeface="Courier New"/>
              </a:rPr>
              <a:t>python sim.py --controller ctrnn --genome walker.npy --scores</a:t>
            </a:r>
          </a:p>
          <a:p>
            <a:pPr algn="l"/>
            <a:r>
              <a:rPr sz="1400" b="0" i="0">
                <a:solidFill>
                  <a:schemeClr val="tx1"/>
                </a:solidFill>
                <a:latin typeface="Courier New"/>
              </a:rPr>
              <a:t>python sim.py --controller ctrnn --genome walker.npy --mode cpg --scores</a:t>
            </a:r>
          </a:p>
          <a:p>
            <a:pPr algn="l"/>
            <a:endParaRPr sz="1400" b="0" i="0">
              <a:solidFill>
                <a:schemeClr val="tx1"/>
              </a:solidFill>
              <a:latin typeface="Courier New"/>
            </a:endParaRPr>
          </a:p>
          <a:p>
            <a:pPr algn="l"/>
            <a:r>
              <a:rPr sz="1400" b="0" i="0">
                <a:solidFill>
                  <a:schemeClr val="tx2"/>
                </a:solidFill>
                <a:latin typeface="Courier New"/>
              </a:rPr>
              <a:t># gait diagram, neuron outputs, and an animation</a:t>
            </a:r>
          </a:p>
          <a:p>
            <a:pPr algn="l"/>
            <a:r>
              <a:rPr sz="1400" b="0" i="0">
                <a:solidFill>
                  <a:schemeClr val="tx1"/>
                </a:solidFill>
                <a:latin typeface="Courier New"/>
              </a:rPr>
              <a:t>python sim.py --controller ctrnn --genome walker.npy --trace walk.dat</a:t>
            </a:r>
          </a:p>
          <a:p>
            <a:pPr algn="l"/>
            <a:r>
              <a:rPr sz="1400" b="0" i="0">
                <a:solidFill>
                  <a:schemeClr val="tx1"/>
                </a:solidFill>
                <a:latin typeface="Courier New"/>
              </a:rPr>
              <a:t>python visualize_walker.py walk.dat --out_prefix walk --topology modular --module_size 3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548640" y="502920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01168" algn="l">
              <a:spcAft>
                <a:spcPts val="400"/>
              </a:spcAft>
              <a:buChar char="•"/>
            </a:pPr>
            <a:r>
              <a:rPr sz="1500" b="0" i="0">
                <a:solidFill>
                  <a:schemeClr val="tx1"/>
                </a:solidFill>
              </a:rPr>
              <a:t>Pass sim.py the same controller settings you evolved with. </a:t>
            </a:r>
            <a:r>
              <a:rPr sz="1500" b="0" i="0">
                <a:solidFill>
                  <a:schemeClr val="tx1"/>
                </a:solidFill>
                <a:latin typeface="Courier New"/>
              </a:rPr>
              <a:t>--algorithm es</a:t>
            </a:r>
            <a:r>
              <a:rPr sz="1500" b="0" i="0">
                <a:solidFill>
                  <a:schemeClr val="tx1"/>
                </a:solidFill>
              </a:rPr>
              <a:t> swaps the GA for CMA-ES.</a:t>
            </a:r>
          </a:p>
          <a:p>
            <a:pPr marL="228600" indent="-201168" algn="l">
              <a:spcAft>
                <a:spcPts val="400"/>
              </a:spcAft>
              <a:buChar char="•"/>
            </a:pPr>
            <a:r>
              <a:rPr sz="1500" b="0" i="0">
                <a:solidFill>
                  <a:schemeClr val="tx1"/>
                </a:solidFill>
              </a:rPr>
              <a:t>Save --output and --fitness_output for every run you might want to plot later.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Reading a gait diagram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  <p:pic>
        <p:nvPicPr>
          <p:cNvPr id="26" name="Picture 25" descr="best_ga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7315200" cy="3291840"/>
          </a:xfrm>
          <a:prstGeom prst="rect">
            <a:avLst/>
          </a:prstGeom>
        </p:spPr>
      </p:pic>
      <p:sp>
        <p:nvSpPr>
          <p:cNvPr id="27" name="text"/>
          <p:cNvSpPr txBox="1"/>
          <p:nvPr/>
        </p:nvSpPr>
        <p:spPr>
          <a:xfrm>
            <a:off x="8092440" y="1371600"/>
            <a:ext cx="352044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01168" algn="l">
              <a:spcAft>
                <a:spcPts val="1000"/>
              </a:spcAft>
              <a:buChar char="•"/>
            </a:pPr>
            <a:r>
              <a:rPr sz="1500" b="0" i="0">
                <a:solidFill>
                  <a:schemeClr val="tx1"/>
                </a:solidFill>
              </a:rPr>
              <a:t>One row per leg. Black: foot down. White: swinging</a:t>
            </a:r>
          </a:p>
          <a:p>
            <a:pPr marL="228600" indent="-201168" algn="l">
              <a:spcAft>
                <a:spcPts val="1000"/>
              </a:spcAft>
              <a:buChar char="•"/>
            </a:pPr>
            <a:r>
              <a:rPr sz="1500" b="0" i="0">
                <a:solidFill>
                  <a:schemeClr val="tx1"/>
                </a:solidFill>
              </a:rPr>
              <a:t>Bottom: body speed. It drops to 0 whenever the planted feet stop holding it up</a:t>
            </a:r>
          </a:p>
          <a:p>
            <a:pPr marL="228600" indent="-201168" algn="l">
              <a:spcAft>
                <a:spcPts val="1000"/>
              </a:spcAft>
              <a:buChar char="•"/>
            </a:pPr>
            <a:r>
              <a:rPr sz="1500" b="0" i="0">
                <a:solidFill>
                  <a:schemeClr val="tx1"/>
                </a:solidFill>
              </a:rPr>
              <a:t>Look for the pattern: </a:t>
            </a:r>
            <a:r>
              <a:rPr sz="1500" b="1" i="0">
                <a:solidFill>
                  <a:schemeClr val="accent6"/>
                </a:solidFill>
              </a:rPr>
              <a:t>one or two legs lifted at a time, in a repeating order: a slow wave-like gait, not a tripod. It stumbles twice before it settles in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Inside the circuit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  <p:pic>
        <p:nvPicPr>
          <p:cNvPr id="26" name="Picture 25" descr="best_neur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3516923" cy="4572000"/>
          </a:xfrm>
          <a:prstGeom prst="rect">
            <a:avLst/>
          </a:prstGeom>
        </p:spPr>
      </p:pic>
      <p:sp>
        <p:nvSpPr>
          <p:cNvPr id="27" name="text"/>
          <p:cNvSpPr txBox="1"/>
          <p:nvPr/>
        </p:nvSpPr>
        <p:spPr>
          <a:xfrm>
            <a:off x="5120640" y="1463040"/>
            <a:ext cx="64008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01168" algn="l">
              <a:spcAft>
                <a:spcPts val="1000"/>
              </a:spcAft>
              <a:buChar char="•"/>
            </a:pPr>
            <a:r>
              <a:rPr sz="1500" b="0" i="0">
                <a:solidFill>
                  <a:schemeClr val="tx1"/>
                </a:solidFill>
              </a:rPr>
              <a:t>Every neuron's output over time, one row per leg: forward, backward, foot</a:t>
            </a:r>
          </a:p>
          <a:p>
            <a:pPr marL="228600" indent="-201168" algn="l">
              <a:spcAft>
                <a:spcPts val="1000"/>
              </a:spcAft>
              <a:buChar char="•"/>
            </a:pPr>
            <a:r>
              <a:rPr sz="1500" b="0" i="0">
                <a:solidFill>
                  <a:schemeClr val="tx1"/>
                </a:solidFill>
              </a:rPr>
              <a:t>Which neurons oscillate? Which just follow along?</a:t>
            </a:r>
          </a:p>
          <a:p>
            <a:pPr marL="228600" indent="-201168" algn="l">
              <a:spcAft>
                <a:spcPts val="1000"/>
              </a:spcAft>
              <a:buChar char="•"/>
            </a:pPr>
            <a:r>
              <a:rPr sz="1500" b="0" i="0">
                <a:solidFill>
                  <a:schemeClr val="tx1"/>
                </a:solidFill>
              </a:rPr>
              <a:t>Same circuit on every leg, but different timing: where do the phase differences come from?</a:t>
            </a:r>
          </a:p>
          <a:p>
            <a:pPr marL="228600" indent="-201168" algn="l">
              <a:spcAft>
                <a:spcPts val="1000"/>
              </a:spcAft>
              <a:buChar char="•"/>
            </a:pPr>
            <a:r>
              <a:rPr sz="1500" b="0" i="0">
                <a:solidFill>
                  <a:schemeClr val="tx1"/>
                </a:solidFill>
              </a:rPr>
              <a:t>Cut the sensors, remove a neuron, freeze an output: what breaks?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Two walkers, two sources of rhythm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  <p:pic>
        <p:nvPicPr>
          <p:cNvPr id="26" name="Picture 25" descr="cpgw_ga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6583680" cy="2962656"/>
          </a:xfrm>
          <a:prstGeom prst="rect">
            <a:avLst/>
          </a:prstGeom>
        </p:spPr>
      </p:pic>
      <p:sp>
        <p:nvSpPr>
          <p:cNvPr id="27" name="text"/>
          <p:cNvSpPr txBox="1"/>
          <p:nvPr/>
        </p:nvSpPr>
        <p:spPr>
          <a:xfrm>
            <a:off x="548640" y="4343400"/>
            <a:ext cx="6583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chemeClr val="tx2"/>
                </a:solidFill>
              </a:rPr>
              <a:t>The walker evolved with its sensors off (cpg, center-crossing): a steady rhythm, never stalls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7406640" y="1371600"/>
          <a:ext cx="42062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chemeClr val="bg1"/>
                          </a:solidFill>
                        </a:rPr>
                        <a:t>Evolved in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chemeClr val="bg1"/>
                          </a:solidFill>
                        </a:rPr>
                        <a:t>Sensors on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chemeClr val="bg1"/>
                          </a:solidFill>
                        </a:rPr>
                        <a:t>Sensors off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chemeClr val="tx1"/>
                          </a:solidFill>
                          <a:latin typeface="Courier New"/>
                        </a:rPr>
                        <a:t>rpg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chemeClr val="accent6"/>
                          </a:solidFill>
                        </a:rPr>
                        <a:t>0.77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chemeClr val="tx1"/>
                          </a:solidFill>
                        </a:rPr>
                        <a:t>0.04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chemeClr val="tx1"/>
                          </a:solidFill>
                          <a:latin typeface="Courier New"/>
                        </a:rPr>
                        <a:t>cpg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chemeClr val="tx1"/>
                          </a:solidFill>
                        </a:rPr>
                        <a:t>0.03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chemeClr val="accent6"/>
                          </a:solidFill>
                        </a:rPr>
                        <a:t>0.61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9" name="text"/>
          <p:cNvSpPr txBox="1"/>
          <p:nvPr/>
        </p:nvSpPr>
        <p:spPr>
          <a:xfrm>
            <a:off x="7406640" y="28803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chemeClr val="tx2"/>
                </a:solidFill>
              </a:rPr>
              <a:t>Average speed, 5 episodes, run under each condition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7406640" y="3383280"/>
            <a:ext cx="420624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01168" algn="l">
              <a:spcAft>
                <a:spcPts val="800"/>
              </a:spcAft>
              <a:buChar char="•"/>
            </a:pPr>
            <a:r>
              <a:rPr sz="1500" b="0" i="0">
                <a:solidFill>
                  <a:schemeClr val="tx1"/>
                </a:solidFill>
              </a:rPr>
              <a:t>Each walker only works the way it evolved</a:t>
            </a:r>
          </a:p>
          <a:p>
            <a:pPr marL="228600" indent="-201168" algn="l">
              <a:spcAft>
                <a:spcPts val="800"/>
              </a:spcAft>
              <a:buChar char="•"/>
            </a:pPr>
            <a:r>
              <a:rPr sz="1500" b="0" i="0">
                <a:solidFill>
                  <a:schemeClr val="tx1"/>
                </a:solidFill>
              </a:rPr>
              <a:t>The rpg walker needs its sensors: its rhythm runs through the body</a:t>
            </a:r>
          </a:p>
          <a:p>
            <a:pPr marL="228600" indent="-201168" algn="l">
              <a:spcAft>
                <a:spcPts val="800"/>
              </a:spcAft>
              <a:buChar char="•"/>
            </a:pPr>
            <a:r>
              <a:rPr sz="1500" b="0" i="0">
                <a:solidFill>
                  <a:schemeClr val="tx1"/>
                </a:solidFill>
              </a:rPr>
              <a:t>The cpg walker makes its own rhythm, and live sensory input throws it off</a:t>
            </a:r>
          </a:p>
          <a:p>
            <a:pPr marL="228600" indent="-201168" algn="l">
              <a:spcAft>
                <a:spcPts val="800"/>
              </a:spcAft>
              <a:buChar char="•"/>
            </a:pPr>
            <a:r>
              <a:rPr sz="1500" b="1" i="0">
                <a:solidFill>
                  <a:schemeClr val="accent6"/>
                </a:solidFill>
              </a:rPr>
              <a:t>Could one walker do both? </a:t>
            </a:r>
            <a:r>
              <a:rPr sz="1500" b="0" i="0">
                <a:solidFill>
                  <a:schemeClr val="tx1"/>
                </a:solidFill>
                <a:latin typeface="Courier New"/>
              </a:rPr>
              <a:t>--mode mpg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Watch out: walking vs. skating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  <p:pic>
        <p:nvPicPr>
          <p:cNvPr id="26" name="Picture 25" descr="rpg_ga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6949440" cy="3127248"/>
          </a:xfrm>
          <a:prstGeom prst="rect">
            <a:avLst/>
          </a:prstGeom>
        </p:spPr>
      </p:pic>
      <p:sp>
        <p:nvSpPr>
          <p:cNvPr id="27" name="text"/>
          <p:cNvSpPr txBox="1"/>
          <p:nvPr/>
        </p:nvSpPr>
        <p:spPr>
          <a:xfrm>
            <a:off x="7772400" y="1371600"/>
            <a:ext cx="384048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01168" algn="l">
              <a:spcAft>
                <a:spcPts val="1000"/>
              </a:spcAft>
              <a:buChar char="•"/>
            </a:pPr>
            <a:r>
              <a:rPr sz="1500" b="1" i="0">
                <a:solidFill>
                  <a:schemeClr val="tx1"/>
                </a:solidFill>
              </a:rPr>
              <a:t>Fitness 0.07, and it plateaued there</a:t>
            </a:r>
          </a:p>
          <a:p>
            <a:pPr marL="228600" indent="-201168" algn="l">
              <a:spcAft>
                <a:spcPts val="1000"/>
              </a:spcAft>
              <a:buChar char="•"/>
            </a:pPr>
            <a:r>
              <a:rPr sz="1500" b="0" i="0">
                <a:solidFill>
                  <a:schemeClr val="tx1"/>
                </a:solidFill>
              </a:rPr>
              <a:t>All six feet down, pushing: the body glides forward</a:t>
            </a:r>
          </a:p>
          <a:p>
            <a:pPr marL="228600" indent="-201168" algn="l">
              <a:spcAft>
                <a:spcPts val="1000"/>
              </a:spcAft>
              <a:buChar char="•"/>
            </a:pPr>
            <a:r>
              <a:rPr sz="1500" b="0" i="0">
                <a:solidFill>
                  <a:schemeClr val="tx1"/>
                </a:solidFill>
              </a:rPr>
              <a:t>Until the feet are dragged too far behind, and it's stuck for good</a:t>
            </a:r>
          </a:p>
          <a:p>
            <a:pPr marL="228600" indent="-201168" algn="l">
              <a:spcAft>
                <a:spcPts val="1000"/>
              </a:spcAft>
              <a:buChar char="•"/>
            </a:pPr>
            <a:r>
              <a:rPr sz="1500" b="0" i="0">
                <a:solidFill>
                  <a:schemeClr val="tx1"/>
                </a:solidFill>
              </a:rPr>
              <a:t>Easy to find, better than standing still, a dead end</a:t>
            </a:r>
          </a:p>
          <a:p>
            <a:pPr marL="228600" indent="-201168" algn="l">
              <a:spcAft>
                <a:spcPts val="1000"/>
              </a:spcAft>
              <a:buChar char="•"/>
            </a:pPr>
            <a:r>
              <a:rPr sz="1500" b="1" i="0">
                <a:solidFill>
                  <a:schemeClr val="accent6"/>
                </a:solidFill>
              </a:rPr>
              <a:t>A fitness number tells you how far, not how. </a:t>
            </a:r>
            <a:r>
              <a:rPr sz="1500" b="0" i="0">
                <a:solidFill>
                  <a:schemeClr val="tx1"/>
                </a:solidFill>
              </a:rPr>
              <a:t>Look at the gait.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How long it takes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30</a:t>
            </a:fld>
            <a:endParaRPr lang="en-US"/>
          </a:p>
        </p:txBody>
      </p:sp>
      <p:sp>
        <p:nvSpPr>
          <p:cNvPr id="26" name="card"/>
          <p:cNvSpPr/>
          <p:nvPr/>
        </p:nvSpPr>
        <p:spPr>
          <a:xfrm>
            <a:off x="548640" y="1325880"/>
            <a:ext cx="3520440" cy="210312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"/>
          <p:cNvSpPr txBox="1"/>
          <p:nvPr/>
        </p:nvSpPr>
        <p:spPr>
          <a:xfrm>
            <a:off x="822960" y="1463040"/>
            <a:ext cx="2971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chemeClr val="accent6"/>
                </a:solidFill>
              </a:rPr>
              <a:t>3 min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822960" y="2286000"/>
            <a:ext cx="2971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chemeClr val="tx2"/>
                </a:solidFill>
              </a:rPr>
              <a:t>per run on a 16-core laptop (50 genomes × 100 generations)</a:t>
            </a:r>
          </a:p>
        </p:txBody>
      </p:sp>
      <p:sp>
        <p:nvSpPr>
          <p:cNvPr id="29" name="card"/>
          <p:cNvSpPr/>
          <p:nvPr/>
        </p:nvSpPr>
        <p:spPr>
          <a:xfrm>
            <a:off x="4297679" y="1325880"/>
            <a:ext cx="3520440" cy="210312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"/>
          <p:cNvSpPr txBox="1"/>
          <p:nvPr/>
        </p:nvSpPr>
        <p:spPr>
          <a:xfrm>
            <a:off x="4571999" y="1463040"/>
            <a:ext cx="2971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chemeClr val="accent6"/>
                </a:solidFill>
              </a:rPr>
              <a:t>15,000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4571999" y="2286000"/>
            <a:ext cx="2971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chemeClr val="tx2"/>
                </a:solidFill>
              </a:rPr>
              <a:t>episodes per run: 50 × 100 × 3, each 2,200 ticks of physics</a:t>
            </a:r>
          </a:p>
        </p:txBody>
      </p:sp>
      <p:sp>
        <p:nvSpPr>
          <p:cNvPr id="32" name="card"/>
          <p:cNvSpPr/>
          <p:nvPr/>
        </p:nvSpPr>
        <p:spPr>
          <a:xfrm>
            <a:off x="8046718" y="1325880"/>
            <a:ext cx="3520440" cy="210312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"/>
          <p:cNvSpPr txBox="1"/>
          <p:nvPr/>
        </p:nvSpPr>
        <p:spPr>
          <a:xfrm>
            <a:off x="8321038" y="1463040"/>
            <a:ext cx="2971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8321038" y="2286000"/>
            <a:ext cx="2971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chemeClr val="tx2"/>
                </a:solidFill>
              </a:rPr>
              <a:t>GPUs needed: the cost is the physics loop, spread across CPU cores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548640" y="3703320"/>
            <a:ext cx="11094415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01168" algn="l">
              <a:spcAft>
                <a:spcPts val="800"/>
              </a:spcAft>
              <a:buChar char="•"/>
            </a:pPr>
            <a:r>
              <a:rPr sz="1600" b="0" i="0">
                <a:solidFill>
                  <a:schemeClr val="tx1"/>
                </a:solidFill>
              </a:rPr>
              <a:t>Time a short run on your own machine first:  --popsize 20 --gens 20</a:t>
            </a:r>
          </a:p>
          <a:p>
            <a:pPr marL="228600" indent="-201168" algn="l">
              <a:spcAft>
                <a:spcPts val="800"/>
              </a:spcAft>
              <a:buChar char="•"/>
            </a:pPr>
            <a:r>
              <a:rPr sz="1600" b="0" i="0">
                <a:solidFill>
                  <a:schemeClr val="tx1"/>
                </a:solidFill>
              </a:rPr>
              <a:t>Fewer cores, proportionally longer. Start early, and let runs work while you analyze others</a:t>
            </a:r>
          </a:p>
          <a:p>
            <a:pPr marL="228600" indent="-201168" algn="l">
              <a:spcAft>
                <a:spcPts val="800"/>
              </a:spcAft>
              <a:buChar char="•"/>
            </a:pPr>
            <a:r>
              <a:rPr sz="1600" b="0" i="0">
                <a:solidFill>
                  <a:schemeClr val="tx1"/>
                </a:solidFill>
              </a:rPr>
              <a:t>Evolution is stochastic: one run is an anecdote. Use --seed, and several seeds before you trust a conclusion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Optional: real physics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Does a walker evolved here walk in MuJoCo?</a:t>
            </a:r>
          </a:p>
        </p:txBody>
      </p:sp>
      <p:sp>
        <p:nvSpPr>
          <p:cNvPr id="4" name="card"/>
          <p:cNvSpPr/>
          <p:nvPr/>
        </p:nvSpPr>
        <p:spPr>
          <a:xfrm>
            <a:off x="6949440" y="1554480"/>
            <a:ext cx="4572000" cy="356616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ujo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1691640"/>
            <a:ext cx="4297680" cy="32232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3538112-5F0B-BF9F-497C-853E2D4FC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92773" y="4216387"/>
            <a:ext cx="5714387" cy="5602653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Same genome, more realistic physics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32</a:t>
            </a:fld>
            <a:endParaRPr lang="en-US"/>
          </a:p>
        </p:txBody>
      </p:sp>
      <p:sp>
        <p:nvSpPr>
          <p:cNvPr id="26" name="card"/>
          <p:cNvSpPr/>
          <p:nvPr/>
        </p:nvSpPr>
        <p:spPr>
          <a:xfrm>
            <a:off x="548640" y="1325880"/>
            <a:ext cx="4937760" cy="384048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mujoco_small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4572000" cy="3429000"/>
          </a:xfrm>
          <a:prstGeom prst="rect">
            <a:avLst/>
          </a:prstGeom>
        </p:spPr>
      </p:pic>
      <p:sp>
        <p:nvSpPr>
          <p:cNvPr id="28" name="text"/>
          <p:cNvSpPr txBox="1"/>
          <p:nvPr/>
        </p:nvSpPr>
        <p:spPr>
          <a:xfrm>
            <a:off x="548640" y="5257800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chemeClr val="tx2"/>
                </a:solidFill>
              </a:rPr>
              <a:t>The walker from the previous slides, on the MuJoCo hexapod: it stays upright, but moves only about 1.2 units in 50 s.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5852160" y="1371600"/>
          <a:ext cx="57607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bg1"/>
                          </a:solidFill>
                        </a:rPr>
                        <a:t>walker.py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bg1"/>
                          </a:solidFill>
                        </a:rPr>
                        <a:t>hexapod (MuJoCo)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</a:rPr>
                        <a:t>Physics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</a:rPr>
                        <a:t>idealized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</a:rPr>
                        <a:t>mass, friction, contact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</a:rPr>
                        <a:t>Senses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</a:rPr>
                        <a:t>6 leg angles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</a:rPr>
                        <a:t>35 values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</a:rPr>
                        <a:t>Acts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</a:rPr>
                        <a:t>18 values in [0, 1]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</a:rPr>
                        <a:t>12 torques: sweep, lift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</a:rPr>
                        <a:t>Time step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</a:rPr>
                        <a:t>0.1 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</a:rPr>
                        <a:t>0.05 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" name="text"/>
          <p:cNvSpPr txBox="1"/>
          <p:nvPr/>
        </p:nvSpPr>
        <p:spPr>
          <a:xfrm>
            <a:off x="5852160" y="3794760"/>
            <a:ext cx="576072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01168" algn="l">
              <a:spcAft>
                <a:spcPts val="800"/>
              </a:spcAft>
              <a:buChar char="•"/>
            </a:pPr>
            <a:r>
              <a:rPr sz="1500" b="1" i="0">
                <a:solidFill>
                  <a:schemeClr val="tx1"/>
                </a:solidFill>
                <a:latin typeface="Courier New"/>
              </a:rPr>
              <a:t>hexapod_bridge.py</a:t>
            </a:r>
            <a:r>
              <a:rPr sz="1500" b="0" i="0">
                <a:solidFill>
                  <a:schemeClr val="tx1"/>
                </a:solidFill>
              </a:rPr>
              <a:t>: sweep torque = forward − backward; foot sets a target lift angle</a:t>
            </a:r>
          </a:p>
          <a:p>
            <a:pPr marL="228600" indent="-201168" algn="l">
              <a:spcAft>
                <a:spcPts val="800"/>
              </a:spcAft>
              <a:buChar char="•"/>
            </a:pPr>
            <a:r>
              <a:rPr sz="1500" b="0" i="0">
                <a:solidFill>
                  <a:schemeClr val="tx1"/>
                </a:solidFill>
                <a:latin typeface="Courier New"/>
              </a:rPr>
              <a:t>--timescale</a:t>
            </a:r>
            <a:r>
              <a:rPr sz="1500" b="0" i="0">
                <a:solidFill>
                  <a:schemeClr val="tx1"/>
                </a:solidFill>
              </a:rPr>
              <a:t> (CTRNN speed vs. body) and </a:t>
            </a:r>
            <a:r>
              <a:rPr sz="1500" b="0" i="0">
                <a:solidFill>
                  <a:schemeClr val="tx1"/>
                </a:solidFill>
                <a:latin typeface="Courier New"/>
              </a:rPr>
              <a:t>--lift_gain</a:t>
            </a:r>
            <a:r>
              <a:rPr sz="1500" b="0" i="0">
                <a:solidFill>
                  <a:schemeClr val="tx1"/>
                </a:solidFill>
              </a:rPr>
              <a:t> matter, and interact</a:t>
            </a:r>
          </a:p>
          <a:p>
            <a:pPr marL="228600" indent="-201168" algn="l">
              <a:spcAft>
                <a:spcPts val="800"/>
              </a:spcAft>
              <a:buChar char="•"/>
            </a:pPr>
            <a:r>
              <a:rPr sz="1500" b="1" i="0">
                <a:solidFill>
                  <a:schemeClr val="accent6"/>
                </a:solidFill>
              </a:rPr>
              <a:t>Expect it to fail at first. </a:t>
            </a:r>
            <a:r>
              <a:rPr sz="1500" b="0" i="0">
                <a:solidFill>
                  <a:schemeClr val="tx1"/>
                </a:solidFill>
              </a:rPr>
              <a:t>That gap is the challenge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The assignment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The most open-ended project yet</a:t>
            </a:r>
          </a:p>
        </p:txBody>
      </p:sp>
      <p:sp>
        <p:nvSpPr>
          <p:cNvPr id="4" name="card"/>
          <p:cNvSpPr/>
          <p:nvPr/>
        </p:nvSpPr>
        <p:spPr>
          <a:xfrm>
            <a:off x="7589520" y="4480560"/>
            <a:ext cx="475488" cy="457200"/>
          </a:xfrm>
          <a:prstGeom prst="roundRect">
            <a:avLst>
              <a:gd name="adj" fmla="val 8000"/>
            </a:avLst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"/>
          <p:cNvSpPr txBox="1"/>
          <p:nvPr/>
        </p:nvSpPr>
        <p:spPr>
          <a:xfrm>
            <a:off x="7589520" y="5029200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chemeClr val="accent4"/>
                </a:solidFill>
              </a:rPr>
              <a:t>P1</a:t>
            </a:r>
          </a:p>
        </p:txBody>
      </p:sp>
      <p:sp>
        <p:nvSpPr>
          <p:cNvPr id="6" name="card"/>
          <p:cNvSpPr/>
          <p:nvPr/>
        </p:nvSpPr>
        <p:spPr>
          <a:xfrm>
            <a:off x="8193024" y="3977640"/>
            <a:ext cx="475488" cy="960120"/>
          </a:xfrm>
          <a:prstGeom prst="roundRect">
            <a:avLst>
              <a:gd name="adj" fmla="val 8000"/>
            </a:avLst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"/>
          <p:cNvSpPr txBox="1"/>
          <p:nvPr/>
        </p:nvSpPr>
        <p:spPr>
          <a:xfrm>
            <a:off x="8193024" y="5029200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chemeClr val="accent4"/>
                </a:solidFill>
              </a:rPr>
              <a:t>P2</a:t>
            </a:r>
          </a:p>
        </p:txBody>
      </p:sp>
      <p:sp>
        <p:nvSpPr>
          <p:cNvPr id="8" name="card"/>
          <p:cNvSpPr/>
          <p:nvPr/>
        </p:nvSpPr>
        <p:spPr>
          <a:xfrm>
            <a:off x="8796528" y="3474720"/>
            <a:ext cx="475488" cy="1463040"/>
          </a:xfrm>
          <a:prstGeom prst="roundRect">
            <a:avLst>
              <a:gd name="adj" fmla="val 8000"/>
            </a:avLst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"/>
          <p:cNvSpPr txBox="1"/>
          <p:nvPr/>
        </p:nvSpPr>
        <p:spPr>
          <a:xfrm>
            <a:off x="8796528" y="5029200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chemeClr val="accent4"/>
                </a:solidFill>
              </a:rPr>
              <a:t>P3</a:t>
            </a:r>
          </a:p>
        </p:txBody>
      </p:sp>
      <p:sp>
        <p:nvSpPr>
          <p:cNvPr id="10" name="card"/>
          <p:cNvSpPr/>
          <p:nvPr/>
        </p:nvSpPr>
        <p:spPr>
          <a:xfrm>
            <a:off x="9400032" y="2971800"/>
            <a:ext cx="475488" cy="1965960"/>
          </a:xfrm>
          <a:prstGeom prst="roundRect">
            <a:avLst>
              <a:gd name="adj" fmla="val 8000"/>
            </a:avLst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"/>
          <p:cNvSpPr txBox="1"/>
          <p:nvPr/>
        </p:nvSpPr>
        <p:spPr>
          <a:xfrm>
            <a:off x="9400032" y="5029200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chemeClr val="accent4"/>
                </a:solidFill>
              </a:rPr>
              <a:t>P4</a:t>
            </a:r>
          </a:p>
        </p:txBody>
      </p:sp>
      <p:sp>
        <p:nvSpPr>
          <p:cNvPr id="12" name="card"/>
          <p:cNvSpPr/>
          <p:nvPr/>
        </p:nvSpPr>
        <p:spPr>
          <a:xfrm>
            <a:off x="10003536" y="2468880"/>
            <a:ext cx="475488" cy="2468880"/>
          </a:xfrm>
          <a:prstGeom prst="roundRect">
            <a:avLst>
              <a:gd name="adj" fmla="val 8000"/>
            </a:avLst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"/>
          <p:cNvSpPr txBox="1"/>
          <p:nvPr/>
        </p:nvSpPr>
        <p:spPr>
          <a:xfrm>
            <a:off x="10003536" y="5029200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chemeClr val="accent4"/>
                </a:solidFill>
              </a:rPr>
              <a:t>P5</a:t>
            </a:r>
          </a:p>
        </p:txBody>
      </p:sp>
      <p:sp>
        <p:nvSpPr>
          <p:cNvPr id="14" name="card"/>
          <p:cNvSpPr/>
          <p:nvPr/>
        </p:nvSpPr>
        <p:spPr>
          <a:xfrm>
            <a:off x="10607040" y="1965960"/>
            <a:ext cx="475488" cy="29718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"/>
          <p:cNvSpPr txBox="1"/>
          <p:nvPr/>
        </p:nvSpPr>
        <p:spPr>
          <a:xfrm>
            <a:off x="10607040" y="5029200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chemeClr val="accent4"/>
                </a:solidFill>
              </a:rPr>
              <a:t>P6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7589520" y="14630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chemeClr val="accent4"/>
                </a:solidFill>
              </a:rPr>
              <a:t>how much is up to you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EF3A9D9-6E67-312E-B1B4-0B35C8885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86832" y="4213529"/>
            <a:ext cx="5714387" cy="5602653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Two required parts, one optional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34</a:t>
            </a:fld>
            <a:endParaRPr lang="en-US"/>
          </a:p>
        </p:txBody>
      </p:sp>
      <p:sp>
        <p:nvSpPr>
          <p:cNvPr id="26" name="card"/>
          <p:cNvSpPr/>
          <p:nvPr/>
        </p:nvSpPr>
        <p:spPr>
          <a:xfrm>
            <a:off x="548640" y="1325880"/>
            <a:ext cx="3246120" cy="370332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"/>
          <p:cNvSpPr txBox="1"/>
          <p:nvPr/>
        </p:nvSpPr>
        <p:spPr>
          <a:xfrm>
            <a:off x="822960" y="1554480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chemeClr val="accent6"/>
                </a:solidFill>
              </a:rPr>
              <a:t>Required 1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822960" y="1874520"/>
            <a:ext cx="2697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chemeClr val="tx1"/>
                </a:solidFill>
              </a:rPr>
              <a:t>Evolve a CTRNN that walks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22960" y="2788920"/>
            <a:ext cx="269748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01168" algn="l">
              <a:spcAft>
                <a:spcPts val="600"/>
              </a:spcAft>
              <a:buChar char="•"/>
            </a:pPr>
            <a:r>
              <a:rPr sz="1500" b="0" i="0">
                <a:solidFill>
                  <a:schemeClr val="tx1"/>
                </a:solidFill>
              </a:rPr>
              <a:t>Really walks: stepping, not skating</a:t>
            </a:r>
          </a:p>
          <a:p>
            <a:pPr marL="228600" indent="-201168" algn="l">
              <a:spcAft>
                <a:spcPts val="600"/>
              </a:spcAft>
              <a:buChar char="•"/>
            </a:pPr>
            <a:r>
              <a:rPr sz="1500" b="0" i="0">
                <a:solidFill>
                  <a:schemeClr val="tx1"/>
                </a:solidFill>
              </a:rPr>
              <a:t>Show it: fitness, gait diagram, animation</a:t>
            </a:r>
          </a:p>
          <a:p>
            <a:pPr marL="228600" indent="-201168" algn="l">
              <a:spcAft>
                <a:spcPts val="600"/>
              </a:spcAft>
              <a:buChar char="•"/>
            </a:pPr>
            <a:r>
              <a:rPr sz="1500" b="0" i="0">
                <a:solidFill>
                  <a:schemeClr val="tx1"/>
                </a:solidFill>
              </a:rPr>
              <a:t>Explain how it walks: what are the neurons doing? Where does the rhythm come from?</a:t>
            </a:r>
          </a:p>
        </p:txBody>
      </p:sp>
      <p:sp>
        <p:nvSpPr>
          <p:cNvPr id="30" name="card"/>
          <p:cNvSpPr/>
          <p:nvPr/>
        </p:nvSpPr>
        <p:spPr>
          <a:xfrm>
            <a:off x="4224528" y="1325880"/>
            <a:ext cx="3246120" cy="370332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"/>
          <p:cNvSpPr txBox="1"/>
          <p:nvPr/>
        </p:nvSpPr>
        <p:spPr>
          <a:xfrm>
            <a:off x="4498848" y="1554480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chemeClr val="accent6"/>
                </a:solidFill>
              </a:rPr>
              <a:t>Required 2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4498848" y="1874520"/>
            <a:ext cx="2697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chemeClr val="tx1"/>
                </a:solidFill>
              </a:rPr>
              <a:t>An experiment of your own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4498848" y="2788920"/>
            <a:ext cx="269748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01168" algn="l">
              <a:spcAft>
                <a:spcPts val="600"/>
              </a:spcAft>
              <a:buChar char="•"/>
            </a:pPr>
            <a:r>
              <a:rPr sz="1500" b="0" i="0">
                <a:solidFill>
                  <a:schemeClr val="tx1"/>
                </a:solidFill>
              </a:rPr>
              <a:t>Ask a question about this world</a:t>
            </a:r>
          </a:p>
          <a:p>
            <a:pPr marL="228600" indent="-201168" algn="l">
              <a:spcAft>
                <a:spcPts val="600"/>
              </a:spcAft>
              <a:buChar char="•"/>
            </a:pPr>
            <a:r>
              <a:rPr sz="1500" b="0" i="0">
                <a:solidFill>
                  <a:schemeClr val="tx1"/>
                </a:solidFill>
              </a:rPr>
              <a:t>Predict, vary one thing, enough seeds</a:t>
            </a:r>
          </a:p>
          <a:p>
            <a:pPr marL="228600" indent="-201168" algn="l">
              <a:spcAft>
                <a:spcPts val="600"/>
              </a:spcAft>
              <a:buChar char="•"/>
            </a:pPr>
            <a:r>
              <a:rPr sz="1500" b="0" i="0">
                <a:solidFill>
                  <a:schemeClr val="tx1"/>
                </a:solidFill>
              </a:rPr>
              <a:t>What did you learn?</a:t>
            </a:r>
          </a:p>
        </p:txBody>
      </p:sp>
      <p:sp>
        <p:nvSpPr>
          <p:cNvPr id="34" name="card"/>
          <p:cNvSpPr/>
          <p:nvPr/>
        </p:nvSpPr>
        <p:spPr>
          <a:xfrm>
            <a:off x="7900416" y="1325880"/>
            <a:ext cx="3246120" cy="3703320"/>
          </a:xfrm>
          <a:prstGeom prst="roundRect">
            <a:avLst>
              <a:gd name="adj" fmla="val 3000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"/>
          <p:cNvSpPr txBox="1"/>
          <p:nvPr/>
        </p:nvSpPr>
        <p:spPr>
          <a:xfrm>
            <a:off x="8174736" y="1554480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chemeClr val="accent1"/>
                </a:solidFill>
              </a:rPr>
              <a:t>Optional · +1 extra credit</a:t>
            </a:r>
          </a:p>
        </p:txBody>
      </p:sp>
      <p:sp>
        <p:nvSpPr>
          <p:cNvPr id="36" name="text"/>
          <p:cNvSpPr txBox="1"/>
          <p:nvPr/>
        </p:nvSpPr>
        <p:spPr>
          <a:xfrm>
            <a:off x="8174736" y="1874520"/>
            <a:ext cx="2697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chemeClr val="bg1"/>
                </a:solidFill>
              </a:rPr>
              <a:t>Walk in MuJoCo</a:t>
            </a:r>
          </a:p>
        </p:txBody>
      </p:sp>
      <p:sp>
        <p:nvSpPr>
          <p:cNvPr id="37" name="text"/>
          <p:cNvSpPr txBox="1"/>
          <p:nvPr/>
        </p:nvSpPr>
        <p:spPr>
          <a:xfrm>
            <a:off x="8174736" y="2423160"/>
            <a:ext cx="2697480" cy="2514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01168" algn="l">
              <a:spcAft>
                <a:spcPts val="600"/>
              </a:spcAft>
              <a:buChar char="•"/>
            </a:pPr>
            <a:r>
              <a:rPr sz="1500" b="0" i="0">
                <a:solidFill>
                  <a:schemeClr val="bg1"/>
                </a:solidFill>
              </a:rPr>
              <a:t>Transfer a walker to the realistic body</a:t>
            </a:r>
          </a:p>
          <a:p>
            <a:pPr marL="228600" indent="-201168" algn="l">
              <a:spcAft>
                <a:spcPts val="600"/>
              </a:spcAft>
              <a:buChar char="•"/>
            </a:pPr>
            <a:r>
              <a:rPr sz="1500" b="0" i="0">
                <a:solidFill>
                  <a:schemeClr val="bg1"/>
                </a:solidFill>
              </a:rPr>
              <a:t>Close the gap any way you like</a:t>
            </a:r>
          </a:p>
          <a:p>
            <a:pPr marL="228600" indent="-201168" algn="l">
              <a:spcAft>
                <a:spcPts val="600"/>
              </a:spcAft>
              <a:buChar char="•"/>
            </a:pPr>
            <a:r>
              <a:rPr sz="1500" b="0" i="0">
                <a:solidFill>
                  <a:schemeClr val="bg1"/>
                </a:solidFill>
              </a:rPr>
              <a:t>A careful attempt counts, even if it never walks</a:t>
            </a:r>
          </a:p>
        </p:txBody>
      </p:sp>
      <p:sp>
        <p:nvSpPr>
          <p:cNvPr id="38" name="text"/>
          <p:cNvSpPr txBox="1"/>
          <p:nvPr/>
        </p:nvSpPr>
        <p:spPr>
          <a:xfrm>
            <a:off x="548640" y="525780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chemeClr val="tx1"/>
                </a:solidFill>
              </a:rPr>
              <a:t>Any settings, any topology, any mode. Say what you chose, and why.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548640" y="566928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chemeClr val="tx2"/>
                </a:solidFill>
              </a:rPr>
              <a:t>Checkpoint: TBA (Part 1, demo)     Report due: TBA     Presentations: TBA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Ideas for your experiment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35</a:t>
            </a:fld>
            <a:endParaRPr lang="en-US"/>
          </a:p>
        </p:txBody>
      </p:sp>
      <p:sp>
        <p:nvSpPr>
          <p:cNvPr id="26" name="card"/>
          <p:cNvSpPr/>
          <p:nvPr/>
        </p:nvSpPr>
        <p:spPr>
          <a:xfrm>
            <a:off x="548640" y="1325880"/>
            <a:ext cx="2075688" cy="20574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"/>
          <p:cNvSpPr txBox="1"/>
          <p:nvPr/>
        </p:nvSpPr>
        <p:spPr>
          <a:xfrm>
            <a:off x="731520" y="1490472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731520" y="1920240"/>
            <a:ext cx="17556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chemeClr val="tx1"/>
                </a:solidFill>
              </a:rPr>
              <a:t>Where's the rhythm?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731520" y="2423160"/>
            <a:ext cx="175564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chemeClr val="tx2"/>
                </a:solidFill>
              </a:rPr>
              <a:t>cpg vs. rpg vs. mpg. Cut a walker's sensors</a:t>
            </a:r>
          </a:p>
        </p:txBody>
      </p:sp>
      <p:sp>
        <p:nvSpPr>
          <p:cNvPr id="30" name="card"/>
          <p:cNvSpPr/>
          <p:nvPr/>
        </p:nvSpPr>
        <p:spPr>
          <a:xfrm>
            <a:off x="2798064" y="1325880"/>
            <a:ext cx="2075688" cy="20574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"/>
          <p:cNvSpPr txBox="1"/>
          <p:nvPr/>
        </p:nvSpPr>
        <p:spPr>
          <a:xfrm>
            <a:off x="2980944" y="1490472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chemeClr val="accent6"/>
                </a:solidFill>
              </a:rPr>
              <a:t>B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2980944" y="1920240"/>
            <a:ext cx="17556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chemeClr val="tx1"/>
                </a:solidFill>
              </a:rPr>
              <a:t>Inside the circuit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2980944" y="2423160"/>
            <a:ext cx="175564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chemeClr val="tx2"/>
                </a:solidFill>
              </a:rPr>
              <a:t>Lesion neurons or connections. Does one leg oscillate alone?</a:t>
            </a:r>
          </a:p>
        </p:txBody>
      </p:sp>
      <p:sp>
        <p:nvSpPr>
          <p:cNvPr id="34" name="card"/>
          <p:cNvSpPr/>
          <p:nvPr/>
        </p:nvSpPr>
        <p:spPr>
          <a:xfrm>
            <a:off x="5047488" y="1325880"/>
            <a:ext cx="2075688" cy="20574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"/>
          <p:cNvSpPr txBox="1"/>
          <p:nvPr/>
        </p:nvSpPr>
        <p:spPr>
          <a:xfrm>
            <a:off x="5230368" y="1490472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chemeClr val="accent6"/>
                </a:solidFill>
              </a:rPr>
              <a:t>C</a:t>
            </a:r>
          </a:p>
        </p:txBody>
      </p:sp>
      <p:sp>
        <p:nvSpPr>
          <p:cNvPr id="36" name="text"/>
          <p:cNvSpPr txBox="1"/>
          <p:nvPr/>
        </p:nvSpPr>
        <p:spPr>
          <a:xfrm>
            <a:off x="5230368" y="1920240"/>
            <a:ext cx="17556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chemeClr val="tx1"/>
                </a:solidFill>
              </a:rPr>
              <a:t>Center-crossing</a:t>
            </a:r>
          </a:p>
        </p:txBody>
      </p:sp>
      <p:sp>
        <p:nvSpPr>
          <p:cNvPr id="37" name="text"/>
          <p:cNvSpPr txBox="1"/>
          <p:nvPr/>
        </p:nvSpPr>
        <p:spPr>
          <a:xfrm>
            <a:off x="5230368" y="2423160"/>
            <a:ext cx="175564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chemeClr val="tx2"/>
                </a:solidFill>
              </a:rPr>
              <a:t>Faster evolution? Better walkers?</a:t>
            </a:r>
          </a:p>
        </p:txBody>
      </p:sp>
      <p:sp>
        <p:nvSpPr>
          <p:cNvPr id="38" name="card"/>
          <p:cNvSpPr/>
          <p:nvPr/>
        </p:nvSpPr>
        <p:spPr>
          <a:xfrm>
            <a:off x="7296912" y="1325880"/>
            <a:ext cx="2075688" cy="20574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"/>
          <p:cNvSpPr txBox="1"/>
          <p:nvPr/>
        </p:nvSpPr>
        <p:spPr>
          <a:xfrm>
            <a:off x="7479792" y="1490472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chemeClr val="accent6"/>
                </a:solidFill>
              </a:rPr>
              <a:t>D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7479792" y="1920240"/>
            <a:ext cx="17556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chemeClr val="tx1"/>
                </a:solidFill>
              </a:rPr>
              <a:t>Structure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7479792" y="2423160"/>
            <a:ext cx="175564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chemeClr val="tx2"/>
                </a:solidFill>
              </a:rPr>
              <a:t>Modular vs. fully connected, module size, interneurons</a:t>
            </a:r>
          </a:p>
        </p:txBody>
      </p:sp>
      <p:sp>
        <p:nvSpPr>
          <p:cNvPr id="42" name="card"/>
          <p:cNvSpPr/>
          <p:nvPr/>
        </p:nvSpPr>
        <p:spPr>
          <a:xfrm>
            <a:off x="9546336" y="1325880"/>
            <a:ext cx="2075688" cy="20574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"/>
          <p:cNvSpPr txBox="1"/>
          <p:nvPr/>
        </p:nvSpPr>
        <p:spPr>
          <a:xfrm>
            <a:off x="9729216" y="1490472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chemeClr val="accent6"/>
                </a:solidFill>
              </a:rPr>
              <a:t>E</a:t>
            </a:r>
          </a:p>
        </p:txBody>
      </p:sp>
      <p:sp>
        <p:nvSpPr>
          <p:cNvPr id="44" name="text"/>
          <p:cNvSpPr txBox="1"/>
          <p:nvPr/>
        </p:nvSpPr>
        <p:spPr>
          <a:xfrm>
            <a:off x="9729216" y="1920240"/>
            <a:ext cx="17556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chemeClr val="tx1"/>
                </a:solidFill>
              </a:rPr>
              <a:t>Time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729216" y="2423160"/>
            <a:ext cx="175564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chemeClr val="tx2"/>
                </a:solidFill>
              </a:rPr>
              <a:t>What do evolved time constants do? Speed the circuit up</a:t>
            </a:r>
          </a:p>
        </p:txBody>
      </p:sp>
      <p:sp>
        <p:nvSpPr>
          <p:cNvPr id="46" name="card"/>
          <p:cNvSpPr/>
          <p:nvPr/>
        </p:nvSpPr>
        <p:spPr>
          <a:xfrm>
            <a:off x="548640" y="3584448"/>
            <a:ext cx="2075688" cy="20574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"/>
          <p:cNvSpPr txBox="1"/>
          <p:nvPr/>
        </p:nvSpPr>
        <p:spPr>
          <a:xfrm>
            <a:off x="731520" y="374904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chemeClr val="accent6"/>
                </a:solidFill>
              </a:rPr>
              <a:t>F</a:t>
            </a:r>
          </a:p>
        </p:txBody>
      </p:sp>
      <p:sp>
        <p:nvSpPr>
          <p:cNvPr id="48" name="text"/>
          <p:cNvSpPr txBox="1"/>
          <p:nvPr/>
        </p:nvSpPr>
        <p:spPr>
          <a:xfrm>
            <a:off x="731520" y="4178808"/>
            <a:ext cx="17556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chemeClr val="tx1"/>
                </a:solidFill>
              </a:rPr>
              <a:t>Robustness</a:t>
            </a:r>
          </a:p>
        </p:txBody>
      </p:sp>
      <p:sp>
        <p:nvSpPr>
          <p:cNvPr id="49" name="text"/>
          <p:cNvSpPr txBox="1"/>
          <p:nvPr/>
        </p:nvSpPr>
        <p:spPr>
          <a:xfrm>
            <a:off x="731520" y="4681728"/>
            <a:ext cx="175564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chemeClr val="tx2"/>
                </a:solidFill>
              </a:rPr>
              <a:t>A broken leg, noisy sensors, a push, a longer walk</a:t>
            </a:r>
          </a:p>
        </p:txBody>
      </p:sp>
      <p:sp>
        <p:nvSpPr>
          <p:cNvPr id="50" name="card"/>
          <p:cNvSpPr/>
          <p:nvPr/>
        </p:nvSpPr>
        <p:spPr>
          <a:xfrm>
            <a:off x="2798064" y="3584448"/>
            <a:ext cx="2075688" cy="20574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"/>
          <p:cNvSpPr txBox="1"/>
          <p:nvPr/>
        </p:nvSpPr>
        <p:spPr>
          <a:xfrm>
            <a:off x="2980944" y="374904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chemeClr val="accent6"/>
                </a:solidFill>
              </a:rPr>
              <a:t>G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2980944" y="4178808"/>
            <a:ext cx="17556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chemeClr val="tx1"/>
                </a:solidFill>
              </a:rPr>
              <a:t>Diversity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2980944" y="4681728"/>
            <a:ext cx="175564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chemeClr val="tx2"/>
                </a:solidFill>
              </a:rPr>
              <a:t>Same gait, same frequency, every seed?</a:t>
            </a:r>
          </a:p>
        </p:txBody>
      </p:sp>
      <p:sp>
        <p:nvSpPr>
          <p:cNvPr id="54" name="card"/>
          <p:cNvSpPr/>
          <p:nvPr/>
        </p:nvSpPr>
        <p:spPr>
          <a:xfrm>
            <a:off x="5047488" y="3584448"/>
            <a:ext cx="2075688" cy="20574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"/>
          <p:cNvSpPr txBox="1"/>
          <p:nvPr/>
        </p:nvSpPr>
        <p:spPr>
          <a:xfrm>
            <a:off x="5230368" y="374904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chemeClr val="accent6"/>
                </a:solidFill>
              </a:rPr>
              <a:t>H</a:t>
            </a:r>
          </a:p>
        </p:txBody>
      </p:sp>
      <p:sp>
        <p:nvSpPr>
          <p:cNvPr id="56" name="text"/>
          <p:cNvSpPr txBox="1"/>
          <p:nvPr/>
        </p:nvSpPr>
        <p:spPr>
          <a:xfrm>
            <a:off x="5230368" y="4178808"/>
            <a:ext cx="17556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chemeClr val="tx1"/>
                </a:solidFill>
              </a:rPr>
              <a:t>Fitness</a:t>
            </a:r>
          </a:p>
        </p:txBody>
      </p:sp>
      <p:sp>
        <p:nvSpPr>
          <p:cNvPr id="57" name="text"/>
          <p:cNvSpPr txBox="1"/>
          <p:nvPr/>
        </p:nvSpPr>
        <p:spPr>
          <a:xfrm>
            <a:off x="5230368" y="4681728"/>
            <a:ext cx="175564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chemeClr val="tx2"/>
                </a:solidFill>
              </a:rPr>
              <a:t>Penalize effort; make skating impossible</a:t>
            </a:r>
          </a:p>
        </p:txBody>
      </p:sp>
      <p:sp>
        <p:nvSpPr>
          <p:cNvPr id="58" name="card"/>
          <p:cNvSpPr/>
          <p:nvPr/>
        </p:nvSpPr>
        <p:spPr>
          <a:xfrm>
            <a:off x="7296912" y="3584448"/>
            <a:ext cx="2075688" cy="20574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"/>
          <p:cNvSpPr txBox="1"/>
          <p:nvPr/>
        </p:nvSpPr>
        <p:spPr>
          <a:xfrm>
            <a:off x="7479792" y="374904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chemeClr val="accent6"/>
                </a:solidFill>
              </a:rPr>
              <a:t>I</a:t>
            </a:r>
          </a:p>
        </p:txBody>
      </p:sp>
      <p:sp>
        <p:nvSpPr>
          <p:cNvPr id="60" name="text"/>
          <p:cNvSpPr txBox="1"/>
          <p:nvPr/>
        </p:nvSpPr>
        <p:spPr>
          <a:xfrm>
            <a:off x="7479792" y="4178808"/>
            <a:ext cx="17556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chemeClr val="tx1"/>
                </a:solidFill>
              </a:rPr>
              <a:t>Search</a:t>
            </a:r>
          </a:p>
        </p:txBody>
      </p:sp>
      <p:sp>
        <p:nvSpPr>
          <p:cNvPr id="61" name="text"/>
          <p:cNvSpPr txBox="1"/>
          <p:nvPr/>
        </p:nvSpPr>
        <p:spPr>
          <a:xfrm>
            <a:off x="7479792" y="4681728"/>
            <a:ext cx="175564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chemeClr val="tx2"/>
                </a:solidFill>
              </a:rPr>
              <a:t>GA vs. CMA-ES; population size; mutation</a:t>
            </a:r>
          </a:p>
        </p:txBody>
      </p:sp>
      <p:sp>
        <p:nvSpPr>
          <p:cNvPr id="62" name="card"/>
          <p:cNvSpPr/>
          <p:nvPr/>
        </p:nvSpPr>
        <p:spPr>
          <a:xfrm>
            <a:off x="9546336" y="3584448"/>
            <a:ext cx="2075688" cy="20574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"/>
          <p:cNvSpPr txBox="1"/>
          <p:nvPr/>
        </p:nvSpPr>
        <p:spPr>
          <a:xfrm>
            <a:off x="9729216" y="374904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chemeClr val="accent6"/>
                </a:solidFill>
              </a:rPr>
              <a:t>J</a:t>
            </a:r>
          </a:p>
        </p:txBody>
      </p:sp>
      <p:sp>
        <p:nvSpPr>
          <p:cNvPr id="64" name="text"/>
          <p:cNvSpPr txBox="1"/>
          <p:nvPr/>
        </p:nvSpPr>
        <p:spPr>
          <a:xfrm>
            <a:off x="9729216" y="4178808"/>
            <a:ext cx="17556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chemeClr val="tx1"/>
                </a:solidFill>
              </a:rPr>
              <a:t>No memory</a:t>
            </a:r>
          </a:p>
        </p:txBody>
      </p:sp>
      <p:sp>
        <p:nvSpPr>
          <p:cNvPr id="65" name="text"/>
          <p:cNvSpPr txBox="1"/>
          <p:nvPr/>
        </p:nvSpPr>
        <p:spPr>
          <a:xfrm>
            <a:off x="9729216" y="4681728"/>
            <a:ext cx="175564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chemeClr val="tx2"/>
                </a:solidFill>
              </a:rPr>
              <a:t>A feedforward walker: what can't it do?</a:t>
            </a:r>
          </a:p>
        </p:txBody>
      </p:sp>
      <p:sp>
        <p:nvSpPr>
          <p:cNvPr id="66" name="text"/>
          <p:cNvSpPr txBox="1"/>
          <p:nvPr/>
        </p:nvSpPr>
        <p:spPr>
          <a:xfrm>
            <a:off x="548640" y="580644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chemeClr val="tx2"/>
                </a:solidFill>
              </a:rPr>
              <a:t>Or something completely different. Details in the README.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Let's demo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548640" y="2240280"/>
            <a:ext cx="6035040" cy="1463040"/>
          </a:xfrm>
        </p:spPr>
        <p:txBody>
          <a:bodyPr/>
          <a:lstStyle/>
          <a:p>
            <a:r>
              <a:rPr dirty="0"/>
              <a:t>Unit 6: one circuit, seed 3, random vs. center-crossing.</a:t>
            </a:r>
          </a:p>
          <a:p>
            <a:r>
              <a:rPr dirty="0"/>
              <a:t>Then: evolve a walker, and watch it.</a:t>
            </a:r>
          </a:p>
        </p:txBody>
      </p:sp>
      <p:sp>
        <p:nvSpPr>
          <p:cNvPr id="4" name="card"/>
          <p:cNvSpPr/>
          <p:nvPr/>
        </p:nvSpPr>
        <p:spPr>
          <a:xfrm>
            <a:off x="6675120" y="2240280"/>
            <a:ext cx="5029200" cy="219456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best_animatio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331720"/>
            <a:ext cx="4754880" cy="19019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AC009B1-3B9B-DD66-4827-DAE0333F24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74747" y="3041895"/>
            <a:ext cx="5123719" cy="502353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oft Robots">
  <a:themeElements>
    <a:clrScheme name="Soft Robots">
      <a:dk1>
        <a:srgbClr val="1E272C"/>
      </a:dk1>
      <a:lt1>
        <a:srgbClr val="FFFFFF"/>
      </a:lt1>
      <a:dk2>
        <a:srgbClr val="4A5961"/>
      </a:dk2>
      <a:lt2>
        <a:srgbClr val="F2F4F5"/>
      </a:lt2>
      <a:accent1>
        <a:srgbClr val="FD8E3E"/>
      </a:accent1>
      <a:accent2>
        <a:srgbClr val="6DAFD6"/>
      </a:accent2>
      <a:accent3>
        <a:srgbClr val="262626"/>
      </a:accent3>
      <a:accent4>
        <a:srgbClr val="BFBFBF"/>
      </a:accent4>
      <a:accent5>
        <a:srgbClr val="2A8C82"/>
      </a:accent5>
      <a:accent6>
        <a:srgbClr val="C2410C"/>
      </a:accent6>
      <a:hlink>
        <a:srgbClr val="2A8C82"/>
      </a:hlink>
      <a:folHlink>
        <a:srgbClr val="4A5961"/>
      </a:folHlink>
    </a:clrScheme>
    <a:fontScheme name="Soft Robot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3270</Words>
  <Application>Microsoft Macintosh PowerPoint</Application>
  <PresentationFormat>Widescreen</PresentationFormat>
  <Paragraphs>437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Arial</vt:lpstr>
      <vt:lpstr>Calibri</vt:lpstr>
      <vt:lpstr>Courier New</vt:lpstr>
      <vt:lpstr>Soft Robots</vt:lpstr>
      <vt:lpstr>Six-Legged Walker: Brains with Their Own Rhythm</vt:lpstr>
      <vt:lpstr>Every brain so far has been a function</vt:lpstr>
      <vt:lpstr>The task: make six legs walk</vt:lpstr>
      <vt:lpstr>The CTRNN</vt:lpstr>
      <vt:lpstr>One neuron, one equation</vt:lpstr>
      <vt:lpstr>What the bias and the time constant do</vt:lpstr>
      <vt:lpstr>Neurons talk to each other, in loops</vt:lpstr>
      <vt:lpstr>Simulating it: tiny steps forward in time</vt:lpstr>
      <vt:lpstr>Unit 6: a CTRNN in 60 lines of NumPy</vt:lpstr>
      <vt:lpstr>With no inputs at all, a CTRNN can...</vt:lpstr>
      <vt:lpstr>A two-neuron oscillator</vt:lpstr>
      <vt:lpstr>Center-crossing: put every neuron where it's sensitive</vt:lpstr>
      <vt:lpstr>Same weights and time constants, different biases</vt:lpstr>
      <vt:lpstr>How common is rhythm?</vt:lpstr>
      <vt:lpstr>Try it: Unit 6</vt:lpstr>
      <vt:lpstr>From Unit 6 to the walker</vt:lpstr>
      <vt:lpstr>The walker body</vt:lpstr>
      <vt:lpstr>Things to know about the simulator</vt:lpstr>
      <vt:lpstr>Same CTRNN, wired to a body</vt:lpstr>
      <vt:lpstr>One leg circuit, copied six times</vt:lpstr>
      <vt:lpstr>Or one big network: choosing a topology</vt:lpstr>
      <vt:lpstr>Where does the rhythm come from?</vt:lpstr>
      <vt:lpstr>Center-crossing, in the walker</vt:lpstr>
      <vt:lpstr>Evolving it</vt:lpstr>
      <vt:lpstr>Running it</vt:lpstr>
      <vt:lpstr>Reading a gait diagram</vt:lpstr>
      <vt:lpstr>Inside the circuit</vt:lpstr>
      <vt:lpstr>Two walkers, two sources of rhythm</vt:lpstr>
      <vt:lpstr>Watch out: walking vs. skating</vt:lpstr>
      <vt:lpstr>How long it takes</vt:lpstr>
      <vt:lpstr>Optional: real physics</vt:lpstr>
      <vt:lpstr>Same genome, more realistic physics</vt:lpstr>
      <vt:lpstr>The assignment</vt:lpstr>
      <vt:lpstr>Two required parts, one optional</vt:lpstr>
      <vt:lpstr>Ideas for your experiment</vt:lpstr>
      <vt:lpstr>Let's demo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5: Soft Robots</dc:title>
  <dc:subject>PptxGenJS Presentation</dc:subject>
  <dc:creator>Eduardo Izquierdo</dc:creator>
  <cp:lastModifiedBy>Izquierdo Torres, Eduardo</cp:lastModifiedBy>
  <cp:revision>8</cp:revision>
  <dcterms:created xsi:type="dcterms:W3CDTF">2026-10-08T13:19:34Z</dcterms:created>
  <dcterms:modified xsi:type="dcterms:W3CDTF">2026-10-19T17:52:45Z</dcterms:modified>
</cp:coreProperties>
</file>